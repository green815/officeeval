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ACE73-6ECD-4A9F-B7F8-D73F0F2568CB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6B211-5EB2-4A08-AF30-F3EE66EF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751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24710-E0F6-4AD4-8B7C-DA01F5F424CD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90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B989F-1C9E-4302-9188-539C1C524986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50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18F5-13D4-4A68-B8A6-D39E5C596AEA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57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36E97-9409-41E9-8C0C-36411B5AC664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92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35362-B9F6-4523-85FD-C1C2C2BAACF6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80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B909-E5C1-44DC-8773-059DE2EFF3AD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64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2013-DEE9-4510-9754-46D88F0169DF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01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9B3F-7D5D-4B28-A278-4E5E3BFAA51F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26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EC1E-FD4A-42FB-9246-63B292586C32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41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A7DE-BFE3-4457-A79D-C7BDFFA93059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4145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A7DE-BFE3-4457-A79D-C7BDFFA93059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6636218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A7DE-BFE3-4457-A79D-C7BDFFA93059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965688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A7DE-BFE3-4457-A79D-C7BDFFA93059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0939440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A7DE-BFE3-4457-A79D-C7BDFFA93059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011589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EBDE-2871-41DD-9D82-E9541C915104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683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95CB-3537-4F66-8A80-E28FDEBAC3F4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43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3A7DE-BFE3-4457-A79D-C7BDFFA93059}" type="datetime1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C237996-2C3A-45BF-850A-1BAAFC339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84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80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2018</a:t>
            </a:r>
            <a:r>
              <a:rPr lang="zh-CN" altLang="en-US" sz="80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年中国汽车产销权威数据</a:t>
            </a:r>
            <a:endParaRPr lang="zh-CN" altLang="en-US" sz="80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中国汽车工业协会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938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" y="360000"/>
            <a:ext cx="10800000" cy="1620000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3" action="ppaction://hlinksldjump"/>
              </a:rPr>
              <a:t>2018</a:t>
            </a:r>
            <a:r>
              <a:rPr lang="zh-CN" altLang="en-US" dirty="0">
                <a:hlinkClick r:id="rId3" action="ppaction://hlinksldjump"/>
              </a:rPr>
              <a:t>年汽车工业总体</a:t>
            </a:r>
            <a:r>
              <a:rPr lang="zh-CN" altLang="en-US" dirty="0" smtClean="0">
                <a:hlinkClick r:id="rId3" action="ppaction://hlinksldjump"/>
              </a:rPr>
              <a:t>情况</a:t>
            </a:r>
            <a:endParaRPr lang="en-US" altLang="zh-CN" dirty="0" smtClean="0"/>
          </a:p>
          <a:p>
            <a:r>
              <a:rPr lang="en-US" altLang="zh-CN" dirty="0">
                <a:hlinkClick r:id="rId4" action="ppaction://hlinksldjump"/>
              </a:rPr>
              <a:t>2018</a:t>
            </a:r>
            <a:r>
              <a:rPr lang="zh-CN" altLang="en-US" dirty="0">
                <a:hlinkClick r:id="rId4" action="ppaction://hlinksldjump"/>
              </a:rPr>
              <a:t>年汽车销量同比下降</a:t>
            </a:r>
            <a:r>
              <a:rPr lang="en-US" altLang="zh-CN" dirty="0">
                <a:hlinkClick r:id="rId4" action="ppaction://hlinksldjump"/>
              </a:rPr>
              <a:t>2.8</a:t>
            </a:r>
            <a:r>
              <a:rPr lang="en-US" altLang="zh-CN" dirty="0" smtClean="0">
                <a:hlinkClick r:id="rId4" action="ppaction://hlinksldjump"/>
              </a:rPr>
              <a:t>%</a:t>
            </a:r>
            <a:endParaRPr lang="en-US" altLang="zh-CN" dirty="0" smtClean="0"/>
          </a:p>
          <a:p>
            <a:r>
              <a:rPr lang="en-US" altLang="zh-CN" dirty="0">
                <a:hlinkClick r:id="rId5" action="ppaction://hlinksldjump"/>
              </a:rPr>
              <a:t>2018</a:t>
            </a:r>
            <a:r>
              <a:rPr lang="zh-CN" altLang="en-US" dirty="0">
                <a:hlinkClick r:id="rId5" action="ppaction://hlinksldjump"/>
              </a:rPr>
              <a:t>年汽车工业经济运行</a:t>
            </a:r>
            <a:r>
              <a:rPr lang="zh-CN" altLang="en-US" dirty="0" smtClean="0">
                <a:hlinkClick r:id="rId5" action="ppaction://hlinksldjump"/>
              </a:rPr>
              <a:t>情况</a:t>
            </a:r>
            <a:endParaRPr lang="en-US" altLang="zh-CN" dirty="0" smtClean="0"/>
          </a:p>
          <a:p>
            <a:r>
              <a:rPr lang="en-US" altLang="zh-CN" dirty="0">
                <a:hlinkClick r:id="rId6" action="ppaction://hlinksldjump"/>
              </a:rPr>
              <a:t>2018</a:t>
            </a:r>
            <a:r>
              <a:rPr lang="zh-CN" altLang="en-US" dirty="0">
                <a:hlinkClick r:id="rId6" action="ppaction://hlinksldjump"/>
              </a:rPr>
              <a:t>年新能源汽车销售情况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33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:a14="http://schemas.microsoft.com/office/drawing/2010/main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2018</a:t>
            </a:r>
            <a:r>
              <a:rPr lang="zh-CN" altLang="en-US" dirty="0" smtClean="0"/>
              <a:t>年汽车工业总体情况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2018</a:t>
            </a:r>
            <a:r>
              <a:rPr lang="zh-CN" altLang="en-US" sz="2800" dirty="0"/>
              <a:t>年</a:t>
            </a:r>
            <a:r>
              <a:rPr lang="en-US" altLang="zh-CN" sz="2800" dirty="0"/>
              <a:t>,</a:t>
            </a:r>
            <a:r>
              <a:rPr lang="zh-CN" altLang="en-US" sz="2800" dirty="0"/>
              <a:t>我国汽车工业总体运行平稳，受多方因素影响产销量同比下降，行业主要经济效益指标保持增长，但增幅回落。新能源汽车快速发展，产销量保持高速增长态势。</a:t>
            </a: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5" y="2802332"/>
            <a:ext cx="4313238" cy="24249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glow rad="139700">
              <a:schemeClr val="accent6">
                <a:satMod val="175000"/>
                <a:alpha val="40000"/>
              </a:schemeClr>
            </a:glow>
            <a:innerShdw blurRad="76200">
              <a:srgbClr val="000000"/>
            </a:innerShdw>
          </a:effectLst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77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2018</a:t>
            </a:r>
            <a:r>
              <a:rPr lang="zh-CN" altLang="en-US" dirty="0" smtClean="0"/>
              <a:t>年汽车销量同比下降</a:t>
            </a:r>
            <a:r>
              <a:rPr lang="en-US" altLang="zh-CN" dirty="0" smtClean="0"/>
              <a:t>2.8%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年，汽车产销分别完成</a:t>
            </a:r>
            <a:r>
              <a:rPr lang="en-US" altLang="zh-CN" dirty="0"/>
              <a:t>2780.9</a:t>
            </a:r>
            <a:r>
              <a:rPr lang="zh-CN" altLang="en-US" dirty="0"/>
              <a:t>万辆和</a:t>
            </a:r>
            <a:r>
              <a:rPr lang="en-US" altLang="zh-CN" dirty="0"/>
              <a:t>2808.1</a:t>
            </a:r>
            <a:r>
              <a:rPr lang="zh-CN" altLang="en-US" dirty="0"/>
              <a:t>万辆，同比分别下降</a:t>
            </a:r>
            <a:r>
              <a:rPr lang="en-US" altLang="zh-CN" dirty="0"/>
              <a:t>4.2%</a:t>
            </a:r>
            <a:r>
              <a:rPr lang="zh-CN" altLang="en-US" dirty="0"/>
              <a:t>和</a:t>
            </a:r>
            <a:r>
              <a:rPr lang="en-US" altLang="zh-CN" dirty="0"/>
              <a:t>2.8%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2018</a:t>
            </a:r>
            <a:r>
              <a:rPr lang="zh-CN" altLang="en-US" dirty="0"/>
              <a:t>年，中国品牌乘用车累计销售</a:t>
            </a:r>
            <a:r>
              <a:rPr lang="en-US" altLang="zh-CN" dirty="0"/>
              <a:t>998</a:t>
            </a:r>
            <a:r>
              <a:rPr lang="zh-CN" altLang="en-US" dirty="0"/>
              <a:t>万辆，同比下降</a:t>
            </a:r>
            <a:r>
              <a:rPr lang="en-US" altLang="zh-CN" dirty="0"/>
              <a:t>8%</a:t>
            </a:r>
            <a:r>
              <a:rPr lang="zh-CN" altLang="en-US" dirty="0"/>
              <a:t>，占乘用车销售总量的</a:t>
            </a:r>
            <a:r>
              <a:rPr lang="en-US" altLang="zh-CN" dirty="0"/>
              <a:t>42.1%</a:t>
            </a:r>
            <a:r>
              <a:rPr lang="zh-CN" altLang="en-US" dirty="0"/>
              <a:t>，占有率同比下降</a:t>
            </a:r>
            <a:r>
              <a:rPr lang="en-US" altLang="zh-CN" dirty="0"/>
              <a:t>1.8</a:t>
            </a:r>
            <a:r>
              <a:rPr lang="zh-CN" altLang="en-US" dirty="0"/>
              <a:t>个百分点；其中，轿车销量</a:t>
            </a:r>
            <a:r>
              <a:rPr lang="en-US" altLang="zh-CN" dirty="0"/>
              <a:t>239.9</a:t>
            </a:r>
            <a:r>
              <a:rPr lang="zh-CN" altLang="en-US" dirty="0"/>
              <a:t>万辆，同比增长</a:t>
            </a:r>
            <a:r>
              <a:rPr lang="en-US" altLang="zh-CN" dirty="0"/>
              <a:t>1.9%</a:t>
            </a:r>
            <a:r>
              <a:rPr lang="zh-CN" altLang="en-US" dirty="0"/>
              <a:t>，市场份额</a:t>
            </a:r>
            <a:r>
              <a:rPr lang="en-US" altLang="zh-CN" dirty="0"/>
              <a:t>20.8%</a:t>
            </a:r>
            <a:r>
              <a:rPr lang="zh-CN" altLang="en-US" dirty="0"/>
              <a:t>；</a:t>
            </a:r>
            <a:r>
              <a:rPr lang="en-US" altLang="zh-CN" dirty="0"/>
              <a:t>SUV</a:t>
            </a:r>
            <a:r>
              <a:rPr lang="zh-CN" altLang="en-US" dirty="0"/>
              <a:t>销量</a:t>
            </a:r>
            <a:r>
              <a:rPr lang="en-US" altLang="zh-CN" dirty="0"/>
              <a:t>580</a:t>
            </a:r>
            <a:r>
              <a:rPr lang="zh-CN" altLang="en-US" dirty="0"/>
              <a:t>万辆，同比下降</a:t>
            </a:r>
            <a:r>
              <a:rPr lang="en-US" altLang="zh-CN" dirty="0"/>
              <a:t>6.7%</a:t>
            </a:r>
            <a:r>
              <a:rPr lang="zh-CN" altLang="en-US" dirty="0"/>
              <a:t>，市场份额</a:t>
            </a:r>
            <a:r>
              <a:rPr lang="en-US" altLang="zh-CN" dirty="0"/>
              <a:t>58%</a:t>
            </a:r>
            <a:r>
              <a:rPr lang="zh-CN" altLang="en-US" dirty="0"/>
              <a:t>；</a:t>
            </a:r>
            <a:r>
              <a:rPr lang="en-US" altLang="zh-CN" dirty="0"/>
              <a:t>MPV</a:t>
            </a:r>
            <a:r>
              <a:rPr lang="zh-CN" altLang="en-US" dirty="0"/>
              <a:t>销量</a:t>
            </a:r>
            <a:r>
              <a:rPr lang="en-US" altLang="zh-CN" dirty="0"/>
              <a:t>132.8</a:t>
            </a:r>
            <a:r>
              <a:rPr lang="zh-CN" altLang="en-US" dirty="0"/>
              <a:t>万辆，同比下降</a:t>
            </a:r>
            <a:r>
              <a:rPr lang="en-US" altLang="zh-CN" dirty="0"/>
              <a:t>23.1%</a:t>
            </a:r>
            <a:r>
              <a:rPr lang="zh-CN" altLang="en-US" dirty="0"/>
              <a:t>，市场份额</a:t>
            </a:r>
            <a:r>
              <a:rPr lang="en-US" altLang="zh-CN" dirty="0"/>
              <a:t>76.6%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3240000"/>
            <a:ext cx="4867611" cy="32400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51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2018</a:t>
            </a:r>
            <a:r>
              <a:rPr lang="zh-CN" altLang="en-US" dirty="0" smtClean="0"/>
              <a:t>年汽车工业经济运行情况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一 乘用车销量同比下降</a:t>
            </a:r>
            <a:r>
              <a:rPr lang="en-US" altLang="zh-CN" dirty="0" smtClean="0"/>
              <a:t>4.1%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年，乘用车累计产销分别完成</a:t>
            </a:r>
            <a:r>
              <a:rPr lang="en-US" altLang="zh-CN" dirty="0"/>
              <a:t>2352.9</a:t>
            </a:r>
            <a:r>
              <a:rPr lang="zh-CN" altLang="en-US" dirty="0"/>
              <a:t>万辆和</a:t>
            </a:r>
            <a:r>
              <a:rPr lang="en-US" altLang="zh-CN" dirty="0"/>
              <a:t>2371</a:t>
            </a:r>
            <a:r>
              <a:rPr lang="zh-CN" altLang="en-US" dirty="0"/>
              <a:t>万辆，同比分别下降</a:t>
            </a:r>
            <a:r>
              <a:rPr lang="en-US" altLang="zh-CN" dirty="0"/>
              <a:t>5.2%</a:t>
            </a:r>
            <a:r>
              <a:rPr lang="zh-CN" altLang="en-US" dirty="0"/>
              <a:t>和</a:t>
            </a:r>
            <a:r>
              <a:rPr lang="en-US" altLang="zh-CN" dirty="0"/>
              <a:t>4.1%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其中，轿车产销分别完成</a:t>
            </a:r>
            <a:r>
              <a:rPr lang="en-US" altLang="zh-CN" dirty="0"/>
              <a:t>1146.6</a:t>
            </a:r>
            <a:r>
              <a:rPr lang="zh-CN" altLang="en-US" dirty="0"/>
              <a:t>万辆和</a:t>
            </a:r>
            <a:r>
              <a:rPr lang="en-US" altLang="zh-CN" dirty="0"/>
              <a:t>1152.8</a:t>
            </a:r>
            <a:r>
              <a:rPr lang="zh-CN" altLang="en-US" dirty="0"/>
              <a:t>万辆；</a:t>
            </a:r>
            <a:r>
              <a:rPr lang="en-US" altLang="zh-CN" dirty="0"/>
              <a:t>SUV</a:t>
            </a:r>
            <a:r>
              <a:rPr lang="zh-CN" altLang="en-US" dirty="0"/>
              <a:t>产销分别完成</a:t>
            </a:r>
            <a:r>
              <a:rPr lang="en-US" altLang="zh-CN" dirty="0"/>
              <a:t>995.9</a:t>
            </a:r>
            <a:r>
              <a:rPr lang="zh-CN" altLang="en-US" dirty="0"/>
              <a:t>万辆和</a:t>
            </a:r>
            <a:r>
              <a:rPr lang="en-US" altLang="zh-CN" dirty="0"/>
              <a:t>999.5</a:t>
            </a:r>
            <a:r>
              <a:rPr lang="zh-CN" altLang="en-US" dirty="0"/>
              <a:t>万辆；</a:t>
            </a:r>
            <a:r>
              <a:rPr lang="en-US" altLang="zh-CN" dirty="0"/>
              <a:t>MPV</a:t>
            </a:r>
            <a:r>
              <a:rPr lang="zh-CN" altLang="en-US" dirty="0"/>
              <a:t>产销分别完成</a:t>
            </a:r>
            <a:r>
              <a:rPr lang="en-US" altLang="zh-CN" dirty="0"/>
              <a:t>168.5</a:t>
            </a:r>
            <a:r>
              <a:rPr lang="zh-CN" altLang="en-US" dirty="0"/>
              <a:t>万辆和</a:t>
            </a:r>
            <a:r>
              <a:rPr lang="en-US" altLang="zh-CN" dirty="0"/>
              <a:t>173.5</a:t>
            </a:r>
            <a:r>
              <a:rPr lang="zh-CN" altLang="en-US" dirty="0"/>
              <a:t>万辆；交叉型乘用车产销分别完成</a:t>
            </a:r>
            <a:r>
              <a:rPr lang="en-US" altLang="zh-CN" dirty="0"/>
              <a:t>42</a:t>
            </a:r>
            <a:r>
              <a:rPr lang="zh-CN" altLang="en-US" dirty="0"/>
              <a:t>万辆和</a:t>
            </a:r>
            <a:r>
              <a:rPr lang="en-US" altLang="zh-CN" dirty="0"/>
              <a:t>45.3</a:t>
            </a:r>
            <a:r>
              <a:rPr lang="zh-CN" altLang="en-US" dirty="0"/>
              <a:t>万辆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 smtClean="0"/>
              <a:t>二 商用车销量同比增长</a:t>
            </a:r>
            <a:r>
              <a:rPr lang="en-US" altLang="zh-CN" dirty="0" smtClean="0"/>
              <a:t>5.1%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年，商用车累计产销分别完成</a:t>
            </a:r>
            <a:r>
              <a:rPr lang="en-US" altLang="zh-CN" dirty="0"/>
              <a:t>428</a:t>
            </a:r>
            <a:r>
              <a:rPr lang="zh-CN" altLang="en-US" dirty="0"/>
              <a:t>万辆和</a:t>
            </a:r>
            <a:r>
              <a:rPr lang="en-US" altLang="zh-CN" dirty="0"/>
              <a:t>437.1</a:t>
            </a:r>
            <a:r>
              <a:rPr lang="zh-CN" altLang="en-US" dirty="0"/>
              <a:t>万辆，同比分别增长</a:t>
            </a:r>
            <a:r>
              <a:rPr lang="en-US" altLang="zh-CN" dirty="0"/>
              <a:t>1.7%</a:t>
            </a:r>
            <a:r>
              <a:rPr lang="zh-CN" altLang="en-US" dirty="0"/>
              <a:t>和</a:t>
            </a:r>
            <a:r>
              <a:rPr lang="en-US" altLang="zh-CN" dirty="0"/>
              <a:t>5.1%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分车型产销情况看，客车产销同比分别下降</a:t>
            </a:r>
            <a:r>
              <a:rPr lang="en-US" altLang="zh-CN" dirty="0"/>
              <a:t>7%</a:t>
            </a:r>
            <a:r>
              <a:rPr lang="zh-CN" altLang="en-US" dirty="0"/>
              <a:t>和</a:t>
            </a:r>
            <a:r>
              <a:rPr lang="en-US" altLang="zh-CN" dirty="0"/>
              <a:t>8%</a:t>
            </a:r>
            <a:r>
              <a:rPr lang="zh-CN" altLang="en-US" dirty="0"/>
              <a:t>；货车产销同比分别增长</a:t>
            </a:r>
            <a:r>
              <a:rPr lang="en-US" altLang="zh-CN" dirty="0"/>
              <a:t>2.9%</a:t>
            </a:r>
            <a:r>
              <a:rPr lang="zh-CN" altLang="en-US" dirty="0"/>
              <a:t>和</a:t>
            </a:r>
            <a:r>
              <a:rPr lang="en-US" altLang="zh-CN" dirty="0"/>
              <a:t>6.9%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80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2018</a:t>
            </a:r>
            <a:r>
              <a:rPr lang="zh-CN" altLang="en-US" dirty="0" smtClean="0"/>
              <a:t>年新能源汽车销售情况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年，新能源汽车产销分别完成</a:t>
            </a:r>
            <a:r>
              <a:rPr lang="en-US" altLang="zh-CN" dirty="0"/>
              <a:t>127</a:t>
            </a:r>
            <a:r>
              <a:rPr lang="zh-CN" altLang="en-US" dirty="0"/>
              <a:t>万辆和</a:t>
            </a:r>
            <a:r>
              <a:rPr lang="en-US" altLang="zh-CN" dirty="0"/>
              <a:t>125.6</a:t>
            </a:r>
            <a:r>
              <a:rPr lang="zh-CN" altLang="en-US" dirty="0"/>
              <a:t>万辆，同比分别增长</a:t>
            </a:r>
            <a:r>
              <a:rPr lang="en-US" altLang="zh-CN" dirty="0"/>
              <a:t>59.9%</a:t>
            </a:r>
            <a:r>
              <a:rPr lang="zh-CN" altLang="en-US" dirty="0"/>
              <a:t>和</a:t>
            </a:r>
            <a:r>
              <a:rPr lang="en-US" altLang="zh-CN" dirty="0"/>
              <a:t>61.7%</a:t>
            </a:r>
            <a:r>
              <a:rPr lang="zh-CN" altLang="en-US" dirty="0"/>
              <a:t>。其中，纯电动汽车产销分别完成</a:t>
            </a:r>
            <a:r>
              <a:rPr lang="en-US" altLang="zh-CN" dirty="0"/>
              <a:t>98.6</a:t>
            </a:r>
            <a:r>
              <a:rPr lang="zh-CN" altLang="en-US" dirty="0"/>
              <a:t>万辆和</a:t>
            </a:r>
            <a:r>
              <a:rPr lang="en-US" altLang="zh-CN" dirty="0"/>
              <a:t>98.4</a:t>
            </a:r>
            <a:r>
              <a:rPr lang="zh-CN" altLang="en-US" dirty="0"/>
              <a:t>万辆，同比分别增长</a:t>
            </a:r>
            <a:r>
              <a:rPr lang="en-US" altLang="zh-CN" dirty="0"/>
              <a:t>47.9%</a:t>
            </a:r>
            <a:r>
              <a:rPr lang="zh-CN" altLang="en-US" dirty="0"/>
              <a:t>和</a:t>
            </a:r>
            <a:r>
              <a:rPr lang="en-US" altLang="zh-CN" dirty="0"/>
              <a:t>50.8%</a:t>
            </a:r>
            <a:r>
              <a:rPr lang="zh-CN" altLang="en-US" dirty="0"/>
              <a:t>；插电式混合动力汽车产销分别为</a:t>
            </a:r>
            <a:r>
              <a:rPr lang="en-US" altLang="zh-CN" dirty="0"/>
              <a:t>28.3</a:t>
            </a:r>
            <a:r>
              <a:rPr lang="zh-CN" altLang="en-US" dirty="0"/>
              <a:t>万辆和</a:t>
            </a:r>
            <a:r>
              <a:rPr lang="en-US" altLang="zh-CN" dirty="0"/>
              <a:t>27.1</a:t>
            </a:r>
            <a:r>
              <a:rPr lang="zh-CN" altLang="en-US" dirty="0"/>
              <a:t>万辆，同比分别增长</a:t>
            </a:r>
            <a:r>
              <a:rPr lang="en-US" altLang="zh-CN" dirty="0"/>
              <a:t>122%</a:t>
            </a:r>
            <a:r>
              <a:rPr lang="zh-CN" altLang="en-US" dirty="0"/>
              <a:t>和</a:t>
            </a:r>
            <a:r>
              <a:rPr lang="en-US" altLang="zh-CN" dirty="0"/>
              <a:t>118%</a:t>
            </a:r>
            <a:r>
              <a:rPr lang="zh-CN" altLang="en-US" dirty="0"/>
              <a:t>；燃料电池汽车产销均完成</a:t>
            </a:r>
            <a:r>
              <a:rPr lang="en-US" altLang="zh-CN" dirty="0"/>
              <a:t>1527</a:t>
            </a:r>
            <a:r>
              <a:rPr lang="zh-CN" altLang="en-US" dirty="0"/>
              <a:t>辆。</a:t>
            </a:r>
          </a:p>
          <a:p>
            <a:r>
              <a:rPr lang="en-US" altLang="zh-CN" dirty="0"/>
              <a:t>12</a:t>
            </a:r>
            <a:r>
              <a:rPr lang="zh-CN" altLang="en-US" dirty="0"/>
              <a:t>月，新能源汽车产销分别完成</a:t>
            </a:r>
            <a:r>
              <a:rPr lang="en-US" altLang="zh-CN" dirty="0"/>
              <a:t>21.4</a:t>
            </a:r>
            <a:r>
              <a:rPr lang="zh-CN" altLang="en-US" dirty="0"/>
              <a:t>万辆和</a:t>
            </a:r>
            <a:r>
              <a:rPr lang="en-US" altLang="zh-CN" dirty="0"/>
              <a:t>22.5</a:t>
            </a:r>
            <a:r>
              <a:rPr lang="zh-CN" altLang="en-US" dirty="0"/>
              <a:t>万辆，同比分别增长</a:t>
            </a:r>
            <a:r>
              <a:rPr lang="en-US" altLang="zh-CN" dirty="0"/>
              <a:t>43.4%</a:t>
            </a:r>
            <a:r>
              <a:rPr lang="zh-CN" altLang="en-US" dirty="0"/>
              <a:t>和</a:t>
            </a:r>
            <a:r>
              <a:rPr lang="en-US" altLang="zh-CN" dirty="0"/>
              <a:t>38.2%</a:t>
            </a:r>
            <a:r>
              <a:rPr lang="zh-CN" altLang="en-US" dirty="0"/>
              <a:t>。其中，纯电动汽车产销分别完成</a:t>
            </a:r>
            <a:r>
              <a:rPr lang="en-US" altLang="zh-CN" dirty="0"/>
              <a:t>17.7</a:t>
            </a:r>
            <a:r>
              <a:rPr lang="zh-CN" altLang="en-US" dirty="0"/>
              <a:t>万辆和</a:t>
            </a:r>
            <a:r>
              <a:rPr lang="en-US" altLang="zh-CN" dirty="0"/>
              <a:t>19.2</a:t>
            </a:r>
            <a:r>
              <a:rPr lang="zh-CN" altLang="en-US" dirty="0"/>
              <a:t>万辆，同比分别增长</a:t>
            </a:r>
            <a:r>
              <a:rPr lang="en-US" altLang="zh-CN" dirty="0"/>
              <a:t>37.2%</a:t>
            </a:r>
            <a:r>
              <a:rPr lang="zh-CN" altLang="en-US" dirty="0"/>
              <a:t>和</a:t>
            </a:r>
            <a:r>
              <a:rPr lang="en-US" altLang="zh-CN" dirty="0"/>
              <a:t>33.5%</a:t>
            </a:r>
            <a:r>
              <a:rPr lang="zh-CN" altLang="en-US" dirty="0"/>
              <a:t>；插电式混合动力汽车产销分别完成</a:t>
            </a:r>
            <a:r>
              <a:rPr lang="en-US" altLang="zh-CN" dirty="0"/>
              <a:t>3.6</a:t>
            </a:r>
            <a:r>
              <a:rPr lang="zh-CN" altLang="en-US" dirty="0"/>
              <a:t>万辆和</a:t>
            </a:r>
            <a:r>
              <a:rPr lang="en-US" altLang="zh-CN" dirty="0"/>
              <a:t>3.2</a:t>
            </a:r>
            <a:r>
              <a:rPr lang="zh-CN" altLang="en-US" dirty="0"/>
              <a:t>万辆，同比分别增长</a:t>
            </a:r>
            <a:r>
              <a:rPr lang="en-US" altLang="zh-CN" dirty="0"/>
              <a:t>78%</a:t>
            </a:r>
            <a:r>
              <a:rPr lang="zh-CN" altLang="en-US" dirty="0"/>
              <a:t>和</a:t>
            </a:r>
            <a:r>
              <a:rPr lang="en-US" altLang="zh-CN" dirty="0"/>
              <a:t>67.9%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中国汽车工业协会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88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181</TotalTime>
  <Words>548</Words>
  <Application>Microsoft Office PowerPoint</Application>
  <PresentationFormat>宽屏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隶书</vt:lpstr>
      <vt:lpstr>微软雅黑</vt:lpstr>
      <vt:lpstr>幼圆</vt:lpstr>
      <vt:lpstr>Arial</vt:lpstr>
      <vt:lpstr>Century Gothic</vt:lpstr>
      <vt:lpstr>Wingdings 3</vt:lpstr>
      <vt:lpstr>丝状</vt:lpstr>
      <vt:lpstr>2018年中国汽车产销权威数据</vt:lpstr>
      <vt:lpstr>目录</vt:lpstr>
      <vt:lpstr>2018年汽车工业总体情况</vt:lpstr>
      <vt:lpstr>2018年汽车销量同比下降2.8%</vt:lpstr>
      <vt:lpstr>2018年汽车工业经济运行情况</vt:lpstr>
      <vt:lpstr>2018年新能源汽车销售情况</vt:lpstr>
    </vt:vector>
  </TitlesOfParts>
  <Company> user1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用户11</dc:creator>
  <cp:lastModifiedBy>AutoBVT</cp:lastModifiedBy>
  <cp:revision>12</cp:revision>
  <dcterms:created xsi:type="dcterms:W3CDTF">2021-04-16T03:32:48Z</dcterms:created>
  <dcterms:modified xsi:type="dcterms:W3CDTF">2021-04-17T09:52:27Z</dcterms:modified>
</cp:coreProperties>
</file>