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5" r:id="rId8"/>
    <p:sldId id="262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78" y="9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cap="all" spc="50" baseline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pPr>
            <a:r>
              <a:rPr lang="zh-CN"/>
              <a:t>收入组成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all" spc="50" baseline="0">
              <a:solidFill>
                <a:srgbClr val="0070C0"/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百分比</c:v>
                </c:pt>
              </c:strCache>
            </c:strRef>
          </c:tx>
          <c:explosion val="1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8516-45FE-88F9-F16D988B2FF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8516-45FE-88F9-F16D988B2FF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8516-45FE-88F9-F16D988B2FF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8516-45FE-88F9-F16D988B2FFD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8516-45FE-88F9-F16D988B2FF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rgbClr val="0070C0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Sheet1!$A$2:$A$6</c:f>
              <c:strCache>
                <c:ptCount val="5"/>
                <c:pt idx="0">
                  <c:v>烟酒</c:v>
                </c:pt>
                <c:pt idx="1">
                  <c:v>旅游</c:v>
                </c:pt>
                <c:pt idx="2">
                  <c:v>农产品</c:v>
                </c:pt>
                <c:pt idx="3">
                  <c:v>直销</c:v>
                </c:pt>
                <c:pt idx="4">
                  <c:v>其他</c:v>
                </c:pt>
              </c:strCache>
            </c:strRef>
          </c:cat>
          <c:val>
            <c:numRef>
              <c:f>Sheet1!$B$2:$B$6</c:f>
              <c:numCache>
                <c:formatCode>0.00%</c:formatCode>
                <c:ptCount val="5"/>
                <c:pt idx="0">
                  <c:v>0.26900000000000002</c:v>
                </c:pt>
                <c:pt idx="1">
                  <c:v>0.20899999999999999</c:v>
                </c:pt>
                <c:pt idx="2">
                  <c:v>0.16600000000000001</c:v>
                </c:pt>
                <c:pt idx="3">
                  <c:v>0.14099999999999999</c:v>
                </c:pt>
                <c:pt idx="4">
                  <c:v>0.214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C9-494A-874F-1F626EEA3410}"/>
            </c:ext>
          </c:extLst>
        </c:ser>
        <c:dLbls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rgbClr val="0070C0"/>
          </a:solidFill>
        </a:defRPr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slide" Target="../slides/slide4.xml"/><Relationship Id="rId1" Type="http://schemas.openxmlformats.org/officeDocument/2006/relationships/slide" Target="../slides/slide3.xml"/><Relationship Id="rId5" Type="http://schemas.openxmlformats.org/officeDocument/2006/relationships/slide" Target="../slides/slide7.xml"/><Relationship Id="rId4" Type="http://schemas.openxmlformats.org/officeDocument/2006/relationships/slide" Target="../slides/slide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AF14BF-EC4B-40CB-86F1-99AA4C654A21}" type="doc">
      <dgm:prSet loTypeId="urn:microsoft.com/office/officeart/2008/layout/VerticalCurvedList" loCatId="list" qsTypeId="urn:microsoft.com/office/officeart/2005/8/quickstyle/3d3" qsCatId="3D" csTypeId="urn:microsoft.com/office/officeart/2005/8/colors/colorful1" csCatId="colorful" phldr="1"/>
      <dgm:spPr/>
      <dgm:t>
        <a:bodyPr/>
        <a:lstStyle/>
        <a:p>
          <a:endParaRPr lang="zh-CN" altLang="en-US"/>
        </a:p>
      </dgm:t>
    </dgm:pt>
    <dgm:pt modelId="{D8A0780B-4AB6-498E-ACA1-2F6BA92B251A}">
      <dgm:prSet/>
      <dgm:spPr/>
      <dgm:t>
        <a:bodyPr/>
        <a:lstStyle/>
        <a:p>
          <a:pPr rtl="0"/>
          <a:r>
            <a:rPr lang="zh-CN" dirty="0" smtClean="0"/>
            <a:t>业绩分析</a:t>
          </a:r>
          <a:endParaRPr lang="zh-CN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E12FA947-01EC-434C-A953-B147AAC2282D}" type="parTrans" cxnId="{4ACFD04B-9A48-42A1-928E-45D190E292FA}">
      <dgm:prSet/>
      <dgm:spPr/>
      <dgm:t>
        <a:bodyPr/>
        <a:lstStyle/>
        <a:p>
          <a:endParaRPr lang="zh-CN" altLang="en-US"/>
        </a:p>
      </dgm:t>
    </dgm:pt>
    <dgm:pt modelId="{0FC08D10-C101-4713-A910-5073C2CB6485}" type="sibTrans" cxnId="{4ACFD04B-9A48-42A1-928E-45D190E292FA}">
      <dgm:prSet/>
      <dgm:spPr/>
      <dgm:t>
        <a:bodyPr/>
        <a:lstStyle/>
        <a:p>
          <a:endParaRPr lang="zh-CN" altLang="en-US"/>
        </a:p>
      </dgm:t>
    </dgm:pt>
    <dgm:pt modelId="{5170E987-D698-492B-83DA-B4EAE19A6BB7}">
      <dgm:prSet/>
      <dgm:spPr/>
      <dgm:t>
        <a:bodyPr/>
        <a:lstStyle/>
        <a:p>
          <a:pPr rtl="0"/>
          <a:r>
            <a:rPr lang="zh-CN" smtClean="0"/>
            <a:t>收入分析</a:t>
          </a:r>
          <a:endParaRPr lang="zh-CN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2D8F7544-44BA-4CAC-82EA-B9F9DD858456}" type="parTrans" cxnId="{EAA98F44-6393-40FF-9B50-4FF45EF82FE4}">
      <dgm:prSet/>
      <dgm:spPr/>
      <dgm:t>
        <a:bodyPr/>
        <a:lstStyle/>
        <a:p>
          <a:endParaRPr lang="zh-CN" altLang="en-US"/>
        </a:p>
      </dgm:t>
    </dgm:pt>
    <dgm:pt modelId="{509D3645-C12E-4077-8CBB-A735F9EA785F}" type="sibTrans" cxnId="{EAA98F44-6393-40FF-9B50-4FF45EF82FE4}">
      <dgm:prSet/>
      <dgm:spPr/>
      <dgm:t>
        <a:bodyPr/>
        <a:lstStyle/>
        <a:p>
          <a:endParaRPr lang="zh-CN" altLang="en-US"/>
        </a:p>
      </dgm:t>
    </dgm:pt>
    <dgm:pt modelId="{C9F397BF-7E84-4E71-952B-FEB19D6B2C43}">
      <dgm:prSet/>
      <dgm:spPr/>
      <dgm:t>
        <a:bodyPr/>
        <a:lstStyle/>
        <a:p>
          <a:pPr rtl="0"/>
          <a:r>
            <a:rPr lang="zh-CN" smtClean="0"/>
            <a:t>市场业绩</a:t>
          </a:r>
          <a:endParaRPr lang="zh-CN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 action="ppaction://hlinksldjump"/>
          </dgm14:cNvPr>
        </a:ext>
      </dgm:extLst>
    </dgm:pt>
    <dgm:pt modelId="{7A73CC5B-583A-4162-B830-39AB507EB03F}" type="parTrans" cxnId="{D21ABE72-CEEB-4775-AB32-8DBBAD27AC70}">
      <dgm:prSet/>
      <dgm:spPr/>
      <dgm:t>
        <a:bodyPr/>
        <a:lstStyle/>
        <a:p>
          <a:endParaRPr lang="zh-CN" altLang="en-US"/>
        </a:p>
      </dgm:t>
    </dgm:pt>
    <dgm:pt modelId="{CE6DBF55-371F-4212-BEDF-09311C5AB941}" type="sibTrans" cxnId="{D21ABE72-CEEB-4775-AB32-8DBBAD27AC70}">
      <dgm:prSet/>
      <dgm:spPr/>
      <dgm:t>
        <a:bodyPr/>
        <a:lstStyle/>
        <a:p>
          <a:endParaRPr lang="zh-CN" altLang="en-US"/>
        </a:p>
      </dgm:t>
    </dgm:pt>
    <dgm:pt modelId="{52B256F4-04FF-4A66-A540-414861A7F900}">
      <dgm:prSet/>
      <dgm:spPr/>
      <dgm:t>
        <a:bodyPr/>
        <a:lstStyle/>
        <a:p>
          <a:pPr rtl="0"/>
          <a:r>
            <a:rPr lang="zh-CN" dirty="0" smtClean="0"/>
            <a:t>收入</a:t>
          </a:r>
          <a:endParaRPr lang="zh-CN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4" action="ppaction://hlinksldjump"/>
          </dgm14:cNvPr>
        </a:ext>
      </dgm:extLst>
    </dgm:pt>
    <dgm:pt modelId="{52F09EE4-6DD5-4FBC-ADC9-BFCB6C209BCA}" type="parTrans" cxnId="{BDC87213-BA51-497E-B296-8DCB8CF923A3}">
      <dgm:prSet/>
      <dgm:spPr/>
      <dgm:t>
        <a:bodyPr/>
        <a:lstStyle/>
        <a:p>
          <a:endParaRPr lang="zh-CN" altLang="en-US"/>
        </a:p>
      </dgm:t>
    </dgm:pt>
    <dgm:pt modelId="{672AFF28-C082-4FB4-85C0-7C8A5DBB7624}" type="sibTrans" cxnId="{BDC87213-BA51-497E-B296-8DCB8CF923A3}">
      <dgm:prSet/>
      <dgm:spPr/>
      <dgm:t>
        <a:bodyPr/>
        <a:lstStyle/>
        <a:p>
          <a:endParaRPr lang="zh-CN" altLang="en-US"/>
        </a:p>
      </dgm:t>
    </dgm:pt>
    <dgm:pt modelId="{1340A9CA-2097-47FA-A7B8-B6F05BDCC17A}">
      <dgm:prSet/>
      <dgm:spPr/>
      <dgm:t>
        <a:bodyPr/>
        <a:lstStyle/>
        <a:p>
          <a:pPr rtl="0"/>
          <a:r>
            <a:rPr lang="zh-CN" dirty="0" smtClean="0"/>
            <a:t>收入组成</a:t>
          </a:r>
          <a:endParaRPr lang="zh-CN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5" action="ppaction://hlinksldjump"/>
          </dgm14:cNvPr>
        </a:ext>
      </dgm:extLst>
    </dgm:pt>
    <dgm:pt modelId="{995E72E4-55E8-4083-89E8-77611F89DA19}" type="parTrans" cxnId="{9F376886-009B-4FC8-B358-F3A17BE405E4}">
      <dgm:prSet/>
      <dgm:spPr/>
      <dgm:t>
        <a:bodyPr/>
        <a:lstStyle/>
        <a:p>
          <a:endParaRPr lang="zh-CN" altLang="en-US"/>
        </a:p>
      </dgm:t>
    </dgm:pt>
    <dgm:pt modelId="{984CDF47-4A6B-4615-9933-8D8AE48457A2}" type="sibTrans" cxnId="{9F376886-009B-4FC8-B358-F3A17BE405E4}">
      <dgm:prSet/>
      <dgm:spPr/>
      <dgm:t>
        <a:bodyPr/>
        <a:lstStyle/>
        <a:p>
          <a:endParaRPr lang="zh-CN" altLang="en-US"/>
        </a:p>
      </dgm:t>
    </dgm:pt>
    <dgm:pt modelId="{F53C0223-6D13-4C80-BEF5-3B33585126D6}" type="pres">
      <dgm:prSet presAssocID="{28AF14BF-EC4B-40CB-86F1-99AA4C654A21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zh-CN" altLang="en-US"/>
        </a:p>
      </dgm:t>
    </dgm:pt>
    <dgm:pt modelId="{64E91F17-A5B8-4EB6-B805-EBF66C940907}" type="pres">
      <dgm:prSet presAssocID="{28AF14BF-EC4B-40CB-86F1-99AA4C654A21}" presName="Name1" presStyleCnt="0"/>
      <dgm:spPr/>
    </dgm:pt>
    <dgm:pt modelId="{5891AD9E-8861-4F4C-A70E-DC155EC068EB}" type="pres">
      <dgm:prSet presAssocID="{28AF14BF-EC4B-40CB-86F1-99AA4C654A21}" presName="cycle" presStyleCnt="0"/>
      <dgm:spPr/>
    </dgm:pt>
    <dgm:pt modelId="{731D45FF-C83C-43D0-93FD-4053EAC2B03A}" type="pres">
      <dgm:prSet presAssocID="{28AF14BF-EC4B-40CB-86F1-99AA4C654A21}" presName="srcNode" presStyleLbl="node1" presStyleIdx="0" presStyleCnt="5"/>
      <dgm:spPr/>
    </dgm:pt>
    <dgm:pt modelId="{832B7A47-8E4E-485F-9F15-C4C50762B9AA}" type="pres">
      <dgm:prSet presAssocID="{28AF14BF-EC4B-40CB-86F1-99AA4C654A21}" presName="conn" presStyleLbl="parChTrans1D2" presStyleIdx="0" presStyleCnt="1"/>
      <dgm:spPr/>
      <dgm:t>
        <a:bodyPr/>
        <a:lstStyle/>
        <a:p>
          <a:endParaRPr lang="zh-CN" altLang="en-US"/>
        </a:p>
      </dgm:t>
    </dgm:pt>
    <dgm:pt modelId="{D40FCECE-4659-49A8-ACA8-BEDDB0178710}" type="pres">
      <dgm:prSet presAssocID="{28AF14BF-EC4B-40CB-86F1-99AA4C654A21}" presName="extraNode" presStyleLbl="node1" presStyleIdx="0" presStyleCnt="5"/>
      <dgm:spPr/>
    </dgm:pt>
    <dgm:pt modelId="{676D452C-1891-4459-B864-32A01D961631}" type="pres">
      <dgm:prSet presAssocID="{28AF14BF-EC4B-40CB-86F1-99AA4C654A21}" presName="dstNode" presStyleLbl="node1" presStyleIdx="0" presStyleCnt="5"/>
      <dgm:spPr/>
    </dgm:pt>
    <dgm:pt modelId="{1A99A5E5-ABE8-4B9C-BDC7-BB1171620863}" type="pres">
      <dgm:prSet presAssocID="{D8A0780B-4AB6-498E-ACA1-2F6BA92B251A}" presName="text_1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A79DEA8-4032-444A-901F-066FA6AA8C2D}" type="pres">
      <dgm:prSet presAssocID="{D8A0780B-4AB6-498E-ACA1-2F6BA92B251A}" presName="accent_1" presStyleCnt="0"/>
      <dgm:spPr/>
    </dgm:pt>
    <dgm:pt modelId="{D6A5A3E0-D8EE-48A1-B4A1-CB24FA746A86}" type="pres">
      <dgm:prSet presAssocID="{D8A0780B-4AB6-498E-ACA1-2F6BA92B251A}" presName="accentRepeatNode" presStyleLbl="solidFgAcc1" presStyleIdx="0" presStyleCnt="5"/>
      <dgm:spPr/>
    </dgm:pt>
    <dgm:pt modelId="{3E7AB3B9-FFD3-4850-8BDB-2779A89A9722}" type="pres">
      <dgm:prSet presAssocID="{5170E987-D698-492B-83DA-B4EAE19A6BB7}" presName="text_2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F947F84-8AF9-4C0B-9023-A008064254B4}" type="pres">
      <dgm:prSet presAssocID="{5170E987-D698-492B-83DA-B4EAE19A6BB7}" presName="accent_2" presStyleCnt="0"/>
      <dgm:spPr/>
    </dgm:pt>
    <dgm:pt modelId="{459FCD99-23DE-423B-9CCE-3137941DEC61}" type="pres">
      <dgm:prSet presAssocID="{5170E987-D698-492B-83DA-B4EAE19A6BB7}" presName="accentRepeatNode" presStyleLbl="solidFgAcc1" presStyleIdx="1" presStyleCnt="5"/>
      <dgm:spPr/>
    </dgm:pt>
    <dgm:pt modelId="{94A82D53-1021-466D-A48F-EB0145C99717}" type="pres">
      <dgm:prSet presAssocID="{C9F397BF-7E84-4E71-952B-FEB19D6B2C43}" presName="text_3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26F4B1E-E372-4BF4-AE34-47A98616F3FE}" type="pres">
      <dgm:prSet presAssocID="{C9F397BF-7E84-4E71-952B-FEB19D6B2C43}" presName="accent_3" presStyleCnt="0"/>
      <dgm:spPr/>
    </dgm:pt>
    <dgm:pt modelId="{080DFD11-DF51-43EA-A8EC-47EB24174F32}" type="pres">
      <dgm:prSet presAssocID="{C9F397BF-7E84-4E71-952B-FEB19D6B2C43}" presName="accentRepeatNode" presStyleLbl="solidFgAcc1" presStyleIdx="2" presStyleCnt="5"/>
      <dgm:spPr/>
    </dgm:pt>
    <dgm:pt modelId="{1C252D63-BE6D-4F9A-94A7-4EFD95F61EF9}" type="pres">
      <dgm:prSet presAssocID="{52B256F4-04FF-4A66-A540-414861A7F900}" presName="text_4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C95F793-C5E2-4781-89BA-032B925E8DDD}" type="pres">
      <dgm:prSet presAssocID="{52B256F4-04FF-4A66-A540-414861A7F900}" presName="accent_4" presStyleCnt="0"/>
      <dgm:spPr/>
    </dgm:pt>
    <dgm:pt modelId="{11354ABF-32C7-4E83-8441-3484F3EB9759}" type="pres">
      <dgm:prSet presAssocID="{52B256F4-04FF-4A66-A540-414861A7F900}" presName="accentRepeatNode" presStyleLbl="solidFgAcc1" presStyleIdx="3" presStyleCnt="5"/>
      <dgm:spPr/>
    </dgm:pt>
    <dgm:pt modelId="{5C2D79A0-826D-4A11-BC77-478FB09DB5E8}" type="pres">
      <dgm:prSet presAssocID="{1340A9CA-2097-47FA-A7B8-B6F05BDCC17A}" presName="text_5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2B8329F-3AC7-49C0-ABBA-5C4426F771B0}" type="pres">
      <dgm:prSet presAssocID="{1340A9CA-2097-47FA-A7B8-B6F05BDCC17A}" presName="accent_5" presStyleCnt="0"/>
      <dgm:spPr/>
    </dgm:pt>
    <dgm:pt modelId="{9E2B6869-67A9-4C2D-AC10-F4E2818C8865}" type="pres">
      <dgm:prSet presAssocID="{1340A9CA-2097-47FA-A7B8-B6F05BDCC17A}" presName="accentRepeatNode" presStyleLbl="solidFgAcc1" presStyleIdx="4" presStyleCnt="5"/>
      <dgm:spPr/>
    </dgm:pt>
  </dgm:ptLst>
  <dgm:cxnLst>
    <dgm:cxn modelId="{EAA98F44-6393-40FF-9B50-4FF45EF82FE4}" srcId="{28AF14BF-EC4B-40CB-86F1-99AA4C654A21}" destId="{5170E987-D698-492B-83DA-B4EAE19A6BB7}" srcOrd="1" destOrd="0" parTransId="{2D8F7544-44BA-4CAC-82EA-B9F9DD858456}" sibTransId="{509D3645-C12E-4077-8CBB-A735F9EA785F}"/>
    <dgm:cxn modelId="{D21ABE72-CEEB-4775-AB32-8DBBAD27AC70}" srcId="{28AF14BF-EC4B-40CB-86F1-99AA4C654A21}" destId="{C9F397BF-7E84-4E71-952B-FEB19D6B2C43}" srcOrd="2" destOrd="0" parTransId="{7A73CC5B-583A-4162-B830-39AB507EB03F}" sibTransId="{CE6DBF55-371F-4212-BEDF-09311C5AB941}"/>
    <dgm:cxn modelId="{FE7D43B5-EDA5-49DF-8344-0F0687CF5F0C}" type="presOf" srcId="{0FC08D10-C101-4713-A910-5073C2CB6485}" destId="{832B7A47-8E4E-485F-9F15-C4C50762B9AA}" srcOrd="0" destOrd="0" presId="urn:microsoft.com/office/officeart/2008/layout/VerticalCurvedList"/>
    <dgm:cxn modelId="{8EF45EF2-D412-4BB7-84FE-400C1DEBA449}" type="presOf" srcId="{52B256F4-04FF-4A66-A540-414861A7F900}" destId="{1C252D63-BE6D-4F9A-94A7-4EFD95F61EF9}" srcOrd="0" destOrd="0" presId="urn:microsoft.com/office/officeart/2008/layout/VerticalCurvedList"/>
    <dgm:cxn modelId="{64D0B0AB-6FE8-4BF7-84C5-939724713351}" type="presOf" srcId="{5170E987-D698-492B-83DA-B4EAE19A6BB7}" destId="{3E7AB3B9-FFD3-4850-8BDB-2779A89A9722}" srcOrd="0" destOrd="0" presId="urn:microsoft.com/office/officeart/2008/layout/VerticalCurvedList"/>
    <dgm:cxn modelId="{4ACFD04B-9A48-42A1-928E-45D190E292FA}" srcId="{28AF14BF-EC4B-40CB-86F1-99AA4C654A21}" destId="{D8A0780B-4AB6-498E-ACA1-2F6BA92B251A}" srcOrd="0" destOrd="0" parTransId="{E12FA947-01EC-434C-A953-B147AAC2282D}" sibTransId="{0FC08D10-C101-4713-A910-5073C2CB6485}"/>
    <dgm:cxn modelId="{BDC87213-BA51-497E-B296-8DCB8CF923A3}" srcId="{28AF14BF-EC4B-40CB-86F1-99AA4C654A21}" destId="{52B256F4-04FF-4A66-A540-414861A7F900}" srcOrd="3" destOrd="0" parTransId="{52F09EE4-6DD5-4FBC-ADC9-BFCB6C209BCA}" sibTransId="{672AFF28-C082-4FB4-85C0-7C8A5DBB7624}"/>
    <dgm:cxn modelId="{C1FBB46D-3D8F-49AF-947C-A36742ABE4A6}" type="presOf" srcId="{1340A9CA-2097-47FA-A7B8-B6F05BDCC17A}" destId="{5C2D79A0-826D-4A11-BC77-478FB09DB5E8}" srcOrd="0" destOrd="0" presId="urn:microsoft.com/office/officeart/2008/layout/VerticalCurvedList"/>
    <dgm:cxn modelId="{1539E354-2713-4D58-A841-CBA08DF9E69E}" type="presOf" srcId="{C9F397BF-7E84-4E71-952B-FEB19D6B2C43}" destId="{94A82D53-1021-466D-A48F-EB0145C99717}" srcOrd="0" destOrd="0" presId="urn:microsoft.com/office/officeart/2008/layout/VerticalCurvedList"/>
    <dgm:cxn modelId="{9F376886-009B-4FC8-B358-F3A17BE405E4}" srcId="{28AF14BF-EC4B-40CB-86F1-99AA4C654A21}" destId="{1340A9CA-2097-47FA-A7B8-B6F05BDCC17A}" srcOrd="4" destOrd="0" parTransId="{995E72E4-55E8-4083-89E8-77611F89DA19}" sibTransId="{984CDF47-4A6B-4615-9933-8D8AE48457A2}"/>
    <dgm:cxn modelId="{5DF54DAB-B83C-42EC-9899-2A8CA8F746D0}" type="presOf" srcId="{28AF14BF-EC4B-40CB-86F1-99AA4C654A21}" destId="{F53C0223-6D13-4C80-BEF5-3B33585126D6}" srcOrd="0" destOrd="0" presId="urn:microsoft.com/office/officeart/2008/layout/VerticalCurvedList"/>
    <dgm:cxn modelId="{055F483D-1A47-448C-9654-21F1B6A9037F}" type="presOf" srcId="{D8A0780B-4AB6-498E-ACA1-2F6BA92B251A}" destId="{1A99A5E5-ABE8-4B9C-BDC7-BB1171620863}" srcOrd="0" destOrd="0" presId="urn:microsoft.com/office/officeart/2008/layout/VerticalCurvedList"/>
    <dgm:cxn modelId="{F371F339-197C-4501-9C54-20F9C5B4C36D}" type="presParOf" srcId="{F53C0223-6D13-4C80-BEF5-3B33585126D6}" destId="{64E91F17-A5B8-4EB6-B805-EBF66C940907}" srcOrd="0" destOrd="0" presId="urn:microsoft.com/office/officeart/2008/layout/VerticalCurvedList"/>
    <dgm:cxn modelId="{624BCF19-620C-4A3B-B03E-25D2BCA03525}" type="presParOf" srcId="{64E91F17-A5B8-4EB6-B805-EBF66C940907}" destId="{5891AD9E-8861-4F4C-A70E-DC155EC068EB}" srcOrd="0" destOrd="0" presId="urn:microsoft.com/office/officeart/2008/layout/VerticalCurvedList"/>
    <dgm:cxn modelId="{2E3E2FC6-105F-41AE-B6C2-6881FFE7B3E4}" type="presParOf" srcId="{5891AD9E-8861-4F4C-A70E-DC155EC068EB}" destId="{731D45FF-C83C-43D0-93FD-4053EAC2B03A}" srcOrd="0" destOrd="0" presId="urn:microsoft.com/office/officeart/2008/layout/VerticalCurvedList"/>
    <dgm:cxn modelId="{2B419D8A-9CE2-4FE9-B85C-BFC02FE5117B}" type="presParOf" srcId="{5891AD9E-8861-4F4C-A70E-DC155EC068EB}" destId="{832B7A47-8E4E-485F-9F15-C4C50762B9AA}" srcOrd="1" destOrd="0" presId="urn:microsoft.com/office/officeart/2008/layout/VerticalCurvedList"/>
    <dgm:cxn modelId="{B3FA53BF-72DF-404C-9D67-C8FE4F0CACC1}" type="presParOf" srcId="{5891AD9E-8861-4F4C-A70E-DC155EC068EB}" destId="{D40FCECE-4659-49A8-ACA8-BEDDB0178710}" srcOrd="2" destOrd="0" presId="urn:microsoft.com/office/officeart/2008/layout/VerticalCurvedList"/>
    <dgm:cxn modelId="{942B55F8-D994-4BA0-99C7-818B653B50A7}" type="presParOf" srcId="{5891AD9E-8861-4F4C-A70E-DC155EC068EB}" destId="{676D452C-1891-4459-B864-32A01D961631}" srcOrd="3" destOrd="0" presId="urn:microsoft.com/office/officeart/2008/layout/VerticalCurvedList"/>
    <dgm:cxn modelId="{40F2A965-11BB-4C0B-8E9F-8A03675BDE86}" type="presParOf" srcId="{64E91F17-A5B8-4EB6-B805-EBF66C940907}" destId="{1A99A5E5-ABE8-4B9C-BDC7-BB1171620863}" srcOrd="1" destOrd="0" presId="urn:microsoft.com/office/officeart/2008/layout/VerticalCurvedList"/>
    <dgm:cxn modelId="{E41048A9-3B61-4358-B8DD-2E032CD5F42F}" type="presParOf" srcId="{64E91F17-A5B8-4EB6-B805-EBF66C940907}" destId="{0A79DEA8-4032-444A-901F-066FA6AA8C2D}" srcOrd="2" destOrd="0" presId="urn:microsoft.com/office/officeart/2008/layout/VerticalCurvedList"/>
    <dgm:cxn modelId="{B5908787-0D8C-483D-8999-5030301F0A53}" type="presParOf" srcId="{0A79DEA8-4032-444A-901F-066FA6AA8C2D}" destId="{D6A5A3E0-D8EE-48A1-B4A1-CB24FA746A86}" srcOrd="0" destOrd="0" presId="urn:microsoft.com/office/officeart/2008/layout/VerticalCurvedList"/>
    <dgm:cxn modelId="{96AB4A47-7AFE-4D3B-AB45-B14A4D25921C}" type="presParOf" srcId="{64E91F17-A5B8-4EB6-B805-EBF66C940907}" destId="{3E7AB3B9-FFD3-4850-8BDB-2779A89A9722}" srcOrd="3" destOrd="0" presId="urn:microsoft.com/office/officeart/2008/layout/VerticalCurvedList"/>
    <dgm:cxn modelId="{17216A31-1B91-4CB7-A2CE-1172498A004D}" type="presParOf" srcId="{64E91F17-A5B8-4EB6-B805-EBF66C940907}" destId="{6F947F84-8AF9-4C0B-9023-A008064254B4}" srcOrd="4" destOrd="0" presId="urn:microsoft.com/office/officeart/2008/layout/VerticalCurvedList"/>
    <dgm:cxn modelId="{5B2478DF-E7F6-43BB-AE6E-5A4ED77C4BFF}" type="presParOf" srcId="{6F947F84-8AF9-4C0B-9023-A008064254B4}" destId="{459FCD99-23DE-423B-9CCE-3137941DEC61}" srcOrd="0" destOrd="0" presId="urn:microsoft.com/office/officeart/2008/layout/VerticalCurvedList"/>
    <dgm:cxn modelId="{32E57E88-A31F-4C0B-B36A-8982300DEF97}" type="presParOf" srcId="{64E91F17-A5B8-4EB6-B805-EBF66C940907}" destId="{94A82D53-1021-466D-A48F-EB0145C99717}" srcOrd="5" destOrd="0" presId="urn:microsoft.com/office/officeart/2008/layout/VerticalCurvedList"/>
    <dgm:cxn modelId="{707ECD65-011A-4C1E-B087-C26AF37A11AE}" type="presParOf" srcId="{64E91F17-A5B8-4EB6-B805-EBF66C940907}" destId="{926F4B1E-E372-4BF4-AE34-47A98616F3FE}" srcOrd="6" destOrd="0" presId="urn:microsoft.com/office/officeart/2008/layout/VerticalCurvedList"/>
    <dgm:cxn modelId="{54E5C503-9291-407B-8A5A-FE145BDEFBD1}" type="presParOf" srcId="{926F4B1E-E372-4BF4-AE34-47A98616F3FE}" destId="{080DFD11-DF51-43EA-A8EC-47EB24174F32}" srcOrd="0" destOrd="0" presId="urn:microsoft.com/office/officeart/2008/layout/VerticalCurvedList"/>
    <dgm:cxn modelId="{ADAC0ED5-684C-40A6-99A5-CCFBE3ABC1F5}" type="presParOf" srcId="{64E91F17-A5B8-4EB6-B805-EBF66C940907}" destId="{1C252D63-BE6D-4F9A-94A7-4EFD95F61EF9}" srcOrd="7" destOrd="0" presId="urn:microsoft.com/office/officeart/2008/layout/VerticalCurvedList"/>
    <dgm:cxn modelId="{1A995B64-45E6-4EAA-BDB5-546D5CCBF6EE}" type="presParOf" srcId="{64E91F17-A5B8-4EB6-B805-EBF66C940907}" destId="{2C95F793-C5E2-4781-89BA-032B925E8DDD}" srcOrd="8" destOrd="0" presId="urn:microsoft.com/office/officeart/2008/layout/VerticalCurvedList"/>
    <dgm:cxn modelId="{442C7707-22ED-47E8-9C38-4F81BCCA70C8}" type="presParOf" srcId="{2C95F793-C5E2-4781-89BA-032B925E8DDD}" destId="{11354ABF-32C7-4E83-8441-3484F3EB9759}" srcOrd="0" destOrd="0" presId="urn:microsoft.com/office/officeart/2008/layout/VerticalCurvedList"/>
    <dgm:cxn modelId="{D77169A6-7CA1-4C50-B256-2C7203CC6B76}" type="presParOf" srcId="{64E91F17-A5B8-4EB6-B805-EBF66C940907}" destId="{5C2D79A0-826D-4A11-BC77-478FB09DB5E8}" srcOrd="9" destOrd="0" presId="urn:microsoft.com/office/officeart/2008/layout/VerticalCurvedList"/>
    <dgm:cxn modelId="{7C1073F4-3E01-4824-8831-D37680E02B4C}" type="presParOf" srcId="{64E91F17-A5B8-4EB6-B805-EBF66C940907}" destId="{12B8329F-3AC7-49C0-ABBA-5C4426F771B0}" srcOrd="10" destOrd="0" presId="urn:microsoft.com/office/officeart/2008/layout/VerticalCurvedList"/>
    <dgm:cxn modelId="{9C411FDD-0F89-450D-8923-D3CA0BEB0B49}" type="presParOf" srcId="{12B8329F-3AC7-49C0-ABBA-5C4426F771B0}" destId="{9E2B6869-67A9-4C2D-AC10-F4E2818C886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2B7A47-8E4E-485F-9F15-C4C50762B9AA}">
      <dsp:nvSpPr>
        <dsp:cNvPr id="0" name=""/>
        <dsp:cNvSpPr/>
      </dsp:nvSpPr>
      <dsp:spPr>
        <a:xfrm>
          <a:off x="-4270332" y="-655150"/>
          <a:ext cx="5087923" cy="5087923"/>
        </a:xfrm>
        <a:prstGeom prst="blockArc">
          <a:avLst>
            <a:gd name="adj1" fmla="val 18900000"/>
            <a:gd name="adj2" fmla="val 2700000"/>
            <a:gd name="adj3" fmla="val 425"/>
          </a:avLst>
        </a:prstGeom>
        <a:noFill/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99A5E5-ABE8-4B9C-BDC7-BB1171620863}">
      <dsp:nvSpPr>
        <dsp:cNvPr id="0" name=""/>
        <dsp:cNvSpPr/>
      </dsp:nvSpPr>
      <dsp:spPr>
        <a:xfrm>
          <a:off x="358075" y="236025"/>
          <a:ext cx="8506661" cy="47235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74931" tIns="58420" rIns="58420" bIns="58420" numCol="1" spcCol="1270" anchor="ctr" anchorCtr="0">
          <a:noAutofit/>
        </a:bodyPr>
        <a:lstStyle/>
        <a:p>
          <a:pPr lvl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300" kern="1200" dirty="0" smtClean="0"/>
            <a:t>业绩分析</a:t>
          </a:r>
          <a:endParaRPr lang="zh-CN" altLang="en-US" sz="2300" kern="1200" dirty="0"/>
        </a:p>
      </dsp:txBody>
      <dsp:txXfrm>
        <a:off x="358075" y="236025"/>
        <a:ext cx="8506661" cy="472353"/>
      </dsp:txXfrm>
    </dsp:sp>
    <dsp:sp modelId="{D6A5A3E0-D8EE-48A1-B4A1-CB24FA746A86}">
      <dsp:nvSpPr>
        <dsp:cNvPr id="0" name=""/>
        <dsp:cNvSpPr/>
      </dsp:nvSpPr>
      <dsp:spPr>
        <a:xfrm>
          <a:off x="62854" y="176981"/>
          <a:ext cx="590442" cy="59044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7AB3B9-FFD3-4850-8BDB-2779A89A9722}">
      <dsp:nvSpPr>
        <dsp:cNvPr id="0" name=""/>
        <dsp:cNvSpPr/>
      </dsp:nvSpPr>
      <dsp:spPr>
        <a:xfrm>
          <a:off x="696550" y="944329"/>
          <a:ext cx="8168186" cy="47235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74931" tIns="58420" rIns="58420" bIns="58420" numCol="1" spcCol="1270" anchor="ctr" anchorCtr="0">
          <a:noAutofit/>
        </a:bodyPr>
        <a:lstStyle/>
        <a:p>
          <a:pPr lvl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300" kern="1200" smtClean="0"/>
            <a:t>收入分析</a:t>
          </a:r>
          <a:endParaRPr lang="zh-CN" altLang="en-US" sz="2300" kern="1200"/>
        </a:p>
      </dsp:txBody>
      <dsp:txXfrm>
        <a:off x="696550" y="944329"/>
        <a:ext cx="8168186" cy="472353"/>
      </dsp:txXfrm>
    </dsp:sp>
    <dsp:sp modelId="{459FCD99-23DE-423B-9CCE-3137941DEC61}">
      <dsp:nvSpPr>
        <dsp:cNvPr id="0" name=""/>
        <dsp:cNvSpPr/>
      </dsp:nvSpPr>
      <dsp:spPr>
        <a:xfrm>
          <a:off x="401328" y="885285"/>
          <a:ext cx="590442" cy="59044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A82D53-1021-466D-A48F-EB0145C99717}">
      <dsp:nvSpPr>
        <dsp:cNvPr id="0" name=""/>
        <dsp:cNvSpPr/>
      </dsp:nvSpPr>
      <dsp:spPr>
        <a:xfrm>
          <a:off x="800434" y="1652634"/>
          <a:ext cx="8064301" cy="47235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74931" tIns="58420" rIns="58420" bIns="58420" numCol="1" spcCol="1270" anchor="ctr" anchorCtr="0">
          <a:noAutofit/>
        </a:bodyPr>
        <a:lstStyle/>
        <a:p>
          <a:pPr lvl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300" kern="1200" smtClean="0"/>
            <a:t>市场业绩</a:t>
          </a:r>
          <a:endParaRPr lang="zh-CN" altLang="en-US" sz="2300" kern="1200"/>
        </a:p>
      </dsp:txBody>
      <dsp:txXfrm>
        <a:off x="800434" y="1652634"/>
        <a:ext cx="8064301" cy="472353"/>
      </dsp:txXfrm>
    </dsp:sp>
    <dsp:sp modelId="{080DFD11-DF51-43EA-A8EC-47EB24174F32}">
      <dsp:nvSpPr>
        <dsp:cNvPr id="0" name=""/>
        <dsp:cNvSpPr/>
      </dsp:nvSpPr>
      <dsp:spPr>
        <a:xfrm>
          <a:off x="505213" y="1593589"/>
          <a:ext cx="590442" cy="59044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252D63-BE6D-4F9A-94A7-4EFD95F61EF9}">
      <dsp:nvSpPr>
        <dsp:cNvPr id="0" name=""/>
        <dsp:cNvSpPr/>
      </dsp:nvSpPr>
      <dsp:spPr>
        <a:xfrm>
          <a:off x="696550" y="2360938"/>
          <a:ext cx="8168186" cy="47235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74931" tIns="58420" rIns="58420" bIns="58420" numCol="1" spcCol="1270" anchor="ctr" anchorCtr="0">
          <a:noAutofit/>
        </a:bodyPr>
        <a:lstStyle/>
        <a:p>
          <a:pPr lvl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300" kern="1200" dirty="0" smtClean="0"/>
            <a:t>收入</a:t>
          </a:r>
          <a:endParaRPr lang="zh-CN" altLang="en-US" sz="2300" kern="1200" dirty="0"/>
        </a:p>
      </dsp:txBody>
      <dsp:txXfrm>
        <a:off x="696550" y="2360938"/>
        <a:ext cx="8168186" cy="472353"/>
      </dsp:txXfrm>
    </dsp:sp>
    <dsp:sp modelId="{11354ABF-32C7-4E83-8441-3484F3EB9759}">
      <dsp:nvSpPr>
        <dsp:cNvPr id="0" name=""/>
        <dsp:cNvSpPr/>
      </dsp:nvSpPr>
      <dsp:spPr>
        <a:xfrm>
          <a:off x="401328" y="2301893"/>
          <a:ext cx="590442" cy="59044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2D79A0-826D-4A11-BC77-478FB09DB5E8}">
      <dsp:nvSpPr>
        <dsp:cNvPr id="0" name=""/>
        <dsp:cNvSpPr/>
      </dsp:nvSpPr>
      <dsp:spPr>
        <a:xfrm>
          <a:off x="358075" y="3069242"/>
          <a:ext cx="8506661" cy="47235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74931" tIns="58420" rIns="58420" bIns="58420" numCol="1" spcCol="1270" anchor="ctr" anchorCtr="0">
          <a:noAutofit/>
        </a:bodyPr>
        <a:lstStyle/>
        <a:p>
          <a:pPr lvl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300" kern="1200" dirty="0" smtClean="0"/>
            <a:t>收入组成</a:t>
          </a:r>
          <a:endParaRPr lang="zh-CN" altLang="en-US" sz="2300" kern="1200" dirty="0"/>
        </a:p>
      </dsp:txBody>
      <dsp:txXfrm>
        <a:off x="358075" y="3069242"/>
        <a:ext cx="8506661" cy="472353"/>
      </dsp:txXfrm>
    </dsp:sp>
    <dsp:sp modelId="{9E2B6869-67A9-4C2D-AC10-F4E2818C8865}">
      <dsp:nvSpPr>
        <dsp:cNvPr id="0" name=""/>
        <dsp:cNvSpPr/>
      </dsp:nvSpPr>
      <dsp:spPr>
        <a:xfrm>
          <a:off x="62854" y="3010198"/>
          <a:ext cx="590442" cy="59044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8DD43-166F-435E-93B8-CDFB9BB2DCA8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59E8D4D-4154-4261-9587-1AC7F35FBA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8230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strips dir="ld"/>
      </p:transition>
    </mc:Choice>
    <mc:Fallback xmlns="">
      <p:transition spd="slow">
        <p:strips dir="ld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8DD43-166F-435E-93B8-CDFB9BB2DCA8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E8D4D-4154-4261-9587-1AC7F35FBA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327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strips dir="ld"/>
      </p:transition>
    </mc:Choice>
    <mc:Fallback xmlns="">
      <p:transition spd="slow">
        <p:strips dir="ld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8DD43-166F-435E-93B8-CDFB9BB2DCA8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59E8D4D-4154-4261-9587-1AC7F35FBA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090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strips dir="ld"/>
      </p:transition>
    </mc:Choice>
    <mc:Fallback xmlns="">
      <p:transition spd="slow">
        <p:strips dir="ld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8DD43-166F-435E-93B8-CDFB9BB2DCA8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59E8D4D-4154-4261-9587-1AC7F35FBA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2714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strips dir="ld"/>
      </p:transition>
    </mc:Choice>
    <mc:Fallback xmlns="">
      <p:transition spd="slow">
        <p:strips dir="ld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8DD43-166F-435E-93B8-CDFB9BB2DCA8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59E8D4D-4154-4261-9587-1AC7F35FBA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9643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strips dir="ld"/>
      </p:transition>
    </mc:Choice>
    <mc:Fallback xmlns="">
      <p:transition spd="slow">
        <p:strips dir="ld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8DD43-166F-435E-93B8-CDFB9BB2DCA8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E8D4D-4154-4261-9587-1AC7F35FBA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4565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strips dir="ld"/>
      </p:transition>
    </mc:Choice>
    <mc:Fallback xmlns="">
      <p:transition spd="slow">
        <p:strips dir="ld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8DD43-166F-435E-93B8-CDFB9BB2DCA8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E8D4D-4154-4261-9587-1AC7F35FBA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649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strips dir="ld"/>
      </p:transition>
    </mc:Choice>
    <mc:Fallback xmlns="">
      <p:transition spd="slow">
        <p:strips dir="ld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8DD43-166F-435E-93B8-CDFB9BB2DCA8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E8D4D-4154-4261-9587-1AC7F35FBA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3518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strips dir="ld"/>
      </p:transition>
    </mc:Choice>
    <mc:Fallback xmlns="">
      <p:transition spd="slow">
        <p:strips dir="ld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8DD43-166F-435E-93B8-CDFB9BB2DCA8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59E8D4D-4154-4261-9587-1AC7F35FBA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5940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strips dir="ld"/>
      </p:transition>
    </mc:Choice>
    <mc:Fallback xmlns="">
      <p:transition spd="slow">
        <p:strips dir="ld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8DD43-166F-435E-93B8-CDFB9BB2DCA8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59E8D4D-4154-4261-9587-1AC7F35FBA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189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strips dir="ld"/>
      </p:transition>
    </mc:Choice>
    <mc:Fallback xmlns="">
      <p:transition spd="slow">
        <p:strips dir="ld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8DD43-166F-435E-93B8-CDFB9BB2DCA8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59E8D4D-4154-4261-9587-1AC7F35FBA9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73934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strips dir="ld"/>
      </p:transition>
    </mc:Choice>
    <mc:Fallback xmlns="">
      <p:transition spd="slow">
        <p:strips dir="ld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8DD43-166F-435E-93B8-CDFB9BB2DCA8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59E8D4D-4154-4261-9587-1AC7F35FBA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3489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strips dir="ld"/>
      </p:transition>
    </mc:Choice>
    <mc:Fallback xmlns="">
      <p:transition spd="slow">
        <p:strips dir="ld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8DD43-166F-435E-93B8-CDFB9BB2DCA8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59E8D4D-4154-4261-9587-1AC7F35FBA9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61862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strips dir="ld"/>
      </p:transition>
    </mc:Choice>
    <mc:Fallback xmlns="">
      <p:transition spd="slow">
        <p:strips dir="ld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8DD43-166F-435E-93B8-CDFB9BB2DCA8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59E8D4D-4154-4261-9587-1AC7F35FBA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9344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strips dir="ld"/>
      </p:transition>
    </mc:Choice>
    <mc:Fallback xmlns="">
      <p:transition spd="slow">
        <p:strips dir="ld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8DD43-166F-435E-93B8-CDFB9BB2DCA8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E8D4D-4154-4261-9587-1AC7F35FBA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632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strips dir="ld"/>
      </p:transition>
    </mc:Choice>
    <mc:Fallback xmlns="">
      <p:transition spd="slow">
        <p:strips dir="ld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8DD43-166F-435E-93B8-CDFB9BB2DCA8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E8D4D-4154-4261-9587-1AC7F35FBA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8067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strips dir="ld"/>
      </p:transition>
    </mc:Choice>
    <mc:Fallback xmlns="">
      <p:transition spd="slow">
        <p:strips dir="ld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58DD43-166F-435E-93B8-CDFB9BB2DCA8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59E8D4D-4154-4261-9587-1AC7F35FBA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8568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mc:AlternateContent xmlns:mc="http://schemas.openxmlformats.org/markup-compatibility/2006" xmlns:p14="http://schemas.microsoft.com/office/powerpoint/2010/main">
    <mc:Choice Requires="p14">
      <p:transition spd="slow" p14:dur="2500">
        <p:strips dir="ld"/>
      </p:transition>
    </mc:Choice>
    <mc:Fallback xmlns="">
      <p:transition spd="slow">
        <p:strips dir="ld"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6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年终总结报告会</a:t>
            </a:r>
            <a:endParaRPr lang="zh-CN" altLang="en-US" sz="6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</a:t>
            </a:r>
            <a:r>
              <a:rPr lang="zh-CN" altLang="en-US" sz="3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财务部</a:t>
            </a:r>
            <a:r>
              <a:rPr lang="en-US" altLang="zh-CN" sz="3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2016</a:t>
            </a:r>
            <a:r>
              <a:rPr lang="zh-CN" altLang="en-US" sz="3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年总结报告</a:t>
            </a:r>
            <a:endParaRPr lang="zh-CN" altLang="en-US" sz="3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6320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strips dir="ld"/>
      </p:transition>
    </mc:Choice>
    <mc:Fallback xmlns="">
      <p:transition spd="slow">
        <p:strips dir="ld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报告提纲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1912758"/>
              </p:ext>
            </p:extLst>
          </p:nvPr>
        </p:nvGraphicFramePr>
        <p:xfrm>
          <a:off x="2589212" y="2133600"/>
          <a:ext cx="8915400" cy="3777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58867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strips dir="ld"/>
      </p:transition>
    </mc:Choice>
    <mc:Fallback xmlns="">
      <p:transition spd="slow">
        <p:strips dir="ld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业 绩 分 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公司自</a:t>
            </a:r>
            <a:r>
              <a:rPr lang="en-US" altLang="zh-CN" dirty="0" smtClean="0"/>
              <a:t>2009</a:t>
            </a:r>
            <a:r>
              <a:rPr lang="zh-CN" altLang="en-US" dirty="0" smtClean="0"/>
              <a:t>年</a:t>
            </a:r>
            <a:r>
              <a:rPr lang="en-US" altLang="zh-CN" dirty="0" smtClean="0"/>
              <a:t>3</a:t>
            </a:r>
            <a:r>
              <a:rPr lang="zh-CN" altLang="en-US" dirty="0" smtClean="0"/>
              <a:t>月份上市以来，在目前涉足的烟酒、旅游、农副产品以及直销等领域都有一定的发展，取得了良好的经济收益。当然，随着市场的深入，一些不足和弊端也初现端倪。</a:t>
            </a:r>
          </a:p>
          <a:p>
            <a:pPr lvl="1"/>
            <a:r>
              <a:rPr lang="zh-CN" altLang="en-US" dirty="0" smtClean="0"/>
              <a:t>良好态势</a:t>
            </a:r>
          </a:p>
          <a:p>
            <a:pPr lvl="1"/>
            <a:r>
              <a:rPr lang="zh-CN" altLang="en-US" dirty="0" smtClean="0"/>
              <a:t>不足弊端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5634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strips dir="ld"/>
      </p:transition>
    </mc:Choice>
    <mc:Fallback xmlns="">
      <p:transition spd="slow">
        <p:strips dir="ld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收 入 分 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 自</a:t>
            </a:r>
            <a:r>
              <a:rPr lang="en-US" altLang="zh-CN" dirty="0" smtClean="0"/>
              <a:t>2009</a:t>
            </a:r>
            <a:r>
              <a:rPr lang="zh-CN" altLang="en-US" dirty="0" smtClean="0"/>
              <a:t>年</a:t>
            </a:r>
            <a:r>
              <a:rPr lang="en-US" altLang="zh-CN" dirty="0" smtClean="0"/>
              <a:t>3</a:t>
            </a:r>
            <a:r>
              <a:rPr lang="zh-CN" altLang="en-US" dirty="0" smtClean="0"/>
              <a:t>月份至</a:t>
            </a:r>
            <a:r>
              <a:rPr lang="en-US" altLang="zh-CN" dirty="0" smtClean="0"/>
              <a:t>2016</a:t>
            </a:r>
            <a:r>
              <a:rPr lang="zh-CN" altLang="en-US" dirty="0" smtClean="0"/>
              <a:t>年</a:t>
            </a:r>
            <a:r>
              <a:rPr lang="en-US" altLang="zh-CN" dirty="0" smtClean="0"/>
              <a:t>10</a:t>
            </a:r>
            <a:r>
              <a:rPr lang="zh-CN" altLang="en-US" dirty="0" smtClean="0"/>
              <a:t>月为止，我们总结了各领域的收入情况，并进行了统计和分析；</a:t>
            </a:r>
            <a:endParaRPr lang="en-US" altLang="zh-CN" dirty="0" smtClean="0"/>
          </a:p>
          <a:p>
            <a:r>
              <a:rPr lang="zh-CN" altLang="en-US" dirty="0" smtClean="0"/>
              <a:t>其中烟酒和旅游收入情况稳定，其他领域经受市场冲击较大，具体发展形势及数据见各表。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99882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strips dir="ld"/>
      </p:transition>
    </mc:Choice>
    <mc:Fallback xmlns="">
      <p:transition spd="slow">
        <p:strips dir="ld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市 场 业 绩</a:t>
            </a:r>
            <a:endParaRPr lang="zh-CN" alt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2574570" y="1589290"/>
            <a:ext cx="7286699" cy="4072484"/>
            <a:chOff x="2574570" y="1589290"/>
            <a:chExt cx="7286699" cy="4072484"/>
          </a:xfrm>
        </p:grpSpPr>
        <p:sp>
          <p:nvSpPr>
            <p:cNvPr id="5" name="Line 3"/>
            <p:cNvSpPr>
              <a:spLocks noChangeShapeType="1"/>
            </p:cNvSpPr>
            <p:nvPr/>
          </p:nvSpPr>
          <p:spPr bwMode="gray">
            <a:xfrm flipH="1">
              <a:off x="2574571" y="5652813"/>
              <a:ext cx="1600429" cy="2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6" name="Line 4"/>
            <p:cNvSpPr>
              <a:spLocks noChangeShapeType="1"/>
            </p:cNvSpPr>
            <p:nvPr/>
          </p:nvSpPr>
          <p:spPr bwMode="gray">
            <a:xfrm flipH="1">
              <a:off x="2574571" y="4633572"/>
              <a:ext cx="2354869" cy="2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7" name="Line 5"/>
            <p:cNvSpPr>
              <a:spLocks noChangeShapeType="1"/>
            </p:cNvSpPr>
            <p:nvPr/>
          </p:nvSpPr>
          <p:spPr bwMode="gray">
            <a:xfrm flipH="1">
              <a:off x="2574570" y="3625531"/>
              <a:ext cx="3238156" cy="2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8" name="Line 6"/>
            <p:cNvSpPr>
              <a:spLocks noChangeShapeType="1"/>
            </p:cNvSpPr>
            <p:nvPr/>
          </p:nvSpPr>
          <p:spPr bwMode="gray">
            <a:xfrm flipH="1">
              <a:off x="2574570" y="2619731"/>
              <a:ext cx="4023112" cy="2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9" name="Line 7"/>
            <p:cNvSpPr>
              <a:spLocks noChangeShapeType="1"/>
            </p:cNvSpPr>
            <p:nvPr/>
          </p:nvSpPr>
          <p:spPr bwMode="gray">
            <a:xfrm flipH="1" flipV="1">
              <a:off x="2574570" y="1596010"/>
              <a:ext cx="4862320" cy="2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gray">
            <a:xfrm>
              <a:off x="2722068" y="1589290"/>
              <a:ext cx="1695" cy="10595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1" name="Line 9"/>
            <p:cNvSpPr>
              <a:spLocks noChangeShapeType="1"/>
            </p:cNvSpPr>
            <p:nvPr/>
          </p:nvSpPr>
          <p:spPr bwMode="gray">
            <a:xfrm>
              <a:off x="2722068" y="2648852"/>
              <a:ext cx="1695" cy="9923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gray">
            <a:xfrm>
              <a:off x="2722068" y="3641212"/>
              <a:ext cx="1695" cy="9901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3" name="Line 11"/>
            <p:cNvSpPr>
              <a:spLocks noChangeShapeType="1"/>
            </p:cNvSpPr>
            <p:nvPr/>
          </p:nvSpPr>
          <p:spPr bwMode="gray">
            <a:xfrm>
              <a:off x="2722068" y="4633572"/>
              <a:ext cx="1695" cy="9923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4" name="Text Box 12"/>
            <p:cNvSpPr txBox="1">
              <a:spLocks noChangeArrowheads="1"/>
            </p:cNvSpPr>
            <p:nvPr/>
          </p:nvSpPr>
          <p:spPr bwMode="gray">
            <a:xfrm>
              <a:off x="2869565" y="1938745"/>
              <a:ext cx="905327" cy="524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800" b="1" dirty="0">
                  <a:latin typeface="Verdana" pitchFamily="34" charset="0"/>
                  <a:ea typeface="宋体" pitchFamily="2" charset="-122"/>
                </a:rPr>
                <a:t>烟酒</a:t>
              </a:r>
            </a:p>
          </p:txBody>
        </p:sp>
        <p:sp>
          <p:nvSpPr>
            <p:cNvPr id="15" name="Text Box 13"/>
            <p:cNvSpPr txBox="1">
              <a:spLocks noChangeArrowheads="1"/>
            </p:cNvSpPr>
            <p:nvPr/>
          </p:nvSpPr>
          <p:spPr bwMode="gray">
            <a:xfrm>
              <a:off x="2869565" y="2942305"/>
              <a:ext cx="905327" cy="524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800" b="1">
                  <a:latin typeface="Verdana" pitchFamily="34" charset="0"/>
                  <a:ea typeface="宋体" pitchFamily="2" charset="-122"/>
                </a:rPr>
                <a:t>旅游</a:t>
              </a:r>
            </a:p>
          </p:txBody>
        </p:sp>
        <p:sp>
          <p:nvSpPr>
            <p:cNvPr id="16" name="Text Box 14"/>
            <p:cNvSpPr txBox="1">
              <a:spLocks noChangeArrowheads="1"/>
            </p:cNvSpPr>
            <p:nvPr/>
          </p:nvSpPr>
          <p:spPr bwMode="gray">
            <a:xfrm>
              <a:off x="2869565" y="3988427"/>
              <a:ext cx="1627555" cy="524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800" b="1">
                  <a:latin typeface="Verdana" pitchFamily="34" charset="0"/>
                  <a:ea typeface="宋体" pitchFamily="2" charset="-122"/>
                </a:rPr>
                <a:t>农副产品</a:t>
              </a:r>
            </a:p>
          </p:txBody>
        </p:sp>
        <p:sp>
          <p:nvSpPr>
            <p:cNvPr id="17" name="Text Box 15"/>
            <p:cNvSpPr txBox="1">
              <a:spLocks noChangeArrowheads="1"/>
            </p:cNvSpPr>
            <p:nvPr/>
          </p:nvSpPr>
          <p:spPr bwMode="gray">
            <a:xfrm>
              <a:off x="2869565" y="4969586"/>
              <a:ext cx="905327" cy="524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800" b="1">
                  <a:latin typeface="Verdana" pitchFamily="34" charset="0"/>
                  <a:ea typeface="宋体" pitchFamily="2" charset="-122"/>
                </a:rPr>
                <a:t>直销</a:t>
              </a:r>
            </a:p>
          </p:txBody>
        </p:sp>
        <p:grpSp>
          <p:nvGrpSpPr>
            <p:cNvPr id="18" name="Group 31"/>
            <p:cNvGrpSpPr>
              <a:grpSpLocks/>
            </p:cNvGrpSpPr>
            <p:nvPr/>
          </p:nvGrpSpPr>
          <p:grpSpPr bwMode="auto">
            <a:xfrm>
              <a:off x="4234337" y="1600491"/>
              <a:ext cx="5626932" cy="4061283"/>
              <a:chOff x="1529" y="1733"/>
              <a:chExt cx="3319" cy="1813"/>
            </a:xfrm>
          </p:grpSpPr>
          <p:sp>
            <p:nvSpPr>
              <p:cNvPr id="19" name="Freeform 17"/>
              <p:cNvSpPr>
                <a:spLocks/>
              </p:cNvSpPr>
              <p:nvPr/>
            </p:nvSpPr>
            <p:spPr bwMode="gray">
              <a:xfrm>
                <a:off x="4516" y="1733"/>
                <a:ext cx="328" cy="459"/>
              </a:xfrm>
              <a:custGeom>
                <a:avLst/>
                <a:gdLst>
                  <a:gd name="T0" fmla="*/ 308 w 308"/>
                  <a:gd name="T1" fmla="*/ 120 h 444"/>
                  <a:gd name="T2" fmla="*/ 0 w 308"/>
                  <a:gd name="T3" fmla="*/ 444 h 444"/>
                  <a:gd name="T4" fmla="*/ 0 w 308"/>
                  <a:gd name="T5" fmla="*/ 286 h 444"/>
                  <a:gd name="T6" fmla="*/ 308 w 308"/>
                  <a:gd name="T7" fmla="*/ 0 h 444"/>
                  <a:gd name="T8" fmla="*/ 308 w 308"/>
                  <a:gd name="T9" fmla="*/ 120 h 4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8" h="444">
                    <a:moveTo>
                      <a:pt x="308" y="120"/>
                    </a:moveTo>
                    <a:lnTo>
                      <a:pt x="0" y="444"/>
                    </a:lnTo>
                    <a:lnTo>
                      <a:pt x="0" y="286"/>
                    </a:lnTo>
                    <a:lnTo>
                      <a:pt x="308" y="0"/>
                    </a:lnTo>
                    <a:lnTo>
                      <a:pt x="308" y="12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50000">
                    <a:schemeClr val="accent2"/>
                  </a:gs>
                  <a:gs pos="100000">
                    <a:schemeClr val="accent2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D1D1D1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800"/>
              </a:p>
            </p:txBody>
          </p:sp>
          <p:sp>
            <p:nvSpPr>
              <p:cNvPr id="20" name="Freeform 18"/>
              <p:cNvSpPr>
                <a:spLocks/>
              </p:cNvSpPr>
              <p:nvPr/>
            </p:nvSpPr>
            <p:spPr bwMode="gray">
              <a:xfrm>
                <a:off x="2943" y="1733"/>
                <a:ext cx="1905" cy="294"/>
              </a:xfrm>
              <a:custGeom>
                <a:avLst/>
                <a:gdLst>
                  <a:gd name="T0" fmla="*/ 1478 w 1786"/>
                  <a:gd name="T1" fmla="*/ 284 h 284"/>
                  <a:gd name="T2" fmla="*/ 0 w 1786"/>
                  <a:gd name="T3" fmla="*/ 284 h 284"/>
                  <a:gd name="T4" fmla="*/ 446 w 1786"/>
                  <a:gd name="T5" fmla="*/ 0 h 284"/>
                  <a:gd name="T6" fmla="*/ 1786 w 1786"/>
                  <a:gd name="T7" fmla="*/ 0 h 284"/>
                  <a:gd name="T8" fmla="*/ 1478 w 1786"/>
                  <a:gd name="T9" fmla="*/ 284 h 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86" h="284">
                    <a:moveTo>
                      <a:pt x="1478" y="284"/>
                    </a:moveTo>
                    <a:lnTo>
                      <a:pt x="0" y="284"/>
                    </a:lnTo>
                    <a:lnTo>
                      <a:pt x="446" y="0"/>
                    </a:lnTo>
                    <a:lnTo>
                      <a:pt x="1786" y="0"/>
                    </a:lnTo>
                    <a:lnTo>
                      <a:pt x="1478" y="28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80808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800"/>
              </a:p>
            </p:txBody>
          </p:sp>
          <p:sp>
            <p:nvSpPr>
              <p:cNvPr id="21" name="Freeform 19"/>
              <p:cNvSpPr>
                <a:spLocks/>
              </p:cNvSpPr>
              <p:nvPr/>
            </p:nvSpPr>
            <p:spPr bwMode="gray">
              <a:xfrm>
                <a:off x="4186" y="2184"/>
                <a:ext cx="328" cy="456"/>
              </a:xfrm>
              <a:custGeom>
                <a:avLst/>
                <a:gdLst>
                  <a:gd name="T0" fmla="*/ 308 w 308"/>
                  <a:gd name="T1" fmla="*/ 120 h 442"/>
                  <a:gd name="T2" fmla="*/ 0 w 308"/>
                  <a:gd name="T3" fmla="*/ 442 h 442"/>
                  <a:gd name="T4" fmla="*/ 0 w 308"/>
                  <a:gd name="T5" fmla="*/ 286 h 442"/>
                  <a:gd name="T6" fmla="*/ 308 w 308"/>
                  <a:gd name="T7" fmla="*/ 0 h 442"/>
                  <a:gd name="T8" fmla="*/ 308 w 308"/>
                  <a:gd name="T9" fmla="*/ 120 h 4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8" h="442">
                    <a:moveTo>
                      <a:pt x="308" y="120"/>
                    </a:moveTo>
                    <a:lnTo>
                      <a:pt x="0" y="442"/>
                    </a:lnTo>
                    <a:lnTo>
                      <a:pt x="0" y="286"/>
                    </a:lnTo>
                    <a:lnTo>
                      <a:pt x="308" y="0"/>
                    </a:lnTo>
                    <a:lnTo>
                      <a:pt x="308" y="12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D1D1D1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800"/>
              </a:p>
            </p:txBody>
          </p:sp>
          <p:sp>
            <p:nvSpPr>
              <p:cNvPr id="22" name="Freeform 20"/>
              <p:cNvSpPr>
                <a:spLocks/>
              </p:cNvSpPr>
              <p:nvPr/>
            </p:nvSpPr>
            <p:spPr bwMode="gray">
              <a:xfrm>
                <a:off x="2470" y="2184"/>
                <a:ext cx="2048" cy="293"/>
              </a:xfrm>
              <a:custGeom>
                <a:avLst/>
                <a:gdLst>
                  <a:gd name="T0" fmla="*/ 1612 w 1920"/>
                  <a:gd name="T1" fmla="*/ 284 h 284"/>
                  <a:gd name="T2" fmla="*/ 0 w 1920"/>
                  <a:gd name="T3" fmla="*/ 284 h 284"/>
                  <a:gd name="T4" fmla="*/ 446 w 1920"/>
                  <a:gd name="T5" fmla="*/ 0 h 284"/>
                  <a:gd name="T6" fmla="*/ 1920 w 1920"/>
                  <a:gd name="T7" fmla="*/ 0 h 284"/>
                  <a:gd name="T8" fmla="*/ 1612 w 1920"/>
                  <a:gd name="T9" fmla="*/ 284 h 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20" h="284">
                    <a:moveTo>
                      <a:pt x="1612" y="284"/>
                    </a:moveTo>
                    <a:lnTo>
                      <a:pt x="0" y="284"/>
                    </a:lnTo>
                    <a:lnTo>
                      <a:pt x="446" y="0"/>
                    </a:lnTo>
                    <a:lnTo>
                      <a:pt x="1920" y="0"/>
                    </a:lnTo>
                    <a:lnTo>
                      <a:pt x="1612" y="284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80808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800"/>
              </a:p>
            </p:txBody>
          </p:sp>
          <p:sp>
            <p:nvSpPr>
              <p:cNvPr id="23" name="Freeform 21"/>
              <p:cNvSpPr>
                <a:spLocks/>
              </p:cNvSpPr>
              <p:nvPr/>
            </p:nvSpPr>
            <p:spPr bwMode="gray">
              <a:xfrm>
                <a:off x="3855" y="2635"/>
                <a:ext cx="326" cy="458"/>
              </a:xfrm>
              <a:custGeom>
                <a:avLst/>
                <a:gdLst>
                  <a:gd name="T0" fmla="*/ 306 w 306"/>
                  <a:gd name="T1" fmla="*/ 122 h 444"/>
                  <a:gd name="T2" fmla="*/ 0 w 306"/>
                  <a:gd name="T3" fmla="*/ 444 h 444"/>
                  <a:gd name="T4" fmla="*/ 0 w 306"/>
                  <a:gd name="T5" fmla="*/ 286 h 444"/>
                  <a:gd name="T6" fmla="*/ 306 w 306"/>
                  <a:gd name="T7" fmla="*/ 0 h 444"/>
                  <a:gd name="T8" fmla="*/ 306 w 306"/>
                  <a:gd name="T9" fmla="*/ 122 h 4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6" h="444">
                    <a:moveTo>
                      <a:pt x="306" y="122"/>
                    </a:moveTo>
                    <a:lnTo>
                      <a:pt x="0" y="444"/>
                    </a:lnTo>
                    <a:lnTo>
                      <a:pt x="0" y="286"/>
                    </a:lnTo>
                    <a:lnTo>
                      <a:pt x="306" y="0"/>
                    </a:lnTo>
                    <a:lnTo>
                      <a:pt x="306" y="122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folHlink">
                      <a:gamma/>
                      <a:shade val="46275"/>
                      <a:invGamma/>
                    </a:schemeClr>
                  </a:gs>
                  <a:gs pos="50000">
                    <a:schemeClr val="folHlink"/>
                  </a:gs>
                  <a:gs pos="100000">
                    <a:schemeClr val="folHlink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D1D1D1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800"/>
              </a:p>
            </p:txBody>
          </p:sp>
          <p:sp>
            <p:nvSpPr>
              <p:cNvPr id="24" name="Freeform 22"/>
              <p:cNvSpPr>
                <a:spLocks/>
              </p:cNvSpPr>
              <p:nvPr/>
            </p:nvSpPr>
            <p:spPr bwMode="gray">
              <a:xfrm>
                <a:off x="3526" y="3087"/>
                <a:ext cx="329" cy="459"/>
              </a:xfrm>
              <a:custGeom>
                <a:avLst/>
                <a:gdLst>
                  <a:gd name="T0" fmla="*/ 308 w 308"/>
                  <a:gd name="T1" fmla="*/ 122 h 444"/>
                  <a:gd name="T2" fmla="*/ 0 w 308"/>
                  <a:gd name="T3" fmla="*/ 444 h 444"/>
                  <a:gd name="T4" fmla="*/ 0 w 308"/>
                  <a:gd name="T5" fmla="*/ 286 h 444"/>
                  <a:gd name="T6" fmla="*/ 308 w 308"/>
                  <a:gd name="T7" fmla="*/ 0 h 444"/>
                  <a:gd name="T8" fmla="*/ 308 w 308"/>
                  <a:gd name="T9" fmla="*/ 122 h 4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8" h="444">
                    <a:moveTo>
                      <a:pt x="308" y="122"/>
                    </a:moveTo>
                    <a:lnTo>
                      <a:pt x="0" y="444"/>
                    </a:lnTo>
                    <a:lnTo>
                      <a:pt x="0" y="286"/>
                    </a:lnTo>
                    <a:lnTo>
                      <a:pt x="308" y="0"/>
                    </a:lnTo>
                    <a:lnTo>
                      <a:pt x="308" y="122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D1D1D1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800"/>
              </a:p>
            </p:txBody>
          </p:sp>
          <p:sp>
            <p:nvSpPr>
              <p:cNvPr id="25" name="Freeform 23"/>
              <p:cNvSpPr>
                <a:spLocks/>
              </p:cNvSpPr>
              <p:nvPr/>
            </p:nvSpPr>
            <p:spPr bwMode="gray">
              <a:xfrm>
                <a:off x="1530" y="3090"/>
                <a:ext cx="2325" cy="292"/>
              </a:xfrm>
              <a:custGeom>
                <a:avLst/>
                <a:gdLst>
                  <a:gd name="T0" fmla="*/ 1872 w 2180"/>
                  <a:gd name="T1" fmla="*/ 284 h 284"/>
                  <a:gd name="T2" fmla="*/ 0 w 2180"/>
                  <a:gd name="T3" fmla="*/ 284 h 284"/>
                  <a:gd name="T4" fmla="*/ 446 w 2180"/>
                  <a:gd name="T5" fmla="*/ 0 h 284"/>
                  <a:gd name="T6" fmla="*/ 2180 w 2180"/>
                  <a:gd name="T7" fmla="*/ 0 h 284"/>
                  <a:gd name="T8" fmla="*/ 1872 w 2180"/>
                  <a:gd name="T9" fmla="*/ 284 h 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80" h="284">
                    <a:moveTo>
                      <a:pt x="1872" y="284"/>
                    </a:moveTo>
                    <a:lnTo>
                      <a:pt x="0" y="284"/>
                    </a:lnTo>
                    <a:lnTo>
                      <a:pt x="446" y="0"/>
                    </a:lnTo>
                    <a:lnTo>
                      <a:pt x="2180" y="0"/>
                    </a:lnTo>
                    <a:lnTo>
                      <a:pt x="1872" y="28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80808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800"/>
              </a:p>
            </p:txBody>
          </p:sp>
          <p:sp>
            <p:nvSpPr>
              <p:cNvPr id="26" name="Freeform 24"/>
              <p:cNvSpPr>
                <a:spLocks/>
              </p:cNvSpPr>
              <p:nvPr/>
            </p:nvSpPr>
            <p:spPr bwMode="gray">
              <a:xfrm>
                <a:off x="1867" y="1817"/>
                <a:ext cx="1047" cy="1476"/>
              </a:xfrm>
              <a:custGeom>
                <a:avLst/>
                <a:gdLst>
                  <a:gd name="T0" fmla="*/ 12 w 1824"/>
                  <a:gd name="T1" fmla="*/ 2464 h 2648"/>
                  <a:gd name="T2" fmla="*/ 56 w 1824"/>
                  <a:gd name="T3" fmla="*/ 2120 h 2648"/>
                  <a:gd name="T4" fmla="*/ 124 w 1824"/>
                  <a:gd name="T5" fmla="*/ 1808 h 2648"/>
                  <a:gd name="T6" fmla="*/ 212 w 1824"/>
                  <a:gd name="T7" fmla="*/ 1524 h 2648"/>
                  <a:gd name="T8" fmla="*/ 316 w 1824"/>
                  <a:gd name="T9" fmla="*/ 1270 h 2648"/>
                  <a:gd name="T10" fmla="*/ 430 w 1824"/>
                  <a:gd name="T11" fmla="*/ 1044 h 2648"/>
                  <a:gd name="T12" fmla="*/ 550 w 1824"/>
                  <a:gd name="T13" fmla="*/ 846 h 2648"/>
                  <a:gd name="T14" fmla="*/ 672 w 1824"/>
                  <a:gd name="T15" fmla="*/ 674 h 2648"/>
                  <a:gd name="T16" fmla="*/ 792 w 1824"/>
                  <a:gd name="T17" fmla="*/ 528 h 2648"/>
                  <a:gd name="T18" fmla="*/ 906 w 1824"/>
                  <a:gd name="T19" fmla="*/ 408 h 2648"/>
                  <a:gd name="T20" fmla="*/ 1010 w 1824"/>
                  <a:gd name="T21" fmla="*/ 310 h 2648"/>
                  <a:gd name="T22" fmla="*/ 1096 w 1824"/>
                  <a:gd name="T23" fmla="*/ 236 h 2648"/>
                  <a:gd name="T24" fmla="*/ 1164 w 1824"/>
                  <a:gd name="T25" fmla="*/ 184 h 2648"/>
                  <a:gd name="T26" fmla="*/ 1208 w 1824"/>
                  <a:gd name="T27" fmla="*/ 154 h 2648"/>
                  <a:gd name="T28" fmla="*/ 1224 w 1824"/>
                  <a:gd name="T29" fmla="*/ 144 h 2648"/>
                  <a:gd name="T30" fmla="*/ 1728 w 1824"/>
                  <a:gd name="T31" fmla="*/ 56 h 2648"/>
                  <a:gd name="T32" fmla="*/ 1568 w 1824"/>
                  <a:gd name="T33" fmla="*/ 328 h 2648"/>
                  <a:gd name="T34" fmla="*/ 1554 w 1824"/>
                  <a:gd name="T35" fmla="*/ 332 h 2648"/>
                  <a:gd name="T36" fmla="*/ 1514 w 1824"/>
                  <a:gd name="T37" fmla="*/ 346 h 2648"/>
                  <a:gd name="T38" fmla="*/ 1452 w 1824"/>
                  <a:gd name="T39" fmla="*/ 370 h 2648"/>
                  <a:gd name="T40" fmla="*/ 1370 w 1824"/>
                  <a:gd name="T41" fmla="*/ 410 h 2648"/>
                  <a:gd name="T42" fmla="*/ 1270 w 1824"/>
                  <a:gd name="T43" fmla="*/ 466 h 2648"/>
                  <a:gd name="T44" fmla="*/ 1158 w 1824"/>
                  <a:gd name="T45" fmla="*/ 540 h 2648"/>
                  <a:gd name="T46" fmla="*/ 1034 w 1824"/>
                  <a:gd name="T47" fmla="*/ 636 h 2648"/>
                  <a:gd name="T48" fmla="*/ 904 w 1824"/>
                  <a:gd name="T49" fmla="*/ 756 h 2648"/>
                  <a:gd name="T50" fmla="*/ 770 w 1824"/>
                  <a:gd name="T51" fmla="*/ 900 h 2648"/>
                  <a:gd name="T52" fmla="*/ 632 w 1824"/>
                  <a:gd name="T53" fmla="*/ 1076 h 2648"/>
                  <a:gd name="T54" fmla="*/ 498 w 1824"/>
                  <a:gd name="T55" fmla="*/ 1280 h 2648"/>
                  <a:gd name="T56" fmla="*/ 370 w 1824"/>
                  <a:gd name="T57" fmla="*/ 1518 h 2648"/>
                  <a:gd name="T58" fmla="*/ 248 w 1824"/>
                  <a:gd name="T59" fmla="*/ 1792 h 2648"/>
                  <a:gd name="T60" fmla="*/ 138 w 1824"/>
                  <a:gd name="T61" fmla="*/ 2104 h 2648"/>
                  <a:gd name="T62" fmla="*/ 42 w 1824"/>
                  <a:gd name="T63" fmla="*/ 2456 h 26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824" h="2648">
                    <a:moveTo>
                      <a:pt x="0" y="2648"/>
                    </a:moveTo>
                    <a:lnTo>
                      <a:pt x="12" y="2464"/>
                    </a:lnTo>
                    <a:lnTo>
                      <a:pt x="32" y="2288"/>
                    </a:lnTo>
                    <a:lnTo>
                      <a:pt x="56" y="2120"/>
                    </a:lnTo>
                    <a:lnTo>
                      <a:pt x="88" y="1960"/>
                    </a:lnTo>
                    <a:lnTo>
                      <a:pt x="124" y="1808"/>
                    </a:lnTo>
                    <a:lnTo>
                      <a:pt x="166" y="1662"/>
                    </a:lnTo>
                    <a:lnTo>
                      <a:pt x="212" y="1524"/>
                    </a:lnTo>
                    <a:lnTo>
                      <a:pt x="262" y="1394"/>
                    </a:lnTo>
                    <a:lnTo>
                      <a:pt x="316" y="1270"/>
                    </a:lnTo>
                    <a:lnTo>
                      <a:pt x="372" y="1154"/>
                    </a:lnTo>
                    <a:lnTo>
                      <a:pt x="430" y="1044"/>
                    </a:lnTo>
                    <a:lnTo>
                      <a:pt x="490" y="942"/>
                    </a:lnTo>
                    <a:lnTo>
                      <a:pt x="550" y="846"/>
                    </a:lnTo>
                    <a:lnTo>
                      <a:pt x="612" y="758"/>
                    </a:lnTo>
                    <a:lnTo>
                      <a:pt x="672" y="674"/>
                    </a:lnTo>
                    <a:lnTo>
                      <a:pt x="734" y="598"/>
                    </a:lnTo>
                    <a:lnTo>
                      <a:pt x="792" y="528"/>
                    </a:lnTo>
                    <a:lnTo>
                      <a:pt x="850" y="464"/>
                    </a:lnTo>
                    <a:lnTo>
                      <a:pt x="906" y="408"/>
                    </a:lnTo>
                    <a:lnTo>
                      <a:pt x="960" y="356"/>
                    </a:lnTo>
                    <a:lnTo>
                      <a:pt x="1010" y="310"/>
                    </a:lnTo>
                    <a:lnTo>
                      <a:pt x="1056" y="270"/>
                    </a:lnTo>
                    <a:lnTo>
                      <a:pt x="1096" y="236"/>
                    </a:lnTo>
                    <a:lnTo>
                      <a:pt x="1134" y="208"/>
                    </a:lnTo>
                    <a:lnTo>
                      <a:pt x="1164" y="184"/>
                    </a:lnTo>
                    <a:lnTo>
                      <a:pt x="1190" y="166"/>
                    </a:lnTo>
                    <a:lnTo>
                      <a:pt x="1208" y="154"/>
                    </a:lnTo>
                    <a:lnTo>
                      <a:pt x="1220" y="146"/>
                    </a:lnTo>
                    <a:lnTo>
                      <a:pt x="1224" y="144"/>
                    </a:lnTo>
                    <a:lnTo>
                      <a:pt x="848" y="0"/>
                    </a:lnTo>
                    <a:lnTo>
                      <a:pt x="1728" y="56"/>
                    </a:lnTo>
                    <a:lnTo>
                      <a:pt x="1824" y="480"/>
                    </a:lnTo>
                    <a:lnTo>
                      <a:pt x="1568" y="328"/>
                    </a:lnTo>
                    <a:lnTo>
                      <a:pt x="1564" y="328"/>
                    </a:lnTo>
                    <a:lnTo>
                      <a:pt x="1554" y="332"/>
                    </a:lnTo>
                    <a:lnTo>
                      <a:pt x="1538" y="338"/>
                    </a:lnTo>
                    <a:lnTo>
                      <a:pt x="1514" y="346"/>
                    </a:lnTo>
                    <a:lnTo>
                      <a:pt x="1486" y="356"/>
                    </a:lnTo>
                    <a:lnTo>
                      <a:pt x="1452" y="370"/>
                    </a:lnTo>
                    <a:lnTo>
                      <a:pt x="1412" y="388"/>
                    </a:lnTo>
                    <a:lnTo>
                      <a:pt x="1370" y="410"/>
                    </a:lnTo>
                    <a:lnTo>
                      <a:pt x="1322" y="436"/>
                    </a:lnTo>
                    <a:lnTo>
                      <a:pt x="1270" y="466"/>
                    </a:lnTo>
                    <a:lnTo>
                      <a:pt x="1216" y="500"/>
                    </a:lnTo>
                    <a:lnTo>
                      <a:pt x="1158" y="540"/>
                    </a:lnTo>
                    <a:lnTo>
                      <a:pt x="1098" y="584"/>
                    </a:lnTo>
                    <a:lnTo>
                      <a:pt x="1034" y="636"/>
                    </a:lnTo>
                    <a:lnTo>
                      <a:pt x="970" y="692"/>
                    </a:lnTo>
                    <a:lnTo>
                      <a:pt x="904" y="756"/>
                    </a:lnTo>
                    <a:lnTo>
                      <a:pt x="836" y="824"/>
                    </a:lnTo>
                    <a:lnTo>
                      <a:pt x="770" y="900"/>
                    </a:lnTo>
                    <a:lnTo>
                      <a:pt x="700" y="984"/>
                    </a:lnTo>
                    <a:lnTo>
                      <a:pt x="632" y="1076"/>
                    </a:lnTo>
                    <a:lnTo>
                      <a:pt x="566" y="1174"/>
                    </a:lnTo>
                    <a:lnTo>
                      <a:pt x="498" y="1280"/>
                    </a:lnTo>
                    <a:lnTo>
                      <a:pt x="434" y="1394"/>
                    </a:lnTo>
                    <a:lnTo>
                      <a:pt x="370" y="1518"/>
                    </a:lnTo>
                    <a:lnTo>
                      <a:pt x="308" y="1650"/>
                    </a:lnTo>
                    <a:lnTo>
                      <a:pt x="248" y="1792"/>
                    </a:lnTo>
                    <a:lnTo>
                      <a:pt x="192" y="1944"/>
                    </a:lnTo>
                    <a:lnTo>
                      <a:pt x="138" y="2104"/>
                    </a:lnTo>
                    <a:lnTo>
                      <a:pt x="88" y="2274"/>
                    </a:lnTo>
                    <a:lnTo>
                      <a:pt x="42" y="2456"/>
                    </a:lnTo>
                    <a:lnTo>
                      <a:pt x="0" y="2648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11364"/>
                  </a:gs>
                  <a:gs pos="100000">
                    <a:srgbClr val="D11364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FACD69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800"/>
              </a:p>
            </p:txBody>
          </p:sp>
          <p:sp>
            <p:nvSpPr>
              <p:cNvPr id="27" name="Rectangle 25"/>
              <p:cNvSpPr>
                <a:spLocks noChangeArrowheads="1"/>
              </p:cNvSpPr>
              <p:nvPr/>
            </p:nvSpPr>
            <p:spPr bwMode="gray">
              <a:xfrm>
                <a:off x="2947" y="2027"/>
                <a:ext cx="1576" cy="165"/>
              </a:xfrm>
              <a:prstGeom prst="rect">
                <a:avLst/>
              </a:prstGeom>
              <a:gradFill rotWithShape="1">
                <a:gsLst>
                  <a:gs pos="0">
                    <a:schemeClr val="accent2">
                      <a:gamma/>
                      <a:shade val="72549"/>
                      <a:invGamma/>
                    </a:schemeClr>
                  </a:gs>
                  <a:gs pos="50000">
                    <a:schemeClr val="accent2"/>
                  </a:gs>
                  <a:gs pos="100000">
                    <a:schemeClr val="accent2">
                      <a:gamma/>
                      <a:shade val="72549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zh-CN" altLang="en-US" sz="2800" b="1" dirty="0">
                    <a:solidFill>
                      <a:srgbClr val="FFFFFF"/>
                    </a:solidFill>
                    <a:latin typeface="Verdana" pitchFamily="34" charset="0"/>
                    <a:ea typeface="宋体" pitchFamily="2" charset="-122"/>
                  </a:rPr>
                  <a:t>进步较大</a:t>
                </a:r>
              </a:p>
            </p:txBody>
          </p:sp>
          <p:sp>
            <p:nvSpPr>
              <p:cNvPr id="28" name="Rectangle 26"/>
              <p:cNvSpPr>
                <a:spLocks noChangeArrowheads="1"/>
              </p:cNvSpPr>
              <p:nvPr/>
            </p:nvSpPr>
            <p:spPr bwMode="gray">
              <a:xfrm>
                <a:off x="2471" y="2477"/>
                <a:ext cx="1719" cy="162"/>
              </a:xfrm>
              <a:prstGeom prst="rect">
                <a:avLst/>
              </a:prstGeom>
              <a:gradFill rotWithShape="1">
                <a:gsLst>
                  <a:gs pos="0">
                    <a:schemeClr val="hlink">
                      <a:gamma/>
                      <a:shade val="72549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72549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zh-CN" altLang="en-US" sz="2800" b="1">
                    <a:solidFill>
                      <a:srgbClr val="FFFFFF"/>
                    </a:solidFill>
                    <a:latin typeface="Verdana" pitchFamily="34" charset="0"/>
                    <a:ea typeface="宋体" pitchFamily="2" charset="-122"/>
                  </a:rPr>
                  <a:t>稳定发展中</a:t>
                </a:r>
              </a:p>
            </p:txBody>
          </p:sp>
          <p:sp>
            <p:nvSpPr>
              <p:cNvPr id="29" name="Freeform 27"/>
              <p:cNvSpPr>
                <a:spLocks/>
              </p:cNvSpPr>
              <p:nvPr/>
            </p:nvSpPr>
            <p:spPr bwMode="gray">
              <a:xfrm>
                <a:off x="2001" y="2635"/>
                <a:ext cx="2184" cy="295"/>
              </a:xfrm>
              <a:custGeom>
                <a:avLst/>
                <a:gdLst>
                  <a:gd name="T0" fmla="*/ 1742 w 2048"/>
                  <a:gd name="T1" fmla="*/ 286 h 286"/>
                  <a:gd name="T2" fmla="*/ 0 w 2048"/>
                  <a:gd name="T3" fmla="*/ 286 h 286"/>
                  <a:gd name="T4" fmla="*/ 446 w 2048"/>
                  <a:gd name="T5" fmla="*/ 0 h 286"/>
                  <a:gd name="T6" fmla="*/ 2048 w 2048"/>
                  <a:gd name="T7" fmla="*/ 0 h 286"/>
                  <a:gd name="T8" fmla="*/ 1742 w 2048"/>
                  <a:gd name="T9" fmla="*/ 286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48" h="286">
                    <a:moveTo>
                      <a:pt x="1742" y="286"/>
                    </a:moveTo>
                    <a:lnTo>
                      <a:pt x="0" y="286"/>
                    </a:lnTo>
                    <a:lnTo>
                      <a:pt x="446" y="0"/>
                    </a:lnTo>
                    <a:lnTo>
                      <a:pt x="2048" y="0"/>
                    </a:lnTo>
                    <a:lnTo>
                      <a:pt x="1742" y="286"/>
                    </a:lnTo>
                    <a:close/>
                  </a:path>
                </a:pathLst>
              </a:cu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80808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800"/>
              </a:p>
            </p:txBody>
          </p:sp>
          <p:sp>
            <p:nvSpPr>
              <p:cNvPr id="30" name="Rectangle 28"/>
              <p:cNvSpPr>
                <a:spLocks noChangeArrowheads="1"/>
              </p:cNvSpPr>
              <p:nvPr/>
            </p:nvSpPr>
            <p:spPr bwMode="gray">
              <a:xfrm>
                <a:off x="2003" y="2930"/>
                <a:ext cx="1859" cy="161"/>
              </a:xfrm>
              <a:prstGeom prst="rect">
                <a:avLst/>
              </a:prstGeom>
              <a:gradFill rotWithShape="1">
                <a:gsLst>
                  <a:gs pos="0">
                    <a:schemeClr val="folHlink">
                      <a:gamma/>
                      <a:shade val="72549"/>
                      <a:invGamma/>
                    </a:schemeClr>
                  </a:gs>
                  <a:gs pos="50000">
                    <a:schemeClr val="folHlink"/>
                  </a:gs>
                  <a:gs pos="100000">
                    <a:schemeClr val="folHlink">
                      <a:gamma/>
                      <a:shade val="72549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zh-CN" altLang="en-US" sz="2800" b="1">
                    <a:solidFill>
                      <a:srgbClr val="FFFFFF"/>
                    </a:solidFill>
                    <a:latin typeface="Verdana" pitchFamily="34" charset="0"/>
                    <a:ea typeface="宋体" pitchFamily="2" charset="-122"/>
                  </a:rPr>
                  <a:t>略有发展</a:t>
                </a:r>
              </a:p>
            </p:txBody>
          </p:sp>
          <p:sp>
            <p:nvSpPr>
              <p:cNvPr id="31" name="Rectangle 29"/>
              <p:cNvSpPr>
                <a:spLocks noChangeArrowheads="1"/>
              </p:cNvSpPr>
              <p:nvPr/>
            </p:nvSpPr>
            <p:spPr bwMode="gray">
              <a:xfrm>
                <a:off x="1529" y="3383"/>
                <a:ext cx="2001" cy="161"/>
              </a:xfrm>
              <a:prstGeom prst="rect">
                <a:avLst/>
              </a:prstGeom>
              <a:gradFill rotWithShape="1">
                <a:gsLst>
                  <a:gs pos="0">
                    <a:schemeClr val="accent1">
                      <a:gamma/>
                      <a:shade val="72549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72549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zh-CN" altLang="en-US" sz="2800" b="1">
                    <a:solidFill>
                      <a:srgbClr val="FFFFFF"/>
                    </a:solidFill>
                    <a:latin typeface="Verdana" pitchFamily="34" charset="0"/>
                    <a:ea typeface="宋体" pitchFamily="2" charset="-122"/>
                  </a:rPr>
                  <a:t>发展潜力巨大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2014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strips dir="ld"/>
      </p:transition>
    </mc:Choice>
    <mc:Fallback xmlns="">
      <p:transition spd="slow">
        <p:strips dir="l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收    入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8646298"/>
              </p:ext>
            </p:extLst>
          </p:nvPr>
        </p:nvGraphicFramePr>
        <p:xfrm>
          <a:off x="3467100" y="2133600"/>
          <a:ext cx="65913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4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8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82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8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sz="1800" kern="100" dirty="0">
                        <a:effectLst/>
                        <a:latin typeface="Calibri"/>
                      </a:endParaRPr>
                    </a:p>
                  </a:txBody>
                  <a:tcPr marL="54928" marR="54928" marT="0" marB="0" anchor="ctr">
                    <a:lnB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2013</a:t>
                      </a:r>
                      <a:endParaRPr lang="zh-CN" sz="18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54928" marR="54928" marT="0" marB="0" anchor="ctr">
                    <a:lnB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2014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54928" marR="54928" marT="0" marB="0" anchor="ctr">
                    <a:lnB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2015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54928" marR="54928" marT="0" marB="0" anchor="ctr">
                    <a:lnB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2016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54928" marR="54928" marT="0" marB="0" anchor="ctr">
                    <a:lnB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烟酒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54928" marR="54928" marT="0" marB="0" anchor="ctr">
                    <a:lnT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101</a:t>
                      </a:r>
                      <a:r>
                        <a:rPr lang="zh-CN" sz="1800" kern="1200" dirty="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万</a:t>
                      </a:r>
                      <a:endParaRPr lang="zh-CN" sz="18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54928" marR="54928" marT="0" marB="0" anchor="ctr">
                    <a:lnT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120</a:t>
                      </a:r>
                      <a:r>
                        <a:rPr lang="zh-CN" sz="1800" kern="1200" dirty="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万</a:t>
                      </a:r>
                      <a:endParaRPr lang="zh-CN" sz="18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54928" marR="54928" marT="0" marB="0" anchor="ctr">
                    <a:lnT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188</a:t>
                      </a:r>
                      <a:r>
                        <a:rPr lang="zh-CN" sz="18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万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54928" marR="54928" marT="0" marB="0" anchor="ctr">
                    <a:lnT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201</a:t>
                      </a:r>
                      <a:r>
                        <a:rPr lang="zh-CN" sz="18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万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54928" marR="54928" marT="0" marB="0" anchor="ctr">
                    <a:lnT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旅游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54928" marR="54928" marT="0" marB="0" anchor="ctr">
                    <a:lnT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88</a:t>
                      </a:r>
                      <a:r>
                        <a:rPr lang="zh-CN" sz="18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万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54928" marR="54928" marT="0" marB="0" anchor="ctr">
                    <a:lnT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60</a:t>
                      </a:r>
                      <a:r>
                        <a:rPr lang="zh-CN" sz="1800" kern="1200" dirty="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万</a:t>
                      </a:r>
                      <a:endParaRPr lang="zh-CN" sz="18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54928" marR="54928" marT="0" marB="0" anchor="ctr">
                    <a:lnT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120</a:t>
                      </a:r>
                      <a:r>
                        <a:rPr lang="zh-CN" sz="1800" kern="1200" dirty="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万</a:t>
                      </a:r>
                      <a:endParaRPr lang="zh-CN" sz="18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54928" marR="54928" marT="0" marB="0" anchor="ctr">
                    <a:lnT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156</a:t>
                      </a:r>
                      <a:r>
                        <a:rPr lang="zh-CN" sz="18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万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54928" marR="54928" marT="0" marB="0" anchor="ctr">
                    <a:lnT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zh-CN" sz="1800" kern="1200" dirty="0" smtClean="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农产品</a:t>
                      </a:r>
                      <a:endParaRPr lang="zh-CN" sz="18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54928" marR="54928" marT="0" marB="0" anchor="ctr">
                    <a:lnT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97</a:t>
                      </a:r>
                      <a:r>
                        <a:rPr lang="zh-CN" sz="18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万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54928" marR="54928" marT="0" marB="0" anchor="ctr">
                    <a:lnT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75</a:t>
                      </a:r>
                      <a:r>
                        <a:rPr lang="zh-CN" sz="18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万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54928" marR="54928" marT="0" marB="0" anchor="ctr">
                    <a:lnT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114</a:t>
                      </a:r>
                      <a:r>
                        <a:rPr lang="zh-CN" sz="1800" kern="1200" dirty="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万</a:t>
                      </a:r>
                      <a:endParaRPr lang="zh-CN" sz="18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54928" marR="54928" marT="0" marB="0" anchor="ctr">
                    <a:lnT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124</a:t>
                      </a:r>
                      <a:r>
                        <a:rPr lang="zh-CN" sz="1800" kern="1200" dirty="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万</a:t>
                      </a:r>
                      <a:endParaRPr lang="zh-CN" sz="18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54928" marR="54928" marT="0" marB="0" anchor="ctr">
                    <a:lnT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直销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54928" marR="54928" marT="0" marB="0" anchor="ctr">
                    <a:lnT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80</a:t>
                      </a:r>
                      <a:r>
                        <a:rPr lang="zh-CN" sz="18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万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54928" marR="54928" marT="0" marB="0" anchor="ctr">
                    <a:lnT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72</a:t>
                      </a:r>
                      <a:r>
                        <a:rPr lang="zh-CN" sz="18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万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54928" marR="54928" marT="0" marB="0" anchor="ctr">
                    <a:lnT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93</a:t>
                      </a:r>
                      <a:r>
                        <a:rPr lang="zh-CN" sz="1800" kern="1200" dirty="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万</a:t>
                      </a:r>
                      <a:endParaRPr lang="zh-CN" sz="18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54928" marR="54928" marT="0" marB="0" anchor="ctr">
                    <a:lnT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105</a:t>
                      </a:r>
                      <a:r>
                        <a:rPr lang="zh-CN" sz="1800" kern="1200" dirty="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万</a:t>
                      </a:r>
                      <a:endParaRPr lang="zh-CN" sz="18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54928" marR="54928" marT="0" marB="0" anchor="ctr">
                    <a:lnT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其他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54928" marR="54928" marT="0" marB="0" anchor="ctr">
                    <a:lnT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100</a:t>
                      </a:r>
                      <a:r>
                        <a:rPr lang="zh-CN" sz="18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万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54928" marR="54928" marT="0" marB="0" anchor="ctr">
                    <a:lnT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88</a:t>
                      </a:r>
                      <a:r>
                        <a:rPr lang="zh-CN" sz="18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万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54928" marR="54928" marT="0" marB="0" anchor="ctr">
                    <a:lnT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78</a:t>
                      </a:r>
                      <a:r>
                        <a:rPr lang="zh-CN" sz="1800" kern="120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万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54928" marR="54928" marT="0" marB="0" anchor="ctr">
                    <a:lnT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160</a:t>
                      </a:r>
                      <a:r>
                        <a:rPr lang="zh-CN" sz="1800" kern="1200" dirty="0">
                          <a:solidFill>
                            <a:srgbClr val="000000"/>
                          </a:solidFill>
                          <a:effectLst/>
                          <a:latin typeface="黑体"/>
                          <a:ea typeface="宋体"/>
                          <a:cs typeface="Arial"/>
                        </a:rPr>
                        <a:t>万</a:t>
                      </a:r>
                      <a:endParaRPr lang="zh-CN" sz="18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54928" marR="54928" marT="0" marB="0" anchor="ctr">
                    <a:lnT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4058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strips dir="ld"/>
      </p:transition>
    </mc:Choice>
    <mc:Fallback xmlns="">
      <p:transition spd="slow">
        <p:strips dir="ld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收入组成</a:t>
            </a:r>
            <a:endParaRPr lang="zh-CN" altLang="en-US" dirty="0"/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85305186"/>
              </p:ext>
            </p:extLst>
          </p:nvPr>
        </p:nvGraphicFramePr>
        <p:xfrm>
          <a:off x="2589213" y="2133600"/>
          <a:ext cx="2880000" cy="28800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960000">
                  <a:extLst>
                    <a:ext uri="{9D8B030D-6E8A-4147-A177-3AD203B41FA5}">
                      <a16:colId xmlns:a16="http://schemas.microsoft.com/office/drawing/2014/main" val="1321993011"/>
                    </a:ext>
                  </a:extLst>
                </a:gridCol>
                <a:gridCol w="960000">
                  <a:extLst>
                    <a:ext uri="{9D8B030D-6E8A-4147-A177-3AD203B41FA5}">
                      <a16:colId xmlns:a16="http://schemas.microsoft.com/office/drawing/2014/main" val="2201496236"/>
                    </a:ext>
                  </a:extLst>
                </a:gridCol>
                <a:gridCol w="960000">
                  <a:extLst>
                    <a:ext uri="{9D8B030D-6E8A-4147-A177-3AD203B41FA5}">
                      <a16:colId xmlns:a16="http://schemas.microsoft.com/office/drawing/2014/main" val="697001606"/>
                    </a:ext>
                  </a:extLst>
                </a:gridCol>
              </a:tblGrid>
              <a:tr h="48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名称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2016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百分比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1827845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烟酒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201</a:t>
                      </a:r>
                      <a:r>
                        <a:rPr lang="zh-CN" altLang="en-US" dirty="0" smtClean="0"/>
                        <a:t>万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26.9%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5367165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旅游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156</a:t>
                      </a:r>
                      <a:r>
                        <a:rPr lang="zh-CN" altLang="en-US" dirty="0" smtClean="0"/>
                        <a:t>万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20.9%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0359120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农产品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124</a:t>
                      </a:r>
                      <a:r>
                        <a:rPr lang="zh-CN" altLang="en-US" dirty="0" smtClean="0"/>
                        <a:t>万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16.6%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069755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直销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105</a:t>
                      </a:r>
                      <a:r>
                        <a:rPr lang="zh-CN" altLang="en-US" dirty="0" smtClean="0"/>
                        <a:t>万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14.1%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5403607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其他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160</a:t>
                      </a:r>
                      <a:r>
                        <a:rPr lang="zh-CN" altLang="en-US" dirty="0" smtClean="0"/>
                        <a:t>万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21.4%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8042184"/>
                  </a:ext>
                </a:extLst>
              </a:tr>
            </a:tbl>
          </a:graphicData>
        </a:graphic>
      </p:graphicFrame>
      <p:graphicFrame>
        <p:nvGraphicFramePr>
          <p:cNvPr id="24" name="内容占位符 23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05576001"/>
              </p:ext>
            </p:extLst>
          </p:nvPr>
        </p:nvGraphicFramePr>
        <p:xfrm>
          <a:off x="7191375" y="2125663"/>
          <a:ext cx="4320000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11238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strips dir="ld"/>
      </p:transition>
    </mc:Choice>
    <mc:Fallback xmlns="">
      <p:transition spd="slow">
        <p:strips dir="ld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再见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2525151" y="2967335"/>
            <a:ext cx="714169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zh-CN" altLang="en-US" sz="5400" b="1" cap="none" spc="0" dirty="0" smtClean="0">
                <a:ln/>
                <a:gradFill flip="none" rotWithShape="1">
                  <a:gsLst>
                    <a:gs pos="0">
                      <a:schemeClr val="accent3">
                        <a:shade val="30000"/>
                        <a:satMod val="115000"/>
                      </a:schemeClr>
                    </a:gs>
                    <a:gs pos="50000">
                      <a:schemeClr val="accent3">
                        <a:shade val="67500"/>
                        <a:satMod val="115000"/>
                      </a:schemeClr>
                    </a:gs>
                    <a:gs pos="100000">
                      <a:schemeClr val="accent3">
                        <a:shade val="100000"/>
                        <a:satMod val="115000"/>
                      </a:schemeClr>
                    </a:gs>
                  </a:gsLst>
                  <a:lin ang="2700000" scaled="1"/>
                  <a:tileRect/>
                </a:gradFill>
                <a:effectLst/>
              </a:rPr>
              <a:t>感谢大家的支持与付出</a:t>
            </a:r>
            <a:endParaRPr lang="zh-CN" altLang="en-US" sz="5400" b="1" cap="none" spc="0" dirty="0">
              <a:ln/>
              <a:gradFill flip="none" rotWithShape="1">
                <a:gsLst>
                  <a:gs pos="0">
                    <a:schemeClr val="accent3">
                      <a:shade val="30000"/>
                      <a:satMod val="115000"/>
                    </a:schemeClr>
                  </a:gs>
                  <a:gs pos="50000">
                    <a:schemeClr val="accent3">
                      <a:shade val="67500"/>
                      <a:satMod val="115000"/>
                    </a:schemeClr>
                  </a:gs>
                  <a:gs pos="100000">
                    <a:schemeClr val="accent3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4352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strips dir="ld"/>
      </p:transition>
    </mc:Choice>
    <mc:Fallback xmlns="">
      <p:transition spd="slow">
        <p:strips dir="l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说明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 该</a:t>
            </a:r>
            <a:r>
              <a:rPr lang="en-US" altLang="zh-CN" dirty="0" smtClean="0"/>
              <a:t>PPT</a:t>
            </a:r>
            <a:r>
              <a:rPr lang="zh-CN" altLang="en-US" dirty="0" smtClean="0"/>
              <a:t>为内部汇报使用、请勿外传。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75557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strips dir="ld"/>
      </p:transition>
    </mc:Choice>
    <mc:Fallback xmlns="">
      <p:transition spd="slow">
        <p:strips dir="ld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丝状">
  <a:themeElements>
    <a:clrScheme name="丝状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丝状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丝状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127</TotalTime>
  <Words>258</Words>
  <Application>Microsoft Office PowerPoint</Application>
  <PresentationFormat>宽屏</PresentationFormat>
  <Paragraphs>78</Paragraphs>
  <Slides>9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黑体</vt:lpstr>
      <vt:lpstr>宋体</vt:lpstr>
      <vt:lpstr>微软雅黑</vt:lpstr>
      <vt:lpstr>幼圆</vt:lpstr>
      <vt:lpstr>Arial</vt:lpstr>
      <vt:lpstr>Calibri</vt:lpstr>
      <vt:lpstr>Century Gothic</vt:lpstr>
      <vt:lpstr>Times New Roman</vt:lpstr>
      <vt:lpstr>Verdana</vt:lpstr>
      <vt:lpstr>Wingdings 3</vt:lpstr>
      <vt:lpstr>丝状</vt:lpstr>
      <vt:lpstr>年终总结报告会</vt:lpstr>
      <vt:lpstr>报告提纲</vt:lpstr>
      <vt:lpstr>业 绩 分 析</vt:lpstr>
      <vt:lpstr>收 入 分 析</vt:lpstr>
      <vt:lpstr>市 场 业 绩</vt:lpstr>
      <vt:lpstr>收    入</vt:lpstr>
      <vt:lpstr>收入组成</vt:lpstr>
      <vt:lpstr>再见</vt:lpstr>
      <vt:lpstr>说明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年终总结报告会</dc:title>
  <dc:creator>NTKO</dc:creator>
  <cp:lastModifiedBy>Windows 用户11</cp:lastModifiedBy>
  <cp:revision>17</cp:revision>
  <dcterms:created xsi:type="dcterms:W3CDTF">2017-09-23T03:19:53Z</dcterms:created>
  <dcterms:modified xsi:type="dcterms:W3CDTF">2022-04-08T01:38:39Z</dcterms:modified>
</cp:coreProperties>
</file>