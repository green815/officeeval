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90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71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8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8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75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28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70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2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60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89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8DD43-166F-435E-93B8-CDFB9BB2DCA8}" type="datetimeFigureOut">
              <a:rPr lang="zh-CN" altLang="en-US" smtClean="0"/>
              <a:t>2021/4/11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1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年终总结报告会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320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报告提纲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业绩分析</a:t>
            </a:r>
            <a:endParaRPr lang="en-US" altLang="zh-CN" dirty="0" smtClean="0"/>
          </a:p>
          <a:p>
            <a:r>
              <a:rPr lang="zh-CN" altLang="en-US" dirty="0" smtClean="0"/>
              <a:t>收入分析</a:t>
            </a:r>
            <a:endParaRPr lang="en-US" altLang="zh-CN" dirty="0" smtClean="0"/>
          </a:p>
          <a:p>
            <a:r>
              <a:rPr lang="zh-CN" altLang="en-US" dirty="0" smtClean="0"/>
              <a:t>市场业绩</a:t>
            </a:r>
            <a:endParaRPr lang="en-US" altLang="zh-CN" dirty="0" smtClean="0"/>
          </a:p>
          <a:p>
            <a:r>
              <a:rPr lang="zh-CN" altLang="en-US" dirty="0" smtClean="0"/>
              <a:t>收入</a:t>
            </a:r>
            <a:endParaRPr lang="en-US" altLang="zh-CN" dirty="0" smtClean="0"/>
          </a:p>
          <a:p>
            <a:r>
              <a:rPr lang="zh-CN" altLang="en-US" dirty="0" smtClean="0"/>
              <a:t>收入组成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86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业 绩 分 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公司自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月份上市以来，在目前涉足的烟酒、旅游、农副产品以及直销等领域都有一定的发展，取得了良好的经济收益。当然，随着市场的深入，一些不足和弊端也初现端倪。</a:t>
            </a:r>
          </a:p>
          <a:p>
            <a:r>
              <a:rPr lang="zh-CN" altLang="en-US" dirty="0" smtClean="0"/>
              <a:t>良好态势</a:t>
            </a:r>
          </a:p>
          <a:p>
            <a:r>
              <a:rPr lang="zh-CN" altLang="en-US" dirty="0" smtClean="0"/>
              <a:t>不足弊端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63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 入 分 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自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月份至</a:t>
            </a:r>
            <a:r>
              <a:rPr lang="en-US" altLang="zh-CN" dirty="0" smtClean="0"/>
              <a:t>2016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10</a:t>
            </a:r>
            <a:r>
              <a:rPr lang="zh-CN" altLang="en-US" dirty="0" smtClean="0"/>
              <a:t>月为止，我们总结了各领域的收入情况，并进行了统计和分析；</a:t>
            </a:r>
            <a:endParaRPr lang="en-US" altLang="zh-CN" dirty="0" smtClean="0"/>
          </a:p>
          <a:p>
            <a:r>
              <a:rPr lang="zh-CN" altLang="en-US" dirty="0" smtClean="0"/>
              <a:t>其中烟酒和旅游收入情况稳定，其他领域经受市场冲击较大，具体发展形势及数据见各表。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988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 场 业 绩</a:t>
            </a:r>
            <a:endParaRPr lang="zh-CN" altLang="en-US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gray">
          <a:xfrm flipH="1">
            <a:off x="1050570" y="5652813"/>
            <a:ext cx="1600429" cy="2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gray">
          <a:xfrm flipH="1">
            <a:off x="1050570" y="4633572"/>
            <a:ext cx="2354869" cy="2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gray">
          <a:xfrm flipH="1">
            <a:off x="1050570" y="3625531"/>
            <a:ext cx="3238156" cy="2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gray">
          <a:xfrm flipH="1">
            <a:off x="1050570" y="2619731"/>
            <a:ext cx="4023112" cy="2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gray">
          <a:xfrm flipH="1" flipV="1">
            <a:off x="1050570" y="1596010"/>
            <a:ext cx="4862320" cy="22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gray">
          <a:xfrm>
            <a:off x="1198067" y="1589290"/>
            <a:ext cx="1695" cy="1059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gray">
          <a:xfrm>
            <a:off x="1198067" y="2648852"/>
            <a:ext cx="1695" cy="9923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gray">
          <a:xfrm>
            <a:off x="1198067" y="3641212"/>
            <a:ext cx="1695" cy="990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gray">
          <a:xfrm>
            <a:off x="1198067" y="4633572"/>
            <a:ext cx="1695" cy="9923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gray">
          <a:xfrm>
            <a:off x="1345564" y="1938744"/>
            <a:ext cx="905327" cy="52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latin typeface="Verdana" pitchFamily="34" charset="0"/>
                <a:ea typeface="宋体" pitchFamily="2" charset="-122"/>
              </a:rPr>
              <a:t>烟酒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gray">
          <a:xfrm>
            <a:off x="1345564" y="2942304"/>
            <a:ext cx="905327" cy="52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Verdana" pitchFamily="34" charset="0"/>
                <a:ea typeface="宋体" pitchFamily="2" charset="-122"/>
              </a:rPr>
              <a:t>旅游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gray">
          <a:xfrm>
            <a:off x="1345564" y="3988426"/>
            <a:ext cx="1627555" cy="52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Verdana" pitchFamily="34" charset="0"/>
                <a:ea typeface="宋体" pitchFamily="2" charset="-122"/>
              </a:rPr>
              <a:t>农副产品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gray">
          <a:xfrm>
            <a:off x="1345564" y="4969585"/>
            <a:ext cx="905327" cy="52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Verdana" pitchFamily="34" charset="0"/>
                <a:ea typeface="宋体" pitchFamily="2" charset="-122"/>
              </a:rPr>
              <a:t>直销</a:t>
            </a:r>
          </a:p>
        </p:txBody>
      </p: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2710337" y="1600490"/>
            <a:ext cx="5626932" cy="4061283"/>
            <a:chOff x="1529" y="1733"/>
            <a:chExt cx="3319" cy="1813"/>
          </a:xfrm>
        </p:grpSpPr>
        <p:sp>
          <p:nvSpPr>
            <p:cNvPr id="19" name="Freeform 17"/>
            <p:cNvSpPr>
              <a:spLocks/>
            </p:cNvSpPr>
            <p:nvPr/>
          </p:nvSpPr>
          <p:spPr bwMode="gray">
            <a:xfrm>
              <a:off x="4516" y="1733"/>
              <a:ext cx="328" cy="459"/>
            </a:xfrm>
            <a:custGeom>
              <a:avLst/>
              <a:gdLst>
                <a:gd name="T0" fmla="*/ 308 w 308"/>
                <a:gd name="T1" fmla="*/ 120 h 444"/>
                <a:gd name="T2" fmla="*/ 0 w 308"/>
                <a:gd name="T3" fmla="*/ 444 h 444"/>
                <a:gd name="T4" fmla="*/ 0 w 308"/>
                <a:gd name="T5" fmla="*/ 286 h 444"/>
                <a:gd name="T6" fmla="*/ 308 w 308"/>
                <a:gd name="T7" fmla="*/ 0 h 444"/>
                <a:gd name="T8" fmla="*/ 308 w 308"/>
                <a:gd name="T9" fmla="*/ 12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44">
                  <a:moveTo>
                    <a:pt x="308" y="120"/>
                  </a:moveTo>
                  <a:lnTo>
                    <a:pt x="0" y="444"/>
                  </a:lnTo>
                  <a:lnTo>
                    <a:pt x="0" y="286"/>
                  </a:lnTo>
                  <a:lnTo>
                    <a:pt x="308" y="0"/>
                  </a:lnTo>
                  <a:lnTo>
                    <a:pt x="308" y="12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1D1D1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gray">
            <a:xfrm>
              <a:off x="2943" y="1733"/>
              <a:ext cx="1905" cy="294"/>
            </a:xfrm>
            <a:custGeom>
              <a:avLst/>
              <a:gdLst>
                <a:gd name="T0" fmla="*/ 1478 w 1786"/>
                <a:gd name="T1" fmla="*/ 284 h 284"/>
                <a:gd name="T2" fmla="*/ 0 w 1786"/>
                <a:gd name="T3" fmla="*/ 284 h 284"/>
                <a:gd name="T4" fmla="*/ 446 w 1786"/>
                <a:gd name="T5" fmla="*/ 0 h 284"/>
                <a:gd name="T6" fmla="*/ 1786 w 1786"/>
                <a:gd name="T7" fmla="*/ 0 h 284"/>
                <a:gd name="T8" fmla="*/ 1478 w 1786"/>
                <a:gd name="T9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6" h="284">
                  <a:moveTo>
                    <a:pt x="1478" y="284"/>
                  </a:moveTo>
                  <a:lnTo>
                    <a:pt x="0" y="284"/>
                  </a:lnTo>
                  <a:lnTo>
                    <a:pt x="446" y="0"/>
                  </a:lnTo>
                  <a:lnTo>
                    <a:pt x="1786" y="0"/>
                  </a:lnTo>
                  <a:lnTo>
                    <a:pt x="1478" y="28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80808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gray">
            <a:xfrm>
              <a:off x="4186" y="2184"/>
              <a:ext cx="328" cy="456"/>
            </a:xfrm>
            <a:custGeom>
              <a:avLst/>
              <a:gdLst>
                <a:gd name="T0" fmla="*/ 308 w 308"/>
                <a:gd name="T1" fmla="*/ 120 h 442"/>
                <a:gd name="T2" fmla="*/ 0 w 308"/>
                <a:gd name="T3" fmla="*/ 442 h 442"/>
                <a:gd name="T4" fmla="*/ 0 w 308"/>
                <a:gd name="T5" fmla="*/ 286 h 442"/>
                <a:gd name="T6" fmla="*/ 308 w 308"/>
                <a:gd name="T7" fmla="*/ 0 h 442"/>
                <a:gd name="T8" fmla="*/ 308 w 308"/>
                <a:gd name="T9" fmla="*/ 12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42">
                  <a:moveTo>
                    <a:pt x="308" y="120"/>
                  </a:moveTo>
                  <a:lnTo>
                    <a:pt x="0" y="442"/>
                  </a:lnTo>
                  <a:lnTo>
                    <a:pt x="0" y="286"/>
                  </a:lnTo>
                  <a:lnTo>
                    <a:pt x="308" y="0"/>
                  </a:lnTo>
                  <a:lnTo>
                    <a:pt x="308" y="12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1D1D1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gray">
            <a:xfrm>
              <a:off x="2470" y="2184"/>
              <a:ext cx="2048" cy="293"/>
            </a:xfrm>
            <a:custGeom>
              <a:avLst/>
              <a:gdLst>
                <a:gd name="T0" fmla="*/ 1612 w 1920"/>
                <a:gd name="T1" fmla="*/ 284 h 284"/>
                <a:gd name="T2" fmla="*/ 0 w 1920"/>
                <a:gd name="T3" fmla="*/ 284 h 284"/>
                <a:gd name="T4" fmla="*/ 446 w 1920"/>
                <a:gd name="T5" fmla="*/ 0 h 284"/>
                <a:gd name="T6" fmla="*/ 1920 w 1920"/>
                <a:gd name="T7" fmla="*/ 0 h 284"/>
                <a:gd name="T8" fmla="*/ 1612 w 1920"/>
                <a:gd name="T9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0" h="284">
                  <a:moveTo>
                    <a:pt x="1612" y="284"/>
                  </a:moveTo>
                  <a:lnTo>
                    <a:pt x="0" y="284"/>
                  </a:lnTo>
                  <a:lnTo>
                    <a:pt x="446" y="0"/>
                  </a:lnTo>
                  <a:lnTo>
                    <a:pt x="1920" y="0"/>
                  </a:lnTo>
                  <a:lnTo>
                    <a:pt x="1612" y="28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80808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gray">
            <a:xfrm>
              <a:off x="3855" y="2635"/>
              <a:ext cx="326" cy="458"/>
            </a:xfrm>
            <a:custGeom>
              <a:avLst/>
              <a:gdLst>
                <a:gd name="T0" fmla="*/ 306 w 306"/>
                <a:gd name="T1" fmla="*/ 122 h 444"/>
                <a:gd name="T2" fmla="*/ 0 w 306"/>
                <a:gd name="T3" fmla="*/ 444 h 444"/>
                <a:gd name="T4" fmla="*/ 0 w 306"/>
                <a:gd name="T5" fmla="*/ 286 h 444"/>
                <a:gd name="T6" fmla="*/ 306 w 306"/>
                <a:gd name="T7" fmla="*/ 0 h 444"/>
                <a:gd name="T8" fmla="*/ 306 w 306"/>
                <a:gd name="T9" fmla="*/ 122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444">
                  <a:moveTo>
                    <a:pt x="306" y="122"/>
                  </a:moveTo>
                  <a:lnTo>
                    <a:pt x="0" y="444"/>
                  </a:lnTo>
                  <a:lnTo>
                    <a:pt x="0" y="286"/>
                  </a:lnTo>
                  <a:lnTo>
                    <a:pt x="306" y="0"/>
                  </a:lnTo>
                  <a:lnTo>
                    <a:pt x="306" y="122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1D1D1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gray">
            <a:xfrm>
              <a:off x="3526" y="3087"/>
              <a:ext cx="329" cy="459"/>
            </a:xfrm>
            <a:custGeom>
              <a:avLst/>
              <a:gdLst>
                <a:gd name="T0" fmla="*/ 308 w 308"/>
                <a:gd name="T1" fmla="*/ 122 h 444"/>
                <a:gd name="T2" fmla="*/ 0 w 308"/>
                <a:gd name="T3" fmla="*/ 444 h 444"/>
                <a:gd name="T4" fmla="*/ 0 w 308"/>
                <a:gd name="T5" fmla="*/ 286 h 444"/>
                <a:gd name="T6" fmla="*/ 308 w 308"/>
                <a:gd name="T7" fmla="*/ 0 h 444"/>
                <a:gd name="T8" fmla="*/ 308 w 308"/>
                <a:gd name="T9" fmla="*/ 122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44">
                  <a:moveTo>
                    <a:pt x="308" y="122"/>
                  </a:moveTo>
                  <a:lnTo>
                    <a:pt x="0" y="444"/>
                  </a:lnTo>
                  <a:lnTo>
                    <a:pt x="0" y="286"/>
                  </a:lnTo>
                  <a:lnTo>
                    <a:pt x="308" y="0"/>
                  </a:lnTo>
                  <a:lnTo>
                    <a:pt x="308" y="122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1D1D1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gray">
            <a:xfrm>
              <a:off x="1530" y="3090"/>
              <a:ext cx="2325" cy="292"/>
            </a:xfrm>
            <a:custGeom>
              <a:avLst/>
              <a:gdLst>
                <a:gd name="T0" fmla="*/ 1872 w 2180"/>
                <a:gd name="T1" fmla="*/ 284 h 284"/>
                <a:gd name="T2" fmla="*/ 0 w 2180"/>
                <a:gd name="T3" fmla="*/ 284 h 284"/>
                <a:gd name="T4" fmla="*/ 446 w 2180"/>
                <a:gd name="T5" fmla="*/ 0 h 284"/>
                <a:gd name="T6" fmla="*/ 2180 w 2180"/>
                <a:gd name="T7" fmla="*/ 0 h 284"/>
                <a:gd name="T8" fmla="*/ 1872 w 2180"/>
                <a:gd name="T9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0" h="284">
                  <a:moveTo>
                    <a:pt x="1872" y="284"/>
                  </a:moveTo>
                  <a:lnTo>
                    <a:pt x="0" y="284"/>
                  </a:lnTo>
                  <a:lnTo>
                    <a:pt x="446" y="0"/>
                  </a:lnTo>
                  <a:lnTo>
                    <a:pt x="2180" y="0"/>
                  </a:lnTo>
                  <a:lnTo>
                    <a:pt x="1872" y="2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80808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gray">
            <a:xfrm>
              <a:off x="1867" y="1817"/>
              <a:ext cx="1047" cy="1476"/>
            </a:xfrm>
            <a:custGeom>
              <a:avLst/>
              <a:gdLst>
                <a:gd name="T0" fmla="*/ 12 w 1824"/>
                <a:gd name="T1" fmla="*/ 2464 h 2648"/>
                <a:gd name="T2" fmla="*/ 56 w 1824"/>
                <a:gd name="T3" fmla="*/ 2120 h 2648"/>
                <a:gd name="T4" fmla="*/ 124 w 1824"/>
                <a:gd name="T5" fmla="*/ 1808 h 2648"/>
                <a:gd name="T6" fmla="*/ 212 w 1824"/>
                <a:gd name="T7" fmla="*/ 1524 h 2648"/>
                <a:gd name="T8" fmla="*/ 316 w 1824"/>
                <a:gd name="T9" fmla="*/ 1270 h 2648"/>
                <a:gd name="T10" fmla="*/ 430 w 1824"/>
                <a:gd name="T11" fmla="*/ 1044 h 2648"/>
                <a:gd name="T12" fmla="*/ 550 w 1824"/>
                <a:gd name="T13" fmla="*/ 846 h 2648"/>
                <a:gd name="T14" fmla="*/ 672 w 1824"/>
                <a:gd name="T15" fmla="*/ 674 h 2648"/>
                <a:gd name="T16" fmla="*/ 792 w 1824"/>
                <a:gd name="T17" fmla="*/ 528 h 2648"/>
                <a:gd name="T18" fmla="*/ 906 w 1824"/>
                <a:gd name="T19" fmla="*/ 408 h 2648"/>
                <a:gd name="T20" fmla="*/ 1010 w 1824"/>
                <a:gd name="T21" fmla="*/ 310 h 2648"/>
                <a:gd name="T22" fmla="*/ 1096 w 1824"/>
                <a:gd name="T23" fmla="*/ 236 h 2648"/>
                <a:gd name="T24" fmla="*/ 1164 w 1824"/>
                <a:gd name="T25" fmla="*/ 184 h 2648"/>
                <a:gd name="T26" fmla="*/ 1208 w 1824"/>
                <a:gd name="T27" fmla="*/ 154 h 2648"/>
                <a:gd name="T28" fmla="*/ 1224 w 1824"/>
                <a:gd name="T29" fmla="*/ 144 h 2648"/>
                <a:gd name="T30" fmla="*/ 1728 w 1824"/>
                <a:gd name="T31" fmla="*/ 56 h 2648"/>
                <a:gd name="T32" fmla="*/ 1568 w 1824"/>
                <a:gd name="T33" fmla="*/ 328 h 2648"/>
                <a:gd name="T34" fmla="*/ 1554 w 1824"/>
                <a:gd name="T35" fmla="*/ 332 h 2648"/>
                <a:gd name="T36" fmla="*/ 1514 w 1824"/>
                <a:gd name="T37" fmla="*/ 346 h 2648"/>
                <a:gd name="T38" fmla="*/ 1452 w 1824"/>
                <a:gd name="T39" fmla="*/ 370 h 2648"/>
                <a:gd name="T40" fmla="*/ 1370 w 1824"/>
                <a:gd name="T41" fmla="*/ 410 h 2648"/>
                <a:gd name="T42" fmla="*/ 1270 w 1824"/>
                <a:gd name="T43" fmla="*/ 466 h 2648"/>
                <a:gd name="T44" fmla="*/ 1158 w 1824"/>
                <a:gd name="T45" fmla="*/ 540 h 2648"/>
                <a:gd name="T46" fmla="*/ 1034 w 1824"/>
                <a:gd name="T47" fmla="*/ 636 h 2648"/>
                <a:gd name="T48" fmla="*/ 904 w 1824"/>
                <a:gd name="T49" fmla="*/ 756 h 2648"/>
                <a:gd name="T50" fmla="*/ 770 w 1824"/>
                <a:gd name="T51" fmla="*/ 900 h 2648"/>
                <a:gd name="T52" fmla="*/ 632 w 1824"/>
                <a:gd name="T53" fmla="*/ 1076 h 2648"/>
                <a:gd name="T54" fmla="*/ 498 w 1824"/>
                <a:gd name="T55" fmla="*/ 1280 h 2648"/>
                <a:gd name="T56" fmla="*/ 370 w 1824"/>
                <a:gd name="T57" fmla="*/ 1518 h 2648"/>
                <a:gd name="T58" fmla="*/ 248 w 1824"/>
                <a:gd name="T59" fmla="*/ 1792 h 2648"/>
                <a:gd name="T60" fmla="*/ 138 w 1824"/>
                <a:gd name="T61" fmla="*/ 2104 h 2648"/>
                <a:gd name="T62" fmla="*/ 42 w 1824"/>
                <a:gd name="T63" fmla="*/ 2456 h 2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24" h="2648">
                  <a:moveTo>
                    <a:pt x="0" y="2648"/>
                  </a:moveTo>
                  <a:lnTo>
                    <a:pt x="12" y="2464"/>
                  </a:lnTo>
                  <a:lnTo>
                    <a:pt x="32" y="2288"/>
                  </a:lnTo>
                  <a:lnTo>
                    <a:pt x="56" y="2120"/>
                  </a:lnTo>
                  <a:lnTo>
                    <a:pt x="88" y="1960"/>
                  </a:lnTo>
                  <a:lnTo>
                    <a:pt x="124" y="1808"/>
                  </a:lnTo>
                  <a:lnTo>
                    <a:pt x="166" y="1662"/>
                  </a:lnTo>
                  <a:lnTo>
                    <a:pt x="212" y="1524"/>
                  </a:lnTo>
                  <a:lnTo>
                    <a:pt x="262" y="1394"/>
                  </a:lnTo>
                  <a:lnTo>
                    <a:pt x="316" y="1270"/>
                  </a:lnTo>
                  <a:lnTo>
                    <a:pt x="372" y="1154"/>
                  </a:lnTo>
                  <a:lnTo>
                    <a:pt x="430" y="1044"/>
                  </a:lnTo>
                  <a:lnTo>
                    <a:pt x="490" y="942"/>
                  </a:lnTo>
                  <a:lnTo>
                    <a:pt x="550" y="846"/>
                  </a:lnTo>
                  <a:lnTo>
                    <a:pt x="612" y="758"/>
                  </a:lnTo>
                  <a:lnTo>
                    <a:pt x="672" y="674"/>
                  </a:lnTo>
                  <a:lnTo>
                    <a:pt x="734" y="598"/>
                  </a:lnTo>
                  <a:lnTo>
                    <a:pt x="792" y="528"/>
                  </a:lnTo>
                  <a:lnTo>
                    <a:pt x="850" y="464"/>
                  </a:lnTo>
                  <a:lnTo>
                    <a:pt x="906" y="408"/>
                  </a:lnTo>
                  <a:lnTo>
                    <a:pt x="960" y="356"/>
                  </a:lnTo>
                  <a:lnTo>
                    <a:pt x="1010" y="310"/>
                  </a:lnTo>
                  <a:lnTo>
                    <a:pt x="1056" y="270"/>
                  </a:lnTo>
                  <a:lnTo>
                    <a:pt x="1096" y="236"/>
                  </a:lnTo>
                  <a:lnTo>
                    <a:pt x="1134" y="208"/>
                  </a:lnTo>
                  <a:lnTo>
                    <a:pt x="1164" y="184"/>
                  </a:lnTo>
                  <a:lnTo>
                    <a:pt x="1190" y="166"/>
                  </a:lnTo>
                  <a:lnTo>
                    <a:pt x="1208" y="154"/>
                  </a:lnTo>
                  <a:lnTo>
                    <a:pt x="1220" y="146"/>
                  </a:lnTo>
                  <a:lnTo>
                    <a:pt x="1224" y="144"/>
                  </a:lnTo>
                  <a:lnTo>
                    <a:pt x="848" y="0"/>
                  </a:lnTo>
                  <a:lnTo>
                    <a:pt x="1728" y="56"/>
                  </a:lnTo>
                  <a:lnTo>
                    <a:pt x="1824" y="480"/>
                  </a:lnTo>
                  <a:lnTo>
                    <a:pt x="1568" y="328"/>
                  </a:lnTo>
                  <a:lnTo>
                    <a:pt x="1564" y="328"/>
                  </a:lnTo>
                  <a:lnTo>
                    <a:pt x="1554" y="332"/>
                  </a:lnTo>
                  <a:lnTo>
                    <a:pt x="1538" y="338"/>
                  </a:lnTo>
                  <a:lnTo>
                    <a:pt x="1514" y="346"/>
                  </a:lnTo>
                  <a:lnTo>
                    <a:pt x="1486" y="356"/>
                  </a:lnTo>
                  <a:lnTo>
                    <a:pt x="1452" y="370"/>
                  </a:lnTo>
                  <a:lnTo>
                    <a:pt x="1412" y="388"/>
                  </a:lnTo>
                  <a:lnTo>
                    <a:pt x="1370" y="410"/>
                  </a:lnTo>
                  <a:lnTo>
                    <a:pt x="1322" y="436"/>
                  </a:lnTo>
                  <a:lnTo>
                    <a:pt x="1270" y="466"/>
                  </a:lnTo>
                  <a:lnTo>
                    <a:pt x="1216" y="500"/>
                  </a:lnTo>
                  <a:lnTo>
                    <a:pt x="1158" y="540"/>
                  </a:lnTo>
                  <a:lnTo>
                    <a:pt x="1098" y="584"/>
                  </a:lnTo>
                  <a:lnTo>
                    <a:pt x="1034" y="636"/>
                  </a:lnTo>
                  <a:lnTo>
                    <a:pt x="970" y="692"/>
                  </a:lnTo>
                  <a:lnTo>
                    <a:pt x="904" y="756"/>
                  </a:lnTo>
                  <a:lnTo>
                    <a:pt x="836" y="824"/>
                  </a:lnTo>
                  <a:lnTo>
                    <a:pt x="770" y="900"/>
                  </a:lnTo>
                  <a:lnTo>
                    <a:pt x="700" y="984"/>
                  </a:lnTo>
                  <a:lnTo>
                    <a:pt x="632" y="1076"/>
                  </a:lnTo>
                  <a:lnTo>
                    <a:pt x="566" y="1174"/>
                  </a:lnTo>
                  <a:lnTo>
                    <a:pt x="498" y="1280"/>
                  </a:lnTo>
                  <a:lnTo>
                    <a:pt x="434" y="1394"/>
                  </a:lnTo>
                  <a:lnTo>
                    <a:pt x="370" y="1518"/>
                  </a:lnTo>
                  <a:lnTo>
                    <a:pt x="308" y="1650"/>
                  </a:lnTo>
                  <a:lnTo>
                    <a:pt x="248" y="1792"/>
                  </a:lnTo>
                  <a:lnTo>
                    <a:pt x="192" y="1944"/>
                  </a:lnTo>
                  <a:lnTo>
                    <a:pt x="138" y="2104"/>
                  </a:lnTo>
                  <a:lnTo>
                    <a:pt x="88" y="2274"/>
                  </a:lnTo>
                  <a:lnTo>
                    <a:pt x="42" y="2456"/>
                  </a:lnTo>
                  <a:lnTo>
                    <a:pt x="0" y="2648"/>
                  </a:lnTo>
                  <a:close/>
                </a:path>
              </a:pathLst>
            </a:custGeom>
            <a:gradFill rotWithShape="1">
              <a:gsLst>
                <a:gs pos="0">
                  <a:srgbClr val="D11364"/>
                </a:gs>
                <a:gs pos="100000">
                  <a:srgbClr val="D11364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ACD69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gray">
            <a:xfrm>
              <a:off x="2947" y="2027"/>
              <a:ext cx="1576" cy="165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72549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72549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800" b="1" dirty="0">
                  <a:solidFill>
                    <a:srgbClr val="FFFFFF"/>
                  </a:solidFill>
                  <a:latin typeface="Verdana" pitchFamily="34" charset="0"/>
                  <a:ea typeface="宋体" pitchFamily="2" charset="-122"/>
                </a:rPr>
                <a:t>进步较大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gray">
            <a:xfrm>
              <a:off x="2471" y="2477"/>
              <a:ext cx="1719" cy="162"/>
            </a:xfrm>
            <a:prstGeom prst="rect">
              <a:avLst/>
            </a:prstGeom>
            <a:gradFill rotWithShape="1">
              <a:gsLst>
                <a:gs pos="0">
                  <a:schemeClr val="hlink">
                    <a:gamma/>
                    <a:shade val="72549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72549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800" b="1">
                  <a:solidFill>
                    <a:srgbClr val="FFFFFF"/>
                  </a:solidFill>
                  <a:latin typeface="Verdana" pitchFamily="34" charset="0"/>
                  <a:ea typeface="宋体" pitchFamily="2" charset="-122"/>
                </a:rPr>
                <a:t>稳定发展中</a:t>
              </a: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gray">
            <a:xfrm>
              <a:off x="2001" y="2635"/>
              <a:ext cx="2184" cy="295"/>
            </a:xfrm>
            <a:custGeom>
              <a:avLst/>
              <a:gdLst>
                <a:gd name="T0" fmla="*/ 1742 w 2048"/>
                <a:gd name="T1" fmla="*/ 286 h 286"/>
                <a:gd name="T2" fmla="*/ 0 w 2048"/>
                <a:gd name="T3" fmla="*/ 286 h 286"/>
                <a:gd name="T4" fmla="*/ 446 w 2048"/>
                <a:gd name="T5" fmla="*/ 0 h 286"/>
                <a:gd name="T6" fmla="*/ 2048 w 2048"/>
                <a:gd name="T7" fmla="*/ 0 h 286"/>
                <a:gd name="T8" fmla="*/ 1742 w 2048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8" h="286">
                  <a:moveTo>
                    <a:pt x="1742" y="286"/>
                  </a:moveTo>
                  <a:lnTo>
                    <a:pt x="0" y="286"/>
                  </a:lnTo>
                  <a:lnTo>
                    <a:pt x="446" y="0"/>
                  </a:lnTo>
                  <a:lnTo>
                    <a:pt x="2048" y="0"/>
                  </a:lnTo>
                  <a:lnTo>
                    <a:pt x="1742" y="28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80808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gray">
            <a:xfrm>
              <a:off x="2003" y="2930"/>
              <a:ext cx="1859" cy="161"/>
            </a:xfrm>
            <a:prstGeom prst="rect">
              <a:avLst/>
            </a:prstGeom>
            <a:gradFill rotWithShape="1">
              <a:gsLst>
                <a:gs pos="0">
                  <a:schemeClr val="folHlink">
                    <a:gamma/>
                    <a:shade val="72549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800" b="1">
                  <a:solidFill>
                    <a:srgbClr val="FFFFFF"/>
                  </a:solidFill>
                  <a:latin typeface="Verdana" pitchFamily="34" charset="0"/>
                  <a:ea typeface="宋体" pitchFamily="2" charset="-122"/>
                </a:rPr>
                <a:t>略有发展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gray">
            <a:xfrm>
              <a:off x="1529" y="3383"/>
              <a:ext cx="2001" cy="161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800" b="1">
                  <a:solidFill>
                    <a:srgbClr val="FFFFFF"/>
                  </a:solidFill>
                  <a:latin typeface="Verdana" pitchFamily="34" charset="0"/>
                  <a:ea typeface="宋体" pitchFamily="2" charset="-122"/>
                </a:rPr>
                <a:t>发展潜力巨大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01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    入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63828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sz="1200" kern="100" dirty="0">
                        <a:effectLst/>
                        <a:latin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2013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2014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2015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2016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烟酒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101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120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188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旅游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88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60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120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156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200" kern="1200" dirty="0" smtClean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农产品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97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75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114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124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直销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80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72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93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105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其他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100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88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78</a:t>
                      </a:r>
                      <a:r>
                        <a:rPr lang="zh-CN" sz="12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160</a:t>
                      </a:r>
                      <a:r>
                        <a:rPr lang="zh-CN" sz="12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05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再见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352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该</a:t>
            </a:r>
            <a:r>
              <a:rPr lang="en-US" altLang="zh-CN" dirty="0" smtClean="0"/>
              <a:t>PPT</a:t>
            </a:r>
            <a:r>
              <a:rPr lang="zh-CN" altLang="en-US" dirty="0" smtClean="0"/>
              <a:t>为内部汇报使用、请勿外传。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55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213</Words>
  <Application>Microsoft Office PowerPoint</Application>
  <PresentationFormat>全屏显示(4:3)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黑体</vt:lpstr>
      <vt:lpstr>宋体</vt:lpstr>
      <vt:lpstr>Arial</vt:lpstr>
      <vt:lpstr>Calibri</vt:lpstr>
      <vt:lpstr>Times New Roman</vt:lpstr>
      <vt:lpstr>Verdana</vt:lpstr>
      <vt:lpstr>Office 主题​​</vt:lpstr>
      <vt:lpstr>年终总结报告会</vt:lpstr>
      <vt:lpstr>报告提纲</vt:lpstr>
      <vt:lpstr>业 绩 分 析</vt:lpstr>
      <vt:lpstr>收 入 分 析</vt:lpstr>
      <vt:lpstr>市 场 业 绩</vt:lpstr>
      <vt:lpstr>收    入</vt:lpstr>
      <vt:lpstr>再见</vt:lpstr>
      <vt:lpstr>说明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年终总结报告会</dc:title>
  <dc:creator>NTKO</dc:creator>
  <cp:lastModifiedBy>Windows 用户</cp:lastModifiedBy>
  <cp:revision>5</cp:revision>
  <dcterms:created xsi:type="dcterms:W3CDTF">2017-09-23T03:19:53Z</dcterms:created>
  <dcterms:modified xsi:type="dcterms:W3CDTF">2021-04-11T05:26:26Z</dcterms:modified>
</cp:coreProperties>
</file>