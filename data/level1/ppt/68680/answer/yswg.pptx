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9" r:id="rId2"/>
    <p:sldId id="258" r:id="rId3"/>
    <p:sldId id="260" r:id="rId4"/>
    <p:sldId id="261" r:id="rId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48" d="100"/>
          <a:sy n="48" d="100"/>
        </p:scale>
        <p:origin x="42" y="105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6FBDB5-26C7-4871-8348-1F119CA056B8}" type="doc">
      <dgm:prSet loTypeId="urn:microsoft.com/office/officeart/2005/8/layout/radial4" loCatId="relationship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0464B0F-2C12-438A-AABD-71232B83499C}">
      <dgm:prSet phldrT="[文本]"/>
      <dgm:spPr/>
      <dgm:t>
        <a:bodyPr/>
        <a:lstStyle/>
        <a:p>
          <a:r>
            <a:rPr lang="zh-CN" altLang="en-US" dirty="0" smtClean="0"/>
            <a:t>带薪年休假制度落实难的对策建议</a:t>
          </a:r>
          <a:endParaRPr lang="zh-CN" altLang="en-US" dirty="0"/>
        </a:p>
      </dgm:t>
    </dgm:pt>
    <dgm:pt modelId="{A1B6DBE0-88D9-476E-A0C0-166505EE8C81}" type="parTrans" cxnId="{55E20DAE-763C-4C1A-A4B8-995CCAC49F52}">
      <dgm:prSet/>
      <dgm:spPr/>
      <dgm:t>
        <a:bodyPr/>
        <a:lstStyle/>
        <a:p>
          <a:endParaRPr lang="zh-CN" altLang="en-US"/>
        </a:p>
      </dgm:t>
    </dgm:pt>
    <dgm:pt modelId="{347B3131-D3F2-46DB-8B4C-8E7ABC206424}" type="sibTrans" cxnId="{55E20DAE-763C-4C1A-A4B8-995CCAC49F52}">
      <dgm:prSet/>
      <dgm:spPr/>
      <dgm:t>
        <a:bodyPr/>
        <a:lstStyle/>
        <a:p>
          <a:endParaRPr lang="zh-CN" altLang="en-US"/>
        </a:p>
      </dgm:t>
    </dgm:pt>
    <dgm:pt modelId="{7C2D31AB-DCFC-4F41-998A-34BC5431A427}">
      <dgm:prSet phldrT="[文本]"/>
      <dgm:spPr/>
      <dgm:t>
        <a:bodyPr/>
        <a:lstStyle/>
        <a:p>
          <a:r>
            <a:rPr lang="zh-CN" altLang="en-US" dirty="0" smtClean="0"/>
            <a:t>三是加强相关部门联合推进带薪年休假制度落实的力度；</a:t>
          </a:r>
          <a:endParaRPr lang="zh-CN" altLang="en-US" dirty="0"/>
        </a:p>
      </dgm:t>
    </dgm:pt>
    <dgm:pt modelId="{AA2AD385-C250-48AC-84C3-1885148082C2}" type="sibTrans" cxnId="{18B83AFC-3214-4B14-9E2F-B1F4E2E9D5CD}">
      <dgm:prSet/>
      <dgm:spPr/>
      <dgm:t>
        <a:bodyPr/>
        <a:lstStyle/>
        <a:p>
          <a:endParaRPr lang="zh-CN" altLang="en-US"/>
        </a:p>
      </dgm:t>
    </dgm:pt>
    <dgm:pt modelId="{3DAA3D9F-8A64-435A-A51F-77E44AE66E57}" type="parTrans" cxnId="{18B83AFC-3214-4B14-9E2F-B1F4E2E9D5CD}">
      <dgm:prSet/>
      <dgm:spPr/>
      <dgm:t>
        <a:bodyPr/>
        <a:lstStyle/>
        <a:p>
          <a:endParaRPr lang="zh-CN" altLang="en-US"/>
        </a:p>
      </dgm:t>
    </dgm:pt>
    <dgm:pt modelId="{02C67CCD-331B-4AC3-8959-47BAEED9F8AA}">
      <dgm:prSet phldrT="[文本]"/>
      <dgm:spPr/>
      <dgm:t>
        <a:bodyPr/>
        <a:lstStyle/>
        <a:p>
          <a:r>
            <a:rPr lang="zh-CN" altLang="en-US" dirty="0" smtClean="0"/>
            <a:t>二是强化地方政府维护职工休息休假权益的监管责任；</a:t>
          </a:r>
          <a:endParaRPr lang="zh-CN" altLang="en-US" dirty="0"/>
        </a:p>
      </dgm:t>
    </dgm:pt>
    <dgm:pt modelId="{12DA485A-A6A8-4704-9198-D63AD120CE1F}" type="sibTrans" cxnId="{50A2E0EC-9D27-46BA-9B4D-9E0001AD09DF}">
      <dgm:prSet/>
      <dgm:spPr/>
      <dgm:t>
        <a:bodyPr/>
        <a:lstStyle/>
        <a:p>
          <a:endParaRPr lang="zh-CN" altLang="en-US"/>
        </a:p>
      </dgm:t>
    </dgm:pt>
    <dgm:pt modelId="{ED0C1A8F-D6F0-483B-A185-D50D79ADC56A}" type="parTrans" cxnId="{50A2E0EC-9D27-46BA-9B4D-9E0001AD09DF}">
      <dgm:prSet/>
      <dgm:spPr/>
      <dgm:t>
        <a:bodyPr/>
        <a:lstStyle/>
        <a:p>
          <a:endParaRPr lang="zh-CN" altLang="en-US"/>
        </a:p>
      </dgm:t>
    </dgm:pt>
    <dgm:pt modelId="{7E9B7D9D-E8AD-4FD8-B4F2-2E890E41A6E4}">
      <dgm:prSet phldrT="[文本]"/>
      <dgm:spPr/>
      <dgm:t>
        <a:bodyPr/>
        <a:lstStyle/>
        <a:p>
          <a:r>
            <a:rPr lang="zh-CN" altLang="en-US" dirty="0" smtClean="0"/>
            <a:t>一是完善带薪年休假法律规定；</a:t>
          </a:r>
          <a:endParaRPr lang="zh-CN" altLang="en-US" dirty="0"/>
        </a:p>
      </dgm:t>
    </dgm:pt>
    <dgm:pt modelId="{EE116A5A-35DD-4316-80F5-6132A2E2D3AC}" type="sibTrans" cxnId="{55485EB6-3BE3-474B-A03A-BE7C7988250A}">
      <dgm:prSet/>
      <dgm:spPr/>
      <dgm:t>
        <a:bodyPr/>
        <a:lstStyle/>
        <a:p>
          <a:endParaRPr lang="zh-CN" altLang="en-US"/>
        </a:p>
      </dgm:t>
    </dgm:pt>
    <dgm:pt modelId="{2F9865B7-F46C-4913-8D22-231DCC6DC430}" type="parTrans" cxnId="{55485EB6-3BE3-474B-A03A-BE7C7988250A}">
      <dgm:prSet/>
      <dgm:spPr/>
      <dgm:t>
        <a:bodyPr/>
        <a:lstStyle/>
        <a:p>
          <a:endParaRPr lang="zh-CN" altLang="en-US"/>
        </a:p>
      </dgm:t>
    </dgm:pt>
    <dgm:pt modelId="{32C49FDC-692B-41AA-B6E7-1BA9686C1C44}">
      <dgm:prSet phldrT="[文本]"/>
      <dgm:spPr/>
      <dgm:t>
        <a:bodyPr/>
        <a:lstStyle/>
        <a:p>
          <a:r>
            <a:rPr lang="zh-CN" altLang="en-US" dirty="0" smtClean="0"/>
            <a:t>四是加大对带薪年休假政策法规的宣传力度。</a:t>
          </a:r>
          <a:endParaRPr lang="zh-CN" altLang="en-US" dirty="0"/>
        </a:p>
      </dgm:t>
    </dgm:pt>
    <dgm:pt modelId="{C8C9AC3C-3377-47C5-8F90-CFD084D40DED}" type="parTrans" cxnId="{3C4D4A73-DC96-41EA-80B0-A2DD994EF29A}">
      <dgm:prSet/>
      <dgm:spPr/>
    </dgm:pt>
    <dgm:pt modelId="{9D9E0DE6-CCBB-42CE-A1FD-3961698DEF68}" type="sibTrans" cxnId="{3C4D4A73-DC96-41EA-80B0-A2DD994EF29A}">
      <dgm:prSet/>
      <dgm:spPr/>
    </dgm:pt>
    <dgm:pt modelId="{01BFAFDB-6597-406D-8164-D21AC07E8108}" type="pres">
      <dgm:prSet presAssocID="{356FBDB5-26C7-4871-8348-1F119CA056B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D5AC3FB-C55D-45BF-99E5-7D0ED2E71BBC}" type="pres">
      <dgm:prSet presAssocID="{40464B0F-2C12-438A-AABD-71232B83499C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2F01F137-61A2-4D35-9A0B-536C53936057}" type="pres">
      <dgm:prSet presAssocID="{2F9865B7-F46C-4913-8D22-231DCC6DC430}" presName="parTrans" presStyleLbl="bgSibTrans2D1" presStyleIdx="0" presStyleCnt="4"/>
      <dgm:spPr/>
    </dgm:pt>
    <dgm:pt modelId="{080725C8-6F3A-4A4A-8D07-21A0144E3183}" type="pres">
      <dgm:prSet presAssocID="{7E9B7D9D-E8AD-4FD8-B4F2-2E890E41A6E4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180BB07-82C2-48F4-8780-60AA5A21C3B3}" type="pres">
      <dgm:prSet presAssocID="{ED0C1A8F-D6F0-483B-A185-D50D79ADC56A}" presName="parTrans" presStyleLbl="bgSibTrans2D1" presStyleIdx="1" presStyleCnt="4"/>
      <dgm:spPr/>
    </dgm:pt>
    <dgm:pt modelId="{E788BAF5-CF01-4705-B867-F26BC5675B3B}" type="pres">
      <dgm:prSet presAssocID="{02C67CCD-331B-4AC3-8959-47BAEED9F8A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5B7A89A-E040-4428-BCAD-F89D2A2E22CA}" type="pres">
      <dgm:prSet presAssocID="{3DAA3D9F-8A64-435A-A51F-77E44AE66E57}" presName="parTrans" presStyleLbl="bgSibTrans2D1" presStyleIdx="2" presStyleCnt="4"/>
      <dgm:spPr/>
    </dgm:pt>
    <dgm:pt modelId="{F4C13AE6-8F07-45B0-9B40-7FFD4F01F4BB}" type="pres">
      <dgm:prSet presAssocID="{7C2D31AB-DCFC-4F41-998A-34BC5431A427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66A9350-FA0E-4C40-8D47-B126D69DAA73}" type="pres">
      <dgm:prSet presAssocID="{C8C9AC3C-3377-47C5-8F90-CFD084D40DED}" presName="parTrans" presStyleLbl="bgSibTrans2D1" presStyleIdx="3" presStyleCnt="4"/>
      <dgm:spPr/>
    </dgm:pt>
    <dgm:pt modelId="{2A691C2A-DE9A-42D6-828F-286A1AC8DC86}" type="pres">
      <dgm:prSet presAssocID="{32C49FDC-692B-41AA-B6E7-1BA9686C1C44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F96BBED-8AC2-46EA-95BC-D1D6E5FE366B}" type="presOf" srcId="{7E9B7D9D-E8AD-4FD8-B4F2-2E890E41A6E4}" destId="{080725C8-6F3A-4A4A-8D07-21A0144E3183}" srcOrd="0" destOrd="0" presId="urn:microsoft.com/office/officeart/2005/8/layout/radial4"/>
    <dgm:cxn modelId="{55E20DAE-763C-4C1A-A4B8-995CCAC49F52}" srcId="{356FBDB5-26C7-4871-8348-1F119CA056B8}" destId="{40464B0F-2C12-438A-AABD-71232B83499C}" srcOrd="0" destOrd="0" parTransId="{A1B6DBE0-88D9-476E-A0C0-166505EE8C81}" sibTransId="{347B3131-D3F2-46DB-8B4C-8E7ABC206424}"/>
    <dgm:cxn modelId="{073152D4-D352-45AE-B43A-CAB110B0B2AB}" type="presOf" srcId="{C8C9AC3C-3377-47C5-8F90-CFD084D40DED}" destId="{F66A9350-FA0E-4C40-8D47-B126D69DAA73}" srcOrd="0" destOrd="0" presId="urn:microsoft.com/office/officeart/2005/8/layout/radial4"/>
    <dgm:cxn modelId="{BDF6D8ED-42C8-4EC8-86CE-845AF0CE67CD}" type="presOf" srcId="{2F9865B7-F46C-4913-8D22-231DCC6DC430}" destId="{2F01F137-61A2-4D35-9A0B-536C53936057}" srcOrd="0" destOrd="0" presId="urn:microsoft.com/office/officeart/2005/8/layout/radial4"/>
    <dgm:cxn modelId="{50A2E0EC-9D27-46BA-9B4D-9E0001AD09DF}" srcId="{40464B0F-2C12-438A-AABD-71232B83499C}" destId="{02C67CCD-331B-4AC3-8959-47BAEED9F8AA}" srcOrd="1" destOrd="0" parTransId="{ED0C1A8F-D6F0-483B-A185-D50D79ADC56A}" sibTransId="{12DA485A-A6A8-4704-9198-D63AD120CE1F}"/>
    <dgm:cxn modelId="{FFB7EBD4-B172-4B40-A6A5-33034C687C60}" type="presOf" srcId="{02C67CCD-331B-4AC3-8959-47BAEED9F8AA}" destId="{E788BAF5-CF01-4705-B867-F26BC5675B3B}" srcOrd="0" destOrd="0" presId="urn:microsoft.com/office/officeart/2005/8/layout/radial4"/>
    <dgm:cxn modelId="{CD9490B7-91DB-46C3-950E-DF5725B614B1}" type="presOf" srcId="{40464B0F-2C12-438A-AABD-71232B83499C}" destId="{8D5AC3FB-C55D-45BF-99E5-7D0ED2E71BBC}" srcOrd="0" destOrd="0" presId="urn:microsoft.com/office/officeart/2005/8/layout/radial4"/>
    <dgm:cxn modelId="{52A7BFC7-BD5D-481D-8AB3-78A195908BC9}" type="presOf" srcId="{356FBDB5-26C7-4871-8348-1F119CA056B8}" destId="{01BFAFDB-6597-406D-8164-D21AC07E8108}" srcOrd="0" destOrd="0" presId="urn:microsoft.com/office/officeart/2005/8/layout/radial4"/>
    <dgm:cxn modelId="{6EC837E3-765A-42ED-A5B7-5EDB56F2035B}" type="presOf" srcId="{3DAA3D9F-8A64-435A-A51F-77E44AE66E57}" destId="{95B7A89A-E040-4428-BCAD-F89D2A2E22CA}" srcOrd="0" destOrd="0" presId="urn:microsoft.com/office/officeart/2005/8/layout/radial4"/>
    <dgm:cxn modelId="{4B7B7CF1-B504-4378-BA70-CC37A3687AFF}" type="presOf" srcId="{32C49FDC-692B-41AA-B6E7-1BA9686C1C44}" destId="{2A691C2A-DE9A-42D6-828F-286A1AC8DC86}" srcOrd="0" destOrd="0" presId="urn:microsoft.com/office/officeart/2005/8/layout/radial4"/>
    <dgm:cxn modelId="{55485EB6-3BE3-474B-A03A-BE7C7988250A}" srcId="{40464B0F-2C12-438A-AABD-71232B83499C}" destId="{7E9B7D9D-E8AD-4FD8-B4F2-2E890E41A6E4}" srcOrd="0" destOrd="0" parTransId="{2F9865B7-F46C-4913-8D22-231DCC6DC430}" sibTransId="{EE116A5A-35DD-4316-80F5-6132A2E2D3AC}"/>
    <dgm:cxn modelId="{5E8DACE9-6363-446A-994E-A52B35BAF78F}" type="presOf" srcId="{7C2D31AB-DCFC-4F41-998A-34BC5431A427}" destId="{F4C13AE6-8F07-45B0-9B40-7FFD4F01F4BB}" srcOrd="0" destOrd="0" presId="urn:microsoft.com/office/officeart/2005/8/layout/radial4"/>
    <dgm:cxn modelId="{2A344A6E-6342-4500-AD44-95F81BE17DBD}" type="presOf" srcId="{ED0C1A8F-D6F0-483B-A185-D50D79ADC56A}" destId="{1180BB07-82C2-48F4-8780-60AA5A21C3B3}" srcOrd="0" destOrd="0" presId="urn:microsoft.com/office/officeart/2005/8/layout/radial4"/>
    <dgm:cxn modelId="{18B83AFC-3214-4B14-9E2F-B1F4E2E9D5CD}" srcId="{40464B0F-2C12-438A-AABD-71232B83499C}" destId="{7C2D31AB-DCFC-4F41-998A-34BC5431A427}" srcOrd="2" destOrd="0" parTransId="{3DAA3D9F-8A64-435A-A51F-77E44AE66E57}" sibTransId="{AA2AD385-C250-48AC-84C3-1885148082C2}"/>
    <dgm:cxn modelId="{3C4D4A73-DC96-41EA-80B0-A2DD994EF29A}" srcId="{40464B0F-2C12-438A-AABD-71232B83499C}" destId="{32C49FDC-692B-41AA-B6E7-1BA9686C1C44}" srcOrd="3" destOrd="0" parTransId="{C8C9AC3C-3377-47C5-8F90-CFD084D40DED}" sibTransId="{9D9E0DE6-CCBB-42CE-A1FD-3961698DEF68}"/>
    <dgm:cxn modelId="{EE55BCD2-D630-4197-9184-519745CC13ED}" type="presParOf" srcId="{01BFAFDB-6597-406D-8164-D21AC07E8108}" destId="{8D5AC3FB-C55D-45BF-99E5-7D0ED2E71BBC}" srcOrd="0" destOrd="0" presId="urn:microsoft.com/office/officeart/2005/8/layout/radial4"/>
    <dgm:cxn modelId="{A7EB448A-891A-441B-9DD7-E0630EFF70C5}" type="presParOf" srcId="{01BFAFDB-6597-406D-8164-D21AC07E8108}" destId="{2F01F137-61A2-4D35-9A0B-536C53936057}" srcOrd="1" destOrd="0" presId="urn:microsoft.com/office/officeart/2005/8/layout/radial4"/>
    <dgm:cxn modelId="{D37BA129-2124-4E6D-ADD2-40BD3D65B54B}" type="presParOf" srcId="{01BFAFDB-6597-406D-8164-D21AC07E8108}" destId="{080725C8-6F3A-4A4A-8D07-21A0144E3183}" srcOrd="2" destOrd="0" presId="urn:microsoft.com/office/officeart/2005/8/layout/radial4"/>
    <dgm:cxn modelId="{4BE6BF77-98B5-43BB-9F06-5857FCA358F2}" type="presParOf" srcId="{01BFAFDB-6597-406D-8164-D21AC07E8108}" destId="{1180BB07-82C2-48F4-8780-60AA5A21C3B3}" srcOrd="3" destOrd="0" presId="urn:microsoft.com/office/officeart/2005/8/layout/radial4"/>
    <dgm:cxn modelId="{311D1609-5681-422C-94BF-C4B1AC9AF1E1}" type="presParOf" srcId="{01BFAFDB-6597-406D-8164-D21AC07E8108}" destId="{E788BAF5-CF01-4705-B867-F26BC5675B3B}" srcOrd="4" destOrd="0" presId="urn:microsoft.com/office/officeart/2005/8/layout/radial4"/>
    <dgm:cxn modelId="{C4B727AB-F926-4126-BC12-36521F427BAE}" type="presParOf" srcId="{01BFAFDB-6597-406D-8164-D21AC07E8108}" destId="{95B7A89A-E040-4428-BCAD-F89D2A2E22CA}" srcOrd="5" destOrd="0" presId="urn:microsoft.com/office/officeart/2005/8/layout/radial4"/>
    <dgm:cxn modelId="{9047B873-6999-4D3D-AE0A-AF7377796923}" type="presParOf" srcId="{01BFAFDB-6597-406D-8164-D21AC07E8108}" destId="{F4C13AE6-8F07-45B0-9B40-7FFD4F01F4BB}" srcOrd="6" destOrd="0" presId="urn:microsoft.com/office/officeart/2005/8/layout/radial4"/>
    <dgm:cxn modelId="{89151F9C-932B-4178-8E5E-0117776057B8}" type="presParOf" srcId="{01BFAFDB-6597-406D-8164-D21AC07E8108}" destId="{F66A9350-FA0E-4C40-8D47-B126D69DAA73}" srcOrd="7" destOrd="0" presId="urn:microsoft.com/office/officeart/2005/8/layout/radial4"/>
    <dgm:cxn modelId="{7A7A0BB5-A011-4FF2-98BB-053C9F4DB6BF}" type="presParOf" srcId="{01BFAFDB-6597-406D-8164-D21AC07E8108}" destId="{2A691C2A-DE9A-42D6-828F-286A1AC8DC86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AC3FB-C55D-45BF-99E5-7D0ED2E71BBC}">
      <dsp:nvSpPr>
        <dsp:cNvPr id="0" name=""/>
        <dsp:cNvSpPr/>
      </dsp:nvSpPr>
      <dsp:spPr>
        <a:xfrm>
          <a:off x="2225040" y="2172962"/>
          <a:ext cx="1645920" cy="1645920"/>
        </a:xfrm>
        <a:prstGeom prst="ellipse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/>
            <a:t>带薪年休假制度落实难的对策建议</a:t>
          </a:r>
          <a:endParaRPr lang="zh-CN" altLang="en-US" sz="1800" kern="1200" dirty="0"/>
        </a:p>
      </dsp:txBody>
      <dsp:txXfrm>
        <a:off x="2466079" y="2414001"/>
        <a:ext cx="1163842" cy="1163842"/>
      </dsp:txXfrm>
    </dsp:sp>
    <dsp:sp modelId="{2F01F137-61A2-4D35-9A0B-536C53936057}">
      <dsp:nvSpPr>
        <dsp:cNvPr id="0" name=""/>
        <dsp:cNvSpPr/>
      </dsp:nvSpPr>
      <dsp:spPr>
        <a:xfrm rot="11700000">
          <a:off x="758329" y="2340572"/>
          <a:ext cx="1438394" cy="469087"/>
        </a:xfrm>
        <a:prstGeom prst="lef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0725C8-6F3A-4A4A-8D07-21A0144E3183}">
      <dsp:nvSpPr>
        <dsp:cNvPr id="0" name=""/>
        <dsp:cNvSpPr/>
      </dsp:nvSpPr>
      <dsp:spPr>
        <a:xfrm>
          <a:off x="1023" y="1763524"/>
          <a:ext cx="1563624" cy="12508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一是完善带薪年休假法律规定；</a:t>
          </a:r>
          <a:endParaRPr lang="zh-CN" altLang="en-US" sz="1700" kern="1200" dirty="0"/>
        </a:p>
      </dsp:txBody>
      <dsp:txXfrm>
        <a:off x="37661" y="1800162"/>
        <a:ext cx="1490348" cy="1177623"/>
      </dsp:txXfrm>
    </dsp:sp>
    <dsp:sp modelId="{1180BB07-82C2-48F4-8780-60AA5A21C3B3}">
      <dsp:nvSpPr>
        <dsp:cNvPr id="0" name=""/>
        <dsp:cNvSpPr/>
      </dsp:nvSpPr>
      <dsp:spPr>
        <a:xfrm rot="14700000">
          <a:off x="1641679" y="1287837"/>
          <a:ext cx="1438394" cy="469087"/>
        </a:xfrm>
        <a:prstGeom prst="lef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88BAF5-CF01-4705-B867-F26BC5675B3B}">
      <dsp:nvSpPr>
        <dsp:cNvPr id="0" name=""/>
        <dsp:cNvSpPr/>
      </dsp:nvSpPr>
      <dsp:spPr>
        <a:xfrm>
          <a:off x="1275118" y="245117"/>
          <a:ext cx="1563624" cy="12508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二是强化地方政府维护职工休息休假权益的监管责任；</a:t>
          </a:r>
          <a:endParaRPr lang="zh-CN" altLang="en-US" sz="1700" kern="1200" dirty="0"/>
        </a:p>
      </dsp:txBody>
      <dsp:txXfrm>
        <a:off x="1311756" y="281755"/>
        <a:ext cx="1490348" cy="1177623"/>
      </dsp:txXfrm>
    </dsp:sp>
    <dsp:sp modelId="{95B7A89A-E040-4428-BCAD-F89D2A2E22CA}">
      <dsp:nvSpPr>
        <dsp:cNvPr id="0" name=""/>
        <dsp:cNvSpPr/>
      </dsp:nvSpPr>
      <dsp:spPr>
        <a:xfrm rot="17700000">
          <a:off x="3015926" y="1287837"/>
          <a:ext cx="1438394" cy="469087"/>
        </a:xfrm>
        <a:prstGeom prst="lef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C13AE6-8F07-45B0-9B40-7FFD4F01F4BB}">
      <dsp:nvSpPr>
        <dsp:cNvPr id="0" name=""/>
        <dsp:cNvSpPr/>
      </dsp:nvSpPr>
      <dsp:spPr>
        <a:xfrm>
          <a:off x="3257257" y="245117"/>
          <a:ext cx="1563624" cy="12508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三是加强相关部门联合推进带薪年休假制度落实的力度；</a:t>
          </a:r>
          <a:endParaRPr lang="zh-CN" altLang="en-US" sz="1700" kern="1200" dirty="0"/>
        </a:p>
      </dsp:txBody>
      <dsp:txXfrm>
        <a:off x="3293895" y="281755"/>
        <a:ext cx="1490348" cy="1177623"/>
      </dsp:txXfrm>
    </dsp:sp>
    <dsp:sp modelId="{F66A9350-FA0E-4C40-8D47-B126D69DAA73}">
      <dsp:nvSpPr>
        <dsp:cNvPr id="0" name=""/>
        <dsp:cNvSpPr/>
      </dsp:nvSpPr>
      <dsp:spPr>
        <a:xfrm rot="20700000">
          <a:off x="3899275" y="2340572"/>
          <a:ext cx="1438394" cy="469087"/>
        </a:xfrm>
        <a:prstGeom prst="lef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691C2A-DE9A-42D6-828F-286A1AC8DC86}">
      <dsp:nvSpPr>
        <dsp:cNvPr id="0" name=""/>
        <dsp:cNvSpPr/>
      </dsp:nvSpPr>
      <dsp:spPr>
        <a:xfrm>
          <a:off x="4531352" y="1763524"/>
          <a:ext cx="1563624" cy="12508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四是加大对带薪年休假政策法规的宣传力度。</a:t>
          </a:r>
          <a:endParaRPr lang="zh-CN" altLang="en-US" sz="1700" kern="1200" dirty="0"/>
        </a:p>
      </dsp:txBody>
      <dsp:txXfrm>
        <a:off x="4567990" y="1800162"/>
        <a:ext cx="1490348" cy="11776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pPr>
              <a:defRPr/>
            </a:pPr>
            <a:fld id="{00B073DE-1E21-44CD-9FF1-D347C4B5F5D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428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BB04D7-34B3-44AB-9769-520089D4317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7288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AB18C8-CA77-4A92-BD65-71E109FA09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567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0BF469-36C4-49F4-ADDC-78CC5E72E8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9988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955C9B-8FE0-4714-99C4-D35E8B2FB6F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67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7F913-940E-4FE3-9C10-6DDB22A9DC8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812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ED443-E5CA-4866-B0D1-083542AEA6D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980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C8F786-6505-41F1-A9DE-18B3721EED5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323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8EA6C9-1DB4-4EE7-A61E-99459385509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7141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5F25F1-D366-4C74-8407-A6686A0788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2208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5F25F1-D366-4C74-8407-A6686A0788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634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5F25F1-D366-4C74-8407-A6686A0788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240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5F25F1-D366-4C74-8407-A6686A0788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1686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5F25F1-D366-4C74-8407-A6686A0788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5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5F25F1-D366-4C74-8407-A6686A0788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914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30379-589B-428F-8B65-6C103F16988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43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5F25F1-D366-4C74-8407-A6686A0788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389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685F25F1-D366-4C74-8407-A6686A0788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1580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1709" y="2110085"/>
            <a:ext cx="8680581" cy="110799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4">
              <a:avLst/>
            </a:prstTxWarp>
            <a:spAutoFit/>
          </a:bodyPr>
          <a:lstStyle/>
          <a:p>
            <a:pPr algn="ctr"/>
            <a:r>
              <a:rPr lang="zh-CN" altLang="en-US" sz="6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带薪年休假</a:t>
            </a:r>
            <a:r>
              <a:rPr lang="zh-CN" altLang="en-US" sz="66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制度落实难</a:t>
            </a:r>
            <a:endParaRPr lang="zh-CN" altLang="en-US" sz="66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37816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黄金周“人山人海之痛”</a:t>
            </a:r>
            <a:endParaRPr lang="zh-CN" altLang="en-US" dirty="0"/>
          </a:p>
        </p:txBody>
      </p:sp>
      <p:sp>
        <p:nvSpPr>
          <p:cNvPr id="3075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zh-CN" altLang="zh-CN" dirty="0" smtClean="0"/>
              <a:t>今年黄金</a:t>
            </a:r>
            <a:r>
              <a:rPr lang="zh-CN" altLang="zh-CN" dirty="0"/>
              <a:t>周再次人满为患</a:t>
            </a:r>
            <a:r>
              <a:rPr lang="zh-CN" altLang="zh-CN" dirty="0" smtClean="0"/>
              <a:t>。十月二日</a:t>
            </a:r>
            <a:r>
              <a:rPr lang="zh-CN" altLang="zh-CN" dirty="0"/>
              <a:t>，九寨沟入园人数超载，导致部分游客滞留山上，三日凌晨，有近千滞留旅客要求退票，游客甚至“攻陷”了售票处</a:t>
            </a:r>
            <a:r>
              <a:rPr lang="zh-CN" altLang="zh-CN" dirty="0" smtClean="0"/>
              <a:t>。黄金</a:t>
            </a:r>
            <a:r>
              <a:rPr lang="zh-CN" altLang="zh-CN" dirty="0"/>
              <a:t>周的人山人海之痛，究竟该如何解决</a:t>
            </a:r>
            <a:r>
              <a:rPr lang="zh-CN" altLang="zh-CN" dirty="0" smtClean="0"/>
              <a:t>？</a:t>
            </a:r>
            <a:endParaRPr lang="en-US" altLang="zh-CN" dirty="0" smtClean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153" y="2106045"/>
            <a:ext cx="2667231" cy="2110923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带薪年休假制度落实难的原因分析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2109131"/>
              </p:ext>
            </p:extLst>
          </p:nvPr>
        </p:nvGraphicFramePr>
        <p:xfrm>
          <a:off x="971550" y="1917700"/>
          <a:ext cx="7272858" cy="2094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429">
                  <a:extLst>
                    <a:ext uri="{9D8B030D-6E8A-4147-A177-3AD203B41FA5}">
                      <a16:colId xmlns:a16="http://schemas.microsoft.com/office/drawing/2014/main" val="36559465"/>
                    </a:ext>
                  </a:extLst>
                </a:gridCol>
                <a:gridCol w="3636429">
                  <a:extLst>
                    <a:ext uri="{9D8B030D-6E8A-4147-A177-3AD203B41FA5}">
                      <a16:colId xmlns:a16="http://schemas.microsoft.com/office/drawing/2014/main" val="2060562252"/>
                    </a:ext>
                  </a:extLst>
                </a:gridCol>
              </a:tblGrid>
              <a:tr h="5235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方面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原因分析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945654"/>
                  </a:ext>
                </a:extLst>
              </a:tr>
              <a:tr h="5235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企业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基于生产和管理的考量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584078"/>
                  </a:ext>
                </a:extLst>
              </a:tr>
              <a:tr h="5235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职工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维权意识不强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042601"/>
                  </a:ext>
                </a:extLst>
              </a:tr>
              <a:tr h="5235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监管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缺乏完善的监督约束机制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91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746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1766128906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3859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175</TotalTime>
  <Words>146</Words>
  <Application>Microsoft Office PowerPoint</Application>
  <PresentationFormat>全屏显示(16:9)</PresentationFormat>
  <Paragraphs>17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方正舒体</vt:lpstr>
      <vt:lpstr>宋体</vt:lpstr>
      <vt:lpstr>Arial</vt:lpstr>
      <vt:lpstr>Garamond</vt:lpstr>
      <vt:lpstr>Times New Roman</vt:lpstr>
      <vt:lpstr>环保</vt:lpstr>
      <vt:lpstr>PowerPoint 演示文稿</vt:lpstr>
      <vt:lpstr>黄金周“人山人海之痛”</vt:lpstr>
      <vt:lpstr>带薪年休假制度落实难的原因分析</vt:lpstr>
      <vt:lpstr>PowerPoint 演示文稿</vt:lpstr>
    </vt:vector>
  </TitlesOfParts>
  <Company>北航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你问我看见了什么 我看见了胜利！</dc:title>
  <dc:creator>计算中心</dc:creator>
  <cp:lastModifiedBy>Windows 用户11</cp:lastModifiedBy>
  <cp:revision>21</cp:revision>
  <dcterms:created xsi:type="dcterms:W3CDTF">2001-12-20T11:58:12Z</dcterms:created>
  <dcterms:modified xsi:type="dcterms:W3CDTF">2022-04-07T03:48:47Z</dcterms:modified>
</cp:coreProperties>
</file>