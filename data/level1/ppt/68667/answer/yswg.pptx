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69" r:id="rId2"/>
    <p:sldId id="270" r:id="rId3"/>
    <p:sldId id="258" r:id="rId4"/>
    <p:sldId id="264" r:id="rId5"/>
    <p:sldId id="265" r:id="rId6"/>
    <p:sldId id="266" r:id="rId7"/>
    <p:sldId id="267" r:id="rId8"/>
    <p:sldId id="268"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108" y="6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925699583"/>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4045556563"/>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815668894"/>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709797720"/>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660238060"/>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477630742"/>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1991553860"/>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964730782"/>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790522380"/>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999061911"/>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06505117"/>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1175116423"/>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40017499"/>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832968783"/>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557498557"/>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096114784"/>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B3615EF-AEA0-406E-9345-34AAE7456071}" type="datetimeFigureOut">
              <a:rPr lang="zh-CN" altLang="en-US" smtClean="0"/>
              <a:t>2023/10/17</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5126932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矩形 1"/>
          <p:cNvSpPr/>
          <p:nvPr/>
        </p:nvSpPr>
        <p:spPr>
          <a:xfrm>
            <a:off x="3434855" y="2767281"/>
            <a:ext cx="5322291" cy="1323439"/>
          </a:xfrm>
          <a:prstGeom prst="rect">
            <a:avLst/>
          </a:prstGeom>
          <a:noFill/>
          <a:effectLst>
            <a:reflection blurRad="6350" stA="50000" endA="300" endPos="55500" dist="101600" dir="5400000" sy="-100000" algn="bl" rotWithShape="0"/>
          </a:effectLst>
        </p:spPr>
        <p:txBody>
          <a:bodyPr wrap="none" lIns="91440" tIns="45720" rIns="91440" bIns="45720">
            <a:spAutoFit/>
          </a:bodyPr>
          <a:lstStyle/>
          <a:p>
            <a:pPr algn="ctr"/>
            <a:r>
              <a:rPr lang="zh-CN" altLang="en-US" sz="8000" b="1" dirty="0">
                <a:ln w="22225">
                  <a:solidFill>
                    <a:schemeClr val="accent2"/>
                  </a:solidFill>
                  <a:prstDash val="solid"/>
                </a:ln>
                <a:solidFill>
                  <a:schemeClr val="accent2">
                    <a:lumMod val="40000"/>
                    <a:lumOff val="60000"/>
                  </a:schemeClr>
                </a:solidFill>
              </a:rPr>
              <a:t>坚果的好处</a:t>
            </a:r>
            <a:endParaRPr lang="zh-CN" altLang="en-US" sz="80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41273050"/>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lstStyle/>
          <a:p>
            <a:r>
              <a:rPr lang="zh-CN" altLang="en-US" dirty="0" smtClean="0">
                <a:hlinkClick r:id="rId2" action="ppaction://hlinksldjump"/>
              </a:rPr>
              <a:t>清除自由基</a:t>
            </a:r>
            <a:endParaRPr lang="en-US" altLang="zh-CN" dirty="0" smtClean="0"/>
          </a:p>
          <a:p>
            <a:r>
              <a:rPr lang="zh-CN" altLang="en-US" dirty="0">
                <a:hlinkClick r:id="rId3" action="ppaction://hlinksldjump"/>
              </a:rPr>
              <a:t>降低妇女发生</a:t>
            </a:r>
            <a:r>
              <a:rPr lang="en-US" altLang="zh-CN" dirty="0">
                <a:hlinkClick r:id="rId3" action="ppaction://hlinksldjump"/>
              </a:rPr>
              <a:t>2</a:t>
            </a:r>
            <a:r>
              <a:rPr lang="zh-CN" altLang="en-US" dirty="0">
                <a:hlinkClick r:id="rId3" action="ppaction://hlinksldjump"/>
              </a:rPr>
              <a:t>型糖尿病的</a:t>
            </a:r>
            <a:r>
              <a:rPr lang="zh-CN" altLang="en-US" dirty="0" smtClean="0">
                <a:hlinkClick r:id="rId3" action="ppaction://hlinksldjump"/>
              </a:rPr>
              <a:t>危险</a:t>
            </a:r>
            <a:endParaRPr lang="en-US" altLang="zh-CN" dirty="0" smtClean="0"/>
          </a:p>
          <a:p>
            <a:r>
              <a:rPr lang="zh-CN" altLang="en-US" dirty="0">
                <a:hlinkClick r:id="rId4" action="ppaction://hlinksldjump"/>
              </a:rPr>
              <a:t>降低心脏性猝死</a:t>
            </a:r>
            <a:r>
              <a:rPr lang="zh-CN" altLang="en-US" dirty="0" smtClean="0">
                <a:hlinkClick r:id="rId4" action="ppaction://hlinksldjump"/>
              </a:rPr>
              <a:t>率</a:t>
            </a:r>
            <a:endParaRPr lang="en-US" altLang="zh-CN" dirty="0" smtClean="0"/>
          </a:p>
          <a:p>
            <a:r>
              <a:rPr lang="zh-CN" altLang="en-US" dirty="0" smtClean="0">
                <a:hlinkClick r:id="rId5" action="ppaction://hlinksldjump"/>
              </a:rPr>
              <a:t>调节血脂</a:t>
            </a:r>
            <a:endParaRPr lang="en-US" altLang="zh-CN" dirty="0" smtClean="0"/>
          </a:p>
          <a:p>
            <a:r>
              <a:rPr lang="zh-CN" altLang="en-US" dirty="0">
                <a:hlinkClick r:id="rId6" action="ppaction://hlinksldjump"/>
              </a:rPr>
              <a:t>提高</a:t>
            </a:r>
            <a:r>
              <a:rPr lang="zh-CN" altLang="en-US" dirty="0" smtClean="0">
                <a:hlinkClick r:id="rId6" action="ppaction://hlinksldjump"/>
              </a:rPr>
              <a:t>视力</a:t>
            </a:r>
            <a:endParaRPr lang="en-US" altLang="zh-CN" dirty="0" smtClean="0"/>
          </a:p>
          <a:p>
            <a:r>
              <a:rPr lang="zh-CN" altLang="en-US" dirty="0">
                <a:hlinkClick r:id="rId7" action="ppaction://hlinksldjump"/>
              </a:rPr>
              <a:t>补脑益智脑</a:t>
            </a:r>
            <a:endParaRPr lang="zh-CN" altLang="en-US" dirty="0"/>
          </a:p>
        </p:txBody>
      </p:sp>
    </p:spTree>
    <p:extLst>
      <p:ext uri="{BB962C8B-B14F-4D97-AF65-F5344CB8AC3E}">
        <p14:creationId xmlns:p14="http://schemas.microsoft.com/office/powerpoint/2010/main" val="1871203296"/>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b="1" dirty="0"/>
              <a:t>清除自由基</a:t>
            </a:r>
            <a:endParaRPr lang="zh-CN" altLang="en-US" dirty="0"/>
          </a:p>
        </p:txBody>
      </p:sp>
      <p:sp>
        <p:nvSpPr>
          <p:cNvPr id="5" name="内容占位符 4"/>
          <p:cNvSpPr>
            <a:spLocks noGrp="1"/>
          </p:cNvSpPr>
          <p:nvPr>
            <p:ph idx="1"/>
          </p:nvPr>
        </p:nvSpPr>
        <p:spPr/>
        <p:txBody>
          <a:bodyPr>
            <a:normAutofit/>
          </a:bodyPr>
          <a:lstStyle/>
          <a:p>
            <a:pPr algn="l">
              <a:lnSpc>
                <a:spcPct val="150000"/>
              </a:lnSpc>
            </a:pPr>
            <a:r>
              <a:rPr lang="zh-CN" altLang="en-US" sz="2800" b="1" dirty="0">
                <a:solidFill>
                  <a:srgbClr val="002060"/>
                </a:solidFill>
                <a:latin typeface="隶书" panose="02010509060101010101" pitchFamily="49" charset="-122"/>
                <a:ea typeface="隶书" panose="02010509060101010101" pitchFamily="49" charset="-122"/>
              </a:rPr>
              <a:t>自由基非常活泼，会与人体内的细胞组织以及</a:t>
            </a:r>
            <a:r>
              <a:rPr lang="en-US" altLang="zh-CN" sz="2800" b="1" dirty="0">
                <a:solidFill>
                  <a:srgbClr val="002060"/>
                </a:solidFill>
                <a:latin typeface="隶书" panose="02010509060101010101" pitchFamily="49" charset="-122"/>
                <a:ea typeface="隶书" panose="02010509060101010101" pitchFamily="49" charset="-122"/>
              </a:rPr>
              <a:t>DNA</a:t>
            </a:r>
            <a:r>
              <a:rPr lang="zh-CN" altLang="en-US" sz="2800" b="1" dirty="0">
                <a:solidFill>
                  <a:srgbClr val="002060"/>
                </a:solidFill>
                <a:latin typeface="隶书" panose="02010509060101010101" pitchFamily="49" charset="-122"/>
                <a:ea typeface="隶书" panose="02010509060101010101" pitchFamily="49" charset="-122"/>
              </a:rPr>
              <a:t>发生反应，从而产生毒性和损坏作用。研究表明，一些坚果类食物如葵花子具有较强的清除自由基的能力，其作用可与草莓、菠菜清除自由基的能力相比。</a:t>
            </a:r>
          </a:p>
        </p:txBody>
      </p:sp>
    </p:spTree>
    <p:extLst>
      <p:ext uri="{BB962C8B-B14F-4D97-AF65-F5344CB8AC3E}">
        <p14:creationId xmlns:p14="http://schemas.microsoft.com/office/powerpoint/2010/main" val="2939641749"/>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
</file>

<file path=ppt/slides/slide4.xml><?xml version="1.0" encoding="utf-8"?>
<p:sld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降低妇女发生</a:t>
            </a:r>
            <a:r>
              <a:rPr lang="en-US" altLang="zh-CN" b="1" dirty="0"/>
              <a:t>2</a:t>
            </a:r>
            <a:r>
              <a:rPr lang="zh-CN" altLang="en-US" b="1" dirty="0"/>
              <a:t>型糖尿病的危险</a:t>
            </a:r>
            <a:endParaRPr lang="zh-CN" altLang="en-US" dirty="0"/>
          </a:p>
        </p:txBody>
      </p:sp>
      <p:sp>
        <p:nvSpPr>
          <p:cNvPr id="3" name="内容占位符 2"/>
          <p:cNvSpPr>
            <a:spLocks noGrp="1"/>
          </p:cNvSpPr>
          <p:nvPr>
            <p:ph sz="half" idx="1"/>
          </p:nvPr>
        </p:nvSpPr>
        <p:spPr/>
        <p:txBody>
          <a:bodyPr/>
          <a:lstStyle/>
          <a:p>
            <a:r>
              <a:rPr lang="zh-CN" altLang="en-US" dirty="0"/>
              <a:t>美国哈佛大学公共卫生学院营养系的研究人员曾对</a:t>
            </a:r>
            <a:r>
              <a:rPr lang="en-US" altLang="zh-CN" dirty="0"/>
              <a:t>11</a:t>
            </a:r>
            <a:r>
              <a:rPr lang="zh-CN" altLang="en-US" dirty="0"/>
              <a:t>个国家的</a:t>
            </a:r>
            <a:r>
              <a:rPr lang="en-US" altLang="zh-CN" dirty="0"/>
              <a:t>8.4</a:t>
            </a:r>
            <a:r>
              <a:rPr lang="zh-CN" altLang="en-US" dirty="0"/>
              <a:t>万名</a:t>
            </a:r>
            <a:r>
              <a:rPr lang="en-US" altLang="zh-CN" dirty="0"/>
              <a:t>34~59</a:t>
            </a:r>
            <a:r>
              <a:rPr lang="zh-CN" altLang="en-US" dirty="0"/>
              <a:t>岁的妇女进行了</a:t>
            </a:r>
            <a:r>
              <a:rPr lang="en-US" altLang="zh-CN" dirty="0"/>
              <a:t>16</a:t>
            </a:r>
            <a:r>
              <a:rPr lang="zh-CN" altLang="en-US" dirty="0"/>
              <a:t>年的跟踪调查，结果显示，多食坚果将能显著降低</a:t>
            </a:r>
            <a:r>
              <a:rPr lang="en-US" altLang="zh-CN" dirty="0"/>
              <a:t>2</a:t>
            </a:r>
            <a:r>
              <a:rPr lang="zh-CN" altLang="en-US" dirty="0"/>
              <a:t>型糖尿病的发生危险。他们认为，坚果中富含不饱和脂肪及其他营养物，这些营养物质均有助于改善血糖和胰岛素的平衡。</a:t>
            </a:r>
          </a:p>
          <a:p>
            <a:pPr marL="0" indent="0">
              <a:buNone/>
            </a:pPr>
            <a:endParaRPr lang="zh-CN" altLang="en-US" dirty="0"/>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089525" y="2748270"/>
            <a:ext cx="4184650" cy="2706073"/>
          </a:xfrm>
          <a:prstGeom prst="rect">
            <a:avLst/>
          </a:prstGeom>
          <a:ln w="88900" cap="sq" cmpd="thickThin">
            <a:solidFill>
              <a:srgbClr val="000000"/>
            </a:solidFill>
            <a:prstDash val="solid"/>
            <a:miter lim="800000"/>
          </a:ln>
          <a:effectLst>
            <a:glow rad="139700">
              <a:schemeClr val="accent4">
                <a:satMod val="175000"/>
                <a:alpha val="40000"/>
              </a:schemeClr>
            </a:glow>
            <a:innerShdw blurRad="76200">
              <a:srgbClr val="000000"/>
            </a:innerShdw>
          </a:effectLst>
        </p:spPr>
      </p:pic>
    </p:spTree>
    <p:extLst>
      <p:ext uri="{BB962C8B-B14F-4D97-AF65-F5344CB8AC3E}">
        <p14:creationId xmlns:p14="http://schemas.microsoft.com/office/powerpoint/2010/main" val="145632390"/>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a14="http://schemas.microsoft.com/office/drawing/2010/main">
      <p:transition spd="slow" advTm="5000">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5"/>
                                        </p:tgtEl>
                                        <p:attrNameLst>
                                          <p:attrName>r</p:attrName>
                                        </p:attrNameLst>
                                      </p:cBhvr>
                                    </p:animRot>
                                    <p:animRot by="-240000">
                                      <p:cBhvr>
                                        <p:cTn id="7" dur="200" fill="hold">
                                          <p:stCondLst>
                                            <p:cond delay="200"/>
                                          </p:stCondLst>
                                        </p:cTn>
                                        <p:tgtEl>
                                          <p:spTgt spid="5"/>
                                        </p:tgtEl>
                                        <p:attrNameLst>
                                          <p:attrName>r</p:attrName>
                                        </p:attrNameLst>
                                      </p:cBhvr>
                                    </p:animRot>
                                    <p:animRot by="240000">
                                      <p:cBhvr>
                                        <p:cTn id="8" dur="200" fill="hold">
                                          <p:stCondLst>
                                            <p:cond delay="400"/>
                                          </p:stCondLst>
                                        </p:cTn>
                                        <p:tgtEl>
                                          <p:spTgt spid="5"/>
                                        </p:tgtEl>
                                        <p:attrNameLst>
                                          <p:attrName>r</p:attrName>
                                        </p:attrNameLst>
                                      </p:cBhvr>
                                    </p:animRot>
                                    <p:animRot by="-240000">
                                      <p:cBhvr>
                                        <p:cTn id="9" dur="200" fill="hold">
                                          <p:stCondLst>
                                            <p:cond delay="600"/>
                                          </p:stCondLst>
                                        </p:cTn>
                                        <p:tgtEl>
                                          <p:spTgt spid="5"/>
                                        </p:tgtEl>
                                        <p:attrNameLst>
                                          <p:attrName>r</p:attrName>
                                        </p:attrNameLst>
                                      </p:cBhvr>
                                    </p:animRot>
                                    <p:animRot by="120000">
                                      <p:cBhvr>
                                        <p:cTn id="10"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降低心脏性猝死率</a:t>
            </a:r>
            <a:endParaRPr lang="zh-CN" altLang="en-US" dirty="0"/>
          </a:p>
        </p:txBody>
      </p:sp>
      <p:sp>
        <p:nvSpPr>
          <p:cNvPr id="3" name="内容占位符 2"/>
          <p:cNvSpPr>
            <a:spLocks noGrp="1"/>
          </p:cNvSpPr>
          <p:nvPr>
            <p:ph idx="1"/>
          </p:nvPr>
        </p:nvSpPr>
        <p:spPr/>
        <p:txBody>
          <a:bodyPr/>
          <a:lstStyle/>
          <a:p>
            <a:r>
              <a:rPr lang="zh-CN" altLang="en-US" dirty="0"/>
              <a:t>由于坚果中的某些成分具有抗心率失常的作用，因而，在控制了已知的心脏危险因素并做到合理饮食后，吃坚果与降低心源性猝死明显相关。与很少或从不吃坚果的人相比，每周吃</a:t>
            </a:r>
            <a:r>
              <a:rPr lang="en-US" altLang="zh-CN" dirty="0"/>
              <a:t>2</a:t>
            </a:r>
            <a:r>
              <a:rPr lang="zh-CN" altLang="en-US" dirty="0"/>
              <a:t>次或</a:t>
            </a:r>
            <a:r>
              <a:rPr lang="en-US" altLang="zh-CN" dirty="0"/>
              <a:t>2</a:t>
            </a:r>
            <a:r>
              <a:rPr lang="zh-CN" altLang="en-US" dirty="0"/>
              <a:t>次以上坚果者，发生心源性猝死和因冠心病死亡的危险性均较低。</a:t>
            </a:r>
          </a:p>
          <a:p>
            <a:pPr marL="0" indent="0">
              <a:buNone/>
            </a:pPr>
            <a:endParaRPr lang="zh-CN" altLang="en-US" dirty="0"/>
          </a:p>
        </p:txBody>
      </p:sp>
    </p:spTree>
    <p:extLst>
      <p:ext uri="{BB962C8B-B14F-4D97-AF65-F5344CB8AC3E}">
        <p14:creationId xmlns:p14="http://schemas.microsoft.com/office/powerpoint/2010/main" val="2211458998"/>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timing>
    <p:tnLst>
      <p:par>
        <p:cTn id="1" dur="indefinite" restart="never" nodeType="tmRoot"/>
      </p:par>
    </p:tnLst>
  </p:timing>
</p:sld>
</file>

<file path=ppt/slides/slide6.xml><?xml version="1.0" encoding="utf-8"?>
<p:sld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调节血脂</a:t>
            </a:r>
            <a:endParaRPr lang="zh-CN" altLang="en-US" dirty="0"/>
          </a:p>
        </p:txBody>
      </p:sp>
      <p:sp>
        <p:nvSpPr>
          <p:cNvPr id="3" name="内容占位符 2"/>
          <p:cNvSpPr>
            <a:spLocks noGrp="1"/>
          </p:cNvSpPr>
          <p:nvPr>
            <p:ph sz="half" idx="1"/>
          </p:nvPr>
        </p:nvSpPr>
        <p:spPr/>
        <p:txBody>
          <a:bodyPr/>
          <a:lstStyle/>
          <a:p>
            <a:r>
              <a:rPr lang="zh-CN" altLang="en-US" dirty="0"/>
              <a:t>北京大学医学部肖颖教授等，于</a:t>
            </a:r>
            <a:r>
              <a:rPr lang="en-US" altLang="zh-CN" dirty="0"/>
              <a:t>2002</a:t>
            </a:r>
            <a:r>
              <a:rPr lang="zh-CN" altLang="en-US" dirty="0"/>
              <a:t>年以</a:t>
            </a:r>
            <a:r>
              <a:rPr lang="en-US" altLang="zh-CN" dirty="0"/>
              <a:t>85</a:t>
            </a:r>
            <a:r>
              <a:rPr lang="zh-CN" altLang="en-US" dirty="0"/>
              <a:t>名高脂血症患者为受试者，每天予其服用</a:t>
            </a:r>
            <a:r>
              <a:rPr lang="en-US" altLang="zh-CN" dirty="0"/>
              <a:t>75</a:t>
            </a:r>
            <a:r>
              <a:rPr lang="zh-CN" altLang="en-US" dirty="0"/>
              <a:t>克美国大杏仁，连续服用</a:t>
            </a:r>
            <a:r>
              <a:rPr lang="en-US" altLang="zh-CN" dirty="0"/>
              <a:t>4</a:t>
            </a:r>
            <a:r>
              <a:rPr lang="zh-CN" altLang="en-US" dirty="0"/>
              <a:t>周，对其血脂进行观察。结果表明，受试者在服用大杏仁后血清总胆固醇和载脂蛋白</a:t>
            </a:r>
            <a:r>
              <a:rPr lang="en-US" altLang="zh-CN" dirty="0"/>
              <a:t>B</a:t>
            </a:r>
            <a:r>
              <a:rPr lang="zh-CN" altLang="en-US" dirty="0"/>
              <a:t>明显下降，载脂蛋白</a:t>
            </a:r>
            <a:r>
              <a:rPr lang="en-US" altLang="zh-CN" dirty="0"/>
              <a:t>A1</a:t>
            </a:r>
            <a:r>
              <a:rPr lang="zh-CN" altLang="en-US" dirty="0"/>
              <a:t>明显升高。说明富含单不饱和脂肪酸的美国大杏仁对高脂血症患者的血脂和载脂蛋白水平有良好的调节作用。</a:t>
            </a:r>
          </a:p>
          <a:p>
            <a:pPr marL="0" indent="0">
              <a:buNone/>
            </a:pPr>
            <a:endParaRPr lang="zh-CN" altLang="en-US" dirty="0"/>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12653" y="2702604"/>
            <a:ext cx="4184650" cy="2796741"/>
          </a:xfrm>
        </p:spPr>
      </p:pic>
    </p:spTree>
    <p:extLst>
      <p:ext uri="{BB962C8B-B14F-4D97-AF65-F5344CB8AC3E}">
        <p14:creationId xmlns:p14="http://schemas.microsoft.com/office/powerpoint/2010/main" val="3161472131"/>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a14="http://schemas.microsoft.com/office/drawing/2010/main">
      <p:transition spd="slow" advTm="5000">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3">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nodeType="clickEffect">
                                  <p:stCondLst>
                                    <p:cond delay="0"/>
                                  </p:stCondLst>
                                  <p:childTnLst>
                                    <p:animRot by="21600000">
                                      <p:cBhvr>
                                        <p:cTn id="12" dur="2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提高视力</a:t>
            </a:r>
            <a:endParaRPr lang="zh-CN" altLang="en-US" dirty="0"/>
          </a:p>
        </p:txBody>
      </p:sp>
      <p:sp>
        <p:nvSpPr>
          <p:cNvPr id="3" name="内容占位符 2"/>
          <p:cNvSpPr>
            <a:spLocks noGrp="1"/>
          </p:cNvSpPr>
          <p:nvPr>
            <p:ph idx="1"/>
          </p:nvPr>
        </p:nvSpPr>
        <p:spPr/>
        <p:txBody>
          <a:bodyPr>
            <a:normAutofit/>
          </a:bodyPr>
          <a:lstStyle/>
          <a:p>
            <a:r>
              <a:rPr lang="zh-CN" altLang="en-US" dirty="0"/>
              <a:t>研究发现，咀嚼强度对提高视力起着一定的作用，多吃坚果可以提高视力，眼睛的睫状肌对眼球晶状体具有调节作用，而睫状肌的调节功能有赖于面部的肌力，面部肌力的增强则得益于咀嚼强度。现代人的食物日趋软化，进食时咀嚼很少或根本不需要咀嚼，致使面部肌肉力量变弱，睫状肌对眼球晶状体调节功能降低，视力也就容易随之下降。所以，要提高视力，就要多吃较硬的食物，并长期坚持对食物进行充分咀嚼。</a:t>
            </a:r>
          </a:p>
          <a:p>
            <a:pPr marL="0" indent="0">
              <a:buNone/>
            </a:pPr>
            <a:endParaRPr lang="zh-CN" altLang="en-US" dirty="0"/>
          </a:p>
        </p:txBody>
      </p:sp>
    </p:spTree>
    <p:extLst>
      <p:ext uri="{BB962C8B-B14F-4D97-AF65-F5344CB8AC3E}">
        <p14:creationId xmlns:p14="http://schemas.microsoft.com/office/powerpoint/2010/main" val="2924002194"/>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补脑益智脑</a:t>
            </a:r>
            <a:endParaRPr lang="zh-CN" altLang="en-US" dirty="0"/>
          </a:p>
        </p:txBody>
      </p:sp>
      <p:sp>
        <p:nvSpPr>
          <p:cNvPr id="3" name="内容占位符 2"/>
          <p:cNvSpPr>
            <a:spLocks noGrp="1"/>
          </p:cNvSpPr>
          <p:nvPr>
            <p:ph idx="1"/>
          </p:nvPr>
        </p:nvSpPr>
        <p:spPr/>
        <p:txBody>
          <a:bodyPr>
            <a:normAutofit/>
          </a:bodyPr>
          <a:lstStyle/>
          <a:p>
            <a:r>
              <a:rPr lang="zh-CN" altLang="en-US" dirty="0"/>
              <a:t>细胞由</a:t>
            </a:r>
            <a:r>
              <a:rPr lang="en-US" altLang="zh-CN" dirty="0"/>
              <a:t>60%</a:t>
            </a:r>
            <a:r>
              <a:rPr lang="zh-CN" altLang="en-US" dirty="0"/>
              <a:t>的不饱和脂肪酸和</a:t>
            </a:r>
            <a:r>
              <a:rPr lang="en-US" altLang="zh-CN" dirty="0"/>
              <a:t>35%</a:t>
            </a:r>
            <a:r>
              <a:rPr lang="zh-CN" altLang="en-US" dirty="0"/>
              <a:t>的蛋白质构成。因此，对于大脑的发育来说，需要的第一营养成分是不饱和脂肪酸。坚果类食物中含有大量的不饱和脂肪酸，还含有</a:t>
            </a:r>
            <a:r>
              <a:rPr lang="en-US" altLang="zh-CN" dirty="0"/>
              <a:t>15%~20%</a:t>
            </a:r>
            <a:r>
              <a:rPr lang="zh-CN" altLang="en-US" dirty="0"/>
              <a:t>的优质蛋白质和十几种重要的氨基酸，这些氨基酸都是构成脑神经细胞的主要成分。坚果中对大脑神经细胞有益的维生素</a:t>
            </a:r>
            <a:r>
              <a:rPr lang="en-US" altLang="zh-CN" dirty="0"/>
              <a:t>B1</a:t>
            </a:r>
            <a:r>
              <a:rPr lang="zh-CN" altLang="en-US" dirty="0"/>
              <a:t>、</a:t>
            </a:r>
            <a:r>
              <a:rPr lang="en-US" altLang="zh-CN" dirty="0"/>
              <a:t>B2</a:t>
            </a:r>
            <a:r>
              <a:rPr lang="zh-CN" altLang="en-US" dirty="0"/>
              <a:t>、</a:t>
            </a:r>
            <a:r>
              <a:rPr lang="en-US" altLang="zh-CN" dirty="0"/>
              <a:t>B6</a:t>
            </a:r>
            <a:r>
              <a:rPr lang="zh-CN" altLang="en-US" dirty="0"/>
              <a:t>，维生素</a:t>
            </a:r>
            <a:r>
              <a:rPr lang="en-US" altLang="zh-CN" dirty="0"/>
              <a:t>E</a:t>
            </a:r>
            <a:r>
              <a:rPr lang="zh-CN" altLang="en-US" dirty="0"/>
              <a:t>及钙、磷、铁、锌等的含量也较高。因此，吃坚果对改善脑部营养很有益处，特别适合孕妇和儿童食用。</a:t>
            </a:r>
          </a:p>
          <a:p>
            <a:pPr marL="0" indent="0">
              <a:buNone/>
            </a:pPr>
            <a:endParaRPr lang="zh-CN" altLang="en-US" dirty="0"/>
          </a:p>
        </p:txBody>
      </p:sp>
    </p:spTree>
    <p:extLst>
      <p:ext uri="{BB962C8B-B14F-4D97-AF65-F5344CB8AC3E}">
        <p14:creationId xmlns:p14="http://schemas.microsoft.com/office/powerpoint/2010/main" val="1378401709"/>
      </p:ext>
    </p:extLst>
  </p:cSld>
  <p:clrMapOvr>
    <a:masterClrMapping/>
  </p:clrMapOvr>
  <mc:AlternateContent xmlns:mc="http://schemas.openxmlformats.org/markup-compatibility/2006" xmlns:p14="http://schemas.microsoft.com/office/powerpoint/2010/main">
    <mc:Choice Requires="p14">
      <p:transition spd="slow" p14:dur="1200" advTm="5000">
        <p:dissolve/>
      </p:transition>
    </mc:Choice>
    <mc:Fallback xmlns="">
      <p:transition spd="slow" advTm="5000">
        <p:dissolve/>
      </p:transition>
    </mc:Fallback>
  </mc:AlternateContent>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108</TotalTime>
  <Words>559</Words>
  <Application>Microsoft Office PowerPoint</Application>
  <PresentationFormat>宽屏</PresentationFormat>
  <Paragraphs>20</Paragraphs>
  <Slides>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vt:i4>
      </vt:variant>
    </vt:vector>
  </HeadingPairs>
  <TitlesOfParts>
    <vt:vector size="15" baseType="lpstr">
      <vt:lpstr>方正姚体</vt:lpstr>
      <vt:lpstr>华文新魏</vt:lpstr>
      <vt:lpstr>隶书</vt:lpstr>
      <vt:lpstr>Arial</vt:lpstr>
      <vt:lpstr>Trebuchet MS</vt:lpstr>
      <vt:lpstr>Wingdings 3</vt:lpstr>
      <vt:lpstr>平面</vt:lpstr>
      <vt:lpstr>PowerPoint 演示文稿</vt:lpstr>
      <vt:lpstr>目录</vt:lpstr>
      <vt:lpstr>清除自由基</vt:lpstr>
      <vt:lpstr>降低妇女发生2型糖尿病的危险</vt:lpstr>
      <vt:lpstr>降低心脏性猝死率</vt:lpstr>
      <vt:lpstr>调节血脂</vt:lpstr>
      <vt:lpstr>提高视力</vt:lpstr>
      <vt:lpstr>补脑益智脑</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人工增雨背后的秘密</dc:title>
  <dc:creator>gaobo</dc:creator>
  <cp:lastModifiedBy>Windows User</cp:lastModifiedBy>
  <cp:revision>12</cp:revision>
  <dcterms:created xsi:type="dcterms:W3CDTF">2018-09-21T03:52:05Z</dcterms:created>
  <dcterms:modified xsi:type="dcterms:W3CDTF">2023-10-17T01:44:00Z</dcterms:modified>
</cp:coreProperties>
</file>