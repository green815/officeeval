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6"/>
  </p:notesMasterIdLst>
  <p:sldIdLst>
    <p:sldId id="261" r:id="rId2"/>
    <p:sldId id="260" r:id="rId3"/>
    <p:sldId id="259" r:id="rId4"/>
    <p:sldId id="262" r:id="rId5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08" y="7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7B88C3-FCD2-4A5B-A14E-2061524CF6CD}" type="doc">
      <dgm:prSet loTypeId="urn:microsoft.com/office/officeart/2005/8/layout/hList6" loCatId="list" qsTypeId="urn:microsoft.com/office/officeart/2005/8/quickstyle/3d3" qsCatId="3D" csTypeId="urn:microsoft.com/office/officeart/2005/8/colors/accent2_2" csCatId="accent2"/>
      <dgm:spPr/>
      <dgm:t>
        <a:bodyPr/>
        <a:lstStyle/>
        <a:p>
          <a:endParaRPr lang="zh-CN" altLang="en-US"/>
        </a:p>
      </dgm:t>
    </dgm:pt>
    <dgm:pt modelId="{3F26C773-9AEF-453B-8CEF-738AAF42D0EE}">
      <dgm:prSet/>
      <dgm:spPr/>
      <dgm:t>
        <a:bodyPr/>
        <a:lstStyle/>
        <a:p>
          <a:pPr rtl="0"/>
          <a:r>
            <a:rPr lang="zh-CN" dirty="0" smtClean="0"/>
            <a:t>微课（Micro-lecture），是指运用信息技术按照认知规律，呈现碎片化学习内容、过程及扩展素材的结构化数字资源。</a:t>
          </a:r>
          <a:endParaRPr lang="zh-CN" dirty="0"/>
        </a:p>
      </dgm:t>
    </dgm:pt>
    <dgm:pt modelId="{91B2911E-0F7A-4541-A449-EDE21E054EFB}" type="parTrans" cxnId="{47B61976-D9BD-4B43-A281-88E9AF9548E1}">
      <dgm:prSet/>
      <dgm:spPr/>
      <dgm:t>
        <a:bodyPr/>
        <a:lstStyle/>
        <a:p>
          <a:endParaRPr lang="zh-CN" altLang="en-US"/>
        </a:p>
      </dgm:t>
    </dgm:pt>
    <dgm:pt modelId="{622A166F-D18A-405B-B150-05DFA656B05F}" type="sibTrans" cxnId="{47B61976-D9BD-4B43-A281-88E9AF9548E1}">
      <dgm:prSet/>
      <dgm:spPr/>
      <dgm:t>
        <a:bodyPr/>
        <a:lstStyle/>
        <a:p>
          <a:endParaRPr lang="zh-CN" altLang="en-US"/>
        </a:p>
      </dgm:t>
    </dgm:pt>
    <dgm:pt modelId="{DDA43AC3-5C07-4D0E-8C9E-B31A23EC712D}">
      <dgm:prSet/>
      <dgm:spPr/>
      <dgm:t>
        <a:bodyPr/>
        <a:lstStyle/>
        <a:p>
          <a:pPr rtl="0"/>
          <a:r>
            <a:rPr lang="zh-CN" smtClean="0"/>
            <a:t>“微课”的核心组成内容是课堂教学视频，同时还包含与该教学主题相关的教学设计、素材课件、教学反思、练习测试及学生反馈、教师点评等辅助性教学资源。</a:t>
          </a:r>
          <a:endParaRPr lang="zh-CN"/>
        </a:p>
      </dgm:t>
    </dgm:pt>
    <dgm:pt modelId="{66DC271E-0772-4CE8-A03F-DC4AA4A35F38}" type="parTrans" cxnId="{D54ECB9B-A88F-40F7-A238-D2B2A786C0CE}">
      <dgm:prSet/>
      <dgm:spPr/>
      <dgm:t>
        <a:bodyPr/>
        <a:lstStyle/>
        <a:p>
          <a:endParaRPr lang="zh-CN" altLang="en-US"/>
        </a:p>
      </dgm:t>
    </dgm:pt>
    <dgm:pt modelId="{8AD345EC-A75D-4C1C-95AA-49689446A65E}" type="sibTrans" cxnId="{D54ECB9B-A88F-40F7-A238-D2B2A786C0CE}">
      <dgm:prSet/>
      <dgm:spPr/>
      <dgm:t>
        <a:bodyPr/>
        <a:lstStyle/>
        <a:p>
          <a:endParaRPr lang="zh-CN" altLang="en-US"/>
        </a:p>
      </dgm:t>
    </dgm:pt>
    <dgm:pt modelId="{D7211F25-0086-4F02-AB9B-85FB98D213C4}" type="pres">
      <dgm:prSet presAssocID="{6F7B88C3-FCD2-4A5B-A14E-2061524CF6CD}" presName="Name0" presStyleCnt="0">
        <dgm:presLayoutVars>
          <dgm:dir/>
          <dgm:resizeHandles val="exact"/>
        </dgm:presLayoutVars>
      </dgm:prSet>
      <dgm:spPr/>
    </dgm:pt>
    <dgm:pt modelId="{DCEE7048-DB05-4402-A11F-C0D5A2516D65}" type="pres">
      <dgm:prSet presAssocID="{3F26C773-9AEF-453B-8CEF-738AAF42D0EE}" presName="node" presStyleLbl="node1" presStyleIdx="0" presStyleCnt="2">
        <dgm:presLayoutVars>
          <dgm:bulletEnabled val="1"/>
        </dgm:presLayoutVars>
      </dgm:prSet>
      <dgm:spPr/>
    </dgm:pt>
    <dgm:pt modelId="{77E48214-FC8C-4534-9B09-B7ACBCB8E9C0}" type="pres">
      <dgm:prSet presAssocID="{622A166F-D18A-405B-B150-05DFA656B05F}" presName="sibTrans" presStyleCnt="0"/>
      <dgm:spPr/>
    </dgm:pt>
    <dgm:pt modelId="{DB4BA0E7-9122-4A4C-A4FC-09065A16704C}" type="pres">
      <dgm:prSet presAssocID="{DDA43AC3-5C07-4D0E-8C9E-B31A23EC712D}" presName="node" presStyleLbl="node1" presStyleIdx="1" presStyleCnt="2">
        <dgm:presLayoutVars>
          <dgm:bulletEnabled val="1"/>
        </dgm:presLayoutVars>
      </dgm:prSet>
      <dgm:spPr/>
    </dgm:pt>
  </dgm:ptLst>
  <dgm:cxnLst>
    <dgm:cxn modelId="{47B61976-D9BD-4B43-A281-88E9AF9548E1}" srcId="{6F7B88C3-FCD2-4A5B-A14E-2061524CF6CD}" destId="{3F26C773-9AEF-453B-8CEF-738AAF42D0EE}" srcOrd="0" destOrd="0" parTransId="{91B2911E-0F7A-4541-A449-EDE21E054EFB}" sibTransId="{622A166F-D18A-405B-B150-05DFA656B05F}"/>
    <dgm:cxn modelId="{88C553A3-D3E7-4715-8469-816F32821378}" type="presOf" srcId="{DDA43AC3-5C07-4D0E-8C9E-B31A23EC712D}" destId="{DB4BA0E7-9122-4A4C-A4FC-09065A16704C}" srcOrd="0" destOrd="0" presId="urn:microsoft.com/office/officeart/2005/8/layout/hList6"/>
    <dgm:cxn modelId="{0FFCC4F0-7C80-418F-9639-2EC623D1C351}" type="presOf" srcId="{6F7B88C3-FCD2-4A5B-A14E-2061524CF6CD}" destId="{D7211F25-0086-4F02-AB9B-85FB98D213C4}" srcOrd="0" destOrd="0" presId="urn:microsoft.com/office/officeart/2005/8/layout/hList6"/>
    <dgm:cxn modelId="{D54ECB9B-A88F-40F7-A238-D2B2A786C0CE}" srcId="{6F7B88C3-FCD2-4A5B-A14E-2061524CF6CD}" destId="{DDA43AC3-5C07-4D0E-8C9E-B31A23EC712D}" srcOrd="1" destOrd="0" parTransId="{66DC271E-0772-4CE8-A03F-DC4AA4A35F38}" sibTransId="{8AD345EC-A75D-4C1C-95AA-49689446A65E}"/>
    <dgm:cxn modelId="{F5C636B9-E6B0-47AD-9622-507B3774A76F}" type="presOf" srcId="{3F26C773-9AEF-453B-8CEF-738AAF42D0EE}" destId="{DCEE7048-DB05-4402-A11F-C0D5A2516D65}" srcOrd="0" destOrd="0" presId="urn:microsoft.com/office/officeart/2005/8/layout/hList6"/>
    <dgm:cxn modelId="{7A70814C-01A6-44E1-A33C-858C3F6490D0}" type="presParOf" srcId="{D7211F25-0086-4F02-AB9B-85FB98D213C4}" destId="{DCEE7048-DB05-4402-A11F-C0D5A2516D65}" srcOrd="0" destOrd="0" presId="urn:microsoft.com/office/officeart/2005/8/layout/hList6"/>
    <dgm:cxn modelId="{8366F36C-958C-4E77-A6CC-CD5766E18EAB}" type="presParOf" srcId="{D7211F25-0086-4F02-AB9B-85FB98D213C4}" destId="{77E48214-FC8C-4534-9B09-B7ACBCB8E9C0}" srcOrd="1" destOrd="0" presId="urn:microsoft.com/office/officeart/2005/8/layout/hList6"/>
    <dgm:cxn modelId="{35638C29-8090-4F88-B9E6-2B7C5E9D7AE1}" type="presParOf" srcId="{D7211F25-0086-4F02-AB9B-85FB98D213C4}" destId="{DB4BA0E7-9122-4A4C-A4FC-09065A16704C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E7048-DB05-4402-A11F-C0D5A2516D65}">
      <dsp:nvSpPr>
        <dsp:cNvPr id="0" name=""/>
        <dsp:cNvSpPr/>
      </dsp:nvSpPr>
      <dsp:spPr>
        <a:xfrm rot="16200000">
          <a:off x="99996" y="-96769"/>
          <a:ext cx="2910580" cy="3104119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364" bIns="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kern="1200" dirty="0" smtClean="0"/>
            <a:t>微课（Micro-lecture），是指运用信息技术按照认知规律，呈现碎片化学习内容、过程及扩展素材的结构化数字资源。</a:t>
          </a:r>
          <a:endParaRPr lang="zh-CN" sz="1800" kern="1200" dirty="0"/>
        </a:p>
      </dsp:txBody>
      <dsp:txXfrm rot="5400000">
        <a:off x="3227" y="582116"/>
        <a:ext cx="3104119" cy="1746348"/>
      </dsp:txXfrm>
    </dsp:sp>
    <dsp:sp modelId="{DB4BA0E7-9122-4A4C-A4FC-09065A16704C}">
      <dsp:nvSpPr>
        <dsp:cNvPr id="0" name=""/>
        <dsp:cNvSpPr/>
      </dsp:nvSpPr>
      <dsp:spPr>
        <a:xfrm rot="16200000">
          <a:off x="3436924" y="-96769"/>
          <a:ext cx="2910580" cy="3104119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364" bIns="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kern="1200" smtClean="0"/>
            <a:t>“微课”的核心组成内容是课堂教学视频，同时还包含与该教学主题相关的教学设计、素材课件、教学反思、练习测试及学生反馈、教师点评等辅助性教学资源。</a:t>
          </a:r>
          <a:endParaRPr lang="zh-CN" sz="1800" kern="1200"/>
        </a:p>
      </dsp:txBody>
      <dsp:txXfrm rot="5400000">
        <a:off x="3340155" y="582116"/>
        <a:ext cx="3104119" cy="1746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D6F63-F6C6-47A0-85DA-C78BA6D417E9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59162-521A-449E-B843-4CBAAE44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95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980-9EC0-4734-A1C4-D1BF0D4BD0F6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85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623F-76BB-46B0-8E84-C7CDA8628B8C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98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CF0C-1536-4881-9105-322194696DF3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52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8651-A25F-4B66-A6CF-9CB20751F60E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04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529D-FDBC-4BB0-8807-07CB70B05C4E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34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EC7B-F461-49BD-A802-0019E2DD4C2C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3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ACD0-FDF6-47D9-A711-4340A4255F6A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64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7F118-59D7-4C9D-9743-AB6EE0E56C6D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61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A65-52EF-48CA-A561-78CFF799C91E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6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9AD7-CF0C-442B-9FC9-F451C482E534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86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936D-B495-42C4-A2AA-FBC335E4280E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013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2047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2229-CBB1-4A57-961E-E00A83C24085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321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FD4AF-413C-4C18-8F37-89554A46DDAD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2261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02C5-8BC5-4BE2-845E-45D70A788440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18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D522-3CCF-47DA-9AA2-3A31249D0DF2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896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9A5CC-3E22-4BCD-B4C4-6C4BB156F190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60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16610-37C2-45BA-A9F1-3908E5D702DB}" type="datetime1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微课（</a:t>
            </a:r>
            <a:r>
              <a:rPr lang="en-US" altLang="zh-CN" dirty="0"/>
              <a:t>Micro-lecture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CN" altLang="zh-CN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培训教程</a:t>
            </a:r>
            <a:endParaRPr lang="zh-CN" altLang="en-US" sz="4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274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000">
        <p14:switch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微课定义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317494"/>
              </p:ext>
            </p:extLst>
          </p:nvPr>
        </p:nvGraphicFramePr>
        <p:xfrm>
          <a:off x="508001" y="1620442"/>
          <a:ext cx="6447501" cy="2910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584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6000">
        <p:checker dir="vert"/>
      </p:transition>
    </mc:Choice>
    <mc:Fallback>
      <p:transition spd="slow" advTm="6000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CEE7048-DB05-4402-A11F-C0D5A2516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5">
                                            <p:graphicEl>
                                              <a:dgm id="{DCEE7048-DB05-4402-A11F-C0D5A2516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5">
                                            <p:graphicEl>
                                              <a:dgm id="{DCEE7048-DB05-4402-A11F-C0D5A2516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5">
                                            <p:graphicEl>
                                              <a:dgm id="{DCEE7048-DB05-4402-A11F-C0D5A2516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5">
                                            <p:graphicEl>
                                              <a:dgm id="{DCEE7048-DB05-4402-A11F-C0D5A2516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4BA0E7-9122-4A4C-A4FC-09065A167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5">
                                            <p:graphicEl>
                                              <a:dgm id="{DB4BA0E7-9122-4A4C-A4FC-09065A167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5">
                                            <p:graphicEl>
                                              <a:dgm id="{DB4BA0E7-9122-4A4C-A4FC-09065A167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5">
                                            <p:graphicEl>
                                              <a:dgm id="{DB4BA0E7-9122-4A4C-A4FC-09065A167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5">
                                            <p:graphicEl>
                                              <a:dgm id="{DB4BA0E7-9122-4A4C-A4FC-09065A1670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One Minute Professor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zh-CN" dirty="0"/>
              <a:t>"微课程"这个概念，它最早是由美国新墨西哥州圣胡安学院的高级教学设计师、学院在线服务经理戴维·彭罗斯（David Penrose）于2008年秋首创的。</a:t>
            </a:r>
          </a:p>
          <a:p>
            <a:r>
              <a:rPr lang="zh-CN" altLang="zh-CN" dirty="0"/>
              <a:t>后来，戴维·彭罗斯被人们戏称为"一分钟教授"(the One Minute Professor)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0" y="1080000"/>
            <a:ext cx="3612857" cy="36000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slope"/>
            <a:extrusionClr>
              <a:srgbClr val="000000"/>
            </a:extrusionClr>
          </a:sp3d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180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000">
        <p14:switch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40000" y="540000"/>
            <a:ext cx="5580000" cy="1260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700000" scaled="1"/>
            <a:tileRect/>
          </a:gradFill>
        </p:spPr>
        <p:txBody>
          <a:bodyPr wrap="none" lIns="91440" tIns="45720" rIns="91440" bIns="45720">
            <a:prstTxWarp prst="textWave4">
              <a:avLst/>
            </a:prstTxWarp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6600" b="1" dirty="0">
                <a:ln/>
                <a:solidFill>
                  <a:schemeClr val="accent3"/>
                </a:solidFill>
              </a:rPr>
              <a:t>微课</a:t>
            </a:r>
            <a:r>
              <a:rPr lang="zh-CN" altLang="en-US" sz="6600" b="1" dirty="0" smtClean="0">
                <a:ln/>
                <a:solidFill>
                  <a:schemeClr val="accent3"/>
                </a:solidFill>
              </a:rPr>
              <a:t>内容组成</a:t>
            </a:r>
            <a:endParaRPr lang="zh-CN" altLang="en-US" sz="66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260" y="2160000"/>
            <a:ext cx="3471480" cy="28800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92573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6000">
        <p:checker dir="vert"/>
      </p:transition>
    </mc:Choice>
    <mc:Fallback>
      <p:transition spd="slow" advTm="6000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140</Words>
  <Application>Microsoft Office PowerPoint</Application>
  <PresentationFormat>全屏显示(16:9)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方正姚体</vt:lpstr>
      <vt:lpstr>华文新魏</vt:lpstr>
      <vt:lpstr>微软雅黑</vt:lpstr>
      <vt:lpstr>Arial</vt:lpstr>
      <vt:lpstr>Trebuchet MS</vt:lpstr>
      <vt:lpstr>Wingdings 3</vt:lpstr>
      <vt:lpstr>平面</vt:lpstr>
      <vt:lpstr>微课（Micro-lecture）</vt:lpstr>
      <vt:lpstr>微课定义</vt:lpstr>
      <vt:lpstr>the One Minute Professor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主要思想</dc:title>
  <dc:creator>cheny</dc:creator>
  <cp:lastModifiedBy>Windows 用户11</cp:lastModifiedBy>
  <cp:revision>13</cp:revision>
  <dcterms:created xsi:type="dcterms:W3CDTF">2019-10-24T02:57:38Z</dcterms:created>
  <dcterms:modified xsi:type="dcterms:W3CDTF">2021-04-19T01:46:58Z</dcterms:modified>
</cp:coreProperties>
</file>