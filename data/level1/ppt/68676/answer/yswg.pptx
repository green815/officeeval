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6"/>
  </p:notesMasterIdLst>
  <p:sldIdLst>
    <p:sldId id="258" r:id="rId2"/>
    <p:sldId id="257" r:id="rId3"/>
    <p:sldId id="259" r:id="rId4"/>
    <p:sldId id="260" r:id="rId5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66" y="5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C12570-6A22-4735-AA79-0AC70BFB91FC}" type="doc">
      <dgm:prSet loTypeId="urn:microsoft.com/office/officeart/2005/8/layout/hierarchy1" loCatId="hierarchy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97958F5-44F8-4966-937E-A0B569B1D341}">
      <dgm:prSet phldrT="[文本]"/>
      <dgm:spPr/>
      <dgm:t>
        <a:bodyPr/>
        <a:lstStyle/>
        <a:p>
          <a:r>
            <a:rPr lang="zh-CN" altLang="en-US" dirty="0" smtClean="0"/>
            <a:t>三公经费包括哪些内容</a:t>
          </a:r>
          <a:endParaRPr lang="zh-CN" altLang="en-US" dirty="0"/>
        </a:p>
      </dgm:t>
    </dgm:pt>
    <dgm:pt modelId="{EFCD66C7-8E15-4B48-858A-16782E4BC453}" type="parTrans" cxnId="{E865072B-7242-43B0-98DA-FB4E5BAF19F4}">
      <dgm:prSet/>
      <dgm:spPr/>
      <dgm:t>
        <a:bodyPr/>
        <a:lstStyle/>
        <a:p>
          <a:endParaRPr lang="zh-CN" altLang="en-US"/>
        </a:p>
      </dgm:t>
    </dgm:pt>
    <dgm:pt modelId="{641A9FF7-01AB-4DE9-8AFD-AADF4FE1B06A}" type="sibTrans" cxnId="{E865072B-7242-43B0-98DA-FB4E5BAF19F4}">
      <dgm:prSet/>
      <dgm:spPr/>
      <dgm:t>
        <a:bodyPr/>
        <a:lstStyle/>
        <a:p>
          <a:endParaRPr lang="zh-CN" altLang="en-US"/>
        </a:p>
      </dgm:t>
    </dgm:pt>
    <dgm:pt modelId="{92738BB1-F943-49E1-80C3-17D119131EAF}">
      <dgm:prSet phldrT="[文本]"/>
      <dgm:spPr/>
      <dgm:t>
        <a:bodyPr/>
        <a:lstStyle/>
        <a:p>
          <a:r>
            <a:rPr lang="en-US" altLang="en-US" dirty="0" smtClean="0"/>
            <a:t>1</a:t>
          </a:r>
          <a:r>
            <a:rPr lang="zh-CN" altLang="en-US" dirty="0" smtClean="0"/>
            <a:t>、纳入中央财政预决算管理的“三公经费”</a:t>
          </a:r>
          <a:r>
            <a:rPr lang="en-US" altLang="en-US" dirty="0" smtClean="0"/>
            <a:t>,</a:t>
          </a:r>
          <a:r>
            <a:rPr lang="zh-CN" altLang="en-US" dirty="0" smtClean="0"/>
            <a:t>是指中央财政按照有关规定</a:t>
          </a:r>
          <a:r>
            <a:rPr lang="en-US" altLang="en-US" dirty="0" smtClean="0"/>
            <a:t>,</a:t>
          </a:r>
          <a:r>
            <a:rPr lang="zh-CN" altLang="en-US" dirty="0" smtClean="0"/>
            <a:t>通过财政拨款安排给相关中央部门及其所属单位</a:t>
          </a:r>
          <a:r>
            <a:rPr lang="en-US" altLang="en-US" dirty="0" smtClean="0"/>
            <a:t>,</a:t>
          </a:r>
          <a:r>
            <a:rPr lang="zh-CN" altLang="en-US" dirty="0" smtClean="0"/>
            <a:t>用于因公出国</a:t>
          </a:r>
          <a:r>
            <a:rPr lang="en-US" altLang="en-US" dirty="0" smtClean="0"/>
            <a:t>(</a:t>
          </a:r>
          <a:r>
            <a:rPr lang="zh-CN" altLang="en-US" dirty="0" smtClean="0"/>
            <a:t>境</a:t>
          </a:r>
          <a:r>
            <a:rPr lang="en-US" altLang="en-US" dirty="0" smtClean="0"/>
            <a:t>)</a:t>
          </a:r>
          <a:r>
            <a:rPr lang="zh-CN" altLang="en-US" dirty="0" smtClean="0"/>
            <a:t>、公务用车购置及运行和公务接待等方面的支出。</a:t>
          </a:r>
          <a:endParaRPr lang="zh-CN" altLang="en-US" dirty="0"/>
        </a:p>
      </dgm:t>
    </dgm:pt>
    <dgm:pt modelId="{27CE341B-9B97-4413-8ECF-C26A68C615A3}" type="parTrans" cxnId="{BC35A0D1-2ABB-44D6-8F51-5B59D73C487C}">
      <dgm:prSet/>
      <dgm:spPr/>
      <dgm:t>
        <a:bodyPr/>
        <a:lstStyle/>
        <a:p>
          <a:endParaRPr lang="zh-CN" altLang="en-US"/>
        </a:p>
      </dgm:t>
    </dgm:pt>
    <dgm:pt modelId="{80F75D60-6CD6-4B7F-B07C-92E404FFB0C5}" type="sibTrans" cxnId="{BC35A0D1-2ABB-44D6-8F51-5B59D73C487C}">
      <dgm:prSet/>
      <dgm:spPr/>
      <dgm:t>
        <a:bodyPr/>
        <a:lstStyle/>
        <a:p>
          <a:endParaRPr lang="zh-CN" altLang="en-US"/>
        </a:p>
      </dgm:t>
    </dgm:pt>
    <dgm:pt modelId="{B229A613-5B88-44FB-9FF5-D4E3382B73EB}">
      <dgm:prSet phldrT="[文本]"/>
      <dgm:spPr/>
      <dgm:t>
        <a:bodyPr/>
        <a:lstStyle/>
        <a:p>
          <a:r>
            <a:rPr lang="en-US" altLang="en-US" dirty="0" smtClean="0"/>
            <a:t>2</a:t>
          </a:r>
          <a:r>
            <a:rPr lang="zh-CN" altLang="en-US" dirty="0" smtClean="0"/>
            <a:t>、其中</a:t>
          </a:r>
          <a:r>
            <a:rPr lang="en-US" altLang="en-US" dirty="0" smtClean="0"/>
            <a:t>,</a:t>
          </a:r>
          <a:r>
            <a:rPr lang="zh-CN" altLang="en-US" dirty="0" smtClean="0"/>
            <a:t>因公出国</a:t>
          </a:r>
          <a:r>
            <a:rPr lang="en-US" altLang="en-US" dirty="0" smtClean="0"/>
            <a:t>(</a:t>
          </a:r>
          <a:r>
            <a:rPr lang="zh-CN" altLang="en-US" dirty="0" smtClean="0"/>
            <a:t>境</a:t>
          </a:r>
          <a:r>
            <a:rPr lang="en-US" altLang="en-US" dirty="0" smtClean="0"/>
            <a:t>)</a:t>
          </a:r>
          <a:r>
            <a:rPr lang="zh-CN" altLang="en-US" dirty="0" smtClean="0"/>
            <a:t>费反映单位工作人员公务出国</a:t>
          </a:r>
          <a:r>
            <a:rPr lang="en-US" altLang="en-US" dirty="0" smtClean="0"/>
            <a:t>(</a:t>
          </a:r>
          <a:r>
            <a:rPr lang="zh-CN" altLang="en-US" dirty="0" smtClean="0"/>
            <a:t>境</a:t>
          </a:r>
          <a:r>
            <a:rPr lang="en-US" altLang="en-US" dirty="0" smtClean="0"/>
            <a:t>)</a:t>
          </a:r>
          <a:r>
            <a:rPr lang="zh-CN" altLang="en-US" dirty="0" smtClean="0"/>
            <a:t>的住宿费、旅费、伙食补助费、杂费、培训费等支出。</a:t>
          </a:r>
          <a:endParaRPr lang="zh-CN" altLang="en-US" dirty="0"/>
        </a:p>
      </dgm:t>
    </dgm:pt>
    <dgm:pt modelId="{11CDD228-C853-4A8A-B445-976095C6D56D}" type="parTrans" cxnId="{3C2C72A9-AD82-4C6C-8333-1A448B019C66}">
      <dgm:prSet/>
      <dgm:spPr/>
    </dgm:pt>
    <dgm:pt modelId="{5DABBBB0-5A09-45FD-B6D0-72A92B1BBDB8}" type="sibTrans" cxnId="{3C2C72A9-AD82-4C6C-8333-1A448B019C66}">
      <dgm:prSet/>
      <dgm:spPr/>
    </dgm:pt>
    <dgm:pt modelId="{AF36C550-8B73-4E7E-9D86-0455FB3DF934}">
      <dgm:prSet phldrT="[文本]"/>
      <dgm:spPr/>
      <dgm:t>
        <a:bodyPr/>
        <a:lstStyle/>
        <a:p>
          <a:r>
            <a:rPr lang="en-US" altLang="en-US" smtClean="0"/>
            <a:t>3</a:t>
          </a:r>
          <a:r>
            <a:rPr lang="zh-CN" altLang="en-US" smtClean="0"/>
            <a:t>、公务用车购置及运行费反映单位公务用车购置费及租用费、燃料费、维修费、路桥费、保险费、安全奖励费用等支出</a:t>
          </a:r>
          <a:r>
            <a:rPr lang="en-US" altLang="en-US" smtClean="0"/>
            <a:t>;</a:t>
          </a:r>
          <a:r>
            <a:rPr lang="zh-CN" altLang="en-US" smtClean="0"/>
            <a:t>公务接待费反映单位按规定开支的各类公务接待</a:t>
          </a:r>
          <a:r>
            <a:rPr lang="en-US" altLang="en-US" smtClean="0"/>
            <a:t>(</a:t>
          </a:r>
          <a:r>
            <a:rPr lang="zh-CN" altLang="en-US" smtClean="0"/>
            <a:t>含外宾接待</a:t>
          </a:r>
          <a:r>
            <a:rPr lang="en-US" altLang="en-US" smtClean="0"/>
            <a:t>)</a:t>
          </a:r>
          <a:r>
            <a:rPr lang="zh-CN" altLang="en-US" smtClean="0"/>
            <a:t>支出。</a:t>
          </a:r>
          <a:endParaRPr lang="zh-CN" altLang="en-US" dirty="0"/>
        </a:p>
      </dgm:t>
    </dgm:pt>
    <dgm:pt modelId="{89EC462E-49C1-4C3A-BA31-3F20A323BFF7}" type="parTrans" cxnId="{7EF4A89D-57D8-47B5-B4C1-612C91CBFE58}">
      <dgm:prSet/>
      <dgm:spPr/>
    </dgm:pt>
    <dgm:pt modelId="{4F4EE6E6-94FA-448C-9F38-EC0E67A730BB}" type="sibTrans" cxnId="{7EF4A89D-57D8-47B5-B4C1-612C91CBFE58}">
      <dgm:prSet/>
      <dgm:spPr/>
    </dgm:pt>
    <dgm:pt modelId="{835B3655-B007-421D-BA81-49E9CEEC22C7}" type="pres">
      <dgm:prSet presAssocID="{0DC12570-6A22-4735-AA79-0AC70BFB91F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4CE0910-E8D1-4998-B17B-548102CEB73B}" type="pres">
      <dgm:prSet presAssocID="{197958F5-44F8-4966-937E-A0B569B1D341}" presName="hierRoot1" presStyleCnt="0"/>
      <dgm:spPr/>
    </dgm:pt>
    <dgm:pt modelId="{F0107DAF-5872-4616-966A-FCD90C256157}" type="pres">
      <dgm:prSet presAssocID="{197958F5-44F8-4966-937E-A0B569B1D341}" presName="composite" presStyleCnt="0"/>
      <dgm:spPr/>
    </dgm:pt>
    <dgm:pt modelId="{2810F3A0-61E6-4119-8584-CB308DFBDE1F}" type="pres">
      <dgm:prSet presAssocID="{197958F5-44F8-4966-937E-A0B569B1D341}" presName="background" presStyleLbl="node0" presStyleIdx="0" presStyleCnt="1"/>
      <dgm:spPr/>
    </dgm:pt>
    <dgm:pt modelId="{663AB4DB-A605-4763-8ED6-3416D129A90B}" type="pres">
      <dgm:prSet presAssocID="{197958F5-44F8-4966-937E-A0B569B1D341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CA843DC4-D43A-4749-96B4-56E854B45B44}" type="pres">
      <dgm:prSet presAssocID="{197958F5-44F8-4966-937E-A0B569B1D341}" presName="hierChild2" presStyleCnt="0"/>
      <dgm:spPr/>
    </dgm:pt>
    <dgm:pt modelId="{645CF0A4-4FAF-47D4-B895-2B8B23451ECD}" type="pres">
      <dgm:prSet presAssocID="{27CE341B-9B97-4413-8ECF-C26A68C615A3}" presName="Name10" presStyleLbl="parChTrans1D2" presStyleIdx="0" presStyleCnt="3"/>
      <dgm:spPr/>
    </dgm:pt>
    <dgm:pt modelId="{35AA3C6B-46F6-4F65-AE97-20BE9FC8E047}" type="pres">
      <dgm:prSet presAssocID="{92738BB1-F943-49E1-80C3-17D119131EAF}" presName="hierRoot2" presStyleCnt="0"/>
      <dgm:spPr/>
    </dgm:pt>
    <dgm:pt modelId="{EDA5463C-BA65-4C65-95FA-B9911103D7F8}" type="pres">
      <dgm:prSet presAssocID="{92738BB1-F943-49E1-80C3-17D119131EAF}" presName="composite2" presStyleCnt="0"/>
      <dgm:spPr/>
    </dgm:pt>
    <dgm:pt modelId="{A9D4F54A-96ED-40E0-88BE-564B016B3485}" type="pres">
      <dgm:prSet presAssocID="{92738BB1-F943-49E1-80C3-17D119131EAF}" presName="background2" presStyleLbl="node2" presStyleIdx="0" presStyleCnt="3"/>
      <dgm:spPr/>
    </dgm:pt>
    <dgm:pt modelId="{09A20FE8-B663-4E70-902D-BDB62E839DAD}" type="pres">
      <dgm:prSet presAssocID="{92738BB1-F943-49E1-80C3-17D119131EAF}" presName="text2" presStyleLbl="fgAcc2" presStyleIdx="0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5B1D556-A1E3-4617-BB40-C3A7A43817F1}" type="pres">
      <dgm:prSet presAssocID="{92738BB1-F943-49E1-80C3-17D119131EAF}" presName="hierChild3" presStyleCnt="0"/>
      <dgm:spPr/>
    </dgm:pt>
    <dgm:pt modelId="{2085B70B-E861-4ADE-8723-401A096F98B6}" type="pres">
      <dgm:prSet presAssocID="{11CDD228-C853-4A8A-B445-976095C6D56D}" presName="Name10" presStyleLbl="parChTrans1D2" presStyleIdx="1" presStyleCnt="3"/>
      <dgm:spPr/>
    </dgm:pt>
    <dgm:pt modelId="{3BCADBB1-BD7C-4C01-B389-8105DDB6BB3E}" type="pres">
      <dgm:prSet presAssocID="{B229A613-5B88-44FB-9FF5-D4E3382B73EB}" presName="hierRoot2" presStyleCnt="0"/>
      <dgm:spPr/>
    </dgm:pt>
    <dgm:pt modelId="{6E8FF358-D9BB-4EA8-ADAD-074ABBC3F0F2}" type="pres">
      <dgm:prSet presAssocID="{B229A613-5B88-44FB-9FF5-D4E3382B73EB}" presName="composite2" presStyleCnt="0"/>
      <dgm:spPr/>
    </dgm:pt>
    <dgm:pt modelId="{AEC8914F-5645-47BF-99B8-B0A3D129567E}" type="pres">
      <dgm:prSet presAssocID="{B229A613-5B88-44FB-9FF5-D4E3382B73EB}" presName="background2" presStyleLbl="node2" presStyleIdx="1" presStyleCnt="3"/>
      <dgm:spPr/>
    </dgm:pt>
    <dgm:pt modelId="{A624E01A-2057-4A24-96E0-6D3C3114E91B}" type="pres">
      <dgm:prSet presAssocID="{B229A613-5B88-44FB-9FF5-D4E3382B73EB}" presName="text2" presStyleLbl="fgAcc2" presStyleIdx="1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479830B-2A31-4F44-9EB6-BBB6CC2216BE}" type="pres">
      <dgm:prSet presAssocID="{B229A613-5B88-44FB-9FF5-D4E3382B73EB}" presName="hierChild3" presStyleCnt="0"/>
      <dgm:spPr/>
    </dgm:pt>
    <dgm:pt modelId="{B66E110B-EA00-471B-8E03-03A301D003E7}" type="pres">
      <dgm:prSet presAssocID="{89EC462E-49C1-4C3A-BA31-3F20A323BFF7}" presName="Name10" presStyleLbl="parChTrans1D2" presStyleIdx="2" presStyleCnt="3"/>
      <dgm:spPr/>
    </dgm:pt>
    <dgm:pt modelId="{0D808FA0-CF5F-4CED-BC95-F3932CB9DCBD}" type="pres">
      <dgm:prSet presAssocID="{AF36C550-8B73-4E7E-9D86-0455FB3DF934}" presName="hierRoot2" presStyleCnt="0"/>
      <dgm:spPr/>
    </dgm:pt>
    <dgm:pt modelId="{8F4E5A76-D235-403B-8146-0C5A22410C4E}" type="pres">
      <dgm:prSet presAssocID="{AF36C550-8B73-4E7E-9D86-0455FB3DF934}" presName="composite2" presStyleCnt="0"/>
      <dgm:spPr/>
    </dgm:pt>
    <dgm:pt modelId="{63F302F6-2500-4142-9CD5-44E70DB8F84E}" type="pres">
      <dgm:prSet presAssocID="{AF36C550-8B73-4E7E-9D86-0455FB3DF934}" presName="background2" presStyleLbl="node2" presStyleIdx="2" presStyleCnt="3"/>
      <dgm:spPr/>
    </dgm:pt>
    <dgm:pt modelId="{0FECBD2E-C198-4D47-A2E6-A8831B26B4E9}" type="pres">
      <dgm:prSet presAssocID="{AF36C550-8B73-4E7E-9D86-0455FB3DF934}" presName="text2" presStyleLbl="fgAcc2" presStyleIdx="2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E363000-4AE0-41B7-A2EA-A2BA1047B75C}" type="pres">
      <dgm:prSet presAssocID="{AF36C550-8B73-4E7E-9D86-0455FB3DF934}" presName="hierChild3" presStyleCnt="0"/>
      <dgm:spPr/>
    </dgm:pt>
  </dgm:ptLst>
  <dgm:cxnLst>
    <dgm:cxn modelId="{C49CA94B-70A1-492A-925A-C998D58AB73D}" type="presOf" srcId="{27CE341B-9B97-4413-8ECF-C26A68C615A3}" destId="{645CF0A4-4FAF-47D4-B895-2B8B23451ECD}" srcOrd="0" destOrd="0" presId="urn:microsoft.com/office/officeart/2005/8/layout/hierarchy1"/>
    <dgm:cxn modelId="{A5B34CBB-257D-4D89-BBC7-FCF14CE28E0D}" type="presOf" srcId="{11CDD228-C853-4A8A-B445-976095C6D56D}" destId="{2085B70B-E861-4ADE-8723-401A096F98B6}" srcOrd="0" destOrd="0" presId="urn:microsoft.com/office/officeart/2005/8/layout/hierarchy1"/>
    <dgm:cxn modelId="{1426463F-D0DC-4591-932E-3C76AEFA4F03}" type="presOf" srcId="{B229A613-5B88-44FB-9FF5-D4E3382B73EB}" destId="{A624E01A-2057-4A24-96E0-6D3C3114E91B}" srcOrd="0" destOrd="0" presId="urn:microsoft.com/office/officeart/2005/8/layout/hierarchy1"/>
    <dgm:cxn modelId="{7EF4A89D-57D8-47B5-B4C1-612C91CBFE58}" srcId="{197958F5-44F8-4966-937E-A0B569B1D341}" destId="{AF36C550-8B73-4E7E-9D86-0455FB3DF934}" srcOrd="2" destOrd="0" parTransId="{89EC462E-49C1-4C3A-BA31-3F20A323BFF7}" sibTransId="{4F4EE6E6-94FA-448C-9F38-EC0E67A730BB}"/>
    <dgm:cxn modelId="{D0C7CDC3-E863-4776-9586-E04AF1939C8D}" type="presOf" srcId="{197958F5-44F8-4966-937E-A0B569B1D341}" destId="{663AB4DB-A605-4763-8ED6-3416D129A90B}" srcOrd="0" destOrd="0" presId="urn:microsoft.com/office/officeart/2005/8/layout/hierarchy1"/>
    <dgm:cxn modelId="{D0B70BD4-EB24-4816-998C-682BCAB1F7DF}" type="presOf" srcId="{92738BB1-F943-49E1-80C3-17D119131EAF}" destId="{09A20FE8-B663-4E70-902D-BDB62E839DAD}" srcOrd="0" destOrd="0" presId="urn:microsoft.com/office/officeart/2005/8/layout/hierarchy1"/>
    <dgm:cxn modelId="{E865072B-7242-43B0-98DA-FB4E5BAF19F4}" srcId="{0DC12570-6A22-4735-AA79-0AC70BFB91FC}" destId="{197958F5-44F8-4966-937E-A0B569B1D341}" srcOrd="0" destOrd="0" parTransId="{EFCD66C7-8E15-4B48-858A-16782E4BC453}" sibTransId="{641A9FF7-01AB-4DE9-8AFD-AADF4FE1B06A}"/>
    <dgm:cxn modelId="{3C2C72A9-AD82-4C6C-8333-1A448B019C66}" srcId="{197958F5-44F8-4966-937E-A0B569B1D341}" destId="{B229A613-5B88-44FB-9FF5-D4E3382B73EB}" srcOrd="1" destOrd="0" parTransId="{11CDD228-C853-4A8A-B445-976095C6D56D}" sibTransId="{5DABBBB0-5A09-45FD-B6D0-72A92B1BBDB8}"/>
    <dgm:cxn modelId="{D465CF2E-BE65-46B3-891B-8A69A662EA78}" type="presOf" srcId="{AF36C550-8B73-4E7E-9D86-0455FB3DF934}" destId="{0FECBD2E-C198-4D47-A2E6-A8831B26B4E9}" srcOrd="0" destOrd="0" presId="urn:microsoft.com/office/officeart/2005/8/layout/hierarchy1"/>
    <dgm:cxn modelId="{B5F92309-C5D1-42C6-A1F3-A6AA3F59AD06}" type="presOf" srcId="{0DC12570-6A22-4735-AA79-0AC70BFB91FC}" destId="{835B3655-B007-421D-BA81-49E9CEEC22C7}" srcOrd="0" destOrd="0" presId="urn:microsoft.com/office/officeart/2005/8/layout/hierarchy1"/>
    <dgm:cxn modelId="{C399EF06-0FEC-425D-8754-9971104E64A8}" type="presOf" srcId="{89EC462E-49C1-4C3A-BA31-3F20A323BFF7}" destId="{B66E110B-EA00-471B-8E03-03A301D003E7}" srcOrd="0" destOrd="0" presId="urn:microsoft.com/office/officeart/2005/8/layout/hierarchy1"/>
    <dgm:cxn modelId="{BC35A0D1-2ABB-44D6-8F51-5B59D73C487C}" srcId="{197958F5-44F8-4966-937E-A0B569B1D341}" destId="{92738BB1-F943-49E1-80C3-17D119131EAF}" srcOrd="0" destOrd="0" parTransId="{27CE341B-9B97-4413-8ECF-C26A68C615A3}" sibTransId="{80F75D60-6CD6-4B7F-B07C-92E404FFB0C5}"/>
    <dgm:cxn modelId="{6A8379CD-9F6F-4E88-BD39-5A140BA5D197}" type="presParOf" srcId="{835B3655-B007-421D-BA81-49E9CEEC22C7}" destId="{D4CE0910-E8D1-4998-B17B-548102CEB73B}" srcOrd="0" destOrd="0" presId="urn:microsoft.com/office/officeart/2005/8/layout/hierarchy1"/>
    <dgm:cxn modelId="{D8330927-45EB-4AA2-9F69-6A801A0661E3}" type="presParOf" srcId="{D4CE0910-E8D1-4998-B17B-548102CEB73B}" destId="{F0107DAF-5872-4616-966A-FCD90C256157}" srcOrd="0" destOrd="0" presId="urn:microsoft.com/office/officeart/2005/8/layout/hierarchy1"/>
    <dgm:cxn modelId="{277FC18B-9612-4373-9D2F-F059C1F615C1}" type="presParOf" srcId="{F0107DAF-5872-4616-966A-FCD90C256157}" destId="{2810F3A0-61E6-4119-8584-CB308DFBDE1F}" srcOrd="0" destOrd="0" presId="urn:microsoft.com/office/officeart/2005/8/layout/hierarchy1"/>
    <dgm:cxn modelId="{1059D79A-C4C5-4183-BBC6-01DA838D9549}" type="presParOf" srcId="{F0107DAF-5872-4616-966A-FCD90C256157}" destId="{663AB4DB-A605-4763-8ED6-3416D129A90B}" srcOrd="1" destOrd="0" presId="urn:microsoft.com/office/officeart/2005/8/layout/hierarchy1"/>
    <dgm:cxn modelId="{0CC3CA5D-F6B5-4629-9CB7-EF1837966AF1}" type="presParOf" srcId="{D4CE0910-E8D1-4998-B17B-548102CEB73B}" destId="{CA843DC4-D43A-4749-96B4-56E854B45B44}" srcOrd="1" destOrd="0" presId="urn:microsoft.com/office/officeart/2005/8/layout/hierarchy1"/>
    <dgm:cxn modelId="{E49E08F8-8439-427F-866E-C1B5A4A4CC5A}" type="presParOf" srcId="{CA843DC4-D43A-4749-96B4-56E854B45B44}" destId="{645CF0A4-4FAF-47D4-B895-2B8B23451ECD}" srcOrd="0" destOrd="0" presId="urn:microsoft.com/office/officeart/2005/8/layout/hierarchy1"/>
    <dgm:cxn modelId="{8D3122A5-CFC3-4839-BF81-AEFE6B26499F}" type="presParOf" srcId="{CA843DC4-D43A-4749-96B4-56E854B45B44}" destId="{35AA3C6B-46F6-4F65-AE97-20BE9FC8E047}" srcOrd="1" destOrd="0" presId="urn:microsoft.com/office/officeart/2005/8/layout/hierarchy1"/>
    <dgm:cxn modelId="{4B6982EF-FFA6-48F7-B5CB-405A9B51F158}" type="presParOf" srcId="{35AA3C6B-46F6-4F65-AE97-20BE9FC8E047}" destId="{EDA5463C-BA65-4C65-95FA-B9911103D7F8}" srcOrd="0" destOrd="0" presId="urn:microsoft.com/office/officeart/2005/8/layout/hierarchy1"/>
    <dgm:cxn modelId="{C2C09881-2C51-46EB-93C7-95AC1D1C2040}" type="presParOf" srcId="{EDA5463C-BA65-4C65-95FA-B9911103D7F8}" destId="{A9D4F54A-96ED-40E0-88BE-564B016B3485}" srcOrd="0" destOrd="0" presId="urn:microsoft.com/office/officeart/2005/8/layout/hierarchy1"/>
    <dgm:cxn modelId="{F51F55AE-0B04-42B0-A3E7-5745CBD61E8E}" type="presParOf" srcId="{EDA5463C-BA65-4C65-95FA-B9911103D7F8}" destId="{09A20FE8-B663-4E70-902D-BDB62E839DAD}" srcOrd="1" destOrd="0" presId="urn:microsoft.com/office/officeart/2005/8/layout/hierarchy1"/>
    <dgm:cxn modelId="{4B5626AA-018E-4BED-8FAE-68045E02BF84}" type="presParOf" srcId="{35AA3C6B-46F6-4F65-AE97-20BE9FC8E047}" destId="{55B1D556-A1E3-4617-BB40-C3A7A43817F1}" srcOrd="1" destOrd="0" presId="urn:microsoft.com/office/officeart/2005/8/layout/hierarchy1"/>
    <dgm:cxn modelId="{4B1E0E34-9749-4CBE-B3E8-B8CBDBE33ACB}" type="presParOf" srcId="{CA843DC4-D43A-4749-96B4-56E854B45B44}" destId="{2085B70B-E861-4ADE-8723-401A096F98B6}" srcOrd="2" destOrd="0" presId="urn:microsoft.com/office/officeart/2005/8/layout/hierarchy1"/>
    <dgm:cxn modelId="{D5BE3871-443A-44EC-920C-D529635D1DA9}" type="presParOf" srcId="{CA843DC4-D43A-4749-96B4-56E854B45B44}" destId="{3BCADBB1-BD7C-4C01-B389-8105DDB6BB3E}" srcOrd="3" destOrd="0" presId="urn:microsoft.com/office/officeart/2005/8/layout/hierarchy1"/>
    <dgm:cxn modelId="{96B3AFF1-3D18-4237-9691-C6558A9CEE1E}" type="presParOf" srcId="{3BCADBB1-BD7C-4C01-B389-8105DDB6BB3E}" destId="{6E8FF358-D9BB-4EA8-ADAD-074ABBC3F0F2}" srcOrd="0" destOrd="0" presId="urn:microsoft.com/office/officeart/2005/8/layout/hierarchy1"/>
    <dgm:cxn modelId="{A15BA7E0-C6EF-4EC1-B039-F8D772D71D27}" type="presParOf" srcId="{6E8FF358-D9BB-4EA8-ADAD-074ABBC3F0F2}" destId="{AEC8914F-5645-47BF-99B8-B0A3D129567E}" srcOrd="0" destOrd="0" presId="urn:microsoft.com/office/officeart/2005/8/layout/hierarchy1"/>
    <dgm:cxn modelId="{9BAB78CD-8609-4415-8ACD-9402B5F5D408}" type="presParOf" srcId="{6E8FF358-D9BB-4EA8-ADAD-074ABBC3F0F2}" destId="{A624E01A-2057-4A24-96E0-6D3C3114E91B}" srcOrd="1" destOrd="0" presId="urn:microsoft.com/office/officeart/2005/8/layout/hierarchy1"/>
    <dgm:cxn modelId="{FA41FB06-B609-4EE5-AD98-61F4710EF0F8}" type="presParOf" srcId="{3BCADBB1-BD7C-4C01-B389-8105DDB6BB3E}" destId="{9479830B-2A31-4F44-9EB6-BBB6CC2216BE}" srcOrd="1" destOrd="0" presId="urn:microsoft.com/office/officeart/2005/8/layout/hierarchy1"/>
    <dgm:cxn modelId="{F73D43FB-8FB1-44A1-B30B-E27CBE3101B7}" type="presParOf" srcId="{CA843DC4-D43A-4749-96B4-56E854B45B44}" destId="{B66E110B-EA00-471B-8E03-03A301D003E7}" srcOrd="4" destOrd="0" presId="urn:microsoft.com/office/officeart/2005/8/layout/hierarchy1"/>
    <dgm:cxn modelId="{C4D0C633-E990-43DD-AA9D-8E1ED383AF80}" type="presParOf" srcId="{CA843DC4-D43A-4749-96B4-56E854B45B44}" destId="{0D808FA0-CF5F-4CED-BC95-F3932CB9DCBD}" srcOrd="5" destOrd="0" presId="urn:microsoft.com/office/officeart/2005/8/layout/hierarchy1"/>
    <dgm:cxn modelId="{41E109E1-964C-4A51-B635-446D576E2A9A}" type="presParOf" srcId="{0D808FA0-CF5F-4CED-BC95-F3932CB9DCBD}" destId="{8F4E5A76-D235-403B-8146-0C5A22410C4E}" srcOrd="0" destOrd="0" presId="urn:microsoft.com/office/officeart/2005/8/layout/hierarchy1"/>
    <dgm:cxn modelId="{003EE08B-A4FF-4685-AD2A-37D27DFDC504}" type="presParOf" srcId="{8F4E5A76-D235-403B-8146-0C5A22410C4E}" destId="{63F302F6-2500-4142-9CD5-44E70DB8F84E}" srcOrd="0" destOrd="0" presId="urn:microsoft.com/office/officeart/2005/8/layout/hierarchy1"/>
    <dgm:cxn modelId="{E25B6929-7328-4438-9306-9EC754B1147A}" type="presParOf" srcId="{8F4E5A76-D235-403B-8146-0C5A22410C4E}" destId="{0FECBD2E-C198-4D47-A2E6-A8831B26B4E9}" srcOrd="1" destOrd="0" presId="urn:microsoft.com/office/officeart/2005/8/layout/hierarchy1"/>
    <dgm:cxn modelId="{64777116-31DA-41A0-B5C5-663949B6125B}" type="presParOf" srcId="{0D808FA0-CF5F-4CED-BC95-F3932CB9DCBD}" destId="{9E363000-4AE0-41B7-A2EA-A2BA1047B75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6E110B-EA00-471B-8E03-03A301D003E7}">
      <dsp:nvSpPr>
        <dsp:cNvPr id="0" name=""/>
        <dsp:cNvSpPr/>
      </dsp:nvSpPr>
      <dsp:spPr>
        <a:xfrm>
          <a:off x="2952750" y="1692195"/>
          <a:ext cx="2095499" cy="4986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9804"/>
              </a:lnTo>
              <a:lnTo>
                <a:pt x="2095499" y="339804"/>
              </a:lnTo>
              <a:lnTo>
                <a:pt x="2095499" y="498633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85B70B-E861-4ADE-8723-401A096F98B6}">
      <dsp:nvSpPr>
        <dsp:cNvPr id="0" name=""/>
        <dsp:cNvSpPr/>
      </dsp:nvSpPr>
      <dsp:spPr>
        <a:xfrm>
          <a:off x="2907030" y="1692195"/>
          <a:ext cx="91440" cy="49863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98633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5CF0A4-4FAF-47D4-B895-2B8B23451ECD}">
      <dsp:nvSpPr>
        <dsp:cNvPr id="0" name=""/>
        <dsp:cNvSpPr/>
      </dsp:nvSpPr>
      <dsp:spPr>
        <a:xfrm>
          <a:off x="857250" y="1692195"/>
          <a:ext cx="2095499" cy="498633"/>
        </a:xfrm>
        <a:custGeom>
          <a:avLst/>
          <a:gdLst/>
          <a:ahLst/>
          <a:cxnLst/>
          <a:rect l="0" t="0" r="0" b="0"/>
          <a:pathLst>
            <a:path>
              <a:moveTo>
                <a:pt x="2095499" y="0"/>
              </a:moveTo>
              <a:lnTo>
                <a:pt x="2095499" y="339804"/>
              </a:lnTo>
              <a:lnTo>
                <a:pt x="0" y="339804"/>
              </a:lnTo>
              <a:lnTo>
                <a:pt x="0" y="498633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10F3A0-61E6-4119-8584-CB308DFBDE1F}">
      <dsp:nvSpPr>
        <dsp:cNvPr id="0" name=""/>
        <dsp:cNvSpPr/>
      </dsp:nvSpPr>
      <dsp:spPr>
        <a:xfrm>
          <a:off x="2095500" y="603488"/>
          <a:ext cx="1714499" cy="10887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63AB4DB-A605-4763-8ED6-3416D129A90B}">
      <dsp:nvSpPr>
        <dsp:cNvPr id="0" name=""/>
        <dsp:cNvSpPr/>
      </dsp:nvSpPr>
      <dsp:spPr>
        <a:xfrm>
          <a:off x="2286000" y="784463"/>
          <a:ext cx="1714499" cy="10887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900" kern="1200" dirty="0" smtClean="0"/>
            <a:t>三公经费包括哪些内容</a:t>
          </a:r>
          <a:endParaRPr lang="zh-CN" altLang="en-US" sz="900" kern="1200" dirty="0"/>
        </a:p>
      </dsp:txBody>
      <dsp:txXfrm>
        <a:off x="2317887" y="816350"/>
        <a:ext cx="1650725" cy="1024933"/>
      </dsp:txXfrm>
    </dsp:sp>
    <dsp:sp modelId="{A9D4F54A-96ED-40E0-88BE-564B016B3485}">
      <dsp:nvSpPr>
        <dsp:cNvPr id="0" name=""/>
        <dsp:cNvSpPr/>
      </dsp:nvSpPr>
      <dsp:spPr>
        <a:xfrm>
          <a:off x="0" y="2190829"/>
          <a:ext cx="1714499" cy="10887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9A20FE8-B663-4E70-902D-BDB62E839DAD}">
      <dsp:nvSpPr>
        <dsp:cNvPr id="0" name=""/>
        <dsp:cNvSpPr/>
      </dsp:nvSpPr>
      <dsp:spPr>
        <a:xfrm>
          <a:off x="190500" y="2371804"/>
          <a:ext cx="1714499" cy="10887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900" kern="1200" dirty="0" smtClean="0"/>
            <a:t>1</a:t>
          </a:r>
          <a:r>
            <a:rPr lang="zh-CN" altLang="en-US" sz="900" kern="1200" dirty="0" smtClean="0"/>
            <a:t>、纳入中央财政预决算管理的“三公经费”</a:t>
          </a:r>
          <a:r>
            <a:rPr lang="en-US" altLang="en-US" sz="900" kern="1200" dirty="0" smtClean="0"/>
            <a:t>,</a:t>
          </a:r>
          <a:r>
            <a:rPr lang="zh-CN" altLang="en-US" sz="900" kern="1200" dirty="0" smtClean="0"/>
            <a:t>是指中央财政按照有关规定</a:t>
          </a:r>
          <a:r>
            <a:rPr lang="en-US" altLang="en-US" sz="900" kern="1200" dirty="0" smtClean="0"/>
            <a:t>,</a:t>
          </a:r>
          <a:r>
            <a:rPr lang="zh-CN" altLang="en-US" sz="900" kern="1200" dirty="0" smtClean="0"/>
            <a:t>通过财政拨款安排给相关中央部门及其所属单位</a:t>
          </a:r>
          <a:r>
            <a:rPr lang="en-US" altLang="en-US" sz="900" kern="1200" dirty="0" smtClean="0"/>
            <a:t>,</a:t>
          </a:r>
          <a:r>
            <a:rPr lang="zh-CN" altLang="en-US" sz="900" kern="1200" dirty="0" smtClean="0"/>
            <a:t>用于因公出国</a:t>
          </a:r>
          <a:r>
            <a:rPr lang="en-US" altLang="en-US" sz="900" kern="1200" dirty="0" smtClean="0"/>
            <a:t>(</a:t>
          </a:r>
          <a:r>
            <a:rPr lang="zh-CN" altLang="en-US" sz="900" kern="1200" dirty="0" smtClean="0"/>
            <a:t>境</a:t>
          </a:r>
          <a:r>
            <a:rPr lang="en-US" altLang="en-US" sz="900" kern="1200" dirty="0" smtClean="0"/>
            <a:t>)</a:t>
          </a:r>
          <a:r>
            <a:rPr lang="zh-CN" altLang="en-US" sz="900" kern="1200" dirty="0" smtClean="0"/>
            <a:t>、公务用车购置及运行和公务接待等方面的支出。</a:t>
          </a:r>
          <a:endParaRPr lang="zh-CN" altLang="en-US" sz="900" kern="1200" dirty="0"/>
        </a:p>
      </dsp:txBody>
      <dsp:txXfrm>
        <a:off x="222387" y="2403691"/>
        <a:ext cx="1650725" cy="1024933"/>
      </dsp:txXfrm>
    </dsp:sp>
    <dsp:sp modelId="{AEC8914F-5645-47BF-99B8-B0A3D129567E}">
      <dsp:nvSpPr>
        <dsp:cNvPr id="0" name=""/>
        <dsp:cNvSpPr/>
      </dsp:nvSpPr>
      <dsp:spPr>
        <a:xfrm>
          <a:off x="2095500" y="2190829"/>
          <a:ext cx="1714499" cy="10887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624E01A-2057-4A24-96E0-6D3C3114E91B}">
      <dsp:nvSpPr>
        <dsp:cNvPr id="0" name=""/>
        <dsp:cNvSpPr/>
      </dsp:nvSpPr>
      <dsp:spPr>
        <a:xfrm>
          <a:off x="2286000" y="2371804"/>
          <a:ext cx="1714499" cy="10887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900" kern="1200" dirty="0" smtClean="0"/>
            <a:t>2</a:t>
          </a:r>
          <a:r>
            <a:rPr lang="zh-CN" altLang="en-US" sz="900" kern="1200" dirty="0" smtClean="0"/>
            <a:t>、其中</a:t>
          </a:r>
          <a:r>
            <a:rPr lang="en-US" altLang="en-US" sz="900" kern="1200" dirty="0" smtClean="0"/>
            <a:t>,</a:t>
          </a:r>
          <a:r>
            <a:rPr lang="zh-CN" altLang="en-US" sz="900" kern="1200" dirty="0" smtClean="0"/>
            <a:t>因公出国</a:t>
          </a:r>
          <a:r>
            <a:rPr lang="en-US" altLang="en-US" sz="900" kern="1200" dirty="0" smtClean="0"/>
            <a:t>(</a:t>
          </a:r>
          <a:r>
            <a:rPr lang="zh-CN" altLang="en-US" sz="900" kern="1200" dirty="0" smtClean="0"/>
            <a:t>境</a:t>
          </a:r>
          <a:r>
            <a:rPr lang="en-US" altLang="en-US" sz="900" kern="1200" dirty="0" smtClean="0"/>
            <a:t>)</a:t>
          </a:r>
          <a:r>
            <a:rPr lang="zh-CN" altLang="en-US" sz="900" kern="1200" dirty="0" smtClean="0"/>
            <a:t>费反映单位工作人员公务出国</a:t>
          </a:r>
          <a:r>
            <a:rPr lang="en-US" altLang="en-US" sz="900" kern="1200" dirty="0" smtClean="0"/>
            <a:t>(</a:t>
          </a:r>
          <a:r>
            <a:rPr lang="zh-CN" altLang="en-US" sz="900" kern="1200" dirty="0" smtClean="0"/>
            <a:t>境</a:t>
          </a:r>
          <a:r>
            <a:rPr lang="en-US" altLang="en-US" sz="900" kern="1200" dirty="0" smtClean="0"/>
            <a:t>)</a:t>
          </a:r>
          <a:r>
            <a:rPr lang="zh-CN" altLang="en-US" sz="900" kern="1200" dirty="0" smtClean="0"/>
            <a:t>的住宿费、旅费、伙食补助费、杂费、培训费等支出。</a:t>
          </a:r>
          <a:endParaRPr lang="zh-CN" altLang="en-US" sz="900" kern="1200" dirty="0"/>
        </a:p>
      </dsp:txBody>
      <dsp:txXfrm>
        <a:off x="2317887" y="2403691"/>
        <a:ext cx="1650725" cy="1024933"/>
      </dsp:txXfrm>
    </dsp:sp>
    <dsp:sp modelId="{63F302F6-2500-4142-9CD5-44E70DB8F84E}">
      <dsp:nvSpPr>
        <dsp:cNvPr id="0" name=""/>
        <dsp:cNvSpPr/>
      </dsp:nvSpPr>
      <dsp:spPr>
        <a:xfrm>
          <a:off x="4191000" y="2190829"/>
          <a:ext cx="1714499" cy="10887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FECBD2E-C198-4D47-A2E6-A8831B26B4E9}">
      <dsp:nvSpPr>
        <dsp:cNvPr id="0" name=""/>
        <dsp:cNvSpPr/>
      </dsp:nvSpPr>
      <dsp:spPr>
        <a:xfrm>
          <a:off x="4381499" y="2371804"/>
          <a:ext cx="1714499" cy="10887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900" kern="1200" smtClean="0"/>
            <a:t>3</a:t>
          </a:r>
          <a:r>
            <a:rPr lang="zh-CN" altLang="en-US" sz="900" kern="1200" smtClean="0"/>
            <a:t>、公务用车购置及运行费反映单位公务用车购置费及租用费、燃料费、维修费、路桥费、保险费、安全奖励费用等支出</a:t>
          </a:r>
          <a:r>
            <a:rPr lang="en-US" altLang="en-US" sz="900" kern="1200" smtClean="0"/>
            <a:t>;</a:t>
          </a:r>
          <a:r>
            <a:rPr lang="zh-CN" altLang="en-US" sz="900" kern="1200" smtClean="0"/>
            <a:t>公务接待费反映单位按规定开支的各类公务接待</a:t>
          </a:r>
          <a:r>
            <a:rPr lang="en-US" altLang="en-US" sz="900" kern="1200" smtClean="0"/>
            <a:t>(</a:t>
          </a:r>
          <a:r>
            <a:rPr lang="zh-CN" altLang="en-US" sz="900" kern="1200" smtClean="0"/>
            <a:t>含外宾接待</a:t>
          </a:r>
          <a:r>
            <a:rPr lang="en-US" altLang="en-US" sz="900" kern="1200" smtClean="0"/>
            <a:t>)</a:t>
          </a:r>
          <a:r>
            <a:rPr lang="zh-CN" altLang="en-US" sz="900" kern="1200" smtClean="0"/>
            <a:t>支出。</a:t>
          </a:r>
          <a:endParaRPr lang="zh-CN" altLang="en-US" sz="900" kern="1200" dirty="0"/>
        </a:p>
      </dsp:txBody>
      <dsp:txXfrm>
        <a:off x="4413386" y="2403691"/>
        <a:ext cx="1650725" cy="10249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BD077C-2E2A-44E8-BBAC-F9C4A470E7F0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961937-965E-4CDF-908E-EE036799E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893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财政拨款是指当年“三公”经费的预算数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61937-965E-4CDF-908E-EE036799E6E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52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pPr>
              <a:defRPr/>
            </a:pPr>
            <a:fld id="{202766D8-3184-417C-ACD4-F839DB1C0BB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1525966"/>
      </p:ext>
    </p:extLst>
  </p:cSld>
  <p:clrMapOvr>
    <a:masterClrMapping/>
  </p:clrMapOvr>
  <p:transition spd="slow">
    <p:push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941CA5-A4B8-4B6D-B96C-442A7CD84C6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9207012"/>
      </p:ext>
    </p:extLst>
  </p:cSld>
  <p:clrMapOvr>
    <a:masterClrMapping/>
  </p:clrMapOvr>
  <p:transition spd="slow">
    <p:push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3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15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B052CD-EFEB-409F-8F8D-74FFDD5AD41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873692"/>
      </p:ext>
    </p:extLst>
  </p:cSld>
  <p:clrMapOvr>
    <a:masterClrMapping/>
  </p:clrMapOvr>
  <p:transition spd="slow">
    <p:push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C76B98-A76C-4629-B940-3A1118D71FE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056365"/>
      </p:ext>
    </p:extLst>
  </p:cSld>
  <p:clrMapOvr>
    <a:masterClrMapping/>
  </p:clrMapOvr>
  <p:transition spd="slow">
    <p:push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A38AC5-5059-49D7-9AD4-DB939F412D4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2877145"/>
      </p:ext>
    </p:extLst>
  </p:cSld>
  <p:clrMapOvr>
    <a:masterClrMapping/>
  </p:clrMapOvr>
  <p:transition spd="slow">
    <p:push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6D663-BABB-4AF7-B679-49DFB49A8EB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4089350"/>
      </p:ext>
    </p:extLst>
  </p:cSld>
  <p:clrMapOvr>
    <a:masterClrMapping/>
  </p:clrMapOvr>
  <p:transition spd="slow">
    <p:push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96D012-26AB-4529-8CF4-733CD669AB3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1543026"/>
      </p:ext>
    </p:extLst>
  </p:cSld>
  <p:clrMapOvr>
    <a:masterClrMapping/>
  </p:clrMapOvr>
  <p:transition spd="slow">
    <p:push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5094A1-21E9-4612-B29A-07C9C77DD45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0561590"/>
      </p:ext>
    </p:extLst>
  </p:cSld>
  <p:clrMapOvr>
    <a:masterClrMapping/>
  </p:clrMapOvr>
  <p:transition spd="slow">
    <p:push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marL="0" lvl="0" indent="0" algn="ctr">
              <a:buNone/>
            </a:pPr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42C837-5F9F-4434-92CB-432B2E696A7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3565851"/>
      </p:ext>
    </p:extLst>
  </p:cSld>
  <p:clrMapOvr>
    <a:masterClrMapping/>
  </p:clrMapOvr>
  <p:transition spd="slow">
    <p:push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1E23D-A1BF-4737-A8A6-343947C8D05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440391"/>
      </p:ext>
    </p:extLst>
  </p:cSld>
  <p:clrMapOvr>
    <a:masterClrMapping/>
  </p:clrMapOvr>
  <p:transition spd="slow">
    <p:push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3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1E23D-A1BF-4737-A8A6-343947C8D05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3768084"/>
      </p:ext>
    </p:extLst>
  </p:cSld>
  <p:clrMapOvr>
    <a:masterClrMapping/>
  </p:clrMapOvr>
  <p:transition spd="slow">
    <p:push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1"/>
            <a:ext cx="489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3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1E23D-A1BF-4737-A8A6-343947C8D05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1621504"/>
      </p:ext>
    </p:extLst>
  </p:cSld>
  <p:clrMapOvr>
    <a:masterClrMapping/>
  </p:clrMapOvr>
  <p:transition spd="slow">
    <p:push dir="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1E23D-A1BF-4737-A8A6-343947C8D05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5696191"/>
      </p:ext>
    </p:extLst>
  </p:cSld>
  <p:clrMapOvr>
    <a:masterClrMapping/>
  </p:clrMapOvr>
  <p:transition spd="slow">
    <p:push dir="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6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1E23D-A1BF-4737-A8A6-343947C8D05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9856657"/>
      </p:ext>
    </p:extLst>
  </p:cSld>
  <p:clrMapOvr>
    <a:masterClrMapping/>
  </p:clrMapOvr>
  <p:transition spd="slow">
    <p:push dir="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1E23D-A1BF-4737-A8A6-343947C8D05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4545166"/>
      </p:ext>
    </p:extLst>
  </p:cSld>
  <p:clrMapOvr>
    <a:masterClrMapping/>
  </p:clrMapOvr>
  <p:transition spd="slow">
    <p:push dir="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DE54E-B7A0-4FC9-90BD-E1500E7E386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6005637"/>
      </p:ext>
    </p:extLst>
  </p:cSld>
  <p:clrMapOvr>
    <a:masterClrMapping/>
  </p:clrMapOvr>
  <p:transition spd="slow">
    <p:push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1E23D-A1BF-4737-A8A6-343947C8D05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2444119"/>
      </p:ext>
    </p:extLst>
  </p:cSld>
  <p:clrMapOvr>
    <a:masterClrMapping/>
  </p:clrMapOvr>
  <p:transition spd="slow">
    <p:push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1" i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1" i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771E23D-A1BF-4737-A8A6-343947C8D05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9442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ransition spd="slow">
    <p:push dir="d"/>
  </p:transition>
  <p:txStyles>
    <p:titleStyle>
      <a:lvl1pPr algn="l" defTabSz="342900" rtl="0" eaLnBrk="1" latinLnBrk="0" hangingPunct="1">
        <a:spcBef>
          <a:spcPct val="0"/>
        </a:spcBef>
        <a:buNone/>
        <a:defRPr sz="27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全面公开政府“三公”经费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2015</a:t>
            </a:r>
            <a:r>
              <a:rPr lang="zh-CN" altLang="en-US" dirty="0"/>
              <a:t>年之前实现全国市、县级政府全面公开“三公”经费</a:t>
            </a:r>
          </a:p>
        </p:txBody>
      </p:sp>
    </p:spTree>
    <p:extLst>
      <p:ext uri="{BB962C8B-B14F-4D97-AF65-F5344CB8AC3E}">
        <p14:creationId xmlns:p14="http://schemas.microsoft.com/office/powerpoint/2010/main" val="3414786244"/>
      </p:ext>
    </p:extLst>
  </p:cSld>
  <p:clrMapOvr>
    <a:masterClrMapping/>
  </p:clrMapOvr>
  <p:transition spd="slow">
    <p:push dir="d"/>
  </p:transition>
</p:sld>
</file>

<file path=ppt/slides/slide2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全面公开政府“三公”经费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zh-CN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　国务院要求，着力推进</a:t>
            </a:r>
            <a:r>
              <a:rPr lang="en-US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“</a:t>
            </a:r>
            <a:r>
              <a:rPr lang="zh-CN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三公</a:t>
            </a:r>
            <a:r>
              <a:rPr lang="en-US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”</a:t>
            </a:r>
            <a:r>
              <a:rPr lang="zh-CN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经费公开，政府要全面公开省本级</a:t>
            </a:r>
            <a:r>
              <a:rPr lang="en-US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“</a:t>
            </a:r>
            <a:r>
              <a:rPr lang="zh-CN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三公</a:t>
            </a:r>
            <a:r>
              <a:rPr lang="en-US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”</a:t>
            </a:r>
            <a:r>
              <a:rPr lang="zh-CN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经费，并指导督促省级以下政府加快</a:t>
            </a:r>
            <a:r>
              <a:rPr lang="en-US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“</a:t>
            </a:r>
            <a:r>
              <a:rPr lang="zh-CN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三公</a:t>
            </a:r>
            <a:r>
              <a:rPr lang="en-US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”</a:t>
            </a:r>
            <a:r>
              <a:rPr lang="zh-CN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经费公开步伐，争取２０１５年之前实现全国市、县级政府全面公开</a:t>
            </a:r>
            <a:r>
              <a:rPr lang="en-US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“</a:t>
            </a:r>
            <a:r>
              <a:rPr lang="zh-CN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三公</a:t>
            </a:r>
            <a:r>
              <a:rPr lang="en-US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”</a:t>
            </a:r>
            <a:r>
              <a:rPr lang="zh-CN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经费。</a:t>
            </a:r>
          </a:p>
          <a:p>
            <a:pPr marL="0" indent="0">
              <a:buNone/>
              <a:defRPr/>
            </a:pPr>
            <a:r>
              <a:rPr lang="zh-CN" altLang="zh-CN" sz="23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　　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697" y="1952625"/>
            <a:ext cx="3014382" cy="2562225"/>
          </a:xfrm>
        </p:spPr>
      </p:pic>
    </p:spTree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1150374582"/>
              </p:ext>
            </p:extLst>
          </p:nvPr>
        </p:nvGraphicFramePr>
        <p:xfrm>
          <a:off x="1524000" y="53975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147516"/>
      </p:ext>
    </p:extLst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北京市政府某部门“三公”经费财政拨款情况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6461831"/>
              </p:ext>
            </p:extLst>
          </p:nvPr>
        </p:nvGraphicFramePr>
        <p:xfrm>
          <a:off x="866256" y="1635646"/>
          <a:ext cx="6618290" cy="325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3658">
                  <a:extLst>
                    <a:ext uri="{9D8B030D-6E8A-4147-A177-3AD203B41FA5}">
                      <a16:colId xmlns:a16="http://schemas.microsoft.com/office/drawing/2014/main" val="3178413197"/>
                    </a:ext>
                  </a:extLst>
                </a:gridCol>
                <a:gridCol w="1323658">
                  <a:extLst>
                    <a:ext uri="{9D8B030D-6E8A-4147-A177-3AD203B41FA5}">
                      <a16:colId xmlns:a16="http://schemas.microsoft.com/office/drawing/2014/main" val="4184606359"/>
                    </a:ext>
                  </a:extLst>
                </a:gridCol>
                <a:gridCol w="1323658">
                  <a:extLst>
                    <a:ext uri="{9D8B030D-6E8A-4147-A177-3AD203B41FA5}">
                      <a16:colId xmlns:a16="http://schemas.microsoft.com/office/drawing/2014/main" val="3160916011"/>
                    </a:ext>
                  </a:extLst>
                </a:gridCol>
                <a:gridCol w="1323658">
                  <a:extLst>
                    <a:ext uri="{9D8B030D-6E8A-4147-A177-3AD203B41FA5}">
                      <a16:colId xmlns:a16="http://schemas.microsoft.com/office/drawing/2014/main" val="1112527448"/>
                    </a:ext>
                  </a:extLst>
                </a:gridCol>
                <a:gridCol w="1323658">
                  <a:extLst>
                    <a:ext uri="{9D8B030D-6E8A-4147-A177-3AD203B41FA5}">
                      <a16:colId xmlns:a16="http://schemas.microsoft.com/office/drawing/2014/main" val="2079967765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 smtClean="0"/>
                        <a:t>年度</a:t>
                      </a:r>
                      <a:endParaRPr lang="zh-CN" alt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 smtClean="0"/>
                        <a:t>因公出国费用</a:t>
                      </a:r>
                      <a:endParaRPr lang="zh-CN" alt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 smtClean="0"/>
                        <a:t>公务接待费</a:t>
                      </a:r>
                      <a:endParaRPr lang="zh-CN" alt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 smtClean="0"/>
                        <a:t>公务车购置费</a:t>
                      </a:r>
                      <a:endParaRPr lang="zh-CN" alt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 smtClean="0"/>
                        <a:t>公务车运行维护费用</a:t>
                      </a:r>
                      <a:endParaRPr lang="zh-CN" altLang="en-US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727767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 smtClean="0"/>
                        <a:t>2011</a:t>
                      </a:r>
                      <a:r>
                        <a:rPr lang="zh-CN" altLang="en-US" sz="2200" dirty="0" smtClean="0"/>
                        <a:t>年</a:t>
                      </a:r>
                      <a:endParaRPr lang="zh-CN" alt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 smtClean="0"/>
                        <a:t>30</a:t>
                      </a:r>
                      <a:r>
                        <a:rPr lang="zh-CN" altLang="en-US" sz="2200" dirty="0" smtClean="0"/>
                        <a:t>万元</a:t>
                      </a:r>
                      <a:endParaRPr lang="zh-CN" alt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 smtClean="0"/>
                        <a:t>43.25</a:t>
                      </a:r>
                      <a:r>
                        <a:rPr lang="zh-CN" altLang="en-US" sz="2200" dirty="0" smtClean="0"/>
                        <a:t>万元</a:t>
                      </a:r>
                      <a:endParaRPr lang="zh-CN" alt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 smtClean="0"/>
                        <a:t>0</a:t>
                      </a:r>
                      <a:endParaRPr lang="zh-CN" alt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 smtClean="0"/>
                        <a:t>54</a:t>
                      </a:r>
                      <a:r>
                        <a:rPr lang="zh-CN" altLang="en-US" sz="2200" dirty="0" smtClean="0"/>
                        <a:t>万元</a:t>
                      </a:r>
                      <a:endParaRPr lang="zh-CN" altLang="en-US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769487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 smtClean="0"/>
                        <a:t>2012</a:t>
                      </a:r>
                      <a:r>
                        <a:rPr lang="zh-CN" altLang="en-US" sz="2200" dirty="0" smtClean="0"/>
                        <a:t>年</a:t>
                      </a:r>
                      <a:endParaRPr lang="zh-CN" alt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 smtClean="0"/>
                        <a:t>27</a:t>
                      </a:r>
                      <a:r>
                        <a:rPr lang="zh-CN" altLang="en-US" sz="2200" dirty="0" smtClean="0"/>
                        <a:t>万元</a:t>
                      </a:r>
                      <a:endParaRPr lang="zh-CN" alt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 smtClean="0"/>
                        <a:t>32.42</a:t>
                      </a:r>
                      <a:r>
                        <a:rPr lang="zh-CN" altLang="en-US" sz="2200" dirty="0" smtClean="0"/>
                        <a:t>万元</a:t>
                      </a:r>
                      <a:endParaRPr lang="zh-CN" alt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 smtClean="0"/>
                        <a:t>0</a:t>
                      </a:r>
                      <a:endParaRPr lang="zh-CN" alt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 smtClean="0"/>
                        <a:t>51</a:t>
                      </a:r>
                      <a:r>
                        <a:rPr lang="zh-CN" altLang="en-US" sz="2200" dirty="0" smtClean="0"/>
                        <a:t>万元</a:t>
                      </a:r>
                      <a:endParaRPr lang="zh-CN" altLang="en-US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039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4487729"/>
      </p:ext>
    </p:extLst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会议室">
  <a:themeElements>
    <a:clrScheme name="离子会议室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离子会议室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会议室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98</TotalTime>
  <Words>228</Words>
  <Application>Microsoft Office PowerPoint</Application>
  <PresentationFormat>全屏显示(16:9)</PresentationFormat>
  <Paragraphs>27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等线</vt:lpstr>
      <vt:lpstr>仿宋</vt:lpstr>
      <vt:lpstr>宋体</vt:lpstr>
      <vt:lpstr>Arial</vt:lpstr>
      <vt:lpstr>Century Gothic</vt:lpstr>
      <vt:lpstr>Times New Roman</vt:lpstr>
      <vt:lpstr>Wingdings 3</vt:lpstr>
      <vt:lpstr>离子会议室</vt:lpstr>
      <vt:lpstr>全面公开政府“三公”经费</vt:lpstr>
      <vt:lpstr>全面公开政府“三公”经费</vt:lpstr>
      <vt:lpstr>PowerPoint 演示文稿</vt:lpstr>
      <vt:lpstr>北京市政府某部门“三公”经费财政拨款情况</vt:lpstr>
    </vt:vector>
  </TitlesOfParts>
  <Company>北航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4笑话：形象的比喻</dc:title>
  <dc:creator>计算中心</dc:creator>
  <cp:lastModifiedBy>windows用户</cp:lastModifiedBy>
  <cp:revision>10</cp:revision>
  <dcterms:created xsi:type="dcterms:W3CDTF">2001-12-20T11:55:14Z</dcterms:created>
  <dcterms:modified xsi:type="dcterms:W3CDTF">2023-03-30T01:05:44Z</dcterms:modified>
</cp:coreProperties>
</file>