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  <p:sldMasterId id="2147483754" r:id="rId2"/>
    <p:sldMasterId id="2147483767" r:id="rId3"/>
    <p:sldMasterId id="2147483785" r:id="rId4"/>
    <p:sldMasterId id="214748380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5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小企业准则简介" id="{21722919-B428-4309-87BA-1983A6E28563}">
          <p14:sldIdLst>
            <p14:sldId id="256"/>
            <p14:sldId id="257"/>
            <p14:sldId id="258"/>
          </p14:sldIdLst>
        </p14:section>
        <p14:section name="准则的颁布意义" id="{774B291F-E8A7-45F3-9C33-17A5B3C9DA46}">
          <p14:sldIdLst>
            <p14:sldId id="259"/>
            <p14:sldId id="260"/>
            <p14:sldId id="261"/>
            <p14:sldId id="262"/>
            <p14:sldId id="263"/>
          </p14:sldIdLst>
        </p14:section>
        <p14:section name="准则的制定过程" id="{76E37D79-AD99-4157-A8C0-6EF50BC0DB56}">
          <p14:sldIdLst>
            <p14:sldId id="264"/>
          </p14:sldIdLst>
        </p14:section>
        <p14:section name="准则的主要内容" id="{F861B13F-E344-4056-9FEE-6BE340E124BC}">
          <p14:sldIdLst>
            <p14:sldId id="265"/>
            <p14:sldId id="266"/>
            <p14:sldId id="267"/>
            <p14:sldId id="268"/>
            <p14:sldId id="269"/>
            <p14:sldId id="270"/>
            <p14:sldId id="275"/>
            <p14:sldId id="271"/>
            <p14:sldId id="272"/>
          </p14:sldIdLst>
        </p14:section>
        <p14:section name="准则的贯彻实施" id="{A48A513B-C21D-4AD1-B290-850637047F14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9" autoAdjust="0"/>
    <p:restoredTop sz="93002" autoAdjust="0"/>
  </p:normalViewPr>
  <p:slideViewPr>
    <p:cSldViewPr snapToGrid="0">
      <p:cViewPr varScale="1">
        <p:scale>
          <a:sx n="42" d="100"/>
          <a:sy n="42" d="100"/>
        </p:scale>
        <p:origin x="1782" y="42"/>
      </p:cViewPr>
      <p:guideLst/>
    </p:cSldViewPr>
  </p:slideViewPr>
  <p:outlineViewPr>
    <p:cViewPr>
      <p:scale>
        <a:sx n="33" d="100"/>
        <a:sy n="33" d="100"/>
      </p:scale>
      <p:origin x="0" y="-218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slide" Target="../slides/slide9.xml"/><Relationship Id="rId1" Type="http://schemas.openxmlformats.org/officeDocument/2006/relationships/slide" Target="../slides/slide4.xml"/><Relationship Id="rId4" Type="http://schemas.openxmlformats.org/officeDocument/2006/relationships/slide" Target="../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5D96E5-E725-4DE8-8FF3-1DE8A2D3DBA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61705D3-9F69-482A-96CC-CBF9E86DFD27}">
      <dgm:prSet/>
      <dgm:spPr/>
      <dgm:t>
        <a:bodyPr/>
        <a:lstStyle/>
        <a:p>
          <a:r>
            <a:rPr lang="zh-CN" b="0" i="0" baseline="0"/>
            <a:t>小企业会计准则的颁布意义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E151857F-5DFD-40C2-87A4-A1BC2B865144}" type="parTrans" cxnId="{E6643016-5A6B-43B6-BE8F-90E520EAACDD}">
      <dgm:prSet/>
      <dgm:spPr/>
      <dgm:t>
        <a:bodyPr/>
        <a:lstStyle/>
        <a:p>
          <a:endParaRPr lang="zh-CN" altLang="en-US"/>
        </a:p>
      </dgm:t>
    </dgm:pt>
    <dgm:pt modelId="{442AE4AF-F4E0-4BF9-B3C6-C9455732D6C7}" type="sibTrans" cxnId="{E6643016-5A6B-43B6-BE8F-90E520EAACDD}">
      <dgm:prSet/>
      <dgm:spPr/>
      <dgm:t>
        <a:bodyPr/>
        <a:lstStyle/>
        <a:p>
          <a:endParaRPr lang="zh-CN" altLang="en-US"/>
        </a:p>
      </dgm:t>
    </dgm:pt>
    <dgm:pt modelId="{C8E84F74-54AD-4AEA-AB78-4D72DE0A057F}">
      <dgm:prSet/>
      <dgm:spPr/>
      <dgm:t>
        <a:bodyPr/>
        <a:lstStyle/>
        <a:p>
          <a:r>
            <a:rPr lang="zh-CN" b="0" i="0" baseline="0" dirty="0"/>
            <a:t>小企业会计准则的制定过程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29C7E768-12CB-498D-8A90-7AD4B42DA965}" type="parTrans" cxnId="{7FD88A28-89C2-47E0-8C9A-D37D4D8FA81F}">
      <dgm:prSet/>
      <dgm:spPr/>
      <dgm:t>
        <a:bodyPr/>
        <a:lstStyle/>
        <a:p>
          <a:endParaRPr lang="zh-CN" altLang="en-US"/>
        </a:p>
      </dgm:t>
    </dgm:pt>
    <dgm:pt modelId="{D7CDA46D-B8E3-449E-A575-1B6AB51A8577}" type="sibTrans" cxnId="{7FD88A28-89C2-47E0-8C9A-D37D4D8FA81F}">
      <dgm:prSet/>
      <dgm:spPr/>
      <dgm:t>
        <a:bodyPr/>
        <a:lstStyle/>
        <a:p>
          <a:endParaRPr lang="zh-CN" altLang="en-US"/>
        </a:p>
      </dgm:t>
    </dgm:pt>
    <dgm:pt modelId="{DBCC5D7A-9514-463A-B49D-CF66375426CA}">
      <dgm:prSet/>
      <dgm:spPr/>
      <dgm:t>
        <a:bodyPr/>
        <a:lstStyle/>
        <a:p>
          <a:r>
            <a:rPr lang="zh-CN" b="0" i="0" baseline="0" dirty="0"/>
            <a:t>小企业会计准则的主要内容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1F2147C9-491C-4AC1-8E04-864F4F5E4D1B}" type="parTrans" cxnId="{3A45F8F9-8817-4346-8782-02944FB46EF5}">
      <dgm:prSet/>
      <dgm:spPr/>
      <dgm:t>
        <a:bodyPr/>
        <a:lstStyle/>
        <a:p>
          <a:endParaRPr lang="zh-CN" altLang="en-US"/>
        </a:p>
      </dgm:t>
    </dgm:pt>
    <dgm:pt modelId="{610172D7-FAEC-452F-8490-450C91AFE11C}" type="sibTrans" cxnId="{3A45F8F9-8817-4346-8782-02944FB46EF5}">
      <dgm:prSet/>
      <dgm:spPr/>
      <dgm:t>
        <a:bodyPr/>
        <a:lstStyle/>
        <a:p>
          <a:endParaRPr lang="zh-CN" altLang="en-US"/>
        </a:p>
      </dgm:t>
    </dgm:pt>
    <dgm:pt modelId="{BCB82260-D9B2-460A-82BE-F0770A3F5951}">
      <dgm:prSet/>
      <dgm:spPr/>
      <dgm:t>
        <a:bodyPr/>
        <a:lstStyle/>
        <a:p>
          <a:r>
            <a:rPr lang="zh-CN" b="0" i="0" baseline="0" dirty="0"/>
            <a:t>小企业会计准则的贯彻实施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8D2B7E20-1699-488B-AB2A-7EF4167E17B9}" type="parTrans" cxnId="{39431435-800C-4B68-B94E-8D1A46C9C749}">
      <dgm:prSet/>
      <dgm:spPr/>
      <dgm:t>
        <a:bodyPr/>
        <a:lstStyle/>
        <a:p>
          <a:endParaRPr lang="zh-CN" altLang="en-US"/>
        </a:p>
      </dgm:t>
    </dgm:pt>
    <dgm:pt modelId="{143FB33C-699C-486F-94FF-F17FD99BCD10}" type="sibTrans" cxnId="{39431435-800C-4B68-B94E-8D1A46C9C749}">
      <dgm:prSet/>
      <dgm:spPr/>
      <dgm:t>
        <a:bodyPr/>
        <a:lstStyle/>
        <a:p>
          <a:endParaRPr lang="zh-CN" altLang="en-US"/>
        </a:p>
      </dgm:t>
    </dgm:pt>
    <dgm:pt modelId="{98FFF2D1-22AC-4A06-9815-1F69DF599A59}" type="pres">
      <dgm:prSet presAssocID="{495D96E5-E725-4DE8-8FF3-1DE8A2D3DBA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99546F1-5945-433D-B535-2DC782C7142C}" type="pres">
      <dgm:prSet presAssocID="{A61705D3-9F69-482A-96CC-CBF9E86DFD27}" presName="parentLin" presStyleCnt="0"/>
      <dgm:spPr/>
    </dgm:pt>
    <dgm:pt modelId="{2C05948F-CDEA-4A06-AE5A-97E50DF21AA8}" type="pres">
      <dgm:prSet presAssocID="{A61705D3-9F69-482A-96CC-CBF9E86DFD27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57B6D29E-6C90-4C86-A06A-012B1B8AF531}" type="pres">
      <dgm:prSet presAssocID="{A61705D3-9F69-482A-96CC-CBF9E86DFD2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4E7D2AB-39DD-498D-A4AE-BEA3EAA15F02}" type="pres">
      <dgm:prSet presAssocID="{A61705D3-9F69-482A-96CC-CBF9E86DFD27}" presName="negativeSpace" presStyleCnt="0"/>
      <dgm:spPr/>
    </dgm:pt>
    <dgm:pt modelId="{BFF69AD7-C2B7-486F-933C-DBAC6F624449}" type="pres">
      <dgm:prSet presAssocID="{A61705D3-9F69-482A-96CC-CBF9E86DFD27}" presName="childText" presStyleLbl="conFgAcc1" presStyleIdx="0" presStyleCnt="4">
        <dgm:presLayoutVars>
          <dgm:bulletEnabled val="1"/>
        </dgm:presLayoutVars>
      </dgm:prSet>
      <dgm:spPr/>
    </dgm:pt>
    <dgm:pt modelId="{53F8CE78-54E9-4693-B240-B8D87ABB7F64}" type="pres">
      <dgm:prSet presAssocID="{442AE4AF-F4E0-4BF9-B3C6-C9455732D6C7}" presName="spaceBetweenRectangles" presStyleCnt="0"/>
      <dgm:spPr/>
    </dgm:pt>
    <dgm:pt modelId="{DAFC4019-89CA-4C58-AF73-D8D41EC2D21A}" type="pres">
      <dgm:prSet presAssocID="{C8E84F74-54AD-4AEA-AB78-4D72DE0A057F}" presName="parentLin" presStyleCnt="0"/>
      <dgm:spPr/>
    </dgm:pt>
    <dgm:pt modelId="{19342AA1-882D-45CF-AD02-62ED5E95AD01}" type="pres">
      <dgm:prSet presAssocID="{C8E84F74-54AD-4AEA-AB78-4D72DE0A057F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A84EA056-02B5-4C55-8405-7DBCA496457C}" type="pres">
      <dgm:prSet presAssocID="{C8E84F74-54AD-4AEA-AB78-4D72DE0A057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C88BEE-E929-4B9E-B3A2-6DF134B6B3C3}" type="pres">
      <dgm:prSet presAssocID="{C8E84F74-54AD-4AEA-AB78-4D72DE0A057F}" presName="negativeSpace" presStyleCnt="0"/>
      <dgm:spPr/>
    </dgm:pt>
    <dgm:pt modelId="{5FD3E3DF-9B06-4AA2-BCFD-50BF819A2453}" type="pres">
      <dgm:prSet presAssocID="{C8E84F74-54AD-4AEA-AB78-4D72DE0A057F}" presName="childText" presStyleLbl="conFgAcc1" presStyleIdx="1" presStyleCnt="4">
        <dgm:presLayoutVars>
          <dgm:bulletEnabled val="1"/>
        </dgm:presLayoutVars>
      </dgm:prSet>
      <dgm:spPr/>
    </dgm:pt>
    <dgm:pt modelId="{93A1E4E1-4C17-49AB-9620-464C61A429BB}" type="pres">
      <dgm:prSet presAssocID="{D7CDA46D-B8E3-449E-A575-1B6AB51A8577}" presName="spaceBetweenRectangles" presStyleCnt="0"/>
      <dgm:spPr/>
    </dgm:pt>
    <dgm:pt modelId="{91C7F274-4686-4246-9DA3-A3EA7995240E}" type="pres">
      <dgm:prSet presAssocID="{DBCC5D7A-9514-463A-B49D-CF66375426CA}" presName="parentLin" presStyleCnt="0"/>
      <dgm:spPr/>
    </dgm:pt>
    <dgm:pt modelId="{C7B9972D-1D3F-4318-9A39-5CA74D42FD03}" type="pres">
      <dgm:prSet presAssocID="{DBCC5D7A-9514-463A-B49D-CF66375426CA}" presName="parentLeftMargin" presStyleLbl="node1" presStyleIdx="1" presStyleCnt="4"/>
      <dgm:spPr/>
      <dgm:t>
        <a:bodyPr/>
        <a:lstStyle/>
        <a:p>
          <a:endParaRPr lang="zh-CN" altLang="en-US"/>
        </a:p>
      </dgm:t>
    </dgm:pt>
    <dgm:pt modelId="{AEF2EE66-0206-4148-B191-640F3BB6145A}" type="pres">
      <dgm:prSet presAssocID="{DBCC5D7A-9514-463A-B49D-CF66375426C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5951349-53A1-4CE8-A159-0BE10FB2FF9D}" type="pres">
      <dgm:prSet presAssocID="{DBCC5D7A-9514-463A-B49D-CF66375426CA}" presName="negativeSpace" presStyleCnt="0"/>
      <dgm:spPr/>
    </dgm:pt>
    <dgm:pt modelId="{F77AE9E8-F7DD-4D27-BF2F-36D29E21537D}" type="pres">
      <dgm:prSet presAssocID="{DBCC5D7A-9514-463A-B49D-CF66375426CA}" presName="childText" presStyleLbl="conFgAcc1" presStyleIdx="2" presStyleCnt="4">
        <dgm:presLayoutVars>
          <dgm:bulletEnabled val="1"/>
        </dgm:presLayoutVars>
      </dgm:prSet>
      <dgm:spPr/>
    </dgm:pt>
    <dgm:pt modelId="{E5FA067B-76DD-42C2-8953-8E988259FCA7}" type="pres">
      <dgm:prSet presAssocID="{610172D7-FAEC-452F-8490-450C91AFE11C}" presName="spaceBetweenRectangles" presStyleCnt="0"/>
      <dgm:spPr/>
    </dgm:pt>
    <dgm:pt modelId="{BDB1E513-B480-4CC6-A2CA-A44265E18239}" type="pres">
      <dgm:prSet presAssocID="{BCB82260-D9B2-460A-82BE-F0770A3F5951}" presName="parentLin" presStyleCnt="0"/>
      <dgm:spPr/>
    </dgm:pt>
    <dgm:pt modelId="{206BE745-1D26-4DFE-A2CE-7BBA2411875D}" type="pres">
      <dgm:prSet presAssocID="{BCB82260-D9B2-460A-82BE-F0770A3F5951}" presName="parentLeftMargin" presStyleLbl="node1" presStyleIdx="2" presStyleCnt="4"/>
      <dgm:spPr/>
      <dgm:t>
        <a:bodyPr/>
        <a:lstStyle/>
        <a:p>
          <a:endParaRPr lang="zh-CN" altLang="en-US"/>
        </a:p>
      </dgm:t>
    </dgm:pt>
    <dgm:pt modelId="{987E4462-6A5E-4196-B750-727D076BBE51}" type="pres">
      <dgm:prSet presAssocID="{BCB82260-D9B2-460A-82BE-F0770A3F595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F5A977-F9DB-438F-A79E-43F4465E8EB0}" type="pres">
      <dgm:prSet presAssocID="{BCB82260-D9B2-460A-82BE-F0770A3F5951}" presName="negativeSpace" presStyleCnt="0"/>
      <dgm:spPr/>
    </dgm:pt>
    <dgm:pt modelId="{4E224773-EE19-4B45-8C95-4C7165412485}" type="pres">
      <dgm:prSet presAssocID="{BCB82260-D9B2-460A-82BE-F0770A3F595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2B6C314-97DD-4E9A-ADDC-1A752268E16B}" type="presOf" srcId="{A61705D3-9F69-482A-96CC-CBF9E86DFD27}" destId="{2C05948F-CDEA-4A06-AE5A-97E50DF21AA8}" srcOrd="0" destOrd="0" presId="urn:microsoft.com/office/officeart/2005/8/layout/list1"/>
    <dgm:cxn modelId="{67C06503-B2F2-4054-A4DA-EE2DF37461C9}" type="presOf" srcId="{DBCC5D7A-9514-463A-B49D-CF66375426CA}" destId="{AEF2EE66-0206-4148-B191-640F3BB6145A}" srcOrd="1" destOrd="0" presId="urn:microsoft.com/office/officeart/2005/8/layout/list1"/>
    <dgm:cxn modelId="{6A611EB4-C7A5-4A1C-8266-725898D2C254}" type="presOf" srcId="{BCB82260-D9B2-460A-82BE-F0770A3F5951}" destId="{987E4462-6A5E-4196-B750-727D076BBE51}" srcOrd="1" destOrd="0" presId="urn:microsoft.com/office/officeart/2005/8/layout/list1"/>
    <dgm:cxn modelId="{7803C063-9494-4ABD-9190-F808EFF0A0C0}" type="presOf" srcId="{DBCC5D7A-9514-463A-B49D-CF66375426CA}" destId="{C7B9972D-1D3F-4318-9A39-5CA74D42FD03}" srcOrd="0" destOrd="0" presId="urn:microsoft.com/office/officeart/2005/8/layout/list1"/>
    <dgm:cxn modelId="{E9B5E724-5C29-41DE-852C-C1A0D49BE083}" type="presOf" srcId="{C8E84F74-54AD-4AEA-AB78-4D72DE0A057F}" destId="{A84EA056-02B5-4C55-8405-7DBCA496457C}" srcOrd="1" destOrd="0" presId="urn:microsoft.com/office/officeart/2005/8/layout/list1"/>
    <dgm:cxn modelId="{E690ECD7-4416-4968-BCA8-7F47D0450D10}" type="presOf" srcId="{495D96E5-E725-4DE8-8FF3-1DE8A2D3DBAD}" destId="{98FFF2D1-22AC-4A06-9815-1F69DF599A59}" srcOrd="0" destOrd="0" presId="urn:microsoft.com/office/officeart/2005/8/layout/list1"/>
    <dgm:cxn modelId="{B6165694-5C57-44B5-B3A8-20DD6CEF1BDA}" type="presOf" srcId="{C8E84F74-54AD-4AEA-AB78-4D72DE0A057F}" destId="{19342AA1-882D-45CF-AD02-62ED5E95AD01}" srcOrd="0" destOrd="0" presId="urn:microsoft.com/office/officeart/2005/8/layout/list1"/>
    <dgm:cxn modelId="{E6643016-5A6B-43B6-BE8F-90E520EAACDD}" srcId="{495D96E5-E725-4DE8-8FF3-1DE8A2D3DBAD}" destId="{A61705D3-9F69-482A-96CC-CBF9E86DFD27}" srcOrd="0" destOrd="0" parTransId="{E151857F-5DFD-40C2-87A4-A1BC2B865144}" sibTransId="{442AE4AF-F4E0-4BF9-B3C6-C9455732D6C7}"/>
    <dgm:cxn modelId="{43719C59-600C-4CDD-80A5-1D48F4A75CDD}" type="presOf" srcId="{BCB82260-D9B2-460A-82BE-F0770A3F5951}" destId="{206BE745-1D26-4DFE-A2CE-7BBA2411875D}" srcOrd="0" destOrd="0" presId="urn:microsoft.com/office/officeart/2005/8/layout/list1"/>
    <dgm:cxn modelId="{3A45F8F9-8817-4346-8782-02944FB46EF5}" srcId="{495D96E5-E725-4DE8-8FF3-1DE8A2D3DBAD}" destId="{DBCC5D7A-9514-463A-B49D-CF66375426CA}" srcOrd="2" destOrd="0" parTransId="{1F2147C9-491C-4AC1-8E04-864F4F5E4D1B}" sibTransId="{610172D7-FAEC-452F-8490-450C91AFE11C}"/>
    <dgm:cxn modelId="{9AADD48F-F4B3-4A5A-823C-BCBB71FA5192}" type="presOf" srcId="{A61705D3-9F69-482A-96CC-CBF9E86DFD27}" destId="{57B6D29E-6C90-4C86-A06A-012B1B8AF531}" srcOrd="1" destOrd="0" presId="urn:microsoft.com/office/officeart/2005/8/layout/list1"/>
    <dgm:cxn modelId="{39431435-800C-4B68-B94E-8D1A46C9C749}" srcId="{495D96E5-E725-4DE8-8FF3-1DE8A2D3DBAD}" destId="{BCB82260-D9B2-460A-82BE-F0770A3F5951}" srcOrd="3" destOrd="0" parTransId="{8D2B7E20-1699-488B-AB2A-7EF4167E17B9}" sibTransId="{143FB33C-699C-486F-94FF-F17FD99BCD10}"/>
    <dgm:cxn modelId="{7FD88A28-89C2-47E0-8C9A-D37D4D8FA81F}" srcId="{495D96E5-E725-4DE8-8FF3-1DE8A2D3DBAD}" destId="{C8E84F74-54AD-4AEA-AB78-4D72DE0A057F}" srcOrd="1" destOrd="0" parTransId="{29C7E768-12CB-498D-8A90-7AD4B42DA965}" sibTransId="{D7CDA46D-B8E3-449E-A575-1B6AB51A8577}"/>
    <dgm:cxn modelId="{32D25F4D-4400-41EF-82A4-B579533CF3C4}" type="presParOf" srcId="{98FFF2D1-22AC-4A06-9815-1F69DF599A59}" destId="{199546F1-5945-433D-B535-2DC782C7142C}" srcOrd="0" destOrd="0" presId="urn:microsoft.com/office/officeart/2005/8/layout/list1"/>
    <dgm:cxn modelId="{D63FD498-ECD3-446B-9B6F-A46D09FDDD7B}" type="presParOf" srcId="{199546F1-5945-433D-B535-2DC782C7142C}" destId="{2C05948F-CDEA-4A06-AE5A-97E50DF21AA8}" srcOrd="0" destOrd="0" presId="urn:microsoft.com/office/officeart/2005/8/layout/list1"/>
    <dgm:cxn modelId="{52962DA2-919B-44C6-9971-25FE68AF3CE7}" type="presParOf" srcId="{199546F1-5945-433D-B535-2DC782C7142C}" destId="{57B6D29E-6C90-4C86-A06A-012B1B8AF531}" srcOrd="1" destOrd="0" presId="urn:microsoft.com/office/officeart/2005/8/layout/list1"/>
    <dgm:cxn modelId="{F2B3ADC4-20C8-4966-B59E-0563E21EE12F}" type="presParOf" srcId="{98FFF2D1-22AC-4A06-9815-1F69DF599A59}" destId="{A4E7D2AB-39DD-498D-A4AE-BEA3EAA15F02}" srcOrd="1" destOrd="0" presId="urn:microsoft.com/office/officeart/2005/8/layout/list1"/>
    <dgm:cxn modelId="{CD03BA3A-E5FD-4693-BFB4-0BBC2DE4D00D}" type="presParOf" srcId="{98FFF2D1-22AC-4A06-9815-1F69DF599A59}" destId="{BFF69AD7-C2B7-486F-933C-DBAC6F624449}" srcOrd="2" destOrd="0" presId="urn:microsoft.com/office/officeart/2005/8/layout/list1"/>
    <dgm:cxn modelId="{53136884-5070-4D54-B931-89061AAFAFF1}" type="presParOf" srcId="{98FFF2D1-22AC-4A06-9815-1F69DF599A59}" destId="{53F8CE78-54E9-4693-B240-B8D87ABB7F64}" srcOrd="3" destOrd="0" presId="urn:microsoft.com/office/officeart/2005/8/layout/list1"/>
    <dgm:cxn modelId="{693663F6-4DA8-46DE-9BB7-964B67CDEFDF}" type="presParOf" srcId="{98FFF2D1-22AC-4A06-9815-1F69DF599A59}" destId="{DAFC4019-89CA-4C58-AF73-D8D41EC2D21A}" srcOrd="4" destOrd="0" presId="urn:microsoft.com/office/officeart/2005/8/layout/list1"/>
    <dgm:cxn modelId="{704D504D-4FE5-42A5-B967-7BF4735403C2}" type="presParOf" srcId="{DAFC4019-89CA-4C58-AF73-D8D41EC2D21A}" destId="{19342AA1-882D-45CF-AD02-62ED5E95AD01}" srcOrd="0" destOrd="0" presId="urn:microsoft.com/office/officeart/2005/8/layout/list1"/>
    <dgm:cxn modelId="{479AC504-30C8-4776-896A-BFCC4F0903DF}" type="presParOf" srcId="{DAFC4019-89CA-4C58-AF73-D8D41EC2D21A}" destId="{A84EA056-02B5-4C55-8405-7DBCA496457C}" srcOrd="1" destOrd="0" presId="urn:microsoft.com/office/officeart/2005/8/layout/list1"/>
    <dgm:cxn modelId="{65A12C4A-5E30-40AB-897E-074D6B459DBD}" type="presParOf" srcId="{98FFF2D1-22AC-4A06-9815-1F69DF599A59}" destId="{33C88BEE-E929-4B9E-B3A2-6DF134B6B3C3}" srcOrd="5" destOrd="0" presId="urn:microsoft.com/office/officeart/2005/8/layout/list1"/>
    <dgm:cxn modelId="{389A08D8-03C5-4D62-895C-366CD77C6F59}" type="presParOf" srcId="{98FFF2D1-22AC-4A06-9815-1F69DF599A59}" destId="{5FD3E3DF-9B06-4AA2-BCFD-50BF819A2453}" srcOrd="6" destOrd="0" presId="urn:microsoft.com/office/officeart/2005/8/layout/list1"/>
    <dgm:cxn modelId="{A74DF264-77AA-45F1-BBB1-33E772CBA071}" type="presParOf" srcId="{98FFF2D1-22AC-4A06-9815-1F69DF599A59}" destId="{93A1E4E1-4C17-49AB-9620-464C61A429BB}" srcOrd="7" destOrd="0" presId="urn:microsoft.com/office/officeart/2005/8/layout/list1"/>
    <dgm:cxn modelId="{5F22F4F6-7CF0-40FA-A97F-DBE382EB0F96}" type="presParOf" srcId="{98FFF2D1-22AC-4A06-9815-1F69DF599A59}" destId="{91C7F274-4686-4246-9DA3-A3EA7995240E}" srcOrd="8" destOrd="0" presId="urn:microsoft.com/office/officeart/2005/8/layout/list1"/>
    <dgm:cxn modelId="{1D55EFCC-4B4B-4417-AB3E-995E4CD3D38C}" type="presParOf" srcId="{91C7F274-4686-4246-9DA3-A3EA7995240E}" destId="{C7B9972D-1D3F-4318-9A39-5CA74D42FD03}" srcOrd="0" destOrd="0" presId="urn:microsoft.com/office/officeart/2005/8/layout/list1"/>
    <dgm:cxn modelId="{89F5673E-14D8-40A6-99DE-0B5A4E08BFD8}" type="presParOf" srcId="{91C7F274-4686-4246-9DA3-A3EA7995240E}" destId="{AEF2EE66-0206-4148-B191-640F3BB6145A}" srcOrd="1" destOrd="0" presId="urn:microsoft.com/office/officeart/2005/8/layout/list1"/>
    <dgm:cxn modelId="{B44D654B-2440-4504-A924-6373B3F3831D}" type="presParOf" srcId="{98FFF2D1-22AC-4A06-9815-1F69DF599A59}" destId="{85951349-53A1-4CE8-A159-0BE10FB2FF9D}" srcOrd="9" destOrd="0" presId="urn:microsoft.com/office/officeart/2005/8/layout/list1"/>
    <dgm:cxn modelId="{784899FC-D2FD-4B9A-8A2D-362BF9DBA290}" type="presParOf" srcId="{98FFF2D1-22AC-4A06-9815-1F69DF599A59}" destId="{F77AE9E8-F7DD-4D27-BF2F-36D29E21537D}" srcOrd="10" destOrd="0" presId="urn:microsoft.com/office/officeart/2005/8/layout/list1"/>
    <dgm:cxn modelId="{095A8328-6B14-4F8B-8FD5-94F95CAE8EBF}" type="presParOf" srcId="{98FFF2D1-22AC-4A06-9815-1F69DF599A59}" destId="{E5FA067B-76DD-42C2-8953-8E988259FCA7}" srcOrd="11" destOrd="0" presId="urn:microsoft.com/office/officeart/2005/8/layout/list1"/>
    <dgm:cxn modelId="{F4812CE8-A9FF-449D-BE89-EB2A1EEBCEA4}" type="presParOf" srcId="{98FFF2D1-22AC-4A06-9815-1F69DF599A59}" destId="{BDB1E513-B480-4CC6-A2CA-A44265E18239}" srcOrd="12" destOrd="0" presId="urn:microsoft.com/office/officeart/2005/8/layout/list1"/>
    <dgm:cxn modelId="{B6D4BB2C-05AA-4FB7-8C4A-8201CD0529F9}" type="presParOf" srcId="{BDB1E513-B480-4CC6-A2CA-A44265E18239}" destId="{206BE745-1D26-4DFE-A2CE-7BBA2411875D}" srcOrd="0" destOrd="0" presId="urn:microsoft.com/office/officeart/2005/8/layout/list1"/>
    <dgm:cxn modelId="{2015347A-99B1-46C5-AB8D-8D4369A999ED}" type="presParOf" srcId="{BDB1E513-B480-4CC6-A2CA-A44265E18239}" destId="{987E4462-6A5E-4196-B750-727D076BBE51}" srcOrd="1" destOrd="0" presId="urn:microsoft.com/office/officeart/2005/8/layout/list1"/>
    <dgm:cxn modelId="{FCF79244-959D-4A2F-B601-52A3A57237C7}" type="presParOf" srcId="{98FFF2D1-22AC-4A06-9815-1F69DF599A59}" destId="{FAF5A977-F9DB-438F-A79E-43F4465E8EB0}" srcOrd="13" destOrd="0" presId="urn:microsoft.com/office/officeart/2005/8/layout/list1"/>
    <dgm:cxn modelId="{123548E1-433A-4536-9B15-E9899FD07D4B}" type="presParOf" srcId="{98FFF2D1-22AC-4A06-9815-1F69DF599A59}" destId="{4E224773-EE19-4B45-8C95-4C716541248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70EEAA-2794-4AD2-AD46-53DD94BD843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846A06C-4BDC-4B0F-A08E-8EFF947CED7F}">
      <dgm:prSet phldrT="[文本]"/>
      <dgm:spPr/>
      <dgm:t>
        <a:bodyPr/>
        <a:lstStyle/>
        <a:p>
          <a:r>
            <a:rPr lang="zh-CN" altLang="en-US" dirty="0"/>
            <a:t>制定方案 层层培训</a:t>
          </a:r>
        </a:p>
      </dgm:t>
    </dgm:pt>
    <dgm:pt modelId="{CC2F6E5C-66E5-4F4E-8E32-4684563E7485}" type="parTrans" cxnId="{B0C46EE5-85F4-46BA-89FF-830025986881}">
      <dgm:prSet/>
      <dgm:spPr/>
      <dgm:t>
        <a:bodyPr/>
        <a:lstStyle/>
        <a:p>
          <a:endParaRPr lang="zh-CN" altLang="en-US"/>
        </a:p>
      </dgm:t>
    </dgm:pt>
    <dgm:pt modelId="{DA907DD4-30CB-49F8-BD31-B762D8B5AD89}" type="sibTrans" cxnId="{B0C46EE5-85F4-46BA-89FF-830025986881}">
      <dgm:prSet/>
      <dgm:spPr/>
      <dgm:t>
        <a:bodyPr/>
        <a:lstStyle/>
        <a:p>
          <a:endParaRPr lang="zh-CN" altLang="en-US"/>
        </a:p>
      </dgm:t>
    </dgm:pt>
    <dgm:pt modelId="{ACBAA315-5E87-429E-9F39-52B00F109E20}">
      <dgm:prSet phldrT="[文本]"/>
      <dgm:spPr/>
      <dgm:t>
        <a:bodyPr/>
        <a:lstStyle/>
        <a:p>
          <a:r>
            <a:rPr lang="zh-CN" altLang="en-US" dirty="0"/>
            <a:t>部门协作 扩大影响</a:t>
          </a:r>
        </a:p>
      </dgm:t>
    </dgm:pt>
    <dgm:pt modelId="{E6F67792-098F-4934-959B-9AAF01A6B953}" type="parTrans" cxnId="{598BFA32-57CA-4A82-9EA2-60ACC3A7CA84}">
      <dgm:prSet/>
      <dgm:spPr/>
      <dgm:t>
        <a:bodyPr/>
        <a:lstStyle/>
        <a:p>
          <a:endParaRPr lang="zh-CN" altLang="en-US"/>
        </a:p>
      </dgm:t>
    </dgm:pt>
    <dgm:pt modelId="{20B73BA3-7CD1-4EEE-A171-F3EE036AD489}" type="sibTrans" cxnId="{598BFA32-57CA-4A82-9EA2-60ACC3A7CA84}">
      <dgm:prSet/>
      <dgm:spPr/>
      <dgm:t>
        <a:bodyPr/>
        <a:lstStyle/>
        <a:p>
          <a:endParaRPr lang="zh-CN" altLang="en-US"/>
        </a:p>
      </dgm:t>
    </dgm:pt>
    <dgm:pt modelId="{8FC8E58C-84B8-4F5A-8300-B278BC668F42}">
      <dgm:prSet phldrT="[文本]"/>
      <dgm:spPr/>
      <dgm:t>
        <a:bodyPr/>
        <a:lstStyle/>
        <a:p>
          <a:r>
            <a:rPr lang="zh-CN" altLang="en-US" dirty="0"/>
            <a:t>交互培训 深化提高</a:t>
          </a:r>
        </a:p>
      </dgm:t>
    </dgm:pt>
    <dgm:pt modelId="{0835BE77-A461-4102-A770-F89B6CB4F27C}" type="parTrans" cxnId="{1A88119C-D027-44D6-AEFF-AEBA84DC857B}">
      <dgm:prSet/>
      <dgm:spPr/>
      <dgm:t>
        <a:bodyPr/>
        <a:lstStyle/>
        <a:p>
          <a:endParaRPr lang="zh-CN" altLang="en-US"/>
        </a:p>
      </dgm:t>
    </dgm:pt>
    <dgm:pt modelId="{20FF544B-21EB-42F5-AB58-A46EB93F5A79}" type="sibTrans" cxnId="{1A88119C-D027-44D6-AEFF-AEBA84DC857B}">
      <dgm:prSet/>
      <dgm:spPr/>
      <dgm:t>
        <a:bodyPr/>
        <a:lstStyle/>
        <a:p>
          <a:endParaRPr lang="zh-CN" altLang="en-US"/>
        </a:p>
      </dgm:t>
    </dgm:pt>
    <dgm:pt modelId="{D52BD36E-2BB8-42DF-95AC-10E97ABEEEC4}">
      <dgm:prSet phldrT="[文本]"/>
      <dgm:spPr/>
      <dgm:t>
        <a:bodyPr/>
        <a:lstStyle/>
        <a:p>
          <a:r>
            <a:rPr lang="zh-CN" altLang="en-US" dirty="0"/>
            <a:t>统编教材 方便学习</a:t>
          </a:r>
        </a:p>
      </dgm:t>
    </dgm:pt>
    <dgm:pt modelId="{918A14BE-E416-41CA-8A94-7F18C825C738}" type="parTrans" cxnId="{F1EAAE93-2C0B-4618-AF9F-C2C88D3A4107}">
      <dgm:prSet/>
      <dgm:spPr/>
      <dgm:t>
        <a:bodyPr/>
        <a:lstStyle/>
        <a:p>
          <a:endParaRPr lang="zh-CN" altLang="en-US"/>
        </a:p>
      </dgm:t>
    </dgm:pt>
    <dgm:pt modelId="{1A87CE69-F0FB-4D71-B006-11C71D4BE4BD}" type="sibTrans" cxnId="{F1EAAE93-2C0B-4618-AF9F-C2C88D3A4107}">
      <dgm:prSet/>
      <dgm:spPr/>
      <dgm:t>
        <a:bodyPr/>
        <a:lstStyle/>
        <a:p>
          <a:endParaRPr lang="zh-CN" altLang="en-US"/>
        </a:p>
      </dgm:t>
    </dgm:pt>
    <dgm:pt modelId="{20A2C111-4527-44B7-A11C-36DDC056C94B}">
      <dgm:prSet phldrT="[文本]"/>
      <dgm:spPr/>
      <dgm:t>
        <a:bodyPr/>
        <a:lstStyle/>
        <a:p>
          <a:r>
            <a:rPr lang="zh-CN" altLang="en-US" dirty="0"/>
            <a:t>统筹规划 确保质量</a:t>
          </a:r>
        </a:p>
      </dgm:t>
    </dgm:pt>
    <dgm:pt modelId="{FD4285FC-791E-4343-96D3-0A492F8BD525}" type="parTrans" cxnId="{B460A054-9C09-4DCB-87F3-21DC74DA624B}">
      <dgm:prSet/>
      <dgm:spPr/>
      <dgm:t>
        <a:bodyPr/>
        <a:lstStyle/>
        <a:p>
          <a:endParaRPr lang="zh-CN" altLang="en-US"/>
        </a:p>
      </dgm:t>
    </dgm:pt>
    <dgm:pt modelId="{9FF927B6-FACD-41A8-ABB4-CCC77E7E3BE6}" type="sibTrans" cxnId="{B460A054-9C09-4DCB-87F3-21DC74DA624B}">
      <dgm:prSet/>
      <dgm:spPr/>
      <dgm:t>
        <a:bodyPr/>
        <a:lstStyle/>
        <a:p>
          <a:endParaRPr lang="zh-CN" altLang="en-US"/>
        </a:p>
      </dgm:t>
    </dgm:pt>
    <dgm:pt modelId="{7EA72065-BFF9-4C72-84F1-8D50C54A8001}">
      <dgm:prSet/>
      <dgm:spPr/>
      <dgm:t>
        <a:bodyPr/>
        <a:lstStyle/>
        <a:p>
          <a:r>
            <a:rPr lang="zh-CN" altLang="en-US" dirty="0"/>
            <a:t>形式多样 深入人心</a:t>
          </a:r>
        </a:p>
      </dgm:t>
    </dgm:pt>
    <dgm:pt modelId="{6C780C0E-8711-40E6-92D9-D6D31C303F62}" type="parTrans" cxnId="{050436B3-FB04-4F7D-BBD5-59B584B7E49F}">
      <dgm:prSet/>
      <dgm:spPr/>
      <dgm:t>
        <a:bodyPr/>
        <a:lstStyle/>
        <a:p>
          <a:endParaRPr lang="zh-CN" altLang="en-US"/>
        </a:p>
      </dgm:t>
    </dgm:pt>
    <dgm:pt modelId="{C52C8B75-2CD2-4ABD-A6CE-38AA3BE00614}" type="sibTrans" cxnId="{050436B3-FB04-4F7D-BBD5-59B584B7E49F}">
      <dgm:prSet/>
      <dgm:spPr/>
      <dgm:t>
        <a:bodyPr/>
        <a:lstStyle/>
        <a:p>
          <a:endParaRPr lang="zh-CN" altLang="en-US"/>
        </a:p>
      </dgm:t>
    </dgm:pt>
    <dgm:pt modelId="{57857A76-3327-4ADD-963E-9D46216C44E1}" type="pres">
      <dgm:prSet presAssocID="{D670EEAA-2794-4AD2-AD46-53DD94BD843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BD64889-7F3A-40F0-9BEB-474E56B4A4D0}" type="pres">
      <dgm:prSet presAssocID="{7846A06C-4BDC-4B0F-A08E-8EFF947CED7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F3B92B0-8449-47FC-B5A2-410161EE32CF}" type="pres">
      <dgm:prSet presAssocID="{7846A06C-4BDC-4B0F-A08E-8EFF947CED7F}" presName="spNode" presStyleCnt="0"/>
      <dgm:spPr/>
    </dgm:pt>
    <dgm:pt modelId="{AADD26E3-6905-42A6-8A2A-EC459BA23D4B}" type="pres">
      <dgm:prSet presAssocID="{DA907DD4-30CB-49F8-BD31-B762D8B5AD89}" presName="sibTrans" presStyleLbl="sibTrans1D1" presStyleIdx="0" presStyleCnt="6"/>
      <dgm:spPr/>
      <dgm:t>
        <a:bodyPr/>
        <a:lstStyle/>
        <a:p>
          <a:endParaRPr lang="zh-CN" altLang="en-US"/>
        </a:p>
      </dgm:t>
    </dgm:pt>
    <dgm:pt modelId="{CA7608B7-53EA-45C7-8C6E-2CE91274C918}" type="pres">
      <dgm:prSet presAssocID="{ACBAA315-5E87-429E-9F39-52B00F109E20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9E5F37C-DE03-4073-90CF-76B824031DDC}" type="pres">
      <dgm:prSet presAssocID="{ACBAA315-5E87-429E-9F39-52B00F109E20}" presName="spNode" presStyleCnt="0"/>
      <dgm:spPr/>
    </dgm:pt>
    <dgm:pt modelId="{6D589DEC-43E9-4344-B569-F3B8B61446B9}" type="pres">
      <dgm:prSet presAssocID="{20B73BA3-7CD1-4EEE-A171-F3EE036AD489}" presName="sibTrans" presStyleLbl="sibTrans1D1" presStyleIdx="1" presStyleCnt="6"/>
      <dgm:spPr/>
      <dgm:t>
        <a:bodyPr/>
        <a:lstStyle/>
        <a:p>
          <a:endParaRPr lang="zh-CN" altLang="en-US"/>
        </a:p>
      </dgm:t>
    </dgm:pt>
    <dgm:pt modelId="{4F8BC8C8-6E79-47E2-AC83-7FAB08E6AD3F}" type="pres">
      <dgm:prSet presAssocID="{8FC8E58C-84B8-4F5A-8300-B278BC668F4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C26F50A-D001-4F42-80AC-61A3A13DA809}" type="pres">
      <dgm:prSet presAssocID="{8FC8E58C-84B8-4F5A-8300-B278BC668F42}" presName="spNode" presStyleCnt="0"/>
      <dgm:spPr/>
    </dgm:pt>
    <dgm:pt modelId="{55F87EE2-D560-43F8-9F2F-8DE5A9DFEDB4}" type="pres">
      <dgm:prSet presAssocID="{20FF544B-21EB-42F5-AB58-A46EB93F5A79}" presName="sibTrans" presStyleLbl="sibTrans1D1" presStyleIdx="2" presStyleCnt="6"/>
      <dgm:spPr/>
      <dgm:t>
        <a:bodyPr/>
        <a:lstStyle/>
        <a:p>
          <a:endParaRPr lang="zh-CN" altLang="en-US"/>
        </a:p>
      </dgm:t>
    </dgm:pt>
    <dgm:pt modelId="{F0D8A45C-1A57-4C1A-83D8-7B3770449106}" type="pres">
      <dgm:prSet presAssocID="{D52BD36E-2BB8-42DF-95AC-10E97ABEEEC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4F8463F-E458-46BA-97E5-548FA06CB4B6}" type="pres">
      <dgm:prSet presAssocID="{D52BD36E-2BB8-42DF-95AC-10E97ABEEEC4}" presName="spNode" presStyleCnt="0"/>
      <dgm:spPr/>
    </dgm:pt>
    <dgm:pt modelId="{5E5873DB-ABCC-44BE-AF43-FDEF72D6BF1C}" type="pres">
      <dgm:prSet presAssocID="{1A87CE69-F0FB-4D71-B006-11C71D4BE4BD}" presName="sibTrans" presStyleLbl="sibTrans1D1" presStyleIdx="3" presStyleCnt="6"/>
      <dgm:spPr/>
      <dgm:t>
        <a:bodyPr/>
        <a:lstStyle/>
        <a:p>
          <a:endParaRPr lang="zh-CN" altLang="en-US"/>
        </a:p>
      </dgm:t>
    </dgm:pt>
    <dgm:pt modelId="{0719D739-D486-460A-81B4-0DCA34C64947}" type="pres">
      <dgm:prSet presAssocID="{7EA72065-BFF9-4C72-84F1-8D50C54A8001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3CCAEBA-10D3-4EC0-ADB1-D128331D11E9}" type="pres">
      <dgm:prSet presAssocID="{7EA72065-BFF9-4C72-84F1-8D50C54A8001}" presName="spNode" presStyleCnt="0"/>
      <dgm:spPr/>
    </dgm:pt>
    <dgm:pt modelId="{F17D01FE-CD2B-4FE0-BF14-A5A9E4AD6018}" type="pres">
      <dgm:prSet presAssocID="{C52C8B75-2CD2-4ABD-A6CE-38AA3BE00614}" presName="sibTrans" presStyleLbl="sibTrans1D1" presStyleIdx="4" presStyleCnt="6"/>
      <dgm:spPr/>
      <dgm:t>
        <a:bodyPr/>
        <a:lstStyle/>
        <a:p>
          <a:endParaRPr lang="zh-CN" altLang="en-US"/>
        </a:p>
      </dgm:t>
    </dgm:pt>
    <dgm:pt modelId="{2371E5BB-83CA-41CE-86AA-7111C83D86DC}" type="pres">
      <dgm:prSet presAssocID="{20A2C111-4527-44B7-A11C-36DDC056C94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94247F-1552-46D0-B5D6-D399140CFBC4}" type="pres">
      <dgm:prSet presAssocID="{20A2C111-4527-44B7-A11C-36DDC056C94B}" presName="spNode" presStyleCnt="0"/>
      <dgm:spPr/>
    </dgm:pt>
    <dgm:pt modelId="{95F188E7-AFDB-4C6D-AF8A-A1ABB1B2F47D}" type="pres">
      <dgm:prSet presAssocID="{9FF927B6-FACD-41A8-ABB4-CCC77E7E3BE6}" presName="sibTrans" presStyleLbl="sibTrans1D1" presStyleIdx="5" presStyleCnt="6"/>
      <dgm:spPr/>
      <dgm:t>
        <a:bodyPr/>
        <a:lstStyle/>
        <a:p>
          <a:endParaRPr lang="zh-CN" altLang="en-US"/>
        </a:p>
      </dgm:t>
    </dgm:pt>
  </dgm:ptLst>
  <dgm:cxnLst>
    <dgm:cxn modelId="{E72DE8C6-A950-4C8C-8FB8-DA7256194B93}" type="presOf" srcId="{8FC8E58C-84B8-4F5A-8300-B278BC668F42}" destId="{4F8BC8C8-6E79-47E2-AC83-7FAB08E6AD3F}" srcOrd="0" destOrd="0" presId="urn:microsoft.com/office/officeart/2005/8/layout/cycle6"/>
    <dgm:cxn modelId="{F06522FD-7594-4195-AD70-A99489C130B9}" type="presOf" srcId="{1A87CE69-F0FB-4D71-B006-11C71D4BE4BD}" destId="{5E5873DB-ABCC-44BE-AF43-FDEF72D6BF1C}" srcOrd="0" destOrd="0" presId="urn:microsoft.com/office/officeart/2005/8/layout/cycle6"/>
    <dgm:cxn modelId="{B3E6F031-410A-45A3-9A71-2A420103F585}" type="presOf" srcId="{20A2C111-4527-44B7-A11C-36DDC056C94B}" destId="{2371E5BB-83CA-41CE-86AA-7111C83D86DC}" srcOrd="0" destOrd="0" presId="urn:microsoft.com/office/officeart/2005/8/layout/cycle6"/>
    <dgm:cxn modelId="{6CC96486-C365-4086-B85F-97276B06D8F6}" type="presOf" srcId="{9FF927B6-FACD-41A8-ABB4-CCC77E7E3BE6}" destId="{95F188E7-AFDB-4C6D-AF8A-A1ABB1B2F47D}" srcOrd="0" destOrd="0" presId="urn:microsoft.com/office/officeart/2005/8/layout/cycle6"/>
    <dgm:cxn modelId="{1F8E0047-5901-4900-80A2-715092235B7B}" type="presOf" srcId="{D52BD36E-2BB8-42DF-95AC-10E97ABEEEC4}" destId="{F0D8A45C-1A57-4C1A-83D8-7B3770449106}" srcOrd="0" destOrd="0" presId="urn:microsoft.com/office/officeart/2005/8/layout/cycle6"/>
    <dgm:cxn modelId="{050436B3-FB04-4F7D-BBD5-59B584B7E49F}" srcId="{D670EEAA-2794-4AD2-AD46-53DD94BD843C}" destId="{7EA72065-BFF9-4C72-84F1-8D50C54A8001}" srcOrd="4" destOrd="0" parTransId="{6C780C0E-8711-40E6-92D9-D6D31C303F62}" sibTransId="{C52C8B75-2CD2-4ABD-A6CE-38AA3BE00614}"/>
    <dgm:cxn modelId="{6DFEB4E0-189B-4BD3-9C14-982312BEAC38}" type="presOf" srcId="{C52C8B75-2CD2-4ABD-A6CE-38AA3BE00614}" destId="{F17D01FE-CD2B-4FE0-BF14-A5A9E4AD6018}" srcOrd="0" destOrd="0" presId="urn:microsoft.com/office/officeart/2005/8/layout/cycle6"/>
    <dgm:cxn modelId="{3AB8FCC5-F428-45D5-8FFC-F6A960A14509}" type="presOf" srcId="{ACBAA315-5E87-429E-9F39-52B00F109E20}" destId="{CA7608B7-53EA-45C7-8C6E-2CE91274C918}" srcOrd="0" destOrd="0" presId="urn:microsoft.com/office/officeart/2005/8/layout/cycle6"/>
    <dgm:cxn modelId="{AE5F6F27-967D-4347-AD82-FE399F06E279}" type="presOf" srcId="{20FF544B-21EB-42F5-AB58-A46EB93F5A79}" destId="{55F87EE2-D560-43F8-9F2F-8DE5A9DFEDB4}" srcOrd="0" destOrd="0" presId="urn:microsoft.com/office/officeart/2005/8/layout/cycle6"/>
    <dgm:cxn modelId="{2D3C92CF-4335-4C4E-A9F7-6D297CBCE2B7}" type="presOf" srcId="{DA907DD4-30CB-49F8-BD31-B762D8B5AD89}" destId="{AADD26E3-6905-42A6-8A2A-EC459BA23D4B}" srcOrd="0" destOrd="0" presId="urn:microsoft.com/office/officeart/2005/8/layout/cycle6"/>
    <dgm:cxn modelId="{F1EAAE93-2C0B-4618-AF9F-C2C88D3A4107}" srcId="{D670EEAA-2794-4AD2-AD46-53DD94BD843C}" destId="{D52BD36E-2BB8-42DF-95AC-10E97ABEEEC4}" srcOrd="3" destOrd="0" parTransId="{918A14BE-E416-41CA-8A94-7F18C825C738}" sibTransId="{1A87CE69-F0FB-4D71-B006-11C71D4BE4BD}"/>
    <dgm:cxn modelId="{A46B3C9D-BC0B-471B-ABE5-4D8E280BA8E2}" type="presOf" srcId="{D670EEAA-2794-4AD2-AD46-53DD94BD843C}" destId="{57857A76-3327-4ADD-963E-9D46216C44E1}" srcOrd="0" destOrd="0" presId="urn:microsoft.com/office/officeart/2005/8/layout/cycle6"/>
    <dgm:cxn modelId="{1A88119C-D027-44D6-AEFF-AEBA84DC857B}" srcId="{D670EEAA-2794-4AD2-AD46-53DD94BD843C}" destId="{8FC8E58C-84B8-4F5A-8300-B278BC668F42}" srcOrd="2" destOrd="0" parTransId="{0835BE77-A461-4102-A770-F89B6CB4F27C}" sibTransId="{20FF544B-21EB-42F5-AB58-A46EB93F5A79}"/>
    <dgm:cxn modelId="{B0C46EE5-85F4-46BA-89FF-830025986881}" srcId="{D670EEAA-2794-4AD2-AD46-53DD94BD843C}" destId="{7846A06C-4BDC-4B0F-A08E-8EFF947CED7F}" srcOrd="0" destOrd="0" parTransId="{CC2F6E5C-66E5-4F4E-8E32-4684563E7485}" sibTransId="{DA907DD4-30CB-49F8-BD31-B762D8B5AD89}"/>
    <dgm:cxn modelId="{0CCE4933-3B77-4624-AD1B-7688F18B3046}" type="presOf" srcId="{20B73BA3-7CD1-4EEE-A171-F3EE036AD489}" destId="{6D589DEC-43E9-4344-B569-F3B8B61446B9}" srcOrd="0" destOrd="0" presId="urn:microsoft.com/office/officeart/2005/8/layout/cycle6"/>
    <dgm:cxn modelId="{114E5DDA-8087-4D9C-9133-D3A8638E293F}" type="presOf" srcId="{7EA72065-BFF9-4C72-84F1-8D50C54A8001}" destId="{0719D739-D486-460A-81B4-0DCA34C64947}" srcOrd="0" destOrd="0" presId="urn:microsoft.com/office/officeart/2005/8/layout/cycle6"/>
    <dgm:cxn modelId="{2B324898-5A05-4719-9658-9E1B249A6D04}" type="presOf" srcId="{7846A06C-4BDC-4B0F-A08E-8EFF947CED7F}" destId="{DBD64889-7F3A-40F0-9BEB-474E56B4A4D0}" srcOrd="0" destOrd="0" presId="urn:microsoft.com/office/officeart/2005/8/layout/cycle6"/>
    <dgm:cxn modelId="{598BFA32-57CA-4A82-9EA2-60ACC3A7CA84}" srcId="{D670EEAA-2794-4AD2-AD46-53DD94BD843C}" destId="{ACBAA315-5E87-429E-9F39-52B00F109E20}" srcOrd="1" destOrd="0" parTransId="{E6F67792-098F-4934-959B-9AAF01A6B953}" sibTransId="{20B73BA3-7CD1-4EEE-A171-F3EE036AD489}"/>
    <dgm:cxn modelId="{B460A054-9C09-4DCB-87F3-21DC74DA624B}" srcId="{D670EEAA-2794-4AD2-AD46-53DD94BD843C}" destId="{20A2C111-4527-44B7-A11C-36DDC056C94B}" srcOrd="5" destOrd="0" parTransId="{FD4285FC-791E-4343-96D3-0A492F8BD525}" sibTransId="{9FF927B6-FACD-41A8-ABB4-CCC77E7E3BE6}"/>
    <dgm:cxn modelId="{029E3761-B457-45CE-B333-ED9B5E4879BC}" type="presParOf" srcId="{57857A76-3327-4ADD-963E-9D46216C44E1}" destId="{DBD64889-7F3A-40F0-9BEB-474E56B4A4D0}" srcOrd="0" destOrd="0" presId="urn:microsoft.com/office/officeart/2005/8/layout/cycle6"/>
    <dgm:cxn modelId="{72DE7B90-1F04-4116-9940-99D7E52130F8}" type="presParOf" srcId="{57857A76-3327-4ADD-963E-9D46216C44E1}" destId="{EF3B92B0-8449-47FC-B5A2-410161EE32CF}" srcOrd="1" destOrd="0" presId="urn:microsoft.com/office/officeart/2005/8/layout/cycle6"/>
    <dgm:cxn modelId="{9136555B-3262-4500-86DF-1250823D9B20}" type="presParOf" srcId="{57857A76-3327-4ADD-963E-9D46216C44E1}" destId="{AADD26E3-6905-42A6-8A2A-EC459BA23D4B}" srcOrd="2" destOrd="0" presId="urn:microsoft.com/office/officeart/2005/8/layout/cycle6"/>
    <dgm:cxn modelId="{17604932-2368-43F1-B404-886800468BA3}" type="presParOf" srcId="{57857A76-3327-4ADD-963E-9D46216C44E1}" destId="{CA7608B7-53EA-45C7-8C6E-2CE91274C918}" srcOrd="3" destOrd="0" presId="urn:microsoft.com/office/officeart/2005/8/layout/cycle6"/>
    <dgm:cxn modelId="{57D1F505-C94F-4EDD-9C01-1C44ACAB3A5E}" type="presParOf" srcId="{57857A76-3327-4ADD-963E-9D46216C44E1}" destId="{A9E5F37C-DE03-4073-90CF-76B824031DDC}" srcOrd="4" destOrd="0" presId="urn:microsoft.com/office/officeart/2005/8/layout/cycle6"/>
    <dgm:cxn modelId="{4888C742-2AC5-4BE2-ADFA-F3C46188394B}" type="presParOf" srcId="{57857A76-3327-4ADD-963E-9D46216C44E1}" destId="{6D589DEC-43E9-4344-B569-F3B8B61446B9}" srcOrd="5" destOrd="0" presId="urn:microsoft.com/office/officeart/2005/8/layout/cycle6"/>
    <dgm:cxn modelId="{70B41544-23C0-42F6-A76E-6D82E918D755}" type="presParOf" srcId="{57857A76-3327-4ADD-963E-9D46216C44E1}" destId="{4F8BC8C8-6E79-47E2-AC83-7FAB08E6AD3F}" srcOrd="6" destOrd="0" presId="urn:microsoft.com/office/officeart/2005/8/layout/cycle6"/>
    <dgm:cxn modelId="{E01EA18B-8E8B-4262-8081-A1AD82BFCABB}" type="presParOf" srcId="{57857A76-3327-4ADD-963E-9D46216C44E1}" destId="{3C26F50A-D001-4F42-80AC-61A3A13DA809}" srcOrd="7" destOrd="0" presId="urn:microsoft.com/office/officeart/2005/8/layout/cycle6"/>
    <dgm:cxn modelId="{7BE5C385-2407-4E15-BD39-66A91A5B5A30}" type="presParOf" srcId="{57857A76-3327-4ADD-963E-9D46216C44E1}" destId="{55F87EE2-D560-43F8-9F2F-8DE5A9DFEDB4}" srcOrd="8" destOrd="0" presId="urn:microsoft.com/office/officeart/2005/8/layout/cycle6"/>
    <dgm:cxn modelId="{C952BE4C-2DD3-4583-841C-5BC8CA8D2358}" type="presParOf" srcId="{57857A76-3327-4ADD-963E-9D46216C44E1}" destId="{F0D8A45C-1A57-4C1A-83D8-7B3770449106}" srcOrd="9" destOrd="0" presId="urn:microsoft.com/office/officeart/2005/8/layout/cycle6"/>
    <dgm:cxn modelId="{81D0D6B1-84C7-486C-92DF-DD22C91E8968}" type="presParOf" srcId="{57857A76-3327-4ADD-963E-9D46216C44E1}" destId="{94F8463F-E458-46BA-97E5-548FA06CB4B6}" srcOrd="10" destOrd="0" presId="urn:microsoft.com/office/officeart/2005/8/layout/cycle6"/>
    <dgm:cxn modelId="{B10AB92C-7DD9-4E21-93E1-421999754848}" type="presParOf" srcId="{57857A76-3327-4ADD-963E-9D46216C44E1}" destId="{5E5873DB-ABCC-44BE-AF43-FDEF72D6BF1C}" srcOrd="11" destOrd="0" presId="urn:microsoft.com/office/officeart/2005/8/layout/cycle6"/>
    <dgm:cxn modelId="{93CF5106-A113-4DF8-BA7E-FE3DFB7A7023}" type="presParOf" srcId="{57857A76-3327-4ADD-963E-9D46216C44E1}" destId="{0719D739-D486-460A-81B4-0DCA34C64947}" srcOrd="12" destOrd="0" presId="urn:microsoft.com/office/officeart/2005/8/layout/cycle6"/>
    <dgm:cxn modelId="{BB330BD0-B570-4FFD-BA15-2178B051793F}" type="presParOf" srcId="{57857A76-3327-4ADD-963E-9D46216C44E1}" destId="{83CCAEBA-10D3-4EC0-ADB1-D128331D11E9}" srcOrd="13" destOrd="0" presId="urn:microsoft.com/office/officeart/2005/8/layout/cycle6"/>
    <dgm:cxn modelId="{8C5A33CF-648A-4F0C-A393-6FE1F7F7022E}" type="presParOf" srcId="{57857A76-3327-4ADD-963E-9D46216C44E1}" destId="{F17D01FE-CD2B-4FE0-BF14-A5A9E4AD6018}" srcOrd="14" destOrd="0" presId="urn:microsoft.com/office/officeart/2005/8/layout/cycle6"/>
    <dgm:cxn modelId="{5CEBA83D-A188-43B1-AE47-956400C907A7}" type="presParOf" srcId="{57857A76-3327-4ADD-963E-9D46216C44E1}" destId="{2371E5BB-83CA-41CE-86AA-7111C83D86DC}" srcOrd="15" destOrd="0" presId="urn:microsoft.com/office/officeart/2005/8/layout/cycle6"/>
    <dgm:cxn modelId="{D785C71F-4D15-432F-AEEE-86F16529A3E0}" type="presParOf" srcId="{57857A76-3327-4ADD-963E-9D46216C44E1}" destId="{6D94247F-1552-46D0-B5D6-D399140CFBC4}" srcOrd="16" destOrd="0" presId="urn:microsoft.com/office/officeart/2005/8/layout/cycle6"/>
    <dgm:cxn modelId="{19BA4A31-DAFA-487E-8D76-BDCAE84694F3}" type="presParOf" srcId="{57857A76-3327-4ADD-963E-9D46216C44E1}" destId="{95F188E7-AFDB-4C6D-AF8A-A1ABB1B2F47D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69AD7-C2B7-486F-933C-DBAC6F624449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6D29E-6C90-4C86-A06A-012B1B8AF531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0" i="0" kern="1200" baseline="0"/>
            <a:t>小企业会计准则的颁布意义</a:t>
          </a:r>
          <a:endParaRPr lang="zh-CN" sz="2400" kern="1200"/>
        </a:p>
      </dsp:txBody>
      <dsp:txXfrm>
        <a:off x="560365" y="97774"/>
        <a:ext cx="7291750" cy="639310"/>
      </dsp:txXfrm>
    </dsp:sp>
    <dsp:sp modelId="{5FD3E3DF-9B06-4AA2-BCFD-50BF819A2453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4EA056-02B5-4C55-8405-7DBCA496457C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0" i="0" kern="1200" baseline="0" dirty="0"/>
            <a:t>小企业会计准则的制定过程</a:t>
          </a:r>
          <a:endParaRPr lang="zh-CN" sz="2400" kern="1200" dirty="0"/>
        </a:p>
      </dsp:txBody>
      <dsp:txXfrm>
        <a:off x="560365" y="1186414"/>
        <a:ext cx="7291750" cy="639310"/>
      </dsp:txXfrm>
    </dsp:sp>
    <dsp:sp modelId="{F77AE9E8-F7DD-4D27-BF2F-36D29E21537D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2EE66-0206-4148-B191-640F3BB6145A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0" i="0" kern="1200" baseline="0" dirty="0"/>
            <a:t>小企业会计准则的主要内容</a:t>
          </a:r>
          <a:endParaRPr lang="zh-CN" sz="2400" kern="1200" dirty="0"/>
        </a:p>
      </dsp:txBody>
      <dsp:txXfrm>
        <a:off x="560365" y="2275054"/>
        <a:ext cx="7291750" cy="639310"/>
      </dsp:txXfrm>
    </dsp:sp>
    <dsp:sp modelId="{4E224773-EE19-4B45-8C95-4C7165412485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E4462-6A5E-4196-B750-727D076BBE51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0" i="0" kern="1200" baseline="0" dirty="0"/>
            <a:t>小企业会计准则的贯彻实施</a:t>
          </a:r>
          <a:endParaRPr lang="zh-CN" sz="2400" kern="1200" dirty="0"/>
        </a:p>
      </dsp:txBody>
      <dsp:txXfrm>
        <a:off x="560365" y="3363694"/>
        <a:ext cx="7291750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64889-7F3A-40F0-9BEB-474E56B4A4D0}">
      <dsp:nvSpPr>
        <dsp:cNvPr id="0" name=""/>
        <dsp:cNvSpPr/>
      </dsp:nvSpPr>
      <dsp:spPr>
        <a:xfrm>
          <a:off x="2257145" y="2945"/>
          <a:ext cx="1429308" cy="92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制定方案 层层培训</a:t>
          </a:r>
        </a:p>
      </dsp:txBody>
      <dsp:txXfrm>
        <a:off x="2302497" y="48297"/>
        <a:ext cx="1338604" cy="838346"/>
      </dsp:txXfrm>
    </dsp:sp>
    <dsp:sp modelId="{AADD26E3-6905-42A6-8A2A-EC459BA23D4B}">
      <dsp:nvSpPr>
        <dsp:cNvPr id="0" name=""/>
        <dsp:cNvSpPr/>
      </dsp:nvSpPr>
      <dsp:spPr>
        <a:xfrm>
          <a:off x="784970" y="467470"/>
          <a:ext cx="4373658" cy="4373658"/>
        </a:xfrm>
        <a:custGeom>
          <a:avLst/>
          <a:gdLst/>
          <a:ahLst/>
          <a:cxnLst/>
          <a:rect l="0" t="0" r="0" b="0"/>
          <a:pathLst>
            <a:path>
              <a:moveTo>
                <a:pt x="2910596" y="123244"/>
              </a:moveTo>
              <a:arcTo wR="2186829" hR="2186829" stAng="17359647" swAng="149925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7608B7-53EA-45C7-8C6E-2CE91274C918}">
      <dsp:nvSpPr>
        <dsp:cNvPr id="0" name=""/>
        <dsp:cNvSpPr/>
      </dsp:nvSpPr>
      <dsp:spPr>
        <a:xfrm>
          <a:off x="4150995" y="1096360"/>
          <a:ext cx="1429308" cy="92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部门协作 扩大影响</a:t>
          </a:r>
        </a:p>
      </dsp:txBody>
      <dsp:txXfrm>
        <a:off x="4196347" y="1141712"/>
        <a:ext cx="1338604" cy="838346"/>
      </dsp:txXfrm>
    </dsp:sp>
    <dsp:sp modelId="{6D589DEC-43E9-4344-B569-F3B8B61446B9}">
      <dsp:nvSpPr>
        <dsp:cNvPr id="0" name=""/>
        <dsp:cNvSpPr/>
      </dsp:nvSpPr>
      <dsp:spPr>
        <a:xfrm>
          <a:off x="784970" y="467470"/>
          <a:ext cx="4373658" cy="4373658"/>
        </a:xfrm>
        <a:custGeom>
          <a:avLst/>
          <a:gdLst/>
          <a:ahLst/>
          <a:cxnLst/>
          <a:rect l="0" t="0" r="0" b="0"/>
          <a:pathLst>
            <a:path>
              <a:moveTo>
                <a:pt x="4284861" y="1569996"/>
              </a:moveTo>
              <a:arcTo wR="2186829" hR="2186829" stAng="20616983" swAng="196603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8BC8C8-6E79-47E2-AC83-7FAB08E6AD3F}">
      <dsp:nvSpPr>
        <dsp:cNvPr id="0" name=""/>
        <dsp:cNvSpPr/>
      </dsp:nvSpPr>
      <dsp:spPr>
        <a:xfrm>
          <a:off x="4150995" y="3283189"/>
          <a:ext cx="1429308" cy="92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交互培训 深化提高</a:t>
          </a:r>
        </a:p>
      </dsp:txBody>
      <dsp:txXfrm>
        <a:off x="4196347" y="3328541"/>
        <a:ext cx="1338604" cy="838346"/>
      </dsp:txXfrm>
    </dsp:sp>
    <dsp:sp modelId="{55F87EE2-D560-43F8-9F2F-8DE5A9DFEDB4}">
      <dsp:nvSpPr>
        <dsp:cNvPr id="0" name=""/>
        <dsp:cNvSpPr/>
      </dsp:nvSpPr>
      <dsp:spPr>
        <a:xfrm>
          <a:off x="784970" y="467470"/>
          <a:ext cx="4373658" cy="4373658"/>
        </a:xfrm>
        <a:custGeom>
          <a:avLst/>
          <a:gdLst/>
          <a:ahLst/>
          <a:cxnLst/>
          <a:rect l="0" t="0" r="0" b="0"/>
          <a:pathLst>
            <a:path>
              <a:moveTo>
                <a:pt x="3714555" y="3751525"/>
              </a:moveTo>
              <a:arcTo wR="2186829" hR="2186829" stAng="2741097" swAng="149925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8A45C-1A57-4C1A-83D8-7B3770449106}">
      <dsp:nvSpPr>
        <dsp:cNvPr id="0" name=""/>
        <dsp:cNvSpPr/>
      </dsp:nvSpPr>
      <dsp:spPr>
        <a:xfrm>
          <a:off x="2257145" y="4376604"/>
          <a:ext cx="1429308" cy="92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统编教材 方便学习</a:t>
          </a:r>
        </a:p>
      </dsp:txBody>
      <dsp:txXfrm>
        <a:off x="2302497" y="4421956"/>
        <a:ext cx="1338604" cy="838346"/>
      </dsp:txXfrm>
    </dsp:sp>
    <dsp:sp modelId="{5E5873DB-ABCC-44BE-AF43-FDEF72D6BF1C}">
      <dsp:nvSpPr>
        <dsp:cNvPr id="0" name=""/>
        <dsp:cNvSpPr/>
      </dsp:nvSpPr>
      <dsp:spPr>
        <a:xfrm>
          <a:off x="784970" y="467470"/>
          <a:ext cx="4373658" cy="4373658"/>
        </a:xfrm>
        <a:custGeom>
          <a:avLst/>
          <a:gdLst/>
          <a:ahLst/>
          <a:cxnLst/>
          <a:rect l="0" t="0" r="0" b="0"/>
          <a:pathLst>
            <a:path>
              <a:moveTo>
                <a:pt x="1463062" y="4250414"/>
              </a:moveTo>
              <a:arcTo wR="2186829" hR="2186829" stAng="6559647" swAng="149925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19D739-D486-460A-81B4-0DCA34C64947}">
      <dsp:nvSpPr>
        <dsp:cNvPr id="0" name=""/>
        <dsp:cNvSpPr/>
      </dsp:nvSpPr>
      <dsp:spPr>
        <a:xfrm>
          <a:off x="363296" y="3283189"/>
          <a:ext cx="1429308" cy="92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形式多样 深入人心</a:t>
          </a:r>
        </a:p>
      </dsp:txBody>
      <dsp:txXfrm>
        <a:off x="408648" y="3328541"/>
        <a:ext cx="1338604" cy="838346"/>
      </dsp:txXfrm>
    </dsp:sp>
    <dsp:sp modelId="{F17D01FE-CD2B-4FE0-BF14-A5A9E4AD6018}">
      <dsp:nvSpPr>
        <dsp:cNvPr id="0" name=""/>
        <dsp:cNvSpPr/>
      </dsp:nvSpPr>
      <dsp:spPr>
        <a:xfrm>
          <a:off x="784970" y="467470"/>
          <a:ext cx="4373658" cy="4373658"/>
        </a:xfrm>
        <a:custGeom>
          <a:avLst/>
          <a:gdLst/>
          <a:ahLst/>
          <a:cxnLst/>
          <a:rect l="0" t="0" r="0" b="0"/>
          <a:pathLst>
            <a:path>
              <a:moveTo>
                <a:pt x="88796" y="2803662"/>
              </a:moveTo>
              <a:arcTo wR="2186829" hR="2186829" stAng="9816983" swAng="196603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1E5BB-83CA-41CE-86AA-7111C83D86DC}">
      <dsp:nvSpPr>
        <dsp:cNvPr id="0" name=""/>
        <dsp:cNvSpPr/>
      </dsp:nvSpPr>
      <dsp:spPr>
        <a:xfrm>
          <a:off x="363296" y="1096360"/>
          <a:ext cx="1429308" cy="929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统筹规划 确保质量</a:t>
          </a:r>
        </a:p>
      </dsp:txBody>
      <dsp:txXfrm>
        <a:off x="408648" y="1141712"/>
        <a:ext cx="1338604" cy="838346"/>
      </dsp:txXfrm>
    </dsp:sp>
    <dsp:sp modelId="{95F188E7-AFDB-4C6D-AF8A-A1ABB1B2F47D}">
      <dsp:nvSpPr>
        <dsp:cNvPr id="0" name=""/>
        <dsp:cNvSpPr/>
      </dsp:nvSpPr>
      <dsp:spPr>
        <a:xfrm>
          <a:off x="784970" y="467470"/>
          <a:ext cx="4373658" cy="4373658"/>
        </a:xfrm>
        <a:custGeom>
          <a:avLst/>
          <a:gdLst/>
          <a:ahLst/>
          <a:cxnLst/>
          <a:rect l="0" t="0" r="0" b="0"/>
          <a:pathLst>
            <a:path>
              <a:moveTo>
                <a:pt x="659103" y="622132"/>
              </a:moveTo>
              <a:arcTo wR="2186829" hR="2186829" stAng="13541097" swAng="149925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68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00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85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7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64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96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18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56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91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51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071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C14A9-8DDD-41BB-A99C-AB2937DE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A950F6-CCFA-4169-8B6A-2768959F6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AC08F8-4D1C-47F1-8C45-BE1A992A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F0453-04CB-4442-AB32-D787420B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65256-1547-439C-8D21-B3436A0C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395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926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82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39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833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034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287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91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816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334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000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9462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C14A9-8DDD-41BB-A99C-AB2937DE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A950F6-CCFA-4169-8B6A-2768959F6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AC08F8-4D1C-47F1-8C45-BE1A992A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F0453-04CB-4442-AB32-D787420B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65256-1547-439C-8D21-B3436A0C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81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6300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53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8992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2728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394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834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504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3088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2749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7996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959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19670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0315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221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56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4756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4982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025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3337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8485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4299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0539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832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006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761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114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9179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67826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3154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75753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236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9548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195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C14A9-8DDD-41BB-A99C-AB2937DE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A950F6-CCFA-4169-8B6A-2768959F6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AC08F8-4D1C-47F1-8C45-BE1A992A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F0453-04CB-4442-AB32-D787420B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65256-1547-439C-8D21-B3436A0C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4836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3036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7110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0114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38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6854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056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5677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9287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840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945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7858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08932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36984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025195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7247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192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1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8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7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453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32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FEC8FE-9B64-44BD-9FBE-F36EF86163C1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5469F8-6D8E-41BF-A180-3E5541EB3F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735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%E3%82%A4%E3%82%BF%E3%83%AB%E3%82%BF%E3%82%B9%E9%80%9A%E4%BF%A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file:///C:\WEXAM\000000000000\&#23567;&#20225;&#19994;&#20934;&#21017;&#36866;&#29992;&#34892;&#19994;&#33539;&#22260;.docx" TargetMode="External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15CB9-908B-47F7-BC27-48057B5AF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2200" baseline="0" dirty="0">
                <a:latin typeface="Calibri" panose="020F0502020204030204" pitchFamily="34" charset="0"/>
                <a:ea typeface="黑体" panose="02010609060101010101" pitchFamily="49" charset="-122"/>
              </a:rPr>
              <a:t>《</a:t>
            </a:r>
            <a:r>
              <a:rPr lang="zh-CN" altLang="en-US" b="0" i="0" u="none" strike="noStrike" kern="2200" baseline="0" dirty="0">
                <a:latin typeface="Calibri" panose="020F0502020204030204" pitchFamily="34" charset="0"/>
                <a:ea typeface="黑体" panose="02010609060101010101" pitchFamily="49" charset="-122"/>
              </a:rPr>
              <a:t>小企业会计准则</a:t>
            </a:r>
            <a:r>
              <a:rPr lang="en-US" altLang="zh-CN" b="0" i="0" u="none" strike="noStrike" kern="2200" baseline="0" dirty="0">
                <a:latin typeface="Calibri" panose="020F0502020204030204" pitchFamily="34" charset="0"/>
                <a:ea typeface="黑体" panose="02010609060101010101" pitchFamily="49" charset="-122"/>
              </a:rPr>
              <a:t>》</a:t>
            </a:r>
            <a:r>
              <a:rPr lang="zh-CN" altLang="en-US" b="0" i="0" u="none" strike="noStrike" kern="2200" baseline="0" dirty="0">
                <a:latin typeface="Calibri" panose="020F0502020204030204" pitchFamily="34" charset="0"/>
                <a:ea typeface="黑体" panose="02010609060101010101" pitchFamily="49" charset="-122"/>
              </a:rPr>
              <a:t>基本精神及主要内容解析</a:t>
            </a:r>
            <a:endParaRPr lang="zh-CN" altLang="en-US" b="0" i="0" u="none" strike="noStrike" kern="2200" baseline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B4A8E6-2155-4905-AC68-FD97E4C57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2012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年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7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月</a:t>
            </a:r>
            <a:endParaRPr lang="zh-CN" altLang="en-US" b="0" i="0" u="none" strike="noStrike" kern="100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943A05-9BCA-4425-938A-A6586D629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9667875" y="4806772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381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8DDC0-DE01-4499-B49F-F7DC29AF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关于印发</a:t>
            </a:r>
            <a:r>
              <a:rPr lang="en-US" altLang="zh-CN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《</a:t>
            </a:r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小企业会计准则</a:t>
            </a:r>
            <a:r>
              <a:rPr lang="en-US" altLang="zh-CN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》</a:t>
            </a:r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的通知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E55368-C1E5-4E2E-AB92-0898DCEA3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rtl="0">
              <a:buNone/>
            </a:pP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为了规范小企业会计确认、计量和报告行为，促进小企业可持续发展，发挥小企业在国民经济和社会发展中的重要作用，根据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中华人民共和国会计法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及其他有关法律和法规，我部制定了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，现予印发，自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2013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年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月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日起在小企业范围内施行，鼓励小企业提前执行。我部于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2004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年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4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月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27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日发布的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小企业会计制度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（财会</a:t>
            </a:r>
            <a:r>
              <a:rPr lang="en-US" altLang="zh-CN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[2004]2</a:t>
            </a: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号）同时废止。</a:t>
            </a:r>
          </a:p>
          <a:p>
            <a:pPr marL="0" marR="0" lvl="0" indent="0" rtl="0">
              <a:buNone/>
            </a:pP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执行中有何问题，请及时反馈我部。</a:t>
            </a:r>
          </a:p>
          <a:p>
            <a:pPr marL="0" marR="0" lvl="0" indent="0" rtl="0">
              <a:buNone/>
            </a:pP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附件：小企业会计准则</a:t>
            </a:r>
          </a:p>
          <a:p>
            <a:pPr marL="0" marR="0" lvl="0" indent="0" algn="r" rtl="0">
              <a:buNone/>
            </a:pP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财政部</a:t>
            </a:r>
          </a:p>
          <a:p>
            <a:pPr marL="0" marR="0" lvl="0" indent="0" algn="r" rtl="0">
              <a:buNone/>
            </a:pPr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二○一一年十月十八日</a:t>
            </a:r>
            <a:endParaRPr lang="zh-CN" altLang="en-US" b="0" i="0" u="none" strike="noStrike" kern="100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17551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4814B-C37F-439B-8D77-CF3BFFF2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本次讲座重点内容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37427C77-52DF-41D6-BF7D-0479407B8F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2107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26158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E54F4-1B4E-4492-AD8E-72471A59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小企业会计准则的颁布意义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3A98B4-0C2B-4BC5-8EBE-290940362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一、为小企业健康发展提供更好的服务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二、进一步完善国家企业会计标准体系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三、推进会计体系进一步与国际趋同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四、保证小企业会计信息质量的需要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2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802A7-3B89-4D5D-857E-064956BA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一、为小企业健康发展提供更好的服务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2C2E77-0C6B-4E07-A54A-ED37468AC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（一）小企业是国民经济和社会发展的重要力量</a:t>
            </a:r>
          </a:p>
          <a:p>
            <a:pPr marR="0" lvl="1" rtl="0"/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项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目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企业总数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城镇就业岗位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企业技术创新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GDP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总量</a:t>
            </a:r>
          </a:p>
          <a:p>
            <a:pPr marR="0" lvl="1" rtl="0"/>
            <a:r>
              <a:rPr lang="zh-CN" altLang="en-US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中小企业占比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99%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　　　</a:t>
            </a:r>
            <a:r>
              <a:rPr lang="en-US" altLang="zh-CN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80%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　　　　　</a:t>
            </a:r>
            <a:r>
              <a:rPr lang="en-US" altLang="zh-CN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75%</a:t>
            </a:r>
            <a:r>
              <a:rPr lang="zh-CN" altLang="en-US" b="0" i="0" u="none" strike="noStrike" kern="100" baseline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　　　</a:t>
            </a:r>
            <a:r>
              <a:rPr lang="en-US" altLang="zh-CN" b="0" i="0" u="none" strike="noStrike" kern="100" baseline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60%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政策依据：</a:t>
            </a:r>
          </a:p>
          <a:p>
            <a:pPr marR="0" lvl="1" rtl="0"/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中华人民共和国中小企业促进法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》2003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年</a:t>
            </a:r>
          </a:p>
          <a:p>
            <a:pPr marR="0" lvl="1" rtl="0"/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鼓励支持和引导个体私营等非公有制经济发展的若干意见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（国发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[2005]3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号）</a:t>
            </a:r>
          </a:p>
          <a:p>
            <a:pPr marR="0" lvl="1" rtl="0"/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国务院关于进一步促进中小企业发展的若干意见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（国发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[2009]36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号）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（二）财政扶持举措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加大对小型微型企业税收扶持力度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支持金融机构加强对小型微型企业的金融服务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扩大中小企业专项资金规模，更多运用间接方式扶持小型微型企业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进一步清理取消和减免部分涉企收费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发布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》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（三）会计扶持举措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规范会计行为，保证信息质量，加强企业管理，提高企业信用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保障依法征税，促进依法纳税，维护税收公平，落实税收优惠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完善银行征信系统，提高信贷决策水平，落实金融扶持政策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234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2EF50-52DC-4417-ABBC-29DA4A00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二、完善企业会计准则标准体系的需要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4752E-32C8-4E25-AD4A-918E2C271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（一）企业会计准则体系框架已基本建成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（二）小企业会计核算现状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行业会计制度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企业会计制度和行业核算办法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小企业会计制度等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（三）建立实施企业会计标准体系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大中型企业执行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企业会计准则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》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小企业执行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》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36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A6011-A4BD-45DD-A8B8-A302819A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三、推进会计国际趋同的需要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B1CD0E-919E-4F62-9779-2990BC44D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（一）国际会计组织对中小企业会计研究很重视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（二）英美等主要发达国家均推行差别报告制度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（三）我国小企业会计准则实施要求高于国际标准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530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F8864-373A-4625-91E8-3E45E9DFC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四、保证小企业会计信息质量的需要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1808BF-2018-48A0-B6A2-4B5292F81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小企业会计核算标准发展历程</a:t>
            </a:r>
          </a:p>
          <a:p>
            <a:pPr marR="0" lvl="1" rtl="0"/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1992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年：分行业会计制度</a:t>
            </a:r>
          </a:p>
          <a:p>
            <a:pPr marR="0" lvl="1" rtl="0"/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2004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年：小企业会计制度</a:t>
            </a:r>
          </a:p>
          <a:p>
            <a:pPr marR="0" lvl="1" rtl="0"/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2011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年：小企业会计准则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D1ADA-E4BC-4A57-B651-81290CA4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小企业会计准则的制定过程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D9D08-ED86-4EBA-9193-E22EE03F94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深入调研：理论研究、实践论证</a:t>
            </a:r>
          </a:p>
          <a:p>
            <a:pPr marR="0" lvl="1" rtl="0"/>
            <a:endParaRPr lang="en-US" altLang="zh-CN" b="0" i="0" u="none" strike="noStrike" kern="100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两次广泛征求社会意见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组织抽样模拟测试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做好发布实施前准备工作</a:t>
            </a:r>
            <a:endParaRPr lang="zh-CN" altLang="en-US" b="0" i="0" u="none" strike="noStrike" kern="100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D0EA09-2E1D-4CEB-8021-95D5F7BDF19A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4675" y="2903276"/>
            <a:ext cx="4395788" cy="2505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6094188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7B08D-33B2-468C-8639-31E088FD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 dirty="0">
                <a:latin typeface="Calibri" panose="020F0502020204030204" pitchFamily="34" charset="0"/>
                <a:ea typeface="黑体" panose="02010609060101010101" pitchFamily="49" charset="-122"/>
              </a:rPr>
              <a:t>小企业会计准则的主要内容</a:t>
            </a:r>
            <a:endParaRPr lang="zh-CN" altLang="en-US" b="0" i="0" u="none" strike="noStrike" kern="2200" baseline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2AA21-088A-4DCC-AF5F-A2CBD0D86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一、形成一个完整的体系标准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二、统一中小企业划分范畴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三、主要服务于两类对象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四、致力于协调三大关系</a:t>
            </a:r>
            <a:endParaRPr lang="zh-CN" altLang="en-US" b="0" i="0" u="none" strike="noStrike" kern="2200" baseline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342727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62C90-35DA-4354-B804-D41F59A9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一、形成一个完整的体系标准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5DD249-6F9A-4FCC-8210-26CC27192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小企业会计准则：主要规范小企业通常发生的交易或事项的会计处理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小企业会计准则应用指南：操作性规范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主要特点：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（一）简化会计核算要求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（二）采用历史成本计量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（三）行业适用范围更广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131803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B0CCE-241C-42F5-8954-10E08BCF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（一）简化会计核算要求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FC9A09-03E9-4392-A782-43907E2B0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小企业规模较小、业务较为简单、会计基础工作较为薄弱、会计信息使用者的信息需求相对单一等实际情况，对小企业的会计确认、计量和报告进行了简化处理，减少了会计人员职业判断的内容与空间。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会计科目账务处理大量简化。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统一采用成本法核算长期股权投资。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统一采用直线法摊销债券的折价或者溢价。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要求企业采用应付税款法核算所得税，大大简化了所得税的会计处理。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统一采用未来适用法对会计政策变更和会计差错更正进行会计处理。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238158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E1A43-A96B-4EC2-BCCB-CA1A0E00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（二）采用历史成本计量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D78936-A3FC-45B6-9325-77AE2CF29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资产要求按照成本计量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第六条 小企业的资产应当按照成本计量，不计提资产减值准备。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用历史成本，不使用公允价值，部分特殊情况使用市场价格和评估价值。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负债要求按照实际发生额入账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第四十七条各项流动负债应当按照其实际发生额入账。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第五十二条非流动负债应当按照其实际发生额入账。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9784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4F6C7-4B83-45C8-8BD0-1D2804C4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（三）适用行业范围更广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B82EE4-050F-4871-9550-292D3B0F6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消耗性生物资产核算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生产性生物资产核算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工程施工</a:t>
            </a:r>
          </a:p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机械作业</a:t>
            </a:r>
          </a:p>
          <a:p>
            <a:pPr lvl="2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  <a:hlinkClick r:id="rId2" action="ppaction://hlinkfile"/>
              </a:rPr>
              <a:t>小企业会计准则与原制度适用行业范围比较</a:t>
            </a:r>
            <a:endParaRPr lang="zh-CN" altLang="en-US" b="0" i="0" u="none" strike="noStrike" kern="100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099431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AD2B0-BEB8-42B6-A6F7-D847D5AE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 dirty="0">
                <a:latin typeface="Calibri" panose="020F0502020204030204" pitchFamily="34" charset="0"/>
                <a:ea typeface="黑体" panose="02010609060101010101" pitchFamily="49" charset="-122"/>
              </a:rPr>
              <a:t>二、统一中小企业划分范畴</a:t>
            </a:r>
            <a:endParaRPr lang="zh-CN" altLang="en-US" b="0" i="0" u="none" strike="noStrike" kern="2200" baseline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B8B8C9-8C58-462D-BE19-6F743823C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kern="100" baseline="0" dirty="0">
                <a:latin typeface="Cambria" panose="02040503050406030204" pitchFamily="18" charset="0"/>
                <a:ea typeface="宋体" panose="02010600030101010101" pitchFamily="2" charset="-122"/>
              </a:rPr>
              <a:t>（一）定量标准：小型、微型企业划型标准</a:t>
            </a:r>
            <a:endParaRPr lang="en-US" altLang="zh-CN" b="0" i="0" u="none" strike="noStrike" kern="100" baseline="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marR="0" lvl="0" rtl="0"/>
            <a:endParaRPr lang="zh-CN" altLang="en-US" b="0" i="0" u="none" strike="noStrike" kern="100" baseline="0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7FF74F-A973-4DB4-8E2C-DABEAE923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868487"/>
              </p:ext>
            </p:extLst>
          </p:nvPr>
        </p:nvGraphicFramePr>
        <p:xfrm>
          <a:off x="685801" y="2343150"/>
          <a:ext cx="9677399" cy="3833806"/>
        </p:xfrm>
        <a:graphic>
          <a:graphicData uri="http://schemas.openxmlformats.org/drawingml/2006/table">
            <a:tbl>
              <a:tblPr firstRow="1" firstCol="1" bandRow="1"/>
              <a:tblGrid>
                <a:gridCol w="4140503">
                  <a:extLst>
                    <a:ext uri="{9D8B030D-6E8A-4147-A177-3AD203B41FA5}">
                      <a16:colId xmlns:a16="http://schemas.microsoft.com/office/drawing/2014/main" val="1491530474"/>
                    </a:ext>
                  </a:extLst>
                </a:gridCol>
                <a:gridCol w="1803088">
                  <a:extLst>
                    <a:ext uri="{9D8B030D-6E8A-4147-A177-3AD203B41FA5}">
                      <a16:colId xmlns:a16="http://schemas.microsoft.com/office/drawing/2014/main" val="2624057813"/>
                    </a:ext>
                  </a:extLst>
                </a:gridCol>
                <a:gridCol w="1993455">
                  <a:extLst>
                    <a:ext uri="{9D8B030D-6E8A-4147-A177-3AD203B41FA5}">
                      <a16:colId xmlns:a16="http://schemas.microsoft.com/office/drawing/2014/main" val="636781491"/>
                    </a:ext>
                  </a:extLst>
                </a:gridCol>
                <a:gridCol w="1740353">
                  <a:extLst>
                    <a:ext uri="{9D8B030D-6E8A-4147-A177-3AD203B41FA5}">
                      <a16:colId xmlns:a16="http://schemas.microsoft.com/office/drawing/2014/main" val="4119631802"/>
                    </a:ext>
                  </a:extLst>
                </a:gridCol>
              </a:tblGrid>
              <a:tr h="22551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从业人员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营业收入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资产总额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403984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农、林、牧、渔业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295238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工业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97398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建筑业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012263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批发业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2097090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零售业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249525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交通运输业（不含铁路运输业）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814572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仓储业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78286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邮政业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066159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住宿业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981983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餐饮业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626473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信息传输业（包括电信、互联网和相关服务）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393666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软件和信息技术服务业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86182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房地产开发经营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69434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物业管理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2758540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租赁和商务服务业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万元及以下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187050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其他未列明行业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900" b="1" kern="10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人及以下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503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63593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672A5-928A-475F-89B8-FB0EC34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二、统一中小企业划分范畴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A6C857-F1CB-4283-9ACC-EE7E062A3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（二）定性标准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下列小企业例外（应执行企业会计准则）：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股票或债券在市场上公开交易的小企业。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金融机构或其他具有金融性质的小企业。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企业集团内的母公司和子公司。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已执行企业会计准则的小型企业，不得转而使用本准则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（三）其他说明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符合条件的小企业也可以执行企业会计准则，但不可同时参照小企业会计准则。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小企业会计准则未做说明的业务可以参照企业会计准则处理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68197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1AADA-FE80-4814-8D61-30DF88D4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三、主要服务于两类对象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AC26E0F-198D-436D-B769-43109B4C5C3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1885950"/>
            <a:ext cx="6029325" cy="31011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209489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C535C-CDE3-41CD-B740-24B2D0EF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四、致力于协调三大关系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15E7EF-5A10-4229-BBFB-FEC492BD6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与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企业所得税法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的关系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观点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：会计与税法尽量一致√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观点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：会计与税法适当分离</a:t>
            </a:r>
          </a:p>
          <a:p>
            <a:pPr marR="0" lvl="0" rtl="0"/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与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的关系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观点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：独立观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观点</a:t>
            </a:r>
            <a:r>
              <a:rPr lang="en-US" altLang="zh-CN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：发展观√</a:t>
            </a:r>
          </a:p>
          <a:p>
            <a:pPr marR="0" lvl="0" rtl="0"/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与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中小主体国际财务报告准则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的关系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体现简化原则</a:t>
            </a:r>
          </a:p>
          <a:p>
            <a:pPr marR="0" lvl="1" rtl="0"/>
            <a:r>
              <a:rPr lang="zh-CN" altLang="en-US" b="0" i="0" u="none" strike="noStrike" kern="100" baseline="0">
                <a:latin typeface="Calibri" panose="020F0502020204030204" pitchFamily="34" charset="0"/>
                <a:ea typeface="宋体" panose="02010600030101010101" pitchFamily="2" charset="-122"/>
              </a:rPr>
              <a:t>实施范围更大</a:t>
            </a: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926778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7B70E-7A21-444B-BB50-1DC250BF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小企业会计准则的贯彻实施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38EA79E1-F91B-41FE-B308-101F002E3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39465"/>
              </p:ext>
            </p:extLst>
          </p:nvPr>
        </p:nvGraphicFramePr>
        <p:xfrm>
          <a:off x="684213" y="685800"/>
          <a:ext cx="5943600" cy="530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BC11D2-D466-4715-928D-98CB55D95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财会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[2011]20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号文件</a:t>
            </a:r>
            <a:r>
              <a:rPr lang="zh-CN" altLang="en-US" b="0" i="0" u="none" strike="noStrike" kern="100" baseline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关于贯彻实施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的指导意见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　　各省、自治区、直辖市、计划单列市财政厅（局）、中小企业主管部门、国家税务局、地方税务局、工商行政管理局、市场监督管理局、银监局，财政部驻各省、自治区、直辖市、计划单列市财政监察专员办事处：</a:t>
            </a:r>
            <a:r>
              <a:rPr lang="zh-CN" altLang="en-US" b="0" i="0" u="none" strike="noStrike" kern="100" baseline="0">
                <a:latin typeface="Times New Roman" panose="02020603050405020304" pitchFamily="18" charset="0"/>
                <a:ea typeface="宋体" panose="02010600030101010101" pitchFamily="2" charset="-122"/>
              </a:rPr>
              <a:t/>
            </a:r>
            <a:br>
              <a:rPr lang="zh-CN" altLang="en-US" b="0" i="0" u="none" strike="noStrike" kern="100" baseline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（财会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[2011]17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号）已正式发布，自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2013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年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月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日起在全国小企业范围内实施。为贯彻实施好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《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小企业会计准则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》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，现提出以下意见： </a:t>
            </a:r>
            <a:b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</a:b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……</a:t>
            </a:r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（略）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财政部、工业和信息化部、国家税务总局、工商总局、银监会</a:t>
            </a:r>
          </a:p>
          <a:p>
            <a:pPr marR="0" lvl="0" rtl="0"/>
            <a:r>
              <a:rPr lang="zh-CN" altLang="en-US" b="0" i="0" u="none" strike="noStrike" kern="100" baseline="0">
                <a:latin typeface="Cambria" panose="02040503050406030204" pitchFamily="18" charset="0"/>
                <a:ea typeface="宋体" panose="02010600030101010101" pitchFamily="2" charset="-122"/>
              </a:rPr>
              <a:t>二〇一一年十月二十六日</a:t>
            </a:r>
            <a:r>
              <a:rPr lang="zh-CN" altLang="en-US" b="0" i="0" u="none" strike="noStrike" kern="100" baseline="0">
                <a:latin typeface="Times New Roman" panose="02020603050405020304" pitchFamily="18" charset="0"/>
                <a:ea typeface="宋体" panose="02010600030101010101" pitchFamily="2" charset="-122"/>
              </a:rPr>
              <a:t/>
            </a:r>
            <a:br>
              <a:rPr lang="zh-CN" altLang="en-US" b="0" i="0" u="none" strike="noStrike" kern="100" baseline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en-US" b="0" i="0" u="none" strike="noStrike" kern="1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25941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D64889-7F3A-40F0-9BEB-474E56B4A4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DBD64889-7F3A-40F0-9BEB-474E56B4A4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DBD64889-7F3A-40F0-9BEB-474E56B4A4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DBD64889-7F3A-40F0-9BEB-474E56B4A4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D26E3-6905-42A6-8A2A-EC459BA23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graphicEl>
                                              <a:dgm id="{AADD26E3-6905-42A6-8A2A-EC459BA23D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graphicEl>
                                              <a:dgm id="{AADD26E3-6905-42A6-8A2A-EC459BA23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graphicEl>
                                              <a:dgm id="{AADD26E3-6905-42A6-8A2A-EC459BA23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A7608B7-53EA-45C7-8C6E-2CE91274C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graphicEl>
                                              <a:dgm id="{CA7608B7-53EA-45C7-8C6E-2CE91274C9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graphicEl>
                                              <a:dgm id="{CA7608B7-53EA-45C7-8C6E-2CE91274C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graphicEl>
                                              <a:dgm id="{CA7608B7-53EA-45C7-8C6E-2CE91274C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589DEC-43E9-4344-B569-F3B8B6144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graphicEl>
                                              <a:dgm id="{6D589DEC-43E9-4344-B569-F3B8B61446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graphicEl>
                                              <a:dgm id="{6D589DEC-43E9-4344-B569-F3B8B6144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graphicEl>
                                              <a:dgm id="{6D589DEC-43E9-4344-B569-F3B8B6144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F8BC8C8-6E79-47E2-AC83-7FAB08E6AD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graphicEl>
                                              <a:dgm id="{4F8BC8C8-6E79-47E2-AC83-7FAB08E6AD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graphicEl>
                                              <a:dgm id="{4F8BC8C8-6E79-47E2-AC83-7FAB08E6AD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graphicEl>
                                              <a:dgm id="{4F8BC8C8-6E79-47E2-AC83-7FAB08E6AD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F87EE2-D560-43F8-9F2F-8DE5A9DFE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graphicEl>
                                              <a:dgm id="{55F87EE2-D560-43F8-9F2F-8DE5A9DFED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graphicEl>
                                              <a:dgm id="{55F87EE2-D560-43F8-9F2F-8DE5A9DFE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graphicEl>
                                              <a:dgm id="{55F87EE2-D560-43F8-9F2F-8DE5A9DFE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D8A45C-1A57-4C1A-83D8-7B37704491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graphicEl>
                                              <a:dgm id="{F0D8A45C-1A57-4C1A-83D8-7B37704491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graphicEl>
                                              <a:dgm id="{F0D8A45C-1A57-4C1A-83D8-7B37704491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graphicEl>
                                              <a:dgm id="{F0D8A45C-1A57-4C1A-83D8-7B37704491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5873DB-ABCC-44BE-AF43-FDEF72D6B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graphicEl>
                                              <a:dgm id="{5E5873DB-ABCC-44BE-AF43-FDEF72D6BF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graphicEl>
                                              <a:dgm id="{5E5873DB-ABCC-44BE-AF43-FDEF72D6B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5E5873DB-ABCC-44BE-AF43-FDEF72D6B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719D739-D486-460A-81B4-0DCA34C64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graphicEl>
                                              <a:dgm id="{0719D739-D486-460A-81B4-0DCA34C649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graphicEl>
                                              <a:dgm id="{0719D739-D486-460A-81B4-0DCA34C64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graphicEl>
                                              <a:dgm id="{0719D739-D486-460A-81B4-0DCA34C64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7D01FE-CD2B-4FE0-BF14-A5A9E4AD6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>
                                            <p:graphicEl>
                                              <a:dgm id="{F17D01FE-CD2B-4FE0-BF14-A5A9E4AD60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graphicEl>
                                              <a:dgm id="{F17D01FE-CD2B-4FE0-BF14-A5A9E4AD6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F17D01FE-CD2B-4FE0-BF14-A5A9E4AD6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71E5BB-83CA-41CE-86AA-7111C83D8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>
                                            <p:graphicEl>
                                              <a:dgm id="{2371E5BB-83CA-41CE-86AA-7111C83D86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graphicEl>
                                              <a:dgm id="{2371E5BB-83CA-41CE-86AA-7111C83D8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2371E5BB-83CA-41CE-86AA-7111C83D8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F188E7-AFDB-4C6D-AF8A-A1ABB1B2F4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">
                                            <p:graphicEl>
                                              <a:dgm id="{95F188E7-AFDB-4C6D-AF8A-A1ABB1B2F4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>
                                            <p:graphicEl>
                                              <a:dgm id="{95F188E7-AFDB-4C6D-AF8A-A1ABB1B2F4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graphicEl>
                                              <a:dgm id="{95F188E7-AFDB-4C6D-AF8A-A1ABB1B2F4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9E6E0-79E9-47BF-9EC3-79ECB28B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>
                <a:latin typeface="Calibri" panose="020F0502020204030204" pitchFamily="34" charset="0"/>
                <a:ea typeface="黑体" panose="02010609060101010101" pitchFamily="49" charset="-122"/>
              </a:rPr>
              <a:t>五个部门的实施措施</a:t>
            </a:r>
            <a:endParaRPr lang="zh-CN" altLang="en-US" b="0" i="0" u="none" strike="noStrike" kern="2200" baseline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FFF0A70-C727-4B4C-A2CF-EBE82B0EA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038" y="983456"/>
            <a:ext cx="5238750" cy="3019425"/>
          </a:xfrm>
        </p:spPr>
      </p:pic>
    </p:spTree>
    <p:extLst>
      <p:ext uri="{BB962C8B-B14F-4D97-AF65-F5344CB8AC3E}">
        <p14:creationId xmlns:p14="http://schemas.microsoft.com/office/powerpoint/2010/main" val="3548634621"/>
      </p:ext>
    </p:extLst>
  </p:cSld>
  <p:clrMapOvr>
    <a:masterClrMapping/>
  </p:clrMapOvr>
  <p:transition spd="slow">
    <p:cover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~present</Template>
  <TotalTime>76</TotalTime>
  <Words>1212</Words>
  <Application>Microsoft Office PowerPoint</Application>
  <PresentationFormat>宽屏</PresentationFormat>
  <Paragraphs>195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方正姚体</vt:lpstr>
      <vt:lpstr>黑体</vt:lpstr>
      <vt:lpstr>华文仿宋</vt:lpstr>
      <vt:lpstr>华文新魏</vt:lpstr>
      <vt:lpstr>宋体</vt:lpstr>
      <vt:lpstr>幼圆</vt:lpstr>
      <vt:lpstr>Arial</vt:lpstr>
      <vt:lpstr>Calibri</vt:lpstr>
      <vt:lpstr>Calibri Light</vt:lpstr>
      <vt:lpstr>Cambria</vt:lpstr>
      <vt:lpstr>Century Gothic</vt:lpstr>
      <vt:lpstr>Times New Roman</vt:lpstr>
      <vt:lpstr>Trebuchet MS</vt:lpstr>
      <vt:lpstr>Tw Cen MT</vt:lpstr>
      <vt:lpstr>Tw Cen MT Condensed</vt:lpstr>
      <vt:lpstr>Wingdings 3</vt:lpstr>
      <vt:lpstr>回顾</vt:lpstr>
      <vt:lpstr>积分</vt:lpstr>
      <vt:lpstr>离子</vt:lpstr>
      <vt:lpstr>平面</vt:lpstr>
      <vt:lpstr>切片</vt:lpstr>
      <vt:lpstr>《小企业会计准则》基本精神及主要内容解析</vt:lpstr>
      <vt:lpstr>关于印发《小企业会计准则》的通知</vt:lpstr>
      <vt:lpstr>本次讲座重点内容</vt:lpstr>
      <vt:lpstr>小企业会计准则的颁布意义</vt:lpstr>
      <vt:lpstr>一、为小企业健康发展提供更好的服务</vt:lpstr>
      <vt:lpstr>二、完善企业会计准则标准体系的需要</vt:lpstr>
      <vt:lpstr>三、推进会计国际趋同的需要</vt:lpstr>
      <vt:lpstr>四、保证小企业会计信息质量的需要</vt:lpstr>
      <vt:lpstr>小企业会计准则的制定过程</vt:lpstr>
      <vt:lpstr>小企业会计准则的主要内容</vt:lpstr>
      <vt:lpstr>一、形成一个完整的体系标准</vt:lpstr>
      <vt:lpstr>（一）简化会计核算要求</vt:lpstr>
      <vt:lpstr>（二）采用历史成本计量</vt:lpstr>
      <vt:lpstr>（三）适用行业范围更广</vt:lpstr>
      <vt:lpstr>二、统一中小企业划分范畴</vt:lpstr>
      <vt:lpstr>二、统一中小企业划分范畴</vt:lpstr>
      <vt:lpstr>三、主要服务于两类对象</vt:lpstr>
      <vt:lpstr>四、致力于协调三大关系</vt:lpstr>
      <vt:lpstr>小企业会计准则的贯彻实施</vt:lpstr>
      <vt:lpstr>五个部门的实施措施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《小企业会计准则》基本精神及主要内容解析</dc:title>
  <dc:creator>Administrator</dc:creator>
  <cp:lastModifiedBy>Administrator</cp:lastModifiedBy>
  <cp:revision>7</cp:revision>
  <dcterms:created xsi:type="dcterms:W3CDTF">2020-04-13T02:30:31Z</dcterms:created>
  <dcterms:modified xsi:type="dcterms:W3CDTF">2020-12-03T09:27:58Z</dcterms:modified>
</cp:coreProperties>
</file>