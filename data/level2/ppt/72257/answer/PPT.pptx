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4" d="100"/>
          <a:sy n="44" d="100"/>
        </p:scale>
        <p:origin x="42" y="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slide" Target="../slides/slide4.xml"/><Relationship Id="rId1" Type="http://schemas.openxmlformats.org/officeDocument/2006/relationships/slide" Target="../slides/slide3.xml"/><Relationship Id="rId4" Type="http://schemas.openxmlformats.org/officeDocument/2006/relationships/slide" Target="../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r="http://schemas.openxmlformats.org/officeDocument/2006/relationships" xmlns:dsp="http://schemas.microsoft.com/office/drawing/2008/diagram" xmlns:dgm="http://schemas.openxmlformats.org/drawingml/2006/diagram" xmlns:a="http://schemas.openxmlformats.org/drawingml/2006/main">
  <dgm:ptLst>
    <dgm:pt modelId="{518E53FB-9205-4092-8CE9-6D83087FE5C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61B8A81C-42BD-4D89-9EE1-F78BB016A6B1}">
      <dgm:prSet/>
      <dgm:spPr/>
      <dgm:t>
        <a:bodyPr/>
        <a:lstStyle/>
        <a:p>
          <a:pPr rtl="0"/>
          <a:r>
            <a:rPr lang="zh-CN" dirty="0" smtClean="0">
              <a:hlinkClick xmlns:r="http://schemas.openxmlformats.org/officeDocument/2006/relationships" r:id="rId1" action="ppaction://hlinksldjump"/>
            </a:rPr>
            <a:t>一、现代社会知识更新的特点</a:t>
          </a:r>
          <a:endParaRPr lang="zh-CN" dirty="0"/>
        </a:p>
      </dgm:t>
    </dgm:pt>
    <dgm:pt modelId="{ABE9BAB4-DC0C-4B53-90FE-9A15E1CE1411}" type="parTrans" cxnId="{E8C2FE51-031B-459C-AACB-D181ACB81E71}">
      <dgm:prSet/>
      <dgm:spPr/>
      <dgm:t>
        <a:bodyPr/>
        <a:lstStyle/>
        <a:p>
          <a:endParaRPr lang="zh-CN" altLang="en-US"/>
        </a:p>
      </dgm:t>
    </dgm:pt>
    <dgm:pt modelId="{BA4C3071-1074-4DDF-B808-CA8E937A919F}" type="sibTrans" cxnId="{E8C2FE51-031B-459C-AACB-D181ACB81E71}">
      <dgm:prSet/>
      <dgm:spPr/>
      <dgm:t>
        <a:bodyPr/>
        <a:lstStyle/>
        <a:p>
          <a:endParaRPr lang="zh-CN" altLang="en-US"/>
        </a:p>
      </dgm:t>
    </dgm:pt>
    <dgm:pt modelId="{34C41FC1-39ED-410C-838E-A67FA037BB32}">
      <dgm:prSet/>
      <dgm:spPr/>
      <dgm:t>
        <a:bodyPr/>
        <a:lstStyle/>
        <a:p>
          <a:pPr rtl="0"/>
          <a:r>
            <a:rPr lang="zh-CN" dirty="0" smtClean="0">
              <a:hlinkClick xmlns:r="http://schemas.openxmlformats.org/officeDocument/2006/relationships" r:id="rId2" action="ppaction://hlinksldjump"/>
            </a:rPr>
            <a:t>二、现代文盲</a:t>
          </a:r>
          <a:r>
            <a:rPr lang="zh-CN" dirty="0" smtClean="0">
              <a:hlinkClick xmlns:r="http://schemas.openxmlformats.org/officeDocument/2006/relationships" r:id="rId3" action="ppaction://hlinksldjump"/>
            </a:rPr>
            <a:t>——</a:t>
          </a:r>
          <a:r>
            <a:rPr lang="zh-CN" dirty="0" smtClean="0">
              <a:hlinkClick xmlns:r="http://schemas.openxmlformats.org/officeDocument/2006/relationships" r:id="rId2" action="ppaction://hlinksldjump"/>
            </a:rPr>
            <a:t>功能性文盲</a:t>
          </a:r>
          <a:endParaRPr lang="zh-CN" dirty="0"/>
        </a:p>
      </dgm:t>
    </dgm:pt>
    <dgm:pt modelId="{54FF91F7-E6B4-4F69-8A2A-BC8FED6C50BA}" type="parTrans" cxnId="{07AFAA21-2441-44E6-AC32-89DD062F8069}">
      <dgm:prSet/>
      <dgm:spPr/>
      <dgm:t>
        <a:bodyPr/>
        <a:lstStyle/>
        <a:p>
          <a:endParaRPr lang="zh-CN" altLang="en-US"/>
        </a:p>
      </dgm:t>
    </dgm:pt>
    <dgm:pt modelId="{81BD49AB-7A2E-4B2B-80B6-FF20844B746A}" type="sibTrans" cxnId="{07AFAA21-2441-44E6-AC32-89DD062F8069}">
      <dgm:prSet/>
      <dgm:spPr/>
      <dgm:t>
        <a:bodyPr/>
        <a:lstStyle/>
        <a:p>
          <a:endParaRPr lang="zh-CN" altLang="en-US"/>
        </a:p>
      </dgm:t>
    </dgm:pt>
    <dgm:pt modelId="{3E77722B-9841-43DD-AF1F-82946AB27EEF}">
      <dgm:prSet/>
      <dgm:spPr/>
      <dgm:t>
        <a:bodyPr/>
        <a:lstStyle/>
        <a:p>
          <a:pPr rtl="0"/>
          <a:r>
            <a:rPr lang="zh-CN" dirty="0" smtClean="0">
              <a:hlinkClick xmlns:r="http://schemas.openxmlformats.org/officeDocument/2006/relationships" r:id="rId4" action="ppaction://hlinksldjump"/>
            </a:rPr>
            <a:t>三、学习的三重目的</a:t>
          </a:r>
          <a:endParaRPr lang="zh-CN" dirty="0"/>
        </a:p>
      </dgm:t>
    </dgm:pt>
    <dgm:pt modelId="{EEC20601-5F3B-4304-8AA2-A1C263DAA826}" type="parTrans" cxnId="{51A3D912-39FE-4775-B24E-B92070BDCD48}">
      <dgm:prSet/>
      <dgm:spPr/>
      <dgm:t>
        <a:bodyPr/>
        <a:lstStyle/>
        <a:p>
          <a:endParaRPr lang="zh-CN" altLang="en-US"/>
        </a:p>
      </dgm:t>
    </dgm:pt>
    <dgm:pt modelId="{CFFE2D01-6B4E-4AE3-9161-873E9BC92614}" type="sibTrans" cxnId="{51A3D912-39FE-4775-B24E-B92070BDCD48}">
      <dgm:prSet/>
      <dgm:spPr/>
      <dgm:t>
        <a:bodyPr/>
        <a:lstStyle/>
        <a:p>
          <a:endParaRPr lang="zh-CN" altLang="en-US"/>
        </a:p>
      </dgm:t>
    </dgm:pt>
    <dgm:pt modelId="{91A11FD1-DDDE-41FC-8C48-9AA58D5C1328}" type="pres">
      <dgm:prSet presAssocID="{518E53FB-9205-4092-8CE9-6D83087FE5C8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388805FF-692C-43BD-9C16-4135B789C4A1}" type="pres">
      <dgm:prSet presAssocID="{61B8A81C-42BD-4D89-9EE1-F78BB016A6B1}" presName="parentLin" presStyleCnt="0"/>
      <dgm:spPr/>
    </dgm:pt>
    <dgm:pt modelId="{E5F308F8-1319-45F5-8255-58D3230038D2}" type="pres">
      <dgm:prSet presAssocID="{61B8A81C-42BD-4D89-9EE1-F78BB016A6B1}" presName="parentLeftMargin" presStyleLbl="node1" presStyleIdx="0" presStyleCnt="3"/>
      <dgm:spPr/>
      <dgm:t>
        <a:bodyPr/>
        <a:lstStyle/>
        <a:p>
          <a:endParaRPr lang="zh-CN" altLang="en-US"/>
        </a:p>
      </dgm:t>
    </dgm:pt>
    <dgm:pt modelId="{C5955D3A-C590-4905-885A-9F731A9DFFC3}" type="pres">
      <dgm:prSet presAssocID="{61B8A81C-42BD-4D89-9EE1-F78BB016A6B1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43110BB-1CA8-424E-81C6-E1992A858DE9}" type="pres">
      <dgm:prSet presAssocID="{61B8A81C-42BD-4D89-9EE1-F78BB016A6B1}" presName="negativeSpace" presStyleCnt="0"/>
      <dgm:spPr/>
    </dgm:pt>
    <dgm:pt modelId="{5EBF31F7-00C9-4738-A36C-0A3C219EB424}" type="pres">
      <dgm:prSet presAssocID="{61B8A81C-42BD-4D89-9EE1-F78BB016A6B1}" presName="childText" presStyleLbl="conFgAcc1" presStyleIdx="0" presStyleCnt="3">
        <dgm:presLayoutVars>
          <dgm:bulletEnabled val="1"/>
        </dgm:presLayoutVars>
      </dgm:prSet>
      <dgm:spPr/>
    </dgm:pt>
    <dgm:pt modelId="{A16606DE-D2C9-4372-8253-450BAC4AC85D}" type="pres">
      <dgm:prSet presAssocID="{BA4C3071-1074-4DDF-B808-CA8E937A919F}" presName="spaceBetweenRectangles" presStyleCnt="0"/>
      <dgm:spPr/>
    </dgm:pt>
    <dgm:pt modelId="{F0CF50C4-9220-427C-8EDA-643C1B9F962D}" type="pres">
      <dgm:prSet presAssocID="{34C41FC1-39ED-410C-838E-A67FA037BB32}" presName="parentLin" presStyleCnt="0"/>
      <dgm:spPr/>
    </dgm:pt>
    <dgm:pt modelId="{C6D9BB49-5CB1-4895-BEE2-8886290C336F}" type="pres">
      <dgm:prSet presAssocID="{34C41FC1-39ED-410C-838E-A67FA037BB32}" presName="parentLeftMargin" presStyleLbl="node1" presStyleIdx="0" presStyleCnt="3"/>
      <dgm:spPr/>
      <dgm:t>
        <a:bodyPr/>
        <a:lstStyle/>
        <a:p>
          <a:endParaRPr lang="zh-CN" altLang="en-US"/>
        </a:p>
      </dgm:t>
    </dgm:pt>
    <dgm:pt modelId="{2BA3F3F5-D1AB-42F7-BEB8-9BB7F44E5674}" type="pres">
      <dgm:prSet presAssocID="{34C41FC1-39ED-410C-838E-A67FA037BB32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544E693-C884-4FE0-AFAA-C658690C09D0}" type="pres">
      <dgm:prSet presAssocID="{34C41FC1-39ED-410C-838E-A67FA037BB32}" presName="negativeSpace" presStyleCnt="0"/>
      <dgm:spPr/>
    </dgm:pt>
    <dgm:pt modelId="{B7615883-9DDA-4522-A5C8-2298FE5BCEA0}" type="pres">
      <dgm:prSet presAssocID="{34C41FC1-39ED-410C-838E-A67FA037BB32}" presName="childText" presStyleLbl="conFgAcc1" presStyleIdx="1" presStyleCnt="3">
        <dgm:presLayoutVars>
          <dgm:bulletEnabled val="1"/>
        </dgm:presLayoutVars>
      </dgm:prSet>
      <dgm:spPr/>
    </dgm:pt>
    <dgm:pt modelId="{E2EE19B7-E628-4B3A-AF6D-D9B71BCA8A0A}" type="pres">
      <dgm:prSet presAssocID="{81BD49AB-7A2E-4B2B-80B6-FF20844B746A}" presName="spaceBetweenRectangles" presStyleCnt="0"/>
      <dgm:spPr/>
    </dgm:pt>
    <dgm:pt modelId="{256373A3-A764-427C-AD94-801362667954}" type="pres">
      <dgm:prSet presAssocID="{3E77722B-9841-43DD-AF1F-82946AB27EEF}" presName="parentLin" presStyleCnt="0"/>
      <dgm:spPr/>
    </dgm:pt>
    <dgm:pt modelId="{77CE6D01-6EE3-42FE-AFFA-D7AD5EF65BDE}" type="pres">
      <dgm:prSet presAssocID="{3E77722B-9841-43DD-AF1F-82946AB27EEF}" presName="parentLeftMargin" presStyleLbl="node1" presStyleIdx="1" presStyleCnt="3"/>
      <dgm:spPr/>
      <dgm:t>
        <a:bodyPr/>
        <a:lstStyle/>
        <a:p>
          <a:endParaRPr lang="zh-CN" altLang="en-US"/>
        </a:p>
      </dgm:t>
    </dgm:pt>
    <dgm:pt modelId="{1ABE09CC-6A6B-4E41-85D3-1A489E339FDC}" type="pres">
      <dgm:prSet presAssocID="{3E77722B-9841-43DD-AF1F-82946AB27EEF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848AA0D-3692-4692-A706-9E7D212575D8}" type="pres">
      <dgm:prSet presAssocID="{3E77722B-9841-43DD-AF1F-82946AB27EEF}" presName="negativeSpace" presStyleCnt="0"/>
      <dgm:spPr/>
    </dgm:pt>
    <dgm:pt modelId="{F02D251A-C8FE-487D-BF22-6EFD758FEE45}" type="pres">
      <dgm:prSet presAssocID="{3E77722B-9841-43DD-AF1F-82946AB27EEF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991526CE-350F-4694-80E7-C8C58CE5B643}" type="presOf" srcId="{3E77722B-9841-43DD-AF1F-82946AB27EEF}" destId="{1ABE09CC-6A6B-4E41-85D3-1A489E339FDC}" srcOrd="1" destOrd="0" presId="urn:microsoft.com/office/officeart/2005/8/layout/list1"/>
    <dgm:cxn modelId="{78BA99B8-F7DC-4E68-8498-340B632E9497}" type="presOf" srcId="{61B8A81C-42BD-4D89-9EE1-F78BB016A6B1}" destId="{E5F308F8-1319-45F5-8255-58D3230038D2}" srcOrd="0" destOrd="0" presId="urn:microsoft.com/office/officeart/2005/8/layout/list1"/>
    <dgm:cxn modelId="{63D52142-4FAA-49FD-853B-597DA74C0F72}" type="presOf" srcId="{34C41FC1-39ED-410C-838E-A67FA037BB32}" destId="{C6D9BB49-5CB1-4895-BEE2-8886290C336F}" srcOrd="0" destOrd="0" presId="urn:microsoft.com/office/officeart/2005/8/layout/list1"/>
    <dgm:cxn modelId="{51A3D912-39FE-4775-B24E-B92070BDCD48}" srcId="{518E53FB-9205-4092-8CE9-6D83087FE5C8}" destId="{3E77722B-9841-43DD-AF1F-82946AB27EEF}" srcOrd="2" destOrd="0" parTransId="{EEC20601-5F3B-4304-8AA2-A1C263DAA826}" sibTransId="{CFFE2D01-6B4E-4AE3-9161-873E9BC92614}"/>
    <dgm:cxn modelId="{DE393C08-631A-4F40-84C9-C40938C96B1A}" type="presOf" srcId="{34C41FC1-39ED-410C-838E-A67FA037BB32}" destId="{2BA3F3F5-D1AB-42F7-BEB8-9BB7F44E5674}" srcOrd="1" destOrd="0" presId="urn:microsoft.com/office/officeart/2005/8/layout/list1"/>
    <dgm:cxn modelId="{5AE5E5B8-EAF7-43C5-8109-65DD92F0E494}" type="presOf" srcId="{3E77722B-9841-43DD-AF1F-82946AB27EEF}" destId="{77CE6D01-6EE3-42FE-AFFA-D7AD5EF65BDE}" srcOrd="0" destOrd="0" presId="urn:microsoft.com/office/officeart/2005/8/layout/list1"/>
    <dgm:cxn modelId="{07A91B7A-1184-484D-8F9A-CCCC8F457055}" type="presOf" srcId="{518E53FB-9205-4092-8CE9-6D83087FE5C8}" destId="{91A11FD1-DDDE-41FC-8C48-9AA58D5C1328}" srcOrd="0" destOrd="0" presId="urn:microsoft.com/office/officeart/2005/8/layout/list1"/>
    <dgm:cxn modelId="{5BB8951C-5DFE-491B-AEF9-703D6946B045}" type="presOf" srcId="{61B8A81C-42BD-4D89-9EE1-F78BB016A6B1}" destId="{C5955D3A-C590-4905-885A-9F731A9DFFC3}" srcOrd="1" destOrd="0" presId="urn:microsoft.com/office/officeart/2005/8/layout/list1"/>
    <dgm:cxn modelId="{E8C2FE51-031B-459C-AACB-D181ACB81E71}" srcId="{518E53FB-9205-4092-8CE9-6D83087FE5C8}" destId="{61B8A81C-42BD-4D89-9EE1-F78BB016A6B1}" srcOrd="0" destOrd="0" parTransId="{ABE9BAB4-DC0C-4B53-90FE-9A15E1CE1411}" sibTransId="{BA4C3071-1074-4DDF-B808-CA8E937A919F}"/>
    <dgm:cxn modelId="{07AFAA21-2441-44E6-AC32-89DD062F8069}" srcId="{518E53FB-9205-4092-8CE9-6D83087FE5C8}" destId="{34C41FC1-39ED-410C-838E-A67FA037BB32}" srcOrd="1" destOrd="0" parTransId="{54FF91F7-E6B4-4F69-8A2A-BC8FED6C50BA}" sibTransId="{81BD49AB-7A2E-4B2B-80B6-FF20844B746A}"/>
    <dgm:cxn modelId="{E94DF024-0C41-47B2-BC21-A1556CB32531}" type="presParOf" srcId="{91A11FD1-DDDE-41FC-8C48-9AA58D5C1328}" destId="{388805FF-692C-43BD-9C16-4135B789C4A1}" srcOrd="0" destOrd="0" presId="urn:microsoft.com/office/officeart/2005/8/layout/list1"/>
    <dgm:cxn modelId="{02EAC5C5-FA3C-468C-88E5-4D99063FEEBA}" type="presParOf" srcId="{388805FF-692C-43BD-9C16-4135B789C4A1}" destId="{E5F308F8-1319-45F5-8255-58D3230038D2}" srcOrd="0" destOrd="0" presId="urn:microsoft.com/office/officeart/2005/8/layout/list1"/>
    <dgm:cxn modelId="{52A33D5F-0CDA-4F00-9128-F2CBDF2DC194}" type="presParOf" srcId="{388805FF-692C-43BD-9C16-4135B789C4A1}" destId="{C5955D3A-C590-4905-885A-9F731A9DFFC3}" srcOrd="1" destOrd="0" presId="urn:microsoft.com/office/officeart/2005/8/layout/list1"/>
    <dgm:cxn modelId="{A3C456E3-8EE7-4EFE-B617-E5DFD700BCFF}" type="presParOf" srcId="{91A11FD1-DDDE-41FC-8C48-9AA58D5C1328}" destId="{043110BB-1CA8-424E-81C6-E1992A858DE9}" srcOrd="1" destOrd="0" presId="urn:microsoft.com/office/officeart/2005/8/layout/list1"/>
    <dgm:cxn modelId="{166850F5-9257-426E-8589-D8D250D393DB}" type="presParOf" srcId="{91A11FD1-DDDE-41FC-8C48-9AA58D5C1328}" destId="{5EBF31F7-00C9-4738-A36C-0A3C219EB424}" srcOrd="2" destOrd="0" presId="urn:microsoft.com/office/officeart/2005/8/layout/list1"/>
    <dgm:cxn modelId="{75C59A34-CF38-4D75-9217-0D17AEAF6ADD}" type="presParOf" srcId="{91A11FD1-DDDE-41FC-8C48-9AA58D5C1328}" destId="{A16606DE-D2C9-4372-8253-450BAC4AC85D}" srcOrd="3" destOrd="0" presId="urn:microsoft.com/office/officeart/2005/8/layout/list1"/>
    <dgm:cxn modelId="{DB873D8F-52E9-460F-894E-BA3230C89B00}" type="presParOf" srcId="{91A11FD1-DDDE-41FC-8C48-9AA58D5C1328}" destId="{F0CF50C4-9220-427C-8EDA-643C1B9F962D}" srcOrd="4" destOrd="0" presId="urn:microsoft.com/office/officeart/2005/8/layout/list1"/>
    <dgm:cxn modelId="{2ED4073A-4748-4FA2-B769-6851BA957219}" type="presParOf" srcId="{F0CF50C4-9220-427C-8EDA-643C1B9F962D}" destId="{C6D9BB49-5CB1-4895-BEE2-8886290C336F}" srcOrd="0" destOrd="0" presId="urn:microsoft.com/office/officeart/2005/8/layout/list1"/>
    <dgm:cxn modelId="{F3C5B0E3-C63F-4A9E-AEF8-4D87E4C3E732}" type="presParOf" srcId="{F0CF50C4-9220-427C-8EDA-643C1B9F962D}" destId="{2BA3F3F5-D1AB-42F7-BEB8-9BB7F44E5674}" srcOrd="1" destOrd="0" presId="urn:microsoft.com/office/officeart/2005/8/layout/list1"/>
    <dgm:cxn modelId="{1D29364F-35C8-4A83-98EC-2B58B6E02988}" type="presParOf" srcId="{91A11FD1-DDDE-41FC-8C48-9AA58D5C1328}" destId="{9544E693-C884-4FE0-AFAA-C658690C09D0}" srcOrd="5" destOrd="0" presId="urn:microsoft.com/office/officeart/2005/8/layout/list1"/>
    <dgm:cxn modelId="{2E1FAA9F-FF94-40B5-9686-1CD845DC2A81}" type="presParOf" srcId="{91A11FD1-DDDE-41FC-8C48-9AA58D5C1328}" destId="{B7615883-9DDA-4522-A5C8-2298FE5BCEA0}" srcOrd="6" destOrd="0" presId="urn:microsoft.com/office/officeart/2005/8/layout/list1"/>
    <dgm:cxn modelId="{A86CC5DC-E297-4C9B-BD05-C2691F73713E}" type="presParOf" srcId="{91A11FD1-DDDE-41FC-8C48-9AA58D5C1328}" destId="{E2EE19B7-E628-4B3A-AF6D-D9B71BCA8A0A}" srcOrd="7" destOrd="0" presId="urn:microsoft.com/office/officeart/2005/8/layout/list1"/>
    <dgm:cxn modelId="{68D6A4A0-6E1D-433F-9117-5C0212342275}" type="presParOf" srcId="{91A11FD1-DDDE-41FC-8C48-9AA58D5C1328}" destId="{256373A3-A764-427C-AD94-801362667954}" srcOrd="8" destOrd="0" presId="urn:microsoft.com/office/officeart/2005/8/layout/list1"/>
    <dgm:cxn modelId="{04FE45E6-02E9-47B2-B9EF-095FFF7671D8}" type="presParOf" srcId="{256373A3-A764-427C-AD94-801362667954}" destId="{77CE6D01-6EE3-42FE-AFFA-D7AD5EF65BDE}" srcOrd="0" destOrd="0" presId="urn:microsoft.com/office/officeart/2005/8/layout/list1"/>
    <dgm:cxn modelId="{B1E95DB2-6292-4C11-8198-75C1B565C2F9}" type="presParOf" srcId="{256373A3-A764-427C-AD94-801362667954}" destId="{1ABE09CC-6A6B-4E41-85D3-1A489E339FDC}" srcOrd="1" destOrd="0" presId="urn:microsoft.com/office/officeart/2005/8/layout/list1"/>
    <dgm:cxn modelId="{1E25DF21-4BFD-4477-9209-75E933549376}" type="presParOf" srcId="{91A11FD1-DDDE-41FC-8C48-9AA58D5C1328}" destId="{C848AA0D-3692-4692-A706-9E7D212575D8}" srcOrd="9" destOrd="0" presId="urn:microsoft.com/office/officeart/2005/8/layout/list1"/>
    <dgm:cxn modelId="{C481092F-A677-41B4-82FB-CD4F1637FB45}" type="presParOf" srcId="{91A11FD1-DDDE-41FC-8C48-9AA58D5C1328}" destId="{F02D251A-C8FE-487D-BF22-6EFD758FEE45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BF31F7-00C9-4738-A36C-0A3C219EB424}">
      <dsp:nvSpPr>
        <dsp:cNvPr id="0" name=""/>
        <dsp:cNvSpPr/>
      </dsp:nvSpPr>
      <dsp:spPr>
        <a:xfrm>
          <a:off x="0" y="394968"/>
          <a:ext cx="9601196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955D3A-C590-4905-885A-9F731A9DFFC3}">
      <dsp:nvSpPr>
        <dsp:cNvPr id="0" name=""/>
        <dsp:cNvSpPr/>
      </dsp:nvSpPr>
      <dsp:spPr>
        <a:xfrm>
          <a:off x="480059" y="25968"/>
          <a:ext cx="6720837" cy="73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32" tIns="0" rIns="254032" bIns="0" numCol="1" spcCol="1270" anchor="ctr" anchorCtr="0">
          <a:noAutofit/>
        </a:bodyPr>
        <a:lstStyle/>
        <a:p>
          <a:pPr lvl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500" kern="1200" dirty="0" smtClean="0">
              <a:hlinkClick xmlns:r="http://schemas.openxmlformats.org/officeDocument/2006/relationships" r:id="" action="ppaction://hlinksldjump"/>
            </a:rPr>
            <a:t>一、现代社会知识更新的特点</a:t>
          </a:r>
          <a:endParaRPr lang="zh-CN" sz="2500" kern="1200" dirty="0"/>
        </a:p>
      </dsp:txBody>
      <dsp:txXfrm>
        <a:off x="516085" y="61994"/>
        <a:ext cx="6648785" cy="665948"/>
      </dsp:txXfrm>
    </dsp:sp>
    <dsp:sp modelId="{B7615883-9DDA-4522-A5C8-2298FE5BCEA0}">
      <dsp:nvSpPr>
        <dsp:cNvPr id="0" name=""/>
        <dsp:cNvSpPr/>
      </dsp:nvSpPr>
      <dsp:spPr>
        <a:xfrm>
          <a:off x="0" y="1528968"/>
          <a:ext cx="9601196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A3F3F5-D1AB-42F7-BEB8-9BB7F44E5674}">
      <dsp:nvSpPr>
        <dsp:cNvPr id="0" name=""/>
        <dsp:cNvSpPr/>
      </dsp:nvSpPr>
      <dsp:spPr>
        <a:xfrm>
          <a:off x="480059" y="1159968"/>
          <a:ext cx="6720837" cy="73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32" tIns="0" rIns="254032" bIns="0" numCol="1" spcCol="1270" anchor="ctr" anchorCtr="0">
          <a:noAutofit/>
        </a:bodyPr>
        <a:lstStyle/>
        <a:p>
          <a:pPr lvl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500" kern="1200" dirty="0" smtClean="0">
              <a:hlinkClick xmlns:r="http://schemas.openxmlformats.org/officeDocument/2006/relationships" r:id="" action="ppaction://hlinksldjump"/>
            </a:rPr>
            <a:t>二、现代文盲</a:t>
          </a:r>
          <a:r>
            <a:rPr lang="zh-CN" sz="2500" kern="1200" dirty="0" smtClean="0">
              <a:hlinkClick xmlns:r="http://schemas.openxmlformats.org/officeDocument/2006/relationships" r:id="" action="ppaction://hlinksldjump"/>
            </a:rPr>
            <a:t>——</a:t>
          </a:r>
          <a:r>
            <a:rPr lang="zh-CN" sz="2500" kern="1200" dirty="0" smtClean="0">
              <a:hlinkClick xmlns:r="http://schemas.openxmlformats.org/officeDocument/2006/relationships" r:id="" action="ppaction://hlinksldjump"/>
            </a:rPr>
            <a:t>功能性文盲</a:t>
          </a:r>
          <a:endParaRPr lang="zh-CN" sz="2500" kern="1200" dirty="0"/>
        </a:p>
      </dsp:txBody>
      <dsp:txXfrm>
        <a:off x="516085" y="1195994"/>
        <a:ext cx="6648785" cy="665948"/>
      </dsp:txXfrm>
    </dsp:sp>
    <dsp:sp modelId="{F02D251A-C8FE-487D-BF22-6EFD758FEE45}">
      <dsp:nvSpPr>
        <dsp:cNvPr id="0" name=""/>
        <dsp:cNvSpPr/>
      </dsp:nvSpPr>
      <dsp:spPr>
        <a:xfrm>
          <a:off x="0" y="2662968"/>
          <a:ext cx="9601196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BE09CC-6A6B-4E41-85D3-1A489E339FDC}">
      <dsp:nvSpPr>
        <dsp:cNvPr id="0" name=""/>
        <dsp:cNvSpPr/>
      </dsp:nvSpPr>
      <dsp:spPr>
        <a:xfrm>
          <a:off x="480059" y="2293968"/>
          <a:ext cx="6720837" cy="73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32" tIns="0" rIns="254032" bIns="0" numCol="1" spcCol="1270" anchor="ctr" anchorCtr="0">
          <a:noAutofit/>
        </a:bodyPr>
        <a:lstStyle/>
        <a:p>
          <a:pPr lvl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500" kern="1200" dirty="0" smtClean="0">
              <a:hlinkClick xmlns:r="http://schemas.openxmlformats.org/officeDocument/2006/relationships" r:id="" action="ppaction://hlinksldjump"/>
            </a:rPr>
            <a:t>三、学习的三重目的</a:t>
          </a:r>
          <a:endParaRPr lang="zh-CN" sz="2500" kern="1200" dirty="0"/>
        </a:p>
      </dsp:txBody>
      <dsp:txXfrm>
        <a:off x="516085" y="2329994"/>
        <a:ext cx="6648785" cy="6659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2031E25F-F01C-4E85-A17E-364458809ED8}" type="datetimeFigureOut">
              <a:rPr lang="zh-CN" altLang="en-US" smtClean="0"/>
              <a:t>2020/3/16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9E99AD2-035D-4A61-AA94-C9E434B7036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0947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E25F-F01C-4E85-A17E-364458809ED8}" type="datetimeFigureOut">
              <a:rPr lang="zh-CN" altLang="en-US" smtClean="0"/>
              <a:t>2020/3/16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9AD2-035D-4A61-AA94-C9E434B703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6139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E25F-F01C-4E85-A17E-364458809ED8}" type="datetimeFigureOut">
              <a:rPr lang="zh-CN" altLang="en-US" smtClean="0"/>
              <a:t>2020/3/16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9AD2-035D-4A61-AA94-C9E434B7036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796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E25F-F01C-4E85-A17E-364458809ED8}" type="datetimeFigureOut">
              <a:rPr lang="zh-CN" altLang="en-US" smtClean="0"/>
              <a:t>2020/3/16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9AD2-035D-4A61-AA94-C9E434B703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2190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E25F-F01C-4E85-A17E-364458809ED8}" type="datetimeFigureOut">
              <a:rPr lang="zh-CN" altLang="en-US" smtClean="0"/>
              <a:t>2020/3/16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9AD2-035D-4A61-AA94-C9E434B7036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8088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E25F-F01C-4E85-A17E-364458809ED8}" type="datetimeFigureOut">
              <a:rPr lang="zh-CN" altLang="en-US" smtClean="0"/>
              <a:t>2020/3/16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9AD2-035D-4A61-AA94-C9E434B7036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1362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E25F-F01C-4E85-A17E-364458809ED8}" type="datetimeFigureOut">
              <a:rPr lang="zh-CN" altLang="en-US" smtClean="0"/>
              <a:t>2020/3/16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9AD2-035D-4A61-AA94-C9E434B703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0667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E25F-F01C-4E85-A17E-364458809ED8}" type="datetimeFigureOut">
              <a:rPr lang="zh-CN" altLang="en-US" smtClean="0"/>
              <a:t>2020/3/16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9AD2-035D-4A61-AA94-C9E434B7036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2970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E25F-F01C-4E85-A17E-364458809ED8}" type="datetimeFigureOut">
              <a:rPr lang="zh-CN" altLang="en-US" smtClean="0"/>
              <a:t>2020/3/16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9AD2-035D-4A61-AA94-C9E434B703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932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E25F-F01C-4E85-A17E-364458809ED8}" type="datetimeFigureOut">
              <a:rPr lang="zh-CN" altLang="en-US" smtClean="0"/>
              <a:t>2020/3/16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9AD2-035D-4A61-AA94-C9E434B703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497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E25F-F01C-4E85-A17E-364458809ED8}" type="datetimeFigureOut">
              <a:rPr lang="zh-CN" altLang="en-US" smtClean="0"/>
              <a:t>2020/3/16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9AD2-035D-4A61-AA94-C9E434B7036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83777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E25F-F01C-4E85-A17E-364458809ED8}" type="datetimeFigureOut">
              <a:rPr lang="zh-CN" altLang="en-US" smtClean="0"/>
              <a:t>2020/3/16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9AD2-035D-4A61-AA94-C9E434B7036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76244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E25F-F01C-4E85-A17E-364458809ED8}" type="datetimeFigureOut">
              <a:rPr lang="zh-CN" altLang="en-US" smtClean="0"/>
              <a:t>2020/3/16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9AD2-035D-4A61-AA94-C9E434B703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56575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E25F-F01C-4E85-A17E-364458809ED8}" type="datetimeFigureOut">
              <a:rPr lang="zh-CN" altLang="en-US" smtClean="0"/>
              <a:t>2020/3/16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9AD2-035D-4A61-AA94-C9E434B7036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03050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E25F-F01C-4E85-A17E-364458809ED8}" type="datetimeFigureOut">
              <a:rPr lang="zh-CN" altLang="en-US" smtClean="0"/>
              <a:t>2020/3/16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9AD2-035D-4A61-AA94-C9E434B7036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07273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E25F-F01C-4E85-A17E-364458809ED8}" type="datetimeFigureOut">
              <a:rPr lang="zh-CN" altLang="en-US" smtClean="0"/>
              <a:t>2020/3/16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9AD2-035D-4A61-AA94-C9E434B7036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14215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E25F-F01C-4E85-A17E-364458809ED8}" type="datetimeFigureOut">
              <a:rPr lang="zh-CN" altLang="en-US" smtClean="0"/>
              <a:t>2020/3/16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9AD2-035D-4A61-AA94-C9E434B7036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5255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031E25F-F01C-4E85-A17E-364458809ED8}" type="datetimeFigureOut">
              <a:rPr lang="zh-CN" altLang="en-US" smtClean="0"/>
              <a:t>2020/3/16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9E99AD2-035D-4A61-AA94-C9E434B703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6866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学习型社会的学习理念</a:t>
            </a: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计算机教研室</a:t>
            </a:r>
            <a:endParaRPr lang="en-US" altLang="zh-CN" dirty="0" smtClean="0"/>
          </a:p>
          <a:p>
            <a:r>
              <a:rPr lang="en-US" altLang="zh-CN" dirty="0" smtClean="0"/>
              <a:t>2020</a:t>
            </a:r>
            <a:r>
              <a:rPr lang="zh-CN" altLang="en-US" dirty="0" smtClean="0"/>
              <a:t>年</a:t>
            </a:r>
            <a:r>
              <a:rPr lang="en-US" altLang="zh-CN" dirty="0" smtClean="0"/>
              <a:t>3</a:t>
            </a:r>
            <a:r>
              <a:rPr lang="zh-CN" altLang="en-US" dirty="0" smtClean="0"/>
              <a:t>月</a:t>
            </a:r>
            <a:r>
              <a:rPr lang="en-US" altLang="zh-CN" dirty="0" smtClean="0"/>
              <a:t>16</a:t>
            </a:r>
            <a:r>
              <a:rPr lang="zh-CN" altLang="en-US" dirty="0" smtClean="0"/>
              <a:t>日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5675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8041609"/>
              </p:ext>
            </p:extLst>
          </p:nvPr>
        </p:nvGraphicFramePr>
        <p:xfrm>
          <a:off x="1295401" y="2556932"/>
          <a:ext cx="9601196" cy="33189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3276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一、现代社会知识更新的</a:t>
            </a:r>
            <a:r>
              <a:rPr lang="zh-CN" altLang="en-US" dirty="0" smtClean="0"/>
              <a:t>特点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 知识的更新速率实在太快，应付这种变化，我们需要学会学习，学习是现代人的第一需要。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 dirty="0" smtClean="0"/>
              <a:t>“</a:t>
            </a:r>
            <a:r>
              <a:rPr lang="zh-CN" altLang="en-US" dirty="0"/>
              <a:t>人类的知识，目前是每</a:t>
            </a:r>
            <a:r>
              <a:rPr lang="en-US" altLang="zh-CN" dirty="0"/>
              <a:t>3</a:t>
            </a:r>
            <a:r>
              <a:rPr lang="zh-CN" altLang="en-US" dirty="0"/>
              <a:t>年就增长一倍。</a:t>
            </a:r>
          </a:p>
          <a:p>
            <a:r>
              <a:rPr lang="zh-CN" altLang="en-US" dirty="0"/>
              <a:t>知识社会要求其所有成员学会如何学习。</a:t>
            </a:r>
          </a:p>
          <a:p>
            <a:r>
              <a:rPr lang="zh-CN" altLang="en-US" dirty="0"/>
              <a:t>“有教养的人”，就是学会了学习的人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0392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  <p:bldP spid="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二、现代文盲</a:t>
            </a:r>
            <a:r>
              <a:rPr lang="en-US" altLang="zh-CN" dirty="0"/>
              <a:t>——</a:t>
            </a:r>
            <a:r>
              <a:rPr lang="zh-CN" altLang="en-US" dirty="0"/>
              <a:t>功能性文盲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5962650" cy="576262"/>
          </a:xfrm>
        </p:spPr>
        <p:txBody>
          <a:bodyPr/>
          <a:lstStyle/>
          <a:p>
            <a:r>
              <a:rPr lang="zh-CN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“学海无涯”</a:t>
            </a:r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zh-CN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“学无止境”</a:t>
            </a:r>
            <a:endParaRPr lang="zh-CN" altLang="en-US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 dirty="0"/>
              <a:t>知识就象产品一样频繁的更新换代，如果不能以最有效的方法和最高的效率去获取、分析和加工知识，就无法及时地利用这些知识。因此，一个人生活在世上终身都要学习。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CN" altLang="en-US" dirty="0"/>
              <a:t>联合国重新定义了新世纪的三类文盲：</a:t>
            </a:r>
          </a:p>
          <a:p>
            <a:r>
              <a:rPr lang="zh-CN" altLang="en-US" dirty="0"/>
              <a:t>第一类是不能读书识字的人，这是传统意义上的老文盲，是扫盲工作的主要对象；</a:t>
            </a:r>
          </a:p>
          <a:p>
            <a:r>
              <a:rPr lang="zh-CN" altLang="en-US" dirty="0"/>
              <a:t>第二类是不能识别现代社会符号的人；</a:t>
            </a:r>
          </a:p>
          <a:p>
            <a:r>
              <a:rPr lang="zh-CN" altLang="en-US" dirty="0"/>
              <a:t>第三类是</a:t>
            </a:r>
            <a:r>
              <a:rPr lang="zh-CN" altLang="en-US" sz="3300" b="1" i="1" dirty="0">
                <a:solidFill>
                  <a:srgbClr val="0070C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不能使用计算机进行学习、交流和管理信息的人</a:t>
            </a:r>
            <a:r>
              <a:rPr lang="zh-CN" altLang="en-US" sz="3300" b="1" i="1" dirty="0" smtClean="0">
                <a:solidFill>
                  <a:srgbClr val="0070C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。</a:t>
            </a:r>
            <a:endParaRPr lang="zh-CN" altLang="en-US" sz="3300" b="1" i="1" dirty="0">
              <a:solidFill>
                <a:srgbClr val="0070C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9" name="图片 8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800" y="0"/>
            <a:ext cx="2362200" cy="1911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251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  <p:bldP spid="5" grpId="1" build="p"/>
      <p:bldP spid="6" grpId="0" build="p"/>
      <p:bldP spid="8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三、学习的三重</a:t>
            </a:r>
            <a:r>
              <a:rPr lang="zh-CN" altLang="en-US" dirty="0" smtClean="0"/>
              <a:t>目的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为了避免自己成为文盲，唯一切实可行的办法就是时时保持学习的习惯，掌握信息时代的学习方法。把学习当作是终生的最基本的生存能力。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en-US" altLang="zh-CN" dirty="0"/>
              <a:t>.</a:t>
            </a:r>
            <a:r>
              <a:rPr lang="zh-CN" altLang="en-US" dirty="0"/>
              <a:t>增长知识</a:t>
            </a:r>
          </a:p>
          <a:p>
            <a:r>
              <a:rPr lang="zh-CN" altLang="en-US" dirty="0"/>
              <a:t>   </a:t>
            </a:r>
            <a:r>
              <a:rPr lang="en-US" altLang="zh-CN" dirty="0"/>
              <a:t>2.</a:t>
            </a:r>
            <a:r>
              <a:rPr lang="zh-CN" altLang="en-US" dirty="0"/>
              <a:t>提高技能</a:t>
            </a:r>
          </a:p>
          <a:p>
            <a:r>
              <a:rPr lang="en-US" altLang="zh-CN" dirty="0"/>
              <a:t>3.</a:t>
            </a:r>
            <a:r>
              <a:rPr lang="zh-CN" altLang="en-US" dirty="0"/>
              <a:t>培养</a:t>
            </a:r>
            <a:r>
              <a:rPr lang="zh-CN" altLang="en-US" dirty="0" smtClean="0"/>
              <a:t>情感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1383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 build="p"/>
      <p:bldP spid="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307963" y="2967335"/>
            <a:ext cx="157607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结束</a:t>
            </a:r>
            <a:endParaRPr lang="zh-CN" altLang="en-US" sz="54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4039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环保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17</TotalTime>
  <Words>273</Words>
  <Application>Microsoft Office PowerPoint</Application>
  <PresentationFormat>宽屏</PresentationFormat>
  <Paragraphs>25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方正舒体</vt:lpstr>
      <vt:lpstr>华文行楷</vt:lpstr>
      <vt:lpstr>微软雅黑</vt:lpstr>
      <vt:lpstr>Arial</vt:lpstr>
      <vt:lpstr>Garamond</vt:lpstr>
      <vt:lpstr>Times New Roman</vt:lpstr>
      <vt:lpstr>环保</vt:lpstr>
      <vt:lpstr>学习型社会的学习理念</vt:lpstr>
      <vt:lpstr>目录</vt:lpstr>
      <vt:lpstr>一、现代社会知识更新的特点</vt:lpstr>
      <vt:lpstr>二、现代文盲——功能性文盲</vt:lpstr>
      <vt:lpstr>三、学习的三重目的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学习型社会的学习理念</dc:title>
  <dc:creator>Administrator</dc:creator>
  <cp:lastModifiedBy>Administrator</cp:lastModifiedBy>
  <cp:revision>5</cp:revision>
  <dcterms:created xsi:type="dcterms:W3CDTF">2020-03-16T01:50:02Z</dcterms:created>
  <dcterms:modified xsi:type="dcterms:W3CDTF">2020-03-16T02:17:11Z</dcterms:modified>
</cp:coreProperties>
</file>