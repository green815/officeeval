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x-wav"/>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3.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4.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5.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6.xml" ContentType="application/vnd.openxmlformats-officedocument.theme+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1"/>
    <p:sldMasterId id="2147483680" r:id="rId2"/>
    <p:sldMasterId id="2147483693" r:id="rId3"/>
    <p:sldMasterId id="2147483706" r:id="rId4"/>
    <p:sldMasterId id="2147483719" r:id="rId5"/>
    <p:sldMasterId id="2147483738" r:id="rId6"/>
    <p:sldMasterId id="2147483757" r:id="rId7"/>
  </p:sldMasterIdLst>
  <p:notesMasterIdLst>
    <p:notesMasterId r:id="rId46"/>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高新科技政策简介" id="{313E0AF3-96A2-46CD-8756-62FB840F4DA7}">
          <p14:sldIdLst>
            <p14:sldId id="256"/>
            <p14:sldId id="257"/>
            <p14:sldId id="258"/>
          </p14:sldIdLst>
        </p14:section>
        <p14:section name="高新技术企业认定" id="{F0A2E437-4886-4A54-AC9F-AF7A6DE7B0F2}">
          <p14:sldIdLst>
            <p14:sldId id="259"/>
            <p14:sldId id="260"/>
            <p14:sldId id="261"/>
            <p14:sldId id="262"/>
            <p14:sldId id="263"/>
            <p14:sldId id="264"/>
            <p14:sldId id="265"/>
            <p14:sldId id="266"/>
            <p14:sldId id="267"/>
          </p14:sldIdLst>
        </p14:section>
        <p14:section name="技术先进型服务企业认定" id="{6F9FF7A7-54CE-4033-9F0C-DA2B61642E5E}">
          <p14:sldIdLst>
            <p14:sldId id="268"/>
            <p14:sldId id="269"/>
            <p14:sldId id="270"/>
            <p14:sldId id="271"/>
            <p14:sldId id="272"/>
            <p14:sldId id="273"/>
            <p14:sldId id="274"/>
          </p14:sldIdLst>
        </p14:section>
        <p14:section name="研发经费加计扣除" id="{AFC6D9E9-96C7-4181-BA3F-D29EE3CF7761}">
          <p14:sldIdLst>
            <p14:sldId id="275"/>
            <p14:sldId id="276"/>
            <p14:sldId id="277"/>
            <p14:sldId id="278"/>
            <p14:sldId id="279"/>
          </p14:sldIdLst>
        </p14:section>
        <p14:section name="技术合同登记" id="{63A08BB1-6880-469E-934E-CB664C0C1C3D}">
          <p14:sldIdLst>
            <p14:sldId id="280"/>
            <p14:sldId id="281"/>
            <p14:sldId id="282"/>
            <p14:sldId id="283"/>
            <p14:sldId id="284"/>
            <p14:sldId id="285"/>
            <p14:sldId id="286"/>
            <p14:sldId id="287"/>
          </p14:sldIdLst>
        </p14:section>
        <p14:section name="其他政策" id="{CEC21A1D-965B-4F9B-A64B-E6FFD2D38B17}">
          <p14:sldIdLst>
            <p14:sldId id="288"/>
            <p14:sldId id="289"/>
            <p14:sldId id="290"/>
            <p14:sldId id="291"/>
            <p14:sldId id="292"/>
            <p14:sldId id="2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1" autoAdjust="0"/>
    <p:restoredTop sz="94660"/>
  </p:normalViewPr>
  <p:slideViewPr>
    <p:cSldViewPr snapToGrid="0">
      <p:cViewPr varScale="1">
        <p:scale>
          <a:sx n="51" d="100"/>
          <a:sy n="51" d="100"/>
        </p:scale>
        <p:origin x="114" y="8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3" Type="http://schemas.openxmlformats.org/officeDocument/2006/relationships/slideMaster" Target="slideMasters/slideMaster3.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slide" Target="slides/slide34.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viewProps" Target="viewProps.xml"/><Relationship Id="rId8" Type="http://schemas.openxmlformats.org/officeDocument/2006/relationships/slide" Target="slides/slide1.xml"/></Relationships>
</file>

<file path=ppt/diagrams/_rels/data1.xml.rels><?xml version="1.0" encoding="UTF-8" standalone="yes"?>
<Relationships xmlns="http://schemas.openxmlformats.org/package/2006/relationships"><Relationship Id="rId1" Type="http://schemas.openxmlformats.org/officeDocument/2006/relationships/slide" Target="../slides/slide4.xml"/></Relationships>
</file>

<file path=ppt/diagrams/_rels/data2.xml.rels><?xml version="1.0" encoding="UTF-8" standalone="yes"?>
<Relationships xmlns="http://schemas.openxmlformats.org/package/2006/relationships"><Relationship Id="rId1" Type="http://schemas.openxmlformats.org/officeDocument/2006/relationships/slide" Target="../slides/slide25.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BAA43E3-EAFA-47E7-95C0-53C7576D190B}" type="doc">
      <dgm:prSet loTypeId="urn:microsoft.com/office/officeart/2005/8/layout/list1" loCatId="list" qsTypeId="urn:microsoft.com/office/officeart/2005/8/quickstyle/3d6" qsCatId="3D" csTypeId="urn:microsoft.com/office/officeart/2005/8/colors/colorful1" csCatId="colorful"/>
      <dgm:spPr/>
      <dgm:t>
        <a:bodyPr/>
        <a:lstStyle/>
        <a:p>
          <a:endParaRPr lang="zh-CN" altLang="en-US"/>
        </a:p>
      </dgm:t>
    </dgm:pt>
    <dgm:pt modelId="{03E4203C-D526-486C-BFD8-EC834E8C759F}">
      <dgm:prSet/>
      <dgm:spPr/>
      <dgm:t>
        <a:bodyPr/>
        <a:lstStyle/>
        <a:p>
          <a:pPr rtl="0"/>
          <a:r>
            <a:rPr lang="zh-CN" dirty="0" smtClean="0"/>
            <a:t>战略性新兴产业促进</a:t>
          </a:r>
          <a:endParaRPr lang="zh-CN" dirty="0"/>
        </a:p>
      </dgm:t>
    </dgm:pt>
    <dgm:pt modelId="{C36503C0-07C8-400D-BD65-34A8A1F71CC2}" type="parTrans" cxnId="{92483AFC-E9DF-47FC-B7EB-B46D123EF427}">
      <dgm:prSet/>
      <dgm:spPr/>
      <dgm:t>
        <a:bodyPr/>
        <a:lstStyle/>
        <a:p>
          <a:endParaRPr lang="zh-CN" altLang="en-US"/>
        </a:p>
      </dgm:t>
    </dgm:pt>
    <dgm:pt modelId="{6372909B-2209-4B87-86AD-025906727815}" type="sibTrans" cxnId="{92483AFC-E9DF-47FC-B7EB-B46D123EF427}">
      <dgm:prSet/>
      <dgm:spPr/>
      <dgm:t>
        <a:bodyPr/>
        <a:lstStyle/>
        <a:p>
          <a:endParaRPr lang="zh-CN" altLang="en-US"/>
        </a:p>
      </dgm:t>
    </dgm:pt>
    <dgm:pt modelId="{778696CD-3A2F-49B5-97B0-EB857A255D23}">
      <dgm:prSet/>
      <dgm:spPr/>
      <dgm:t>
        <a:bodyPr/>
        <a:lstStyle/>
        <a:p>
          <a:pPr rtl="0"/>
          <a:r>
            <a:rPr lang="zh-CN" dirty="0" smtClean="0">
              <a:hlinkClick xmlns:r="http://schemas.openxmlformats.org/officeDocument/2006/relationships" r:id="rId1" action="ppaction://hlinksldjump"/>
            </a:rPr>
            <a:t>高新技术企业认定</a:t>
          </a:r>
          <a:endParaRPr lang="zh-CN" dirty="0"/>
        </a:p>
      </dgm:t>
    </dgm:pt>
    <dgm:pt modelId="{BBBFB9FA-5911-4FE3-B33A-1686461D7563}" type="parTrans" cxnId="{A76807AE-0326-4C70-BA9C-FD84D2B54147}">
      <dgm:prSet/>
      <dgm:spPr/>
      <dgm:t>
        <a:bodyPr/>
        <a:lstStyle/>
        <a:p>
          <a:endParaRPr lang="zh-CN" altLang="en-US"/>
        </a:p>
      </dgm:t>
    </dgm:pt>
    <dgm:pt modelId="{97306136-FC55-45E5-A5EB-950DAEE5B762}" type="sibTrans" cxnId="{A76807AE-0326-4C70-BA9C-FD84D2B54147}">
      <dgm:prSet/>
      <dgm:spPr/>
      <dgm:t>
        <a:bodyPr/>
        <a:lstStyle/>
        <a:p>
          <a:endParaRPr lang="zh-CN" altLang="en-US"/>
        </a:p>
      </dgm:t>
    </dgm:pt>
    <dgm:pt modelId="{5AAE7A27-A4EB-4A3A-B878-BD4EB7461AC6}">
      <dgm:prSet/>
      <dgm:spPr/>
      <dgm:t>
        <a:bodyPr/>
        <a:lstStyle/>
        <a:p>
          <a:pPr rtl="0"/>
          <a:r>
            <a:rPr lang="zh-CN" dirty="0" smtClean="0"/>
            <a:t>技术先进型服务企业认定</a:t>
          </a:r>
          <a:endParaRPr lang="zh-CN" dirty="0"/>
        </a:p>
      </dgm:t>
    </dgm:pt>
    <dgm:pt modelId="{96AA546F-980C-4687-9E6D-D294C94F1672}" type="parTrans" cxnId="{BF992AD6-C558-4F83-9F98-1A220D479275}">
      <dgm:prSet/>
      <dgm:spPr/>
      <dgm:t>
        <a:bodyPr/>
        <a:lstStyle/>
        <a:p>
          <a:endParaRPr lang="zh-CN" altLang="en-US"/>
        </a:p>
      </dgm:t>
    </dgm:pt>
    <dgm:pt modelId="{8EBF5DC9-86D2-4D4C-B172-247BB3A520BA}" type="sibTrans" cxnId="{BF992AD6-C558-4F83-9F98-1A220D479275}">
      <dgm:prSet/>
      <dgm:spPr/>
      <dgm:t>
        <a:bodyPr/>
        <a:lstStyle/>
        <a:p>
          <a:endParaRPr lang="zh-CN" altLang="en-US"/>
        </a:p>
      </dgm:t>
    </dgm:pt>
    <dgm:pt modelId="{BED0B28D-F48D-4D8E-A0B2-7C81DB497F7D}">
      <dgm:prSet/>
      <dgm:spPr/>
      <dgm:t>
        <a:bodyPr/>
        <a:lstStyle/>
        <a:p>
          <a:pPr rtl="0"/>
          <a:r>
            <a:rPr lang="zh-CN" smtClean="0"/>
            <a:t>研发经费加计扣除</a:t>
          </a:r>
          <a:endParaRPr lang="zh-CN"/>
        </a:p>
      </dgm:t>
    </dgm:pt>
    <dgm:pt modelId="{CFDB832B-7017-4D4D-AE05-FEF0D17C42CF}" type="parTrans" cxnId="{F8576315-2010-409A-9D57-A589AAFC24C3}">
      <dgm:prSet/>
      <dgm:spPr/>
      <dgm:t>
        <a:bodyPr/>
        <a:lstStyle/>
        <a:p>
          <a:endParaRPr lang="zh-CN" altLang="en-US"/>
        </a:p>
      </dgm:t>
    </dgm:pt>
    <dgm:pt modelId="{DC8F3482-A3E8-4598-85AF-22281584256D}" type="sibTrans" cxnId="{F8576315-2010-409A-9D57-A589AAFC24C3}">
      <dgm:prSet/>
      <dgm:spPr/>
      <dgm:t>
        <a:bodyPr/>
        <a:lstStyle/>
        <a:p>
          <a:endParaRPr lang="zh-CN" altLang="en-US"/>
        </a:p>
      </dgm:t>
    </dgm:pt>
    <dgm:pt modelId="{C45C18FD-C23D-4D07-84C9-FB56DFC3D53B}">
      <dgm:prSet/>
      <dgm:spPr/>
      <dgm:t>
        <a:bodyPr/>
        <a:lstStyle/>
        <a:p>
          <a:pPr rtl="0"/>
          <a:r>
            <a:rPr lang="zh-CN" smtClean="0"/>
            <a:t>科技型中小企业技术创新资金</a:t>
          </a:r>
          <a:endParaRPr lang="zh-CN"/>
        </a:p>
      </dgm:t>
    </dgm:pt>
    <dgm:pt modelId="{9341FA22-F148-4B40-8D88-1CC44238A8FF}" type="parTrans" cxnId="{78238DE6-0DE9-4D85-93B9-CDDFD3C7FCC0}">
      <dgm:prSet/>
      <dgm:spPr/>
      <dgm:t>
        <a:bodyPr/>
        <a:lstStyle/>
        <a:p>
          <a:endParaRPr lang="zh-CN" altLang="en-US"/>
        </a:p>
      </dgm:t>
    </dgm:pt>
    <dgm:pt modelId="{508C6BCE-8113-470A-BB29-F48C3F79AF8C}" type="sibTrans" cxnId="{78238DE6-0DE9-4D85-93B9-CDDFD3C7FCC0}">
      <dgm:prSet/>
      <dgm:spPr/>
      <dgm:t>
        <a:bodyPr/>
        <a:lstStyle/>
        <a:p>
          <a:endParaRPr lang="zh-CN" altLang="en-US"/>
        </a:p>
      </dgm:t>
    </dgm:pt>
    <dgm:pt modelId="{68001F48-F5AF-48DE-9AAD-B6134DF4D29A}">
      <dgm:prSet/>
      <dgm:spPr/>
      <dgm:t>
        <a:bodyPr/>
        <a:lstStyle/>
        <a:p>
          <a:pPr rtl="0"/>
          <a:r>
            <a:rPr lang="zh-CN" smtClean="0"/>
            <a:t>高新技术成果转化</a:t>
          </a:r>
          <a:endParaRPr lang="zh-CN"/>
        </a:p>
      </dgm:t>
    </dgm:pt>
    <dgm:pt modelId="{1328FFAD-A01B-493E-8003-5BBA25C9E7E4}" type="parTrans" cxnId="{A410B6B2-C5D3-4994-BC04-D0116A9E1204}">
      <dgm:prSet/>
      <dgm:spPr/>
      <dgm:t>
        <a:bodyPr/>
        <a:lstStyle/>
        <a:p>
          <a:endParaRPr lang="zh-CN" altLang="en-US"/>
        </a:p>
      </dgm:t>
    </dgm:pt>
    <dgm:pt modelId="{F9B4511E-6417-4535-815F-3074F5196A1E}" type="sibTrans" cxnId="{A410B6B2-C5D3-4994-BC04-D0116A9E1204}">
      <dgm:prSet/>
      <dgm:spPr/>
      <dgm:t>
        <a:bodyPr/>
        <a:lstStyle/>
        <a:p>
          <a:endParaRPr lang="zh-CN" altLang="en-US"/>
        </a:p>
      </dgm:t>
    </dgm:pt>
    <dgm:pt modelId="{7505978A-EB8F-42EF-A6F9-F5E051BDC84A}">
      <dgm:prSet/>
      <dgm:spPr/>
      <dgm:t>
        <a:bodyPr/>
        <a:lstStyle/>
        <a:p>
          <a:pPr rtl="0"/>
          <a:r>
            <a:rPr lang="zh-CN" smtClean="0"/>
            <a:t>新技术新产品认定</a:t>
          </a:r>
          <a:endParaRPr lang="zh-CN"/>
        </a:p>
      </dgm:t>
    </dgm:pt>
    <dgm:pt modelId="{E7A7BFD7-C2DD-4AAD-880E-5FAE707B273B}" type="parTrans" cxnId="{3815BF8E-3AAF-4383-8713-8562DF8E2333}">
      <dgm:prSet/>
      <dgm:spPr/>
      <dgm:t>
        <a:bodyPr/>
        <a:lstStyle/>
        <a:p>
          <a:endParaRPr lang="zh-CN" altLang="en-US"/>
        </a:p>
      </dgm:t>
    </dgm:pt>
    <dgm:pt modelId="{CA097118-C822-4453-93F1-61F89D802A7B}" type="sibTrans" cxnId="{3815BF8E-3AAF-4383-8713-8562DF8E2333}">
      <dgm:prSet/>
      <dgm:spPr/>
      <dgm:t>
        <a:bodyPr/>
        <a:lstStyle/>
        <a:p>
          <a:endParaRPr lang="zh-CN" altLang="en-US"/>
        </a:p>
      </dgm:t>
    </dgm:pt>
    <dgm:pt modelId="{A752591A-7CB5-4C37-B32B-B8BFE2610C5F}">
      <dgm:prSet/>
      <dgm:spPr/>
      <dgm:t>
        <a:bodyPr/>
        <a:lstStyle/>
        <a:p>
          <a:pPr rtl="0"/>
          <a:r>
            <a:rPr lang="zh-CN" smtClean="0"/>
            <a:t>战兴产业科技成果转化基地</a:t>
          </a:r>
          <a:endParaRPr lang="zh-CN"/>
        </a:p>
      </dgm:t>
    </dgm:pt>
    <dgm:pt modelId="{0315B87C-6653-41B2-80DC-8A17D686D16F}" type="parTrans" cxnId="{12AB4ADA-BE63-4D43-BEAD-19481ED591B1}">
      <dgm:prSet/>
      <dgm:spPr/>
      <dgm:t>
        <a:bodyPr/>
        <a:lstStyle/>
        <a:p>
          <a:endParaRPr lang="zh-CN" altLang="en-US"/>
        </a:p>
      </dgm:t>
    </dgm:pt>
    <dgm:pt modelId="{4EE37290-F90E-48F5-AE09-8FFDB93DAFE0}" type="sibTrans" cxnId="{12AB4ADA-BE63-4D43-BEAD-19481ED591B1}">
      <dgm:prSet/>
      <dgm:spPr/>
      <dgm:t>
        <a:bodyPr/>
        <a:lstStyle/>
        <a:p>
          <a:endParaRPr lang="zh-CN" altLang="en-US"/>
        </a:p>
      </dgm:t>
    </dgm:pt>
    <dgm:pt modelId="{57F825D3-2205-486C-88AB-16F82C6ACCFC}">
      <dgm:prSet/>
      <dgm:spPr/>
      <dgm:t>
        <a:bodyPr/>
        <a:lstStyle/>
        <a:p>
          <a:pPr rtl="0"/>
          <a:r>
            <a:rPr lang="zh-CN" smtClean="0"/>
            <a:t>科技企业孵化机构（战略性新兴产业孵育基地）建设</a:t>
          </a:r>
          <a:endParaRPr lang="zh-CN"/>
        </a:p>
      </dgm:t>
    </dgm:pt>
    <dgm:pt modelId="{FADFC8A4-0893-4AC2-96B2-B9F41A3B18A4}" type="parTrans" cxnId="{C1D5F259-76F0-44DD-BD23-54408DE5CB57}">
      <dgm:prSet/>
      <dgm:spPr/>
      <dgm:t>
        <a:bodyPr/>
        <a:lstStyle/>
        <a:p>
          <a:endParaRPr lang="zh-CN" altLang="en-US"/>
        </a:p>
      </dgm:t>
    </dgm:pt>
    <dgm:pt modelId="{09088134-01B4-4480-A9DD-14517B9D6523}" type="sibTrans" cxnId="{C1D5F259-76F0-44DD-BD23-54408DE5CB57}">
      <dgm:prSet/>
      <dgm:spPr/>
      <dgm:t>
        <a:bodyPr/>
        <a:lstStyle/>
        <a:p>
          <a:endParaRPr lang="zh-CN" altLang="en-US"/>
        </a:p>
      </dgm:t>
    </dgm:pt>
    <dgm:pt modelId="{16FCFAFB-D9CB-4369-B70D-8697045E4016}" type="pres">
      <dgm:prSet presAssocID="{DBAA43E3-EAFA-47E7-95C0-53C7576D190B}" presName="linear" presStyleCnt="0">
        <dgm:presLayoutVars>
          <dgm:dir/>
          <dgm:animLvl val="lvl"/>
          <dgm:resizeHandles val="exact"/>
        </dgm:presLayoutVars>
      </dgm:prSet>
      <dgm:spPr/>
      <dgm:t>
        <a:bodyPr/>
        <a:lstStyle/>
        <a:p>
          <a:endParaRPr lang="zh-CN" altLang="en-US"/>
        </a:p>
      </dgm:t>
    </dgm:pt>
    <dgm:pt modelId="{83BD1FD1-CA00-45F7-AA44-0037F4BCCB67}" type="pres">
      <dgm:prSet presAssocID="{03E4203C-D526-486C-BFD8-EC834E8C759F}" presName="parentLin" presStyleCnt="0"/>
      <dgm:spPr/>
    </dgm:pt>
    <dgm:pt modelId="{594FAA3D-CB94-4D1F-AE55-18D798B85641}" type="pres">
      <dgm:prSet presAssocID="{03E4203C-D526-486C-BFD8-EC834E8C759F}" presName="parentLeftMargin" presStyleLbl="node1" presStyleIdx="0" presStyleCnt="1"/>
      <dgm:spPr/>
      <dgm:t>
        <a:bodyPr/>
        <a:lstStyle/>
        <a:p>
          <a:endParaRPr lang="zh-CN" altLang="en-US"/>
        </a:p>
      </dgm:t>
    </dgm:pt>
    <dgm:pt modelId="{6519D955-026B-4646-8BA3-80890B154DEE}" type="pres">
      <dgm:prSet presAssocID="{03E4203C-D526-486C-BFD8-EC834E8C759F}" presName="parentText" presStyleLbl="node1" presStyleIdx="0" presStyleCnt="1">
        <dgm:presLayoutVars>
          <dgm:chMax val="0"/>
          <dgm:bulletEnabled val="1"/>
        </dgm:presLayoutVars>
      </dgm:prSet>
      <dgm:spPr/>
      <dgm:t>
        <a:bodyPr/>
        <a:lstStyle/>
        <a:p>
          <a:endParaRPr lang="zh-CN" altLang="en-US"/>
        </a:p>
      </dgm:t>
    </dgm:pt>
    <dgm:pt modelId="{1D890AB2-F0D8-42D8-8C20-29FCD5697030}" type="pres">
      <dgm:prSet presAssocID="{03E4203C-D526-486C-BFD8-EC834E8C759F}" presName="negativeSpace" presStyleCnt="0"/>
      <dgm:spPr/>
    </dgm:pt>
    <dgm:pt modelId="{BDCB7E28-0B5F-4B36-9F39-41DA1F12FD5F}" type="pres">
      <dgm:prSet presAssocID="{03E4203C-D526-486C-BFD8-EC834E8C759F}" presName="childText" presStyleLbl="conFgAcc1" presStyleIdx="0" presStyleCnt="1">
        <dgm:presLayoutVars>
          <dgm:bulletEnabled val="1"/>
        </dgm:presLayoutVars>
      </dgm:prSet>
      <dgm:spPr/>
      <dgm:t>
        <a:bodyPr/>
        <a:lstStyle/>
        <a:p>
          <a:endParaRPr lang="zh-CN" altLang="en-US"/>
        </a:p>
      </dgm:t>
    </dgm:pt>
  </dgm:ptLst>
  <dgm:cxnLst>
    <dgm:cxn modelId="{92FAAB7C-4F27-4B74-AFBF-6771B340B665}" type="presOf" srcId="{BED0B28D-F48D-4D8E-A0B2-7C81DB497F7D}" destId="{BDCB7E28-0B5F-4B36-9F39-41DA1F12FD5F}" srcOrd="0" destOrd="2" presId="urn:microsoft.com/office/officeart/2005/8/layout/list1"/>
    <dgm:cxn modelId="{857C502A-6B84-436C-BA51-D5B03153BEDF}" type="presOf" srcId="{57F825D3-2205-486C-88AB-16F82C6ACCFC}" destId="{BDCB7E28-0B5F-4B36-9F39-41DA1F12FD5F}" srcOrd="0" destOrd="7" presId="urn:microsoft.com/office/officeart/2005/8/layout/list1"/>
    <dgm:cxn modelId="{3FAAB944-E27B-4DBC-84EE-C1D53D27CDE3}" type="presOf" srcId="{5AAE7A27-A4EB-4A3A-B878-BD4EB7461AC6}" destId="{BDCB7E28-0B5F-4B36-9F39-41DA1F12FD5F}" srcOrd="0" destOrd="1" presId="urn:microsoft.com/office/officeart/2005/8/layout/list1"/>
    <dgm:cxn modelId="{DE966B6B-2E75-4EDB-9F1F-990168A4E816}" type="presOf" srcId="{DBAA43E3-EAFA-47E7-95C0-53C7576D190B}" destId="{16FCFAFB-D9CB-4369-B70D-8697045E4016}" srcOrd="0" destOrd="0" presId="urn:microsoft.com/office/officeart/2005/8/layout/list1"/>
    <dgm:cxn modelId="{12AB4ADA-BE63-4D43-BEAD-19481ED591B1}" srcId="{03E4203C-D526-486C-BFD8-EC834E8C759F}" destId="{A752591A-7CB5-4C37-B32B-B8BFE2610C5F}" srcOrd="6" destOrd="0" parTransId="{0315B87C-6653-41B2-80DC-8A17D686D16F}" sibTransId="{4EE37290-F90E-48F5-AE09-8FFDB93DAFE0}"/>
    <dgm:cxn modelId="{DA89B5BE-72CC-4174-AA6B-61ED183C5133}" type="presOf" srcId="{68001F48-F5AF-48DE-9AAD-B6134DF4D29A}" destId="{BDCB7E28-0B5F-4B36-9F39-41DA1F12FD5F}" srcOrd="0" destOrd="4" presId="urn:microsoft.com/office/officeart/2005/8/layout/list1"/>
    <dgm:cxn modelId="{772CA6AD-842A-4A5F-BFFB-F26C0F9842BD}" type="presOf" srcId="{A752591A-7CB5-4C37-B32B-B8BFE2610C5F}" destId="{BDCB7E28-0B5F-4B36-9F39-41DA1F12FD5F}" srcOrd="0" destOrd="6" presId="urn:microsoft.com/office/officeart/2005/8/layout/list1"/>
    <dgm:cxn modelId="{27775CF7-DEDF-4A34-AFCA-9B1DE26487D7}" type="presOf" srcId="{03E4203C-D526-486C-BFD8-EC834E8C759F}" destId="{6519D955-026B-4646-8BA3-80890B154DEE}" srcOrd="1" destOrd="0" presId="urn:microsoft.com/office/officeart/2005/8/layout/list1"/>
    <dgm:cxn modelId="{A76807AE-0326-4C70-BA9C-FD84D2B54147}" srcId="{03E4203C-D526-486C-BFD8-EC834E8C759F}" destId="{778696CD-3A2F-49B5-97B0-EB857A255D23}" srcOrd="0" destOrd="0" parTransId="{BBBFB9FA-5911-4FE3-B33A-1686461D7563}" sibTransId="{97306136-FC55-45E5-A5EB-950DAEE5B762}"/>
    <dgm:cxn modelId="{A410B6B2-C5D3-4994-BC04-D0116A9E1204}" srcId="{03E4203C-D526-486C-BFD8-EC834E8C759F}" destId="{68001F48-F5AF-48DE-9AAD-B6134DF4D29A}" srcOrd="4" destOrd="0" parTransId="{1328FFAD-A01B-493E-8003-5BBA25C9E7E4}" sibTransId="{F9B4511E-6417-4535-815F-3074F5196A1E}"/>
    <dgm:cxn modelId="{18B25849-D95E-4CB2-93C6-BA8FC9145323}" type="presOf" srcId="{C45C18FD-C23D-4D07-84C9-FB56DFC3D53B}" destId="{BDCB7E28-0B5F-4B36-9F39-41DA1F12FD5F}" srcOrd="0" destOrd="3" presId="urn:microsoft.com/office/officeart/2005/8/layout/list1"/>
    <dgm:cxn modelId="{92483AFC-E9DF-47FC-B7EB-B46D123EF427}" srcId="{DBAA43E3-EAFA-47E7-95C0-53C7576D190B}" destId="{03E4203C-D526-486C-BFD8-EC834E8C759F}" srcOrd="0" destOrd="0" parTransId="{C36503C0-07C8-400D-BD65-34A8A1F71CC2}" sibTransId="{6372909B-2209-4B87-86AD-025906727815}"/>
    <dgm:cxn modelId="{C1D5F259-76F0-44DD-BD23-54408DE5CB57}" srcId="{03E4203C-D526-486C-BFD8-EC834E8C759F}" destId="{57F825D3-2205-486C-88AB-16F82C6ACCFC}" srcOrd="7" destOrd="0" parTransId="{FADFC8A4-0893-4AC2-96B2-B9F41A3B18A4}" sibTransId="{09088134-01B4-4480-A9DD-14517B9D6523}"/>
    <dgm:cxn modelId="{BF992AD6-C558-4F83-9F98-1A220D479275}" srcId="{03E4203C-D526-486C-BFD8-EC834E8C759F}" destId="{5AAE7A27-A4EB-4A3A-B878-BD4EB7461AC6}" srcOrd="1" destOrd="0" parTransId="{96AA546F-980C-4687-9E6D-D294C94F1672}" sibTransId="{8EBF5DC9-86D2-4D4C-B172-247BB3A520BA}"/>
    <dgm:cxn modelId="{78238DE6-0DE9-4D85-93B9-CDDFD3C7FCC0}" srcId="{03E4203C-D526-486C-BFD8-EC834E8C759F}" destId="{C45C18FD-C23D-4D07-84C9-FB56DFC3D53B}" srcOrd="3" destOrd="0" parTransId="{9341FA22-F148-4B40-8D88-1CC44238A8FF}" sibTransId="{508C6BCE-8113-470A-BB29-F48C3F79AF8C}"/>
    <dgm:cxn modelId="{3E55150F-E596-4DC6-89CA-B7E547B5FF66}" type="presOf" srcId="{03E4203C-D526-486C-BFD8-EC834E8C759F}" destId="{594FAA3D-CB94-4D1F-AE55-18D798B85641}" srcOrd="0" destOrd="0" presId="urn:microsoft.com/office/officeart/2005/8/layout/list1"/>
    <dgm:cxn modelId="{F8576315-2010-409A-9D57-A589AAFC24C3}" srcId="{03E4203C-D526-486C-BFD8-EC834E8C759F}" destId="{BED0B28D-F48D-4D8E-A0B2-7C81DB497F7D}" srcOrd="2" destOrd="0" parTransId="{CFDB832B-7017-4D4D-AE05-FEF0D17C42CF}" sibTransId="{DC8F3482-A3E8-4598-85AF-22281584256D}"/>
    <dgm:cxn modelId="{67BEC646-B621-4D29-8828-A075F233A656}" type="presOf" srcId="{778696CD-3A2F-49B5-97B0-EB857A255D23}" destId="{BDCB7E28-0B5F-4B36-9F39-41DA1F12FD5F}" srcOrd="0" destOrd="0" presId="urn:microsoft.com/office/officeart/2005/8/layout/list1"/>
    <dgm:cxn modelId="{3815BF8E-3AAF-4383-8713-8562DF8E2333}" srcId="{03E4203C-D526-486C-BFD8-EC834E8C759F}" destId="{7505978A-EB8F-42EF-A6F9-F5E051BDC84A}" srcOrd="5" destOrd="0" parTransId="{E7A7BFD7-C2DD-4AAD-880E-5FAE707B273B}" sibTransId="{CA097118-C822-4453-93F1-61F89D802A7B}"/>
    <dgm:cxn modelId="{9B3E8DF1-CDA7-45D0-8F91-DD0635838947}" type="presOf" srcId="{7505978A-EB8F-42EF-A6F9-F5E051BDC84A}" destId="{BDCB7E28-0B5F-4B36-9F39-41DA1F12FD5F}" srcOrd="0" destOrd="5" presId="urn:microsoft.com/office/officeart/2005/8/layout/list1"/>
    <dgm:cxn modelId="{6F7A59FF-8144-4A15-95A1-DFC6B0ADA26C}" type="presParOf" srcId="{16FCFAFB-D9CB-4369-B70D-8697045E4016}" destId="{83BD1FD1-CA00-45F7-AA44-0037F4BCCB67}" srcOrd="0" destOrd="0" presId="urn:microsoft.com/office/officeart/2005/8/layout/list1"/>
    <dgm:cxn modelId="{A9E0D934-05DA-4E8C-9E48-F5FD79B75090}" type="presParOf" srcId="{83BD1FD1-CA00-45F7-AA44-0037F4BCCB67}" destId="{594FAA3D-CB94-4D1F-AE55-18D798B85641}" srcOrd="0" destOrd="0" presId="urn:microsoft.com/office/officeart/2005/8/layout/list1"/>
    <dgm:cxn modelId="{FD2B63CB-00F7-4102-8802-25DE3DE31E23}" type="presParOf" srcId="{83BD1FD1-CA00-45F7-AA44-0037F4BCCB67}" destId="{6519D955-026B-4646-8BA3-80890B154DEE}" srcOrd="1" destOrd="0" presId="urn:microsoft.com/office/officeart/2005/8/layout/list1"/>
    <dgm:cxn modelId="{E0ED5586-89BF-4D1D-BA63-169247BFB75D}" type="presParOf" srcId="{16FCFAFB-D9CB-4369-B70D-8697045E4016}" destId="{1D890AB2-F0D8-42D8-8C20-29FCD5697030}" srcOrd="1" destOrd="0" presId="urn:microsoft.com/office/officeart/2005/8/layout/list1"/>
    <dgm:cxn modelId="{271F5A61-3E85-4C98-9F14-C610856ABE82}" type="presParOf" srcId="{16FCFAFB-D9CB-4369-B70D-8697045E4016}" destId="{BDCB7E28-0B5F-4B36-9F39-41DA1F12FD5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A757CEA-42A3-432D-8A20-3A98EF8D220F}" type="doc">
      <dgm:prSet loTypeId="urn:microsoft.com/office/officeart/2005/8/layout/radial3" loCatId="relationship" qsTypeId="urn:microsoft.com/office/officeart/2005/8/quickstyle/3d3" qsCatId="3D" csTypeId="urn:microsoft.com/office/officeart/2005/8/colors/colorful5" csCatId="colorful"/>
      <dgm:spPr/>
      <dgm:t>
        <a:bodyPr/>
        <a:lstStyle/>
        <a:p>
          <a:endParaRPr lang="zh-CN" altLang="en-US"/>
        </a:p>
      </dgm:t>
    </dgm:pt>
    <dgm:pt modelId="{4DFE9178-A911-456B-801C-DF2BA4889064}">
      <dgm:prSet/>
      <dgm:spPr/>
      <dgm:t>
        <a:bodyPr/>
        <a:lstStyle/>
        <a:p>
          <a:pPr rtl="0"/>
          <a:r>
            <a:rPr lang="zh-CN" dirty="0" smtClean="0"/>
            <a:t>科技服务业促进</a:t>
          </a:r>
          <a:endParaRPr lang="zh-CN" dirty="0"/>
        </a:p>
      </dgm:t>
    </dgm:pt>
    <dgm:pt modelId="{A4DEEF1E-241F-4514-8ABF-C8E5A35393C0}" type="parTrans" cxnId="{19BA67ED-81E5-48E0-8E63-E878A4D03A69}">
      <dgm:prSet/>
      <dgm:spPr/>
      <dgm:t>
        <a:bodyPr/>
        <a:lstStyle/>
        <a:p>
          <a:endParaRPr lang="zh-CN" altLang="en-US"/>
        </a:p>
      </dgm:t>
    </dgm:pt>
    <dgm:pt modelId="{822BBEFF-B890-483A-BDF1-558846DC3214}" type="sibTrans" cxnId="{19BA67ED-81E5-48E0-8E63-E878A4D03A69}">
      <dgm:prSet/>
      <dgm:spPr/>
      <dgm:t>
        <a:bodyPr/>
        <a:lstStyle/>
        <a:p>
          <a:endParaRPr lang="zh-CN" altLang="en-US"/>
        </a:p>
      </dgm:t>
    </dgm:pt>
    <dgm:pt modelId="{B993B4B7-376C-4E85-A825-DCD06E61EEFA}">
      <dgm:prSet/>
      <dgm:spPr/>
      <dgm:t>
        <a:bodyPr/>
        <a:lstStyle/>
        <a:p>
          <a:pPr rtl="0"/>
          <a:r>
            <a:rPr lang="zh-CN" dirty="0" smtClean="0">
              <a:hlinkClick xmlns:r="http://schemas.openxmlformats.org/officeDocument/2006/relationships" r:id="rId1" action="ppaction://hlinksldjump"/>
            </a:rPr>
            <a:t>技术合同登记</a:t>
          </a:r>
          <a:endParaRPr lang="zh-CN" dirty="0"/>
        </a:p>
      </dgm:t>
    </dgm:pt>
    <dgm:pt modelId="{6A7F215C-B734-43E5-8A79-39859098A685}" type="parTrans" cxnId="{D73A9C75-744E-4C5B-ABE2-04BF19A296B9}">
      <dgm:prSet/>
      <dgm:spPr/>
      <dgm:t>
        <a:bodyPr/>
        <a:lstStyle/>
        <a:p>
          <a:endParaRPr lang="zh-CN" altLang="en-US"/>
        </a:p>
      </dgm:t>
    </dgm:pt>
    <dgm:pt modelId="{AF4888D7-163D-45A5-8E21-23AD4ABA3477}" type="sibTrans" cxnId="{D73A9C75-744E-4C5B-ABE2-04BF19A296B9}">
      <dgm:prSet/>
      <dgm:spPr/>
      <dgm:t>
        <a:bodyPr/>
        <a:lstStyle/>
        <a:p>
          <a:endParaRPr lang="zh-CN" altLang="en-US"/>
        </a:p>
      </dgm:t>
    </dgm:pt>
    <dgm:pt modelId="{701F0D66-7680-46E7-BBCC-8FFF87DB2DC7}">
      <dgm:prSet/>
      <dgm:spPr/>
      <dgm:t>
        <a:bodyPr/>
        <a:lstStyle/>
        <a:p>
          <a:pPr rtl="0"/>
          <a:r>
            <a:rPr lang="zh-CN" dirty="0" smtClean="0"/>
            <a:t>技术转移</a:t>
          </a:r>
          <a:endParaRPr lang="zh-CN" dirty="0"/>
        </a:p>
      </dgm:t>
    </dgm:pt>
    <dgm:pt modelId="{081BBC70-B2D5-4C34-90F5-D60F81ACA49C}" type="parTrans" cxnId="{CED7CC56-F585-44E4-8EE8-5FB422F291A2}">
      <dgm:prSet/>
      <dgm:spPr/>
      <dgm:t>
        <a:bodyPr/>
        <a:lstStyle/>
        <a:p>
          <a:endParaRPr lang="zh-CN" altLang="en-US"/>
        </a:p>
      </dgm:t>
    </dgm:pt>
    <dgm:pt modelId="{D68E4575-0621-4263-8BF9-0158B8E8C9D4}" type="sibTrans" cxnId="{CED7CC56-F585-44E4-8EE8-5FB422F291A2}">
      <dgm:prSet/>
      <dgm:spPr/>
      <dgm:t>
        <a:bodyPr/>
        <a:lstStyle/>
        <a:p>
          <a:endParaRPr lang="zh-CN" altLang="en-US"/>
        </a:p>
      </dgm:t>
    </dgm:pt>
    <dgm:pt modelId="{75863B01-5DE5-4F93-8206-FB71507B7AA3}">
      <dgm:prSet/>
      <dgm:spPr/>
      <dgm:t>
        <a:bodyPr/>
        <a:lstStyle/>
        <a:p>
          <a:pPr rtl="0"/>
          <a:r>
            <a:rPr lang="zh-CN" smtClean="0"/>
            <a:t>工程技术服务</a:t>
          </a:r>
          <a:endParaRPr lang="zh-CN"/>
        </a:p>
      </dgm:t>
    </dgm:pt>
    <dgm:pt modelId="{F3AA9572-335D-4D58-BBED-4308E80C929C}" type="parTrans" cxnId="{432B15C3-7CC5-42DE-934D-5FF8927E2A07}">
      <dgm:prSet/>
      <dgm:spPr/>
      <dgm:t>
        <a:bodyPr/>
        <a:lstStyle/>
        <a:p>
          <a:endParaRPr lang="zh-CN" altLang="en-US"/>
        </a:p>
      </dgm:t>
    </dgm:pt>
    <dgm:pt modelId="{01DE3E49-F4F1-4953-8296-E1B2E627D588}" type="sibTrans" cxnId="{432B15C3-7CC5-42DE-934D-5FF8927E2A07}">
      <dgm:prSet/>
      <dgm:spPr/>
      <dgm:t>
        <a:bodyPr/>
        <a:lstStyle/>
        <a:p>
          <a:endParaRPr lang="zh-CN" altLang="en-US"/>
        </a:p>
      </dgm:t>
    </dgm:pt>
    <dgm:pt modelId="{DC6610A4-A823-4807-B31F-C404E0F2C6A1}">
      <dgm:prSet/>
      <dgm:spPr/>
      <dgm:t>
        <a:bodyPr/>
        <a:lstStyle/>
        <a:p>
          <a:pPr rtl="0"/>
          <a:r>
            <a:rPr lang="zh-CN" smtClean="0"/>
            <a:t>工业设计促进</a:t>
          </a:r>
          <a:endParaRPr lang="zh-CN"/>
        </a:p>
      </dgm:t>
    </dgm:pt>
    <dgm:pt modelId="{2203DBA7-EF9A-42F6-862A-5E8E1DEE56F4}" type="parTrans" cxnId="{60174A74-C681-4414-A53D-3478154C0463}">
      <dgm:prSet/>
      <dgm:spPr/>
      <dgm:t>
        <a:bodyPr/>
        <a:lstStyle/>
        <a:p>
          <a:endParaRPr lang="zh-CN" altLang="en-US"/>
        </a:p>
      </dgm:t>
    </dgm:pt>
    <dgm:pt modelId="{A459C306-298F-430C-BAEC-98198749AA6E}" type="sibTrans" cxnId="{60174A74-C681-4414-A53D-3478154C0463}">
      <dgm:prSet/>
      <dgm:spPr/>
      <dgm:t>
        <a:bodyPr/>
        <a:lstStyle/>
        <a:p>
          <a:endParaRPr lang="zh-CN" altLang="en-US"/>
        </a:p>
      </dgm:t>
    </dgm:pt>
    <dgm:pt modelId="{BF3375C3-775B-4B56-AC99-E59ABD2ED39C}">
      <dgm:prSet/>
      <dgm:spPr/>
      <dgm:t>
        <a:bodyPr/>
        <a:lstStyle/>
        <a:p>
          <a:pPr rtl="0"/>
          <a:r>
            <a:rPr lang="zh-CN" smtClean="0"/>
            <a:t>产业技术创新战略联盟建设</a:t>
          </a:r>
          <a:endParaRPr lang="zh-CN"/>
        </a:p>
      </dgm:t>
    </dgm:pt>
    <dgm:pt modelId="{6B0F1DFC-17B4-474D-9FF4-3EE37F48F59C}" type="parTrans" cxnId="{0D34973C-D4BE-4300-8286-BC0BEAC2EFE2}">
      <dgm:prSet/>
      <dgm:spPr/>
      <dgm:t>
        <a:bodyPr/>
        <a:lstStyle/>
        <a:p>
          <a:endParaRPr lang="zh-CN" altLang="en-US"/>
        </a:p>
      </dgm:t>
    </dgm:pt>
    <dgm:pt modelId="{8621CC13-4134-4F81-96B6-CBF1E81D2536}" type="sibTrans" cxnId="{0D34973C-D4BE-4300-8286-BC0BEAC2EFE2}">
      <dgm:prSet/>
      <dgm:spPr/>
      <dgm:t>
        <a:bodyPr/>
        <a:lstStyle/>
        <a:p>
          <a:endParaRPr lang="zh-CN" altLang="en-US"/>
        </a:p>
      </dgm:t>
    </dgm:pt>
    <dgm:pt modelId="{A399AC0F-7F31-4927-A60D-23E9EB77D691}" type="pres">
      <dgm:prSet presAssocID="{6A757CEA-42A3-432D-8A20-3A98EF8D220F}" presName="composite" presStyleCnt="0">
        <dgm:presLayoutVars>
          <dgm:chMax val="1"/>
          <dgm:dir/>
          <dgm:resizeHandles val="exact"/>
        </dgm:presLayoutVars>
      </dgm:prSet>
      <dgm:spPr/>
      <dgm:t>
        <a:bodyPr/>
        <a:lstStyle/>
        <a:p>
          <a:endParaRPr lang="zh-CN" altLang="en-US"/>
        </a:p>
      </dgm:t>
    </dgm:pt>
    <dgm:pt modelId="{0C8C5915-7493-447B-9F67-D18219E239FE}" type="pres">
      <dgm:prSet presAssocID="{6A757CEA-42A3-432D-8A20-3A98EF8D220F}" presName="radial" presStyleCnt="0">
        <dgm:presLayoutVars>
          <dgm:animLvl val="ctr"/>
        </dgm:presLayoutVars>
      </dgm:prSet>
      <dgm:spPr/>
    </dgm:pt>
    <dgm:pt modelId="{7D46B684-E44F-4291-9DC7-EA284023B39A}" type="pres">
      <dgm:prSet presAssocID="{4DFE9178-A911-456B-801C-DF2BA4889064}" presName="centerShape" presStyleLbl="vennNode1" presStyleIdx="0" presStyleCnt="6"/>
      <dgm:spPr/>
      <dgm:t>
        <a:bodyPr/>
        <a:lstStyle/>
        <a:p>
          <a:endParaRPr lang="zh-CN" altLang="en-US"/>
        </a:p>
      </dgm:t>
    </dgm:pt>
    <dgm:pt modelId="{99CA3766-0B33-4534-8E08-DD438FFF9D95}" type="pres">
      <dgm:prSet presAssocID="{B993B4B7-376C-4E85-A825-DCD06E61EEFA}" presName="node" presStyleLbl="vennNode1" presStyleIdx="1" presStyleCnt="6">
        <dgm:presLayoutVars>
          <dgm:bulletEnabled val="1"/>
        </dgm:presLayoutVars>
      </dgm:prSet>
      <dgm:spPr/>
      <dgm:t>
        <a:bodyPr/>
        <a:lstStyle/>
        <a:p>
          <a:endParaRPr lang="zh-CN" altLang="en-US"/>
        </a:p>
      </dgm:t>
    </dgm:pt>
    <dgm:pt modelId="{C5FC9FEC-A20A-485B-9B3B-73C2395F1441}" type="pres">
      <dgm:prSet presAssocID="{701F0D66-7680-46E7-BBCC-8FFF87DB2DC7}" presName="node" presStyleLbl="vennNode1" presStyleIdx="2" presStyleCnt="6">
        <dgm:presLayoutVars>
          <dgm:bulletEnabled val="1"/>
        </dgm:presLayoutVars>
      </dgm:prSet>
      <dgm:spPr/>
      <dgm:t>
        <a:bodyPr/>
        <a:lstStyle/>
        <a:p>
          <a:endParaRPr lang="zh-CN" altLang="en-US"/>
        </a:p>
      </dgm:t>
    </dgm:pt>
    <dgm:pt modelId="{E6ED6B27-6D11-44C4-A3F0-3DFC7BE62D2B}" type="pres">
      <dgm:prSet presAssocID="{75863B01-5DE5-4F93-8206-FB71507B7AA3}" presName="node" presStyleLbl="vennNode1" presStyleIdx="3" presStyleCnt="6">
        <dgm:presLayoutVars>
          <dgm:bulletEnabled val="1"/>
        </dgm:presLayoutVars>
      </dgm:prSet>
      <dgm:spPr/>
      <dgm:t>
        <a:bodyPr/>
        <a:lstStyle/>
        <a:p>
          <a:endParaRPr lang="zh-CN" altLang="en-US"/>
        </a:p>
      </dgm:t>
    </dgm:pt>
    <dgm:pt modelId="{F1E7F43E-9E0F-4834-9559-7A3BF96F7DE9}" type="pres">
      <dgm:prSet presAssocID="{DC6610A4-A823-4807-B31F-C404E0F2C6A1}" presName="node" presStyleLbl="vennNode1" presStyleIdx="4" presStyleCnt="6">
        <dgm:presLayoutVars>
          <dgm:bulletEnabled val="1"/>
        </dgm:presLayoutVars>
      </dgm:prSet>
      <dgm:spPr/>
      <dgm:t>
        <a:bodyPr/>
        <a:lstStyle/>
        <a:p>
          <a:endParaRPr lang="zh-CN" altLang="en-US"/>
        </a:p>
      </dgm:t>
    </dgm:pt>
    <dgm:pt modelId="{EFADA533-B9AE-48F6-9FF8-40DCA59D6EEA}" type="pres">
      <dgm:prSet presAssocID="{BF3375C3-775B-4B56-AC99-E59ABD2ED39C}" presName="node" presStyleLbl="vennNode1" presStyleIdx="5" presStyleCnt="6">
        <dgm:presLayoutVars>
          <dgm:bulletEnabled val="1"/>
        </dgm:presLayoutVars>
      </dgm:prSet>
      <dgm:spPr/>
      <dgm:t>
        <a:bodyPr/>
        <a:lstStyle/>
        <a:p>
          <a:endParaRPr lang="zh-CN" altLang="en-US"/>
        </a:p>
      </dgm:t>
    </dgm:pt>
  </dgm:ptLst>
  <dgm:cxnLst>
    <dgm:cxn modelId="{9514F667-C5F1-4FA5-A3BB-31B59278DDE1}" type="presOf" srcId="{BF3375C3-775B-4B56-AC99-E59ABD2ED39C}" destId="{EFADA533-B9AE-48F6-9FF8-40DCA59D6EEA}" srcOrd="0" destOrd="0" presId="urn:microsoft.com/office/officeart/2005/8/layout/radial3"/>
    <dgm:cxn modelId="{432B15C3-7CC5-42DE-934D-5FF8927E2A07}" srcId="{4DFE9178-A911-456B-801C-DF2BA4889064}" destId="{75863B01-5DE5-4F93-8206-FB71507B7AA3}" srcOrd="2" destOrd="0" parTransId="{F3AA9572-335D-4D58-BBED-4308E80C929C}" sibTransId="{01DE3E49-F4F1-4953-8296-E1B2E627D588}"/>
    <dgm:cxn modelId="{CED7CC56-F585-44E4-8EE8-5FB422F291A2}" srcId="{4DFE9178-A911-456B-801C-DF2BA4889064}" destId="{701F0D66-7680-46E7-BBCC-8FFF87DB2DC7}" srcOrd="1" destOrd="0" parTransId="{081BBC70-B2D5-4C34-90F5-D60F81ACA49C}" sibTransId="{D68E4575-0621-4263-8BF9-0158B8E8C9D4}"/>
    <dgm:cxn modelId="{50060323-E5B9-4A72-9824-1D2872058584}" type="presOf" srcId="{6A757CEA-42A3-432D-8A20-3A98EF8D220F}" destId="{A399AC0F-7F31-4927-A60D-23E9EB77D691}" srcOrd="0" destOrd="0" presId="urn:microsoft.com/office/officeart/2005/8/layout/radial3"/>
    <dgm:cxn modelId="{19BA67ED-81E5-48E0-8E63-E878A4D03A69}" srcId="{6A757CEA-42A3-432D-8A20-3A98EF8D220F}" destId="{4DFE9178-A911-456B-801C-DF2BA4889064}" srcOrd="0" destOrd="0" parTransId="{A4DEEF1E-241F-4514-8ABF-C8E5A35393C0}" sibTransId="{822BBEFF-B890-483A-BDF1-558846DC3214}"/>
    <dgm:cxn modelId="{4794CCBB-3D97-4CB0-9C23-233769F29198}" type="presOf" srcId="{B993B4B7-376C-4E85-A825-DCD06E61EEFA}" destId="{99CA3766-0B33-4534-8E08-DD438FFF9D95}" srcOrd="0" destOrd="0" presId="urn:microsoft.com/office/officeart/2005/8/layout/radial3"/>
    <dgm:cxn modelId="{60174A74-C681-4414-A53D-3478154C0463}" srcId="{4DFE9178-A911-456B-801C-DF2BA4889064}" destId="{DC6610A4-A823-4807-B31F-C404E0F2C6A1}" srcOrd="3" destOrd="0" parTransId="{2203DBA7-EF9A-42F6-862A-5E8E1DEE56F4}" sibTransId="{A459C306-298F-430C-BAEC-98198749AA6E}"/>
    <dgm:cxn modelId="{1D902766-895E-4E0F-A64A-BCB2604B67B7}" type="presOf" srcId="{DC6610A4-A823-4807-B31F-C404E0F2C6A1}" destId="{F1E7F43E-9E0F-4834-9559-7A3BF96F7DE9}" srcOrd="0" destOrd="0" presId="urn:microsoft.com/office/officeart/2005/8/layout/radial3"/>
    <dgm:cxn modelId="{924E5616-4C27-4279-9726-684930494DC2}" type="presOf" srcId="{4DFE9178-A911-456B-801C-DF2BA4889064}" destId="{7D46B684-E44F-4291-9DC7-EA284023B39A}" srcOrd="0" destOrd="0" presId="urn:microsoft.com/office/officeart/2005/8/layout/radial3"/>
    <dgm:cxn modelId="{9CFAB0C6-D1FD-494C-B7C8-EC85BED1A083}" type="presOf" srcId="{75863B01-5DE5-4F93-8206-FB71507B7AA3}" destId="{E6ED6B27-6D11-44C4-A3F0-3DFC7BE62D2B}" srcOrd="0" destOrd="0" presId="urn:microsoft.com/office/officeart/2005/8/layout/radial3"/>
    <dgm:cxn modelId="{0D34973C-D4BE-4300-8286-BC0BEAC2EFE2}" srcId="{4DFE9178-A911-456B-801C-DF2BA4889064}" destId="{BF3375C3-775B-4B56-AC99-E59ABD2ED39C}" srcOrd="4" destOrd="0" parTransId="{6B0F1DFC-17B4-474D-9FF4-3EE37F48F59C}" sibTransId="{8621CC13-4134-4F81-96B6-CBF1E81D2536}"/>
    <dgm:cxn modelId="{D73A9C75-744E-4C5B-ABE2-04BF19A296B9}" srcId="{4DFE9178-A911-456B-801C-DF2BA4889064}" destId="{B993B4B7-376C-4E85-A825-DCD06E61EEFA}" srcOrd="0" destOrd="0" parTransId="{6A7F215C-B734-43E5-8A79-39859098A685}" sibTransId="{AF4888D7-163D-45A5-8E21-23AD4ABA3477}"/>
    <dgm:cxn modelId="{1B6D3159-0F40-4EC0-A584-9987B0724619}" type="presOf" srcId="{701F0D66-7680-46E7-BBCC-8FFF87DB2DC7}" destId="{C5FC9FEC-A20A-485B-9B3B-73C2395F1441}" srcOrd="0" destOrd="0" presId="urn:microsoft.com/office/officeart/2005/8/layout/radial3"/>
    <dgm:cxn modelId="{4A36D039-A18A-496E-B983-96B724D5034F}" type="presParOf" srcId="{A399AC0F-7F31-4927-A60D-23E9EB77D691}" destId="{0C8C5915-7493-447B-9F67-D18219E239FE}" srcOrd="0" destOrd="0" presId="urn:microsoft.com/office/officeart/2005/8/layout/radial3"/>
    <dgm:cxn modelId="{8E252784-85E1-41F6-9BB5-9E9D767CCBD2}" type="presParOf" srcId="{0C8C5915-7493-447B-9F67-D18219E239FE}" destId="{7D46B684-E44F-4291-9DC7-EA284023B39A}" srcOrd="0" destOrd="0" presId="urn:microsoft.com/office/officeart/2005/8/layout/radial3"/>
    <dgm:cxn modelId="{66A17162-C91D-41A9-AFA8-C85399ECA1E4}" type="presParOf" srcId="{0C8C5915-7493-447B-9F67-D18219E239FE}" destId="{99CA3766-0B33-4534-8E08-DD438FFF9D95}" srcOrd="1" destOrd="0" presId="urn:microsoft.com/office/officeart/2005/8/layout/radial3"/>
    <dgm:cxn modelId="{23A323F3-B959-4352-9DC9-2222ACCC0E0C}" type="presParOf" srcId="{0C8C5915-7493-447B-9F67-D18219E239FE}" destId="{C5FC9FEC-A20A-485B-9B3B-73C2395F1441}" srcOrd="2" destOrd="0" presId="urn:microsoft.com/office/officeart/2005/8/layout/radial3"/>
    <dgm:cxn modelId="{0ED48F74-EB1F-446D-8F96-221DF3ADA284}" type="presParOf" srcId="{0C8C5915-7493-447B-9F67-D18219E239FE}" destId="{E6ED6B27-6D11-44C4-A3F0-3DFC7BE62D2B}" srcOrd="3" destOrd="0" presId="urn:microsoft.com/office/officeart/2005/8/layout/radial3"/>
    <dgm:cxn modelId="{1C445576-C547-4B8B-9DB6-B2AE8729C05F}" type="presParOf" srcId="{0C8C5915-7493-447B-9F67-D18219E239FE}" destId="{F1E7F43E-9E0F-4834-9559-7A3BF96F7DE9}" srcOrd="4" destOrd="0" presId="urn:microsoft.com/office/officeart/2005/8/layout/radial3"/>
    <dgm:cxn modelId="{93BF475A-53E9-47B0-8090-9558E27660CD}" type="presParOf" srcId="{0C8C5915-7493-447B-9F67-D18219E239FE}" destId="{EFADA533-B9AE-48F6-9FF8-40DCA59D6EEA}" srcOrd="5" destOrd="0" presId="urn:microsoft.com/office/officeart/2005/8/layout/radial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CB7E28-0B5F-4B36-9F39-41DA1F12FD5F}">
      <dsp:nvSpPr>
        <dsp:cNvPr id="0" name=""/>
        <dsp:cNvSpPr/>
      </dsp:nvSpPr>
      <dsp:spPr>
        <a:xfrm>
          <a:off x="0" y="261048"/>
          <a:ext cx="4718050" cy="3024000"/>
        </a:xfrm>
        <a:prstGeom prst="rect">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a:innerShdw blurRad="25400" dist="12700" dir="13500000">
            <a:srgbClr val="000000">
              <a:alpha val="45000"/>
            </a:srgbClr>
          </a:innerShdw>
        </a:effectLst>
        <a:sp3d z="-152400" prstMaterial="plastic">
          <a:bevelT w="25400" h="25400"/>
          <a:bevelB w="25400" h="25400"/>
        </a:sp3d>
      </dsp:spPr>
      <dsp:style>
        <a:lnRef idx="1">
          <a:scrgbClr r="0" g="0" b="0"/>
        </a:lnRef>
        <a:fillRef idx="1">
          <a:scrgbClr r="0" g="0" b="0"/>
        </a:fillRef>
        <a:effectRef idx="2">
          <a:scrgbClr r="0" g="0" b="0"/>
        </a:effectRef>
        <a:fontRef idx="minor"/>
      </dsp:style>
      <dsp:txBody>
        <a:bodyPr spcFirstLastPara="0" vert="horz" wrap="square" lIns="366173" tIns="333248" rIns="366173" bIns="113792" numCol="1" spcCol="1270" anchor="t" anchorCtr="0">
          <a:noAutofit/>
        </a:bodyPr>
        <a:lstStyle/>
        <a:p>
          <a:pPr marL="171450" lvl="1" indent="-171450" algn="l" defTabSz="711200" rtl="0">
            <a:lnSpc>
              <a:spcPct val="90000"/>
            </a:lnSpc>
            <a:spcBef>
              <a:spcPct val="0"/>
            </a:spcBef>
            <a:spcAft>
              <a:spcPct val="15000"/>
            </a:spcAft>
            <a:buChar char="••"/>
          </a:pPr>
          <a:r>
            <a:rPr lang="zh-CN" sz="1600" kern="1200" dirty="0" smtClean="0">
              <a:hlinkClick xmlns:r="http://schemas.openxmlformats.org/officeDocument/2006/relationships" r:id="" action="ppaction://hlinksldjump"/>
            </a:rPr>
            <a:t>高新技术企业认定</a:t>
          </a:r>
          <a:endParaRPr lang="zh-CN" sz="1600" kern="1200" dirty="0"/>
        </a:p>
        <a:p>
          <a:pPr marL="171450" lvl="1" indent="-171450" algn="l" defTabSz="711200" rtl="0">
            <a:lnSpc>
              <a:spcPct val="90000"/>
            </a:lnSpc>
            <a:spcBef>
              <a:spcPct val="0"/>
            </a:spcBef>
            <a:spcAft>
              <a:spcPct val="15000"/>
            </a:spcAft>
            <a:buChar char="••"/>
          </a:pPr>
          <a:r>
            <a:rPr lang="zh-CN" sz="1600" kern="1200" dirty="0" smtClean="0"/>
            <a:t>技术先进型服务企业认定</a:t>
          </a:r>
          <a:endParaRPr lang="zh-CN" sz="1600" kern="1200" dirty="0"/>
        </a:p>
        <a:p>
          <a:pPr marL="171450" lvl="1" indent="-171450" algn="l" defTabSz="711200" rtl="0">
            <a:lnSpc>
              <a:spcPct val="90000"/>
            </a:lnSpc>
            <a:spcBef>
              <a:spcPct val="0"/>
            </a:spcBef>
            <a:spcAft>
              <a:spcPct val="15000"/>
            </a:spcAft>
            <a:buChar char="••"/>
          </a:pPr>
          <a:r>
            <a:rPr lang="zh-CN" sz="1600" kern="1200" smtClean="0"/>
            <a:t>研发经费加计扣除</a:t>
          </a:r>
          <a:endParaRPr lang="zh-CN" sz="1600" kern="1200"/>
        </a:p>
        <a:p>
          <a:pPr marL="171450" lvl="1" indent="-171450" algn="l" defTabSz="711200" rtl="0">
            <a:lnSpc>
              <a:spcPct val="90000"/>
            </a:lnSpc>
            <a:spcBef>
              <a:spcPct val="0"/>
            </a:spcBef>
            <a:spcAft>
              <a:spcPct val="15000"/>
            </a:spcAft>
            <a:buChar char="••"/>
          </a:pPr>
          <a:r>
            <a:rPr lang="zh-CN" sz="1600" kern="1200" smtClean="0"/>
            <a:t>科技型中小企业技术创新资金</a:t>
          </a:r>
          <a:endParaRPr lang="zh-CN" sz="1600" kern="1200"/>
        </a:p>
        <a:p>
          <a:pPr marL="171450" lvl="1" indent="-171450" algn="l" defTabSz="711200" rtl="0">
            <a:lnSpc>
              <a:spcPct val="90000"/>
            </a:lnSpc>
            <a:spcBef>
              <a:spcPct val="0"/>
            </a:spcBef>
            <a:spcAft>
              <a:spcPct val="15000"/>
            </a:spcAft>
            <a:buChar char="••"/>
          </a:pPr>
          <a:r>
            <a:rPr lang="zh-CN" sz="1600" kern="1200" smtClean="0"/>
            <a:t>高新技术成果转化</a:t>
          </a:r>
          <a:endParaRPr lang="zh-CN" sz="1600" kern="1200"/>
        </a:p>
        <a:p>
          <a:pPr marL="171450" lvl="1" indent="-171450" algn="l" defTabSz="711200" rtl="0">
            <a:lnSpc>
              <a:spcPct val="90000"/>
            </a:lnSpc>
            <a:spcBef>
              <a:spcPct val="0"/>
            </a:spcBef>
            <a:spcAft>
              <a:spcPct val="15000"/>
            </a:spcAft>
            <a:buChar char="••"/>
          </a:pPr>
          <a:r>
            <a:rPr lang="zh-CN" sz="1600" kern="1200" smtClean="0"/>
            <a:t>新技术新产品认定</a:t>
          </a:r>
          <a:endParaRPr lang="zh-CN" sz="1600" kern="1200"/>
        </a:p>
        <a:p>
          <a:pPr marL="171450" lvl="1" indent="-171450" algn="l" defTabSz="711200" rtl="0">
            <a:lnSpc>
              <a:spcPct val="90000"/>
            </a:lnSpc>
            <a:spcBef>
              <a:spcPct val="0"/>
            </a:spcBef>
            <a:spcAft>
              <a:spcPct val="15000"/>
            </a:spcAft>
            <a:buChar char="••"/>
          </a:pPr>
          <a:r>
            <a:rPr lang="zh-CN" sz="1600" kern="1200" smtClean="0"/>
            <a:t>战兴产业科技成果转化基地</a:t>
          </a:r>
          <a:endParaRPr lang="zh-CN" sz="1600" kern="1200"/>
        </a:p>
        <a:p>
          <a:pPr marL="171450" lvl="1" indent="-171450" algn="l" defTabSz="711200" rtl="0">
            <a:lnSpc>
              <a:spcPct val="90000"/>
            </a:lnSpc>
            <a:spcBef>
              <a:spcPct val="0"/>
            </a:spcBef>
            <a:spcAft>
              <a:spcPct val="15000"/>
            </a:spcAft>
            <a:buChar char="••"/>
          </a:pPr>
          <a:r>
            <a:rPr lang="zh-CN" sz="1600" kern="1200" smtClean="0"/>
            <a:t>科技企业孵化机构（战略性新兴产业孵育基地）建设</a:t>
          </a:r>
          <a:endParaRPr lang="zh-CN" sz="1600" kern="1200"/>
        </a:p>
      </dsp:txBody>
      <dsp:txXfrm>
        <a:off x="0" y="261048"/>
        <a:ext cx="4718050" cy="3024000"/>
      </dsp:txXfrm>
    </dsp:sp>
    <dsp:sp modelId="{6519D955-026B-4646-8BA3-80890B154DEE}">
      <dsp:nvSpPr>
        <dsp:cNvPr id="0" name=""/>
        <dsp:cNvSpPr/>
      </dsp:nvSpPr>
      <dsp:spPr>
        <a:xfrm>
          <a:off x="235902" y="24888"/>
          <a:ext cx="3302635" cy="472320"/>
        </a:xfrm>
        <a:prstGeom prst="roundRect">
          <a:avLst/>
        </a:prstGeom>
        <a:solidFill>
          <a:schemeClr val="accent2">
            <a:hueOff val="0"/>
            <a:satOff val="0"/>
            <a:lumOff val="0"/>
            <a:alphaOff val="0"/>
          </a:schemeClr>
        </a:solidFill>
        <a:ln>
          <a:noFill/>
        </a:ln>
        <a:effectLst>
          <a:innerShdw blurRad="25400" dist="12700" dir="13500000">
            <a:srgbClr val="000000">
              <a:alpha val="45000"/>
            </a:srgbClr>
          </a:inn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24832" tIns="0" rIns="124832" bIns="0" numCol="1" spcCol="1270" anchor="ctr" anchorCtr="0">
          <a:noAutofit/>
        </a:bodyPr>
        <a:lstStyle/>
        <a:p>
          <a:pPr lvl="0" algn="l" defTabSz="711200" rtl="0">
            <a:lnSpc>
              <a:spcPct val="90000"/>
            </a:lnSpc>
            <a:spcBef>
              <a:spcPct val="0"/>
            </a:spcBef>
            <a:spcAft>
              <a:spcPct val="35000"/>
            </a:spcAft>
          </a:pPr>
          <a:r>
            <a:rPr lang="zh-CN" sz="1600" kern="1200" dirty="0" smtClean="0"/>
            <a:t>战略性新兴产业促进</a:t>
          </a:r>
          <a:endParaRPr lang="zh-CN" sz="1600" kern="1200" dirty="0"/>
        </a:p>
      </dsp:txBody>
      <dsp:txXfrm>
        <a:off x="258959" y="47945"/>
        <a:ext cx="3256521" cy="4262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46B684-E44F-4291-9DC7-EA284023B39A}">
      <dsp:nvSpPr>
        <dsp:cNvPr id="0" name=""/>
        <dsp:cNvSpPr/>
      </dsp:nvSpPr>
      <dsp:spPr>
        <a:xfrm>
          <a:off x="1407094" y="821307"/>
          <a:ext cx="1903860" cy="1903860"/>
        </a:xfrm>
        <a:prstGeom prst="ellipse">
          <a:avLst/>
        </a:prstGeom>
        <a:solidFill>
          <a:schemeClr val="accent5">
            <a:alpha val="50000"/>
            <a:hueOff val="0"/>
            <a:satOff val="0"/>
            <a:lumOff val="0"/>
            <a:alphaOff val="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34290" tIns="34290" rIns="34290" bIns="34290" numCol="1" spcCol="1270" anchor="ctr" anchorCtr="0">
          <a:noAutofit/>
        </a:bodyPr>
        <a:lstStyle/>
        <a:p>
          <a:pPr lvl="0" algn="ctr" defTabSz="1200150" rtl="0">
            <a:lnSpc>
              <a:spcPct val="90000"/>
            </a:lnSpc>
            <a:spcBef>
              <a:spcPct val="0"/>
            </a:spcBef>
            <a:spcAft>
              <a:spcPct val="35000"/>
            </a:spcAft>
          </a:pPr>
          <a:r>
            <a:rPr lang="zh-CN" sz="2700" kern="1200" dirty="0" smtClean="0"/>
            <a:t>科技服务业促进</a:t>
          </a:r>
          <a:endParaRPr lang="zh-CN" sz="2700" kern="1200" dirty="0"/>
        </a:p>
      </dsp:txBody>
      <dsp:txXfrm>
        <a:off x="1685908" y="1100121"/>
        <a:ext cx="1346232" cy="1346232"/>
      </dsp:txXfrm>
    </dsp:sp>
    <dsp:sp modelId="{99CA3766-0B33-4534-8E08-DD438FFF9D95}">
      <dsp:nvSpPr>
        <dsp:cNvPr id="0" name=""/>
        <dsp:cNvSpPr/>
      </dsp:nvSpPr>
      <dsp:spPr>
        <a:xfrm>
          <a:off x="1883059" y="58738"/>
          <a:ext cx="951930" cy="951930"/>
        </a:xfrm>
        <a:prstGeom prst="ellipse">
          <a:avLst/>
        </a:prstGeom>
        <a:solidFill>
          <a:schemeClr val="accent5">
            <a:alpha val="50000"/>
            <a:hueOff val="198633"/>
            <a:satOff val="115"/>
            <a:lumOff val="1137"/>
            <a:alphaOff val="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15240" tIns="15240" rIns="15240" bIns="15240" numCol="1" spcCol="1270" anchor="ctr" anchorCtr="0">
          <a:noAutofit/>
        </a:bodyPr>
        <a:lstStyle/>
        <a:p>
          <a:pPr lvl="0" algn="ctr" defTabSz="533400" rtl="0">
            <a:lnSpc>
              <a:spcPct val="90000"/>
            </a:lnSpc>
            <a:spcBef>
              <a:spcPct val="0"/>
            </a:spcBef>
            <a:spcAft>
              <a:spcPct val="35000"/>
            </a:spcAft>
          </a:pPr>
          <a:r>
            <a:rPr lang="zh-CN" sz="1200" kern="1200" dirty="0" smtClean="0">
              <a:hlinkClick xmlns:r="http://schemas.openxmlformats.org/officeDocument/2006/relationships" r:id="" action="ppaction://hlinksldjump"/>
            </a:rPr>
            <a:t>技术合同登记</a:t>
          </a:r>
          <a:endParaRPr lang="zh-CN" sz="1200" kern="1200" dirty="0"/>
        </a:p>
      </dsp:txBody>
      <dsp:txXfrm>
        <a:off x="2022466" y="198145"/>
        <a:ext cx="673116" cy="673116"/>
      </dsp:txXfrm>
    </dsp:sp>
    <dsp:sp modelId="{C5FC9FEC-A20A-485B-9B3B-73C2395F1441}">
      <dsp:nvSpPr>
        <dsp:cNvPr id="0" name=""/>
        <dsp:cNvSpPr/>
      </dsp:nvSpPr>
      <dsp:spPr>
        <a:xfrm>
          <a:off x="3060976" y="914544"/>
          <a:ext cx="951930" cy="951930"/>
        </a:xfrm>
        <a:prstGeom prst="ellipse">
          <a:avLst/>
        </a:prstGeom>
        <a:solidFill>
          <a:schemeClr val="accent5">
            <a:alpha val="50000"/>
            <a:hueOff val="397266"/>
            <a:satOff val="230"/>
            <a:lumOff val="2274"/>
            <a:alphaOff val="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15240" tIns="15240" rIns="15240" bIns="15240" numCol="1" spcCol="1270" anchor="ctr" anchorCtr="0">
          <a:noAutofit/>
        </a:bodyPr>
        <a:lstStyle/>
        <a:p>
          <a:pPr lvl="0" algn="ctr" defTabSz="533400" rtl="0">
            <a:lnSpc>
              <a:spcPct val="90000"/>
            </a:lnSpc>
            <a:spcBef>
              <a:spcPct val="0"/>
            </a:spcBef>
            <a:spcAft>
              <a:spcPct val="35000"/>
            </a:spcAft>
          </a:pPr>
          <a:r>
            <a:rPr lang="zh-CN" sz="1200" kern="1200" dirty="0" smtClean="0"/>
            <a:t>技术转移</a:t>
          </a:r>
          <a:endParaRPr lang="zh-CN" sz="1200" kern="1200" dirty="0"/>
        </a:p>
      </dsp:txBody>
      <dsp:txXfrm>
        <a:off x="3200383" y="1053951"/>
        <a:ext cx="673116" cy="673116"/>
      </dsp:txXfrm>
    </dsp:sp>
    <dsp:sp modelId="{E6ED6B27-6D11-44C4-A3F0-3DFC7BE62D2B}">
      <dsp:nvSpPr>
        <dsp:cNvPr id="0" name=""/>
        <dsp:cNvSpPr/>
      </dsp:nvSpPr>
      <dsp:spPr>
        <a:xfrm>
          <a:off x="2611052" y="2299268"/>
          <a:ext cx="951930" cy="951930"/>
        </a:xfrm>
        <a:prstGeom prst="ellipse">
          <a:avLst/>
        </a:prstGeom>
        <a:solidFill>
          <a:schemeClr val="accent5">
            <a:alpha val="50000"/>
            <a:hueOff val="595899"/>
            <a:satOff val="346"/>
            <a:lumOff val="3412"/>
            <a:alphaOff val="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15240" tIns="15240" rIns="15240" bIns="15240" numCol="1" spcCol="1270" anchor="ctr" anchorCtr="0">
          <a:noAutofit/>
        </a:bodyPr>
        <a:lstStyle/>
        <a:p>
          <a:pPr lvl="0" algn="ctr" defTabSz="533400" rtl="0">
            <a:lnSpc>
              <a:spcPct val="90000"/>
            </a:lnSpc>
            <a:spcBef>
              <a:spcPct val="0"/>
            </a:spcBef>
            <a:spcAft>
              <a:spcPct val="35000"/>
            </a:spcAft>
          </a:pPr>
          <a:r>
            <a:rPr lang="zh-CN" sz="1200" kern="1200" smtClean="0"/>
            <a:t>工程技术服务</a:t>
          </a:r>
          <a:endParaRPr lang="zh-CN" sz="1200" kern="1200"/>
        </a:p>
      </dsp:txBody>
      <dsp:txXfrm>
        <a:off x="2750459" y="2438675"/>
        <a:ext cx="673116" cy="673116"/>
      </dsp:txXfrm>
    </dsp:sp>
    <dsp:sp modelId="{F1E7F43E-9E0F-4834-9559-7A3BF96F7DE9}">
      <dsp:nvSpPr>
        <dsp:cNvPr id="0" name=""/>
        <dsp:cNvSpPr/>
      </dsp:nvSpPr>
      <dsp:spPr>
        <a:xfrm>
          <a:off x="1155067" y="2299268"/>
          <a:ext cx="951930" cy="951930"/>
        </a:xfrm>
        <a:prstGeom prst="ellipse">
          <a:avLst/>
        </a:prstGeom>
        <a:solidFill>
          <a:schemeClr val="accent5">
            <a:alpha val="50000"/>
            <a:hueOff val="794532"/>
            <a:satOff val="461"/>
            <a:lumOff val="4549"/>
            <a:alphaOff val="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15240" tIns="15240" rIns="15240" bIns="15240" numCol="1" spcCol="1270" anchor="ctr" anchorCtr="0">
          <a:noAutofit/>
        </a:bodyPr>
        <a:lstStyle/>
        <a:p>
          <a:pPr lvl="0" algn="ctr" defTabSz="533400" rtl="0">
            <a:lnSpc>
              <a:spcPct val="90000"/>
            </a:lnSpc>
            <a:spcBef>
              <a:spcPct val="0"/>
            </a:spcBef>
            <a:spcAft>
              <a:spcPct val="35000"/>
            </a:spcAft>
          </a:pPr>
          <a:r>
            <a:rPr lang="zh-CN" sz="1200" kern="1200" smtClean="0"/>
            <a:t>工业设计促进</a:t>
          </a:r>
          <a:endParaRPr lang="zh-CN" sz="1200" kern="1200"/>
        </a:p>
      </dsp:txBody>
      <dsp:txXfrm>
        <a:off x="1294474" y="2438675"/>
        <a:ext cx="673116" cy="673116"/>
      </dsp:txXfrm>
    </dsp:sp>
    <dsp:sp modelId="{EFADA533-B9AE-48F6-9FF8-40DCA59D6EEA}">
      <dsp:nvSpPr>
        <dsp:cNvPr id="0" name=""/>
        <dsp:cNvSpPr/>
      </dsp:nvSpPr>
      <dsp:spPr>
        <a:xfrm>
          <a:off x="705143" y="914544"/>
          <a:ext cx="951930" cy="951930"/>
        </a:xfrm>
        <a:prstGeom prst="ellipse">
          <a:avLst/>
        </a:prstGeom>
        <a:solidFill>
          <a:schemeClr val="accent5">
            <a:alpha val="50000"/>
            <a:hueOff val="993165"/>
            <a:satOff val="576"/>
            <a:lumOff val="5686"/>
            <a:alphaOff val="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15240" tIns="15240" rIns="15240" bIns="15240" numCol="1" spcCol="1270" anchor="ctr" anchorCtr="0">
          <a:noAutofit/>
        </a:bodyPr>
        <a:lstStyle/>
        <a:p>
          <a:pPr lvl="0" algn="ctr" defTabSz="533400" rtl="0">
            <a:lnSpc>
              <a:spcPct val="90000"/>
            </a:lnSpc>
            <a:spcBef>
              <a:spcPct val="0"/>
            </a:spcBef>
            <a:spcAft>
              <a:spcPct val="35000"/>
            </a:spcAft>
          </a:pPr>
          <a:r>
            <a:rPr lang="zh-CN" sz="1200" kern="1200" smtClean="0"/>
            <a:t>产业技术创新战略联盟建设</a:t>
          </a:r>
          <a:endParaRPr lang="zh-CN" sz="1200" kern="1200"/>
        </a:p>
      </dsp:txBody>
      <dsp:txXfrm>
        <a:off x="844550" y="1053951"/>
        <a:ext cx="673116" cy="67311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662545-8D6E-4159-8B4C-374311FDD6D8}" type="datetimeFigureOut">
              <a:rPr lang="zh-CN" altLang="en-US" smtClean="0"/>
              <a:t>2022/10/9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C5A27C-78F1-4B11-AC73-050B4AFBDD8A}" type="slidenum">
              <a:rPr lang="zh-CN" altLang="en-US" smtClean="0"/>
              <a:t>‹#›</a:t>
            </a:fld>
            <a:endParaRPr lang="zh-CN" altLang="en-US"/>
          </a:p>
        </p:txBody>
      </p:sp>
    </p:spTree>
    <p:extLst>
      <p:ext uri="{BB962C8B-B14F-4D97-AF65-F5344CB8AC3E}">
        <p14:creationId xmlns:p14="http://schemas.microsoft.com/office/powerpoint/2010/main" val="37328055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6.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7.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单击以编辑母版副标题样式</a:t>
            </a:r>
            <a:endParaRPr lang="en-US" dirty="0"/>
          </a:p>
        </p:txBody>
      </p:sp>
      <p:sp>
        <p:nvSpPr>
          <p:cNvPr id="4" name="Date Placeholder 3"/>
          <p:cNvSpPr>
            <a:spLocks noGrp="1"/>
          </p:cNvSpPr>
          <p:nvPr>
            <p:ph type="dt" sz="half" idx="10"/>
          </p:nvPr>
        </p:nvSpPr>
        <p:spPr>
          <a:xfrm>
            <a:off x="7983232" y="5037663"/>
            <a:ext cx="897467" cy="279400"/>
          </a:xfrm>
        </p:spPr>
        <p:txBody>
          <a:bodyPr/>
          <a:lstStyle/>
          <a:p>
            <a:fld id="{740AC739-AE3F-483C-86AA-7C87F8E3B2C5}" type="datetime2">
              <a:rPr lang="zh-CN" altLang="en-US" smtClean="0"/>
              <a:t>2022年10月9日</a:t>
            </a:fld>
            <a:endParaRPr lang="zh-CN" altLang="en-US"/>
          </a:p>
        </p:txBody>
      </p:sp>
      <p:sp>
        <p:nvSpPr>
          <p:cNvPr id="5" name="Footer Placeholder 4"/>
          <p:cNvSpPr>
            <a:spLocks noGrp="1"/>
          </p:cNvSpPr>
          <p:nvPr>
            <p:ph type="ftr" sz="quarter" idx="11"/>
          </p:nvPr>
        </p:nvSpPr>
        <p:spPr>
          <a:xfrm>
            <a:off x="2692397" y="5037663"/>
            <a:ext cx="5214635" cy="279400"/>
          </a:xfrm>
        </p:spPr>
        <p:txBody>
          <a:bodyPr/>
          <a:lstStyle/>
          <a:p>
            <a:endParaRPr lang="zh-CN" altLang="en-US"/>
          </a:p>
        </p:txBody>
      </p:sp>
      <p:sp>
        <p:nvSpPr>
          <p:cNvPr id="6" name="Slide Number Placeholder 5"/>
          <p:cNvSpPr>
            <a:spLocks noGrp="1"/>
          </p:cNvSpPr>
          <p:nvPr>
            <p:ph type="sldNum" sz="quarter" idx="12"/>
          </p:nvPr>
        </p:nvSpPr>
        <p:spPr>
          <a:xfrm>
            <a:off x="8956900" y="5037663"/>
            <a:ext cx="551167" cy="279400"/>
          </a:xfrm>
        </p:spPr>
        <p:txBody>
          <a:bodyPr/>
          <a:lstStyle/>
          <a:p>
            <a:fld id="{200843F5-C4FD-41B7-B76F-DAD3F27C3440}" type="slidenum">
              <a:rPr lang="zh-CN" altLang="en-US" smtClean="0"/>
              <a:t>‹#›</a:t>
            </a:fld>
            <a:endParaRPr lang="zh-CN" alt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56456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9B5B698A-EA2E-4C57-8582-25D59D52DFC5}" type="datetime2">
              <a:rPr lang="zh-CN" altLang="en-US" smtClean="0"/>
              <a:t>2022年10月9日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4286388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7EB1E7BB-35BB-4969-8AED-8FAFCE87682F}" type="datetime2">
              <a:rPr lang="zh-CN" altLang="en-US" smtClean="0"/>
              <a:t>2022年10月9日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67846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7C11D2C6-D554-4EB4-9317-AFC8F3E39296}" type="datetime2">
              <a:rPr lang="zh-CN" altLang="en-US" smtClean="0"/>
              <a:t>2022年10月9日</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2782077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A2175E56-F2EE-46B9-B1F0-970465A42BF9}" type="datetime2">
              <a:rPr lang="zh-CN" altLang="en-US" smtClean="0"/>
              <a:t>2022年10月9日</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200843F5-C4FD-41B7-B76F-DAD3F27C3440}" type="slidenum">
              <a:rPr lang="zh-CN" altLang="en-US" smtClean="0"/>
              <a:t>‹#›</a:t>
            </a:fld>
            <a:endParaRPr lang="zh-CN" alt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690882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7AC1E4AC-8A09-4B43-94B0-B77AAD0312A8}" type="datetime2">
              <a:rPr lang="zh-CN" altLang="en-US" smtClean="0"/>
              <a:t>2022年10月9日</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200843F5-C4FD-41B7-B76F-DAD3F27C3440}" type="slidenum">
              <a:rPr lang="zh-CN" altLang="en-US" smtClean="0"/>
              <a:t>‹#›</a:t>
            </a:fld>
            <a:endParaRPr lang="zh-CN" alt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935145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A87A4A-C2D1-4293-9F22-E136D5E169BA}" type="datetime2">
              <a:rPr lang="zh-CN" altLang="en-US" smtClean="0"/>
              <a:t>2022年10月9日</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4068722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2884DE24-C24C-45B2-B395-4B4759BBC685}" type="datetime2">
              <a:rPr lang="zh-CN" altLang="en-US" smtClean="0"/>
              <a:t>2022年10月9日</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00843F5-C4FD-41B7-B76F-DAD3F27C3440}" type="slidenum">
              <a:rPr lang="zh-CN" altLang="en-US" smtClean="0"/>
              <a:t>‹#›</a:t>
            </a:fld>
            <a:endParaRPr lang="zh-CN" alt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28929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zh-CN" altLang="en-US" smtClean="0"/>
              <a:t>单击此处编辑母版标题样式</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060D7916-9485-488E-AF51-F9297EE2A4AE}" type="datetime2">
              <a:rPr lang="zh-CN" altLang="en-US" smtClean="0"/>
              <a:t>2022年10月9日</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1406357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4D58F19B-7E99-4E32-A92F-499B6603415A}" type="datetime2">
              <a:rPr lang="zh-CN" altLang="en-US" smtClean="0"/>
              <a:t>2022年10月9日</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3411571570"/>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4D58F19B-7E99-4E32-A92F-499B6603415A}" type="datetime2">
              <a:rPr lang="zh-CN" altLang="en-US" smtClean="0"/>
              <a:t>2022年10月9日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57156346"/>
      </p:ext>
    </p:extLst>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zh-CN" altLang="en-US" smtClean="0"/>
              <a:t>单击此处编辑母版标题样式</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smtClean="0"/>
              <a:t>编辑母版文本样式</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4D58F19B-7E99-4E32-A92F-499B6603415A}" type="datetime2">
              <a:rPr lang="zh-CN" altLang="en-US" smtClean="0"/>
              <a:t>2022年10月9日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60210847"/>
      </p:ext>
    </p:extLst>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4D58F19B-7E99-4E32-A92F-499B6603415A}" type="datetime2">
              <a:rPr lang="zh-CN" altLang="en-US" smtClean="0"/>
              <a:t>2022年10月9日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2122832926"/>
      </p:ext>
    </p:extLst>
  </p:cSld>
  <p:clrMapOvr>
    <a:masterClrMapping/>
  </p:clrMapOvr>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zh-CN" altLang="en-US" smtClean="0"/>
              <a:t>单击此处编辑母版标题样式</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4D58F19B-7E99-4E32-A92F-499B6603415A}" type="datetime2">
              <a:rPr lang="zh-CN" altLang="en-US" smtClean="0"/>
              <a:t>2022年10月9日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94553095"/>
      </p:ext>
    </p:extLst>
  </p:cSld>
  <p:clrMapOvr>
    <a:masterClrMapping/>
  </p:clrMapOvr>
  <p:hf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zh-CN" altLang="en-US" smtClean="0"/>
              <a:t>单击此处编辑母版标题样式</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4D58F19B-7E99-4E32-A92F-499B6603415A}" type="datetime2">
              <a:rPr lang="zh-CN" altLang="en-US" smtClean="0"/>
              <a:t>2022年10月9日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60565288"/>
      </p:ext>
    </p:extLst>
  </p:cSld>
  <p:clrMapOvr>
    <a:masterClrMapping/>
  </p:clrMapOvr>
  <p:hf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ncho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AF9197A6-DF62-4DC9-A2F0-1B4D358F332E}" type="datetime2">
              <a:rPr lang="zh-CN" altLang="en-US" smtClean="0"/>
              <a:t>2022年10月9日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988875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6C593F39-7040-452B-BE16-EE7153FCBBDD}" type="datetime2">
              <a:rPr lang="zh-CN" altLang="en-US" smtClean="0"/>
              <a:t>2022年10月9日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839168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6D56EB6-EB87-4EA4-8D2F-64CC7DF82977}" type="datetime2">
              <a:rPr lang="zh-CN" altLang="en-US" smtClean="0"/>
              <a:t>2022年10月9日</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B956499-6944-425D-9BB8-83C62C18DB14}" type="slidenum">
              <a:rPr lang="zh-CN" altLang="en-US" smtClean="0"/>
              <a:t>‹#›</a:t>
            </a:fld>
            <a:endParaRPr lang="zh-CN" altLang="en-US"/>
          </a:p>
        </p:txBody>
      </p:sp>
    </p:spTree>
    <p:extLst>
      <p:ext uri="{BB962C8B-B14F-4D97-AF65-F5344CB8AC3E}">
        <p14:creationId xmlns:p14="http://schemas.microsoft.com/office/powerpoint/2010/main" val="16731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3195093" y="802300"/>
            <a:ext cx="7491353" cy="2541431"/>
          </a:xfrm>
        </p:spPr>
        <p:txBody>
          <a:bodyPr bIns="0" anchor="b">
            <a:normAutofit/>
          </a:bodyPr>
          <a:lstStyle>
            <a:lvl1pPr algn="l">
              <a:defRPr sz="54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3195093" y="3531206"/>
            <a:ext cx="7491353" cy="977621"/>
          </a:xfrm>
        </p:spPr>
        <p:txBody>
          <a:bodyPr tIns="91440" bIns="91440">
            <a:normAutofit/>
          </a:bodyPr>
          <a:lstStyle>
            <a:lvl1pPr marL="0" indent="0" algn="l">
              <a:buNone/>
              <a:defRPr sz="1600" b="0" cap="all"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fld id="{740AC739-AE3F-483C-86AA-7C87F8E3B2C5}" type="datetime2">
              <a:rPr lang="zh-CN" altLang="en-US" smtClean="0"/>
              <a:t>2022年10月9日</a:t>
            </a:fld>
            <a:endParaRPr lang="zh-CN" altLang="en-US"/>
          </a:p>
        </p:txBody>
      </p:sp>
      <p:sp>
        <p:nvSpPr>
          <p:cNvPr id="5" name="Footer Placeholder 4"/>
          <p:cNvSpPr>
            <a:spLocks noGrp="1"/>
          </p:cNvSpPr>
          <p:nvPr>
            <p:ph type="ftr" sz="quarter" idx="11"/>
          </p:nvPr>
        </p:nvSpPr>
        <p:spPr>
          <a:xfrm>
            <a:off x="3195092" y="329309"/>
            <a:ext cx="4115056" cy="309201"/>
          </a:xfrm>
        </p:spPr>
        <p:txBody>
          <a:bodyPr/>
          <a:lstStyle/>
          <a:p>
            <a:endParaRPr lang="zh-CN" altLang="en-US"/>
          </a:p>
        </p:txBody>
      </p:sp>
      <p:sp>
        <p:nvSpPr>
          <p:cNvPr id="6" name="Slide Number Placeholder 5"/>
          <p:cNvSpPr>
            <a:spLocks noGrp="1"/>
          </p:cNvSpPr>
          <p:nvPr>
            <p:ph type="sldNum" sz="quarter" idx="12"/>
          </p:nvPr>
        </p:nvSpPr>
        <p:spPr>
          <a:xfrm>
            <a:off x="1912938" y="798973"/>
            <a:ext cx="1069340" cy="503578"/>
          </a:xfrm>
        </p:spPr>
        <p:txBody>
          <a:bodyPr/>
          <a:lstStyle/>
          <a:p>
            <a:fld id="{200843F5-C4FD-41B7-B76F-DAD3F27C3440}" type="slidenum">
              <a:rPr lang="zh-CN" altLang="en-US" smtClean="0"/>
              <a:t>‹#›</a:t>
            </a:fld>
            <a:endParaRPr lang="zh-CN" altLang="en-US"/>
          </a:p>
        </p:txBody>
      </p:sp>
      <p:cxnSp>
        <p:nvCxnSpPr>
          <p:cNvPr id="15" name="Straight Connector 14"/>
          <p:cNvCxnSpPr/>
          <p:nvPr/>
        </p:nvCxnSpPr>
        <p:spPr>
          <a:xfrm>
            <a:off x="3195093" y="3528542"/>
            <a:ext cx="749135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46246302"/>
      </p:ext>
    </p:extLst>
  </p:cSld>
  <p:clrMapOvr>
    <a:masterClrMapping/>
  </p:clrMapOvr>
  <p:transition spd="slow">
    <p:wip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ncho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9B5B698A-EA2E-4C57-8582-25D59D52DFC5}" type="datetime2">
              <a:rPr lang="zh-CN" altLang="en-US" smtClean="0"/>
              <a:t>2022年10月9日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cxnSp>
        <p:nvCxnSpPr>
          <p:cNvPr id="33" name="Straight Connector 32"/>
          <p:cNvCxnSpPr/>
          <p:nvPr/>
        </p:nvCxnSpPr>
        <p:spPr>
          <a:xfrm>
            <a:off x="1924655" y="1847088"/>
            <a:ext cx="876179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61360290"/>
      </p:ext>
    </p:extLst>
  </p:cSld>
  <p:clrMapOvr>
    <a:masterClrMapping/>
  </p:clrMapOvr>
  <p:transition spd="slow">
    <p:wip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924655" y="1756130"/>
            <a:ext cx="7489336" cy="1887950"/>
          </a:xfrm>
        </p:spPr>
        <p:txBody>
          <a:bodyPr anchor="b">
            <a:normAutofit/>
          </a:bodyPr>
          <a:lstStyle>
            <a:lvl1pPr algn="l">
              <a:defRPr sz="32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924656" y="3806197"/>
            <a:ext cx="7489336" cy="1012929"/>
          </a:xfrm>
        </p:spPr>
        <p:txBody>
          <a:bodyPr tIns="91440">
            <a:normAutofit/>
          </a:bodyPr>
          <a:lstStyle>
            <a:lvl1pPr marL="0" indent="0" algn="l">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7EB1E7BB-35BB-4969-8AED-8FAFCE87682F}" type="datetime2">
              <a:rPr lang="zh-CN" altLang="en-US" smtClean="0"/>
              <a:t>2022年10月9日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cxnSp>
        <p:nvCxnSpPr>
          <p:cNvPr id="15" name="Straight Connector 14"/>
          <p:cNvCxnSpPr/>
          <p:nvPr/>
        </p:nvCxnSpPr>
        <p:spPr>
          <a:xfrm>
            <a:off x="1924655" y="3804985"/>
            <a:ext cx="748933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15233906"/>
      </p:ext>
    </p:extLst>
  </p:cSld>
  <p:clrMapOvr>
    <a:masterClrMapping/>
  </p:clrMapOvr>
  <p:transition spd="slow">
    <p:wip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1924655" y="804891"/>
            <a:ext cx="8761791" cy="1059305"/>
          </a:xfrm>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1924654" y="2013936"/>
            <a:ext cx="4167828" cy="3437560"/>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518909" y="2013937"/>
            <a:ext cx="4167536" cy="3437559"/>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7C11D2C6-D554-4EB4-9317-AFC8F3E39296}" type="datetime2">
              <a:rPr lang="zh-CN" altLang="en-US" smtClean="0"/>
              <a:t>2022年10月9日</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00843F5-C4FD-41B7-B76F-DAD3F27C3440}" type="slidenum">
              <a:rPr lang="zh-CN" altLang="en-US" smtClean="0"/>
              <a:t>‹#›</a:t>
            </a:fld>
            <a:endParaRPr lang="zh-CN" altLang="en-US"/>
          </a:p>
        </p:txBody>
      </p:sp>
      <p:cxnSp>
        <p:nvCxnSpPr>
          <p:cNvPr id="33" name="Straight Connector 32"/>
          <p:cNvCxnSpPr/>
          <p:nvPr/>
        </p:nvCxnSpPr>
        <p:spPr>
          <a:xfrm>
            <a:off x="1924655" y="1847088"/>
            <a:ext cx="876179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0371671"/>
      </p:ext>
    </p:extLst>
  </p:cSld>
  <p:clrMapOvr>
    <a:masterClrMapping/>
  </p:clrMapOvr>
  <p:transition spd="slow">
    <p:wip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cxnSp>
        <p:nvCxnSpPr>
          <p:cNvPr id="36" name="Straight Connector 35"/>
          <p:cNvCxnSpPr/>
          <p:nvPr/>
        </p:nvCxnSpPr>
        <p:spPr>
          <a:xfrm>
            <a:off x="1924655" y="1847088"/>
            <a:ext cx="8761791"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924655" y="804165"/>
            <a:ext cx="8761792" cy="1056319"/>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924655" y="2019551"/>
            <a:ext cx="4167688" cy="801943"/>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4" name="Content Placeholder 3"/>
          <p:cNvSpPr>
            <a:spLocks noGrp="1"/>
          </p:cNvSpPr>
          <p:nvPr>
            <p:ph sz="half" idx="2"/>
          </p:nvPr>
        </p:nvSpPr>
        <p:spPr>
          <a:xfrm>
            <a:off x="1924655" y="2824271"/>
            <a:ext cx="4167688" cy="2644457"/>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518909" y="2023005"/>
            <a:ext cx="4167536" cy="802237"/>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6" name="Content Placeholder 5"/>
          <p:cNvSpPr>
            <a:spLocks noGrp="1"/>
          </p:cNvSpPr>
          <p:nvPr>
            <p:ph sz="quarter" idx="4"/>
          </p:nvPr>
        </p:nvSpPr>
        <p:spPr>
          <a:xfrm>
            <a:off x="6518909" y="2821491"/>
            <a:ext cx="4167536" cy="2637371"/>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A2175E56-F2EE-46B9-B1F0-970465A42BF9}" type="datetime2">
              <a:rPr lang="zh-CN" altLang="en-US" smtClean="0"/>
              <a:t>2022年10月9日</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117975359"/>
      </p:ext>
    </p:extLst>
  </p:cSld>
  <p:clrMapOvr>
    <a:masterClrMapping/>
  </p:clrMapOvr>
  <p:transition spd="slow">
    <p:wip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cxnSp>
        <p:nvCxnSpPr>
          <p:cNvPr id="32" name="Straight Connector 31"/>
          <p:cNvCxnSpPr/>
          <p:nvPr/>
        </p:nvCxnSpPr>
        <p:spPr>
          <a:xfrm>
            <a:off x="1924655" y="1847088"/>
            <a:ext cx="8761791"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7AC1E4AC-8A09-4B43-94B0-B77AAD0312A8}" type="datetime2">
              <a:rPr lang="zh-CN" altLang="en-US" smtClean="0"/>
              <a:t>2022年10月9日</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3338798028"/>
      </p:ext>
    </p:extLst>
  </p:cSld>
  <p:clrMapOvr>
    <a:masterClrMapping/>
  </p:clrMapOvr>
  <p:transition spd="slow">
    <p:wip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A87A4A-C2D1-4293-9F22-E136D5E169BA}" type="datetime2">
              <a:rPr lang="zh-CN" altLang="en-US" smtClean="0"/>
              <a:t>2022年10月9日</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3033959173"/>
      </p:ext>
    </p:extLst>
  </p:cSld>
  <p:clrMapOvr>
    <a:masterClrMapping/>
  </p:clrMapOvr>
  <p:transition spd="slow">
    <p:wip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918723" y="798973"/>
            <a:ext cx="3234600" cy="2247117"/>
          </a:xfrm>
        </p:spPr>
        <p:txBody>
          <a:bodyPr anchor="b">
            <a:normAutofit/>
          </a:bodyPr>
          <a:lstStyle>
            <a:lvl1pPr algn="l">
              <a:defRPr sz="24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5582208" y="798974"/>
            <a:ext cx="5104237" cy="4658826"/>
          </a:xfrm>
        </p:spPr>
        <p:txBody>
          <a:bodyPr anchor="ct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1918723" y="3205493"/>
            <a:ext cx="3236492"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2884DE24-C24C-45B2-B395-4B4759BBC685}" type="datetime2">
              <a:rPr lang="zh-CN" altLang="en-US" smtClean="0"/>
              <a:t>2022年10月9日</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00843F5-C4FD-41B7-B76F-DAD3F27C3440}" type="slidenum">
              <a:rPr lang="zh-CN" altLang="en-US" smtClean="0"/>
              <a:t>‹#›</a:t>
            </a:fld>
            <a:endParaRPr lang="zh-CN" altLang="en-US"/>
          </a:p>
        </p:txBody>
      </p:sp>
      <p:cxnSp>
        <p:nvCxnSpPr>
          <p:cNvPr id="17" name="Straight Connector 16"/>
          <p:cNvCxnSpPr/>
          <p:nvPr/>
        </p:nvCxnSpPr>
        <p:spPr>
          <a:xfrm>
            <a:off x="1922331" y="3205491"/>
            <a:ext cx="323103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25702541"/>
      </p:ext>
    </p:extLst>
  </p:cSld>
  <p:clrMapOvr>
    <a:masterClrMapping/>
  </p:clrMapOvr>
  <p:transition spd="slow">
    <p:wip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grpSp>
        <p:nvGrpSpPr>
          <p:cNvPr id="13" name="Group 12"/>
          <p:cNvGrpSpPr/>
          <p:nvPr/>
        </p:nvGrpSpPr>
        <p:grpSpPr>
          <a:xfrm>
            <a:off x="6662002" y="482172"/>
            <a:ext cx="4681849" cy="5149101"/>
            <a:chOff x="6852919" y="583365"/>
            <a:chExt cx="4681849" cy="5181928"/>
          </a:xfrm>
        </p:grpSpPr>
        <p:sp>
          <p:nvSpPr>
            <p:cNvPr id="14" name="Rectangle 13"/>
            <p:cNvSpPr/>
            <p:nvPr/>
          </p:nvSpPr>
          <p:spPr>
            <a:xfrm>
              <a:off x="6852919" y="583365"/>
              <a:ext cx="4681849"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7273787" y="915806"/>
              <a:ext cx="3844017" cy="450791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925531" y="1129513"/>
            <a:ext cx="4326580" cy="1830584"/>
          </a:xfrm>
        </p:spPr>
        <p:txBody>
          <a:bodyPr anchor="b">
            <a:normAutofit/>
          </a:bodyPr>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7520171" y="1122544"/>
            <a:ext cx="2979997"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1924656" y="3145992"/>
            <a:ext cx="4320381" cy="2003742"/>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编辑母版文本样式</a:t>
            </a:r>
          </a:p>
        </p:txBody>
      </p:sp>
      <p:sp>
        <p:nvSpPr>
          <p:cNvPr id="5" name="Date Placeholder 4"/>
          <p:cNvSpPr>
            <a:spLocks noGrp="1"/>
          </p:cNvSpPr>
          <p:nvPr>
            <p:ph type="dt" sz="half" idx="10"/>
          </p:nvPr>
        </p:nvSpPr>
        <p:spPr>
          <a:xfrm>
            <a:off x="1915552" y="5469858"/>
            <a:ext cx="4336560" cy="320123"/>
          </a:xfrm>
        </p:spPr>
        <p:txBody>
          <a:bodyPr/>
          <a:lstStyle>
            <a:lvl1pPr algn="l">
              <a:defRPr/>
            </a:lvl1pPr>
          </a:lstStyle>
          <a:p>
            <a:fld id="{060D7916-9485-488E-AF51-F9297EE2A4AE}" type="datetime2">
              <a:rPr lang="zh-CN" altLang="en-US" smtClean="0"/>
              <a:t>2022年10月9日</a:t>
            </a:fld>
            <a:endParaRPr lang="zh-CN" altLang="en-US"/>
          </a:p>
        </p:txBody>
      </p:sp>
      <p:sp>
        <p:nvSpPr>
          <p:cNvPr id="6" name="Footer Placeholder 5"/>
          <p:cNvSpPr>
            <a:spLocks noGrp="1"/>
          </p:cNvSpPr>
          <p:nvPr>
            <p:ph type="ftr" sz="quarter" idx="11"/>
          </p:nvPr>
        </p:nvSpPr>
        <p:spPr>
          <a:xfrm>
            <a:off x="1916707" y="318642"/>
            <a:ext cx="4335404" cy="320931"/>
          </a:xfrm>
        </p:spPr>
        <p:txBody>
          <a:bodyPr/>
          <a:lstStyle/>
          <a:p>
            <a:endParaRPr lang="zh-CN" altLang="en-US"/>
          </a:p>
        </p:txBody>
      </p:sp>
      <p:sp>
        <p:nvSpPr>
          <p:cNvPr id="7" name="Slide Number Placeholder 6"/>
          <p:cNvSpPr>
            <a:spLocks noGrp="1"/>
          </p:cNvSpPr>
          <p:nvPr>
            <p:ph type="sldNum" sz="quarter" idx="12"/>
          </p:nvPr>
        </p:nvSpPr>
        <p:spPr/>
        <p:txBody>
          <a:bodyPr/>
          <a:lstStyle/>
          <a:p>
            <a:fld id="{200843F5-C4FD-41B7-B76F-DAD3F27C3440}" type="slidenum">
              <a:rPr lang="zh-CN" altLang="en-US" smtClean="0"/>
              <a:t>‹#›</a:t>
            </a:fld>
            <a:endParaRPr lang="zh-CN" altLang="en-US"/>
          </a:p>
        </p:txBody>
      </p:sp>
      <p:cxnSp>
        <p:nvCxnSpPr>
          <p:cNvPr id="31" name="Straight Connector 30"/>
          <p:cNvCxnSpPr/>
          <p:nvPr/>
        </p:nvCxnSpPr>
        <p:spPr>
          <a:xfrm>
            <a:off x="1921708" y="3143605"/>
            <a:ext cx="432268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28828882"/>
      </p:ext>
    </p:extLst>
  </p:cSld>
  <p:clrMapOvr>
    <a:masterClrMapping/>
  </p:clrMapOvr>
  <p:transition spd="slow">
    <p:wip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cxnSp>
        <p:nvCxnSpPr>
          <p:cNvPr id="33" name="Straight Connector 32"/>
          <p:cNvCxnSpPr/>
          <p:nvPr/>
        </p:nvCxnSpPr>
        <p:spPr>
          <a:xfrm>
            <a:off x="1924655" y="1847088"/>
            <a:ext cx="8761791"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AF9197A6-DF62-4DC9-A2F0-1B4D358F332E}" type="datetime2">
              <a:rPr lang="zh-CN" altLang="en-US" smtClean="0"/>
              <a:t>2022年10月9日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3061843655"/>
      </p:ext>
    </p:extLst>
  </p:cSld>
  <p:clrMapOvr>
    <a:masterClrMapping/>
  </p:clrMapOvr>
  <p:transition spd="slow">
    <p:wip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24038" y="798975"/>
            <a:ext cx="1470703" cy="4659889"/>
          </a:xfrm>
        </p:spPr>
        <p:txBody>
          <a:bodyPr vert="eaVert"/>
          <a:lstStyle>
            <a:lvl1pPr algn="l">
              <a:defRPr/>
            </a:lvl1p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1924655" y="798975"/>
            <a:ext cx="7068127" cy="4659889"/>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6C593F39-7040-452B-BE16-EE7153FCBBDD}" type="datetime2">
              <a:rPr lang="zh-CN" altLang="en-US" smtClean="0"/>
              <a:t>2022年10月9日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cxnSp>
        <p:nvCxnSpPr>
          <p:cNvPr id="15" name="Straight Connector 14"/>
          <p:cNvCxnSpPr/>
          <p:nvPr/>
        </p:nvCxnSpPr>
        <p:spPr>
          <a:xfrm>
            <a:off x="9224037" y="798975"/>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28161834"/>
      </p:ext>
    </p:extLst>
  </p:cSld>
  <p:clrMapOvr>
    <a:masterClrMapping/>
  </p:clrMapOvr>
  <p:transition spd="slow">
    <p:wip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x">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6D56EB6-EB87-4EA4-8D2F-64CC7DF82977}" type="datetime2">
              <a:rPr lang="zh-CN" altLang="en-US" smtClean="0"/>
              <a:t>2022年10月9日</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B956499-6944-425D-9BB8-83C62C18DB14}" type="slidenum">
              <a:rPr lang="zh-CN" altLang="en-US" smtClean="0"/>
              <a:t>‹#›</a:t>
            </a:fld>
            <a:endParaRPr lang="zh-CN" altLang="en-US"/>
          </a:p>
        </p:txBody>
      </p:sp>
    </p:spTree>
    <p:extLst>
      <p:ext uri="{BB962C8B-B14F-4D97-AF65-F5344CB8AC3E}">
        <p14:creationId xmlns:p14="http://schemas.microsoft.com/office/powerpoint/2010/main" val="3832625846"/>
      </p:ext>
    </p:extLst>
  </p:cSld>
  <p:clrMapOvr>
    <a:masterClrMapping/>
  </p:clrMapOvr>
  <p:transition spd="slow">
    <p:wip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3" name="Group 42"/>
          <p:cNvGrpSpPr/>
          <p:nvPr/>
        </p:nvGrpSpPr>
        <p:grpSpPr>
          <a:xfrm>
            <a:off x="-509872" y="0"/>
            <a:ext cx="13243109"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46" name="Rectangle 45"/>
          <p:cNvSpPr/>
          <p:nvPr/>
        </p:nvSpPr>
        <p:spPr>
          <a:xfrm>
            <a:off x="6081656" y="-21511"/>
            <a:ext cx="4905488"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7" name="Rectangle 46"/>
          <p:cNvSpPr/>
          <p:nvPr/>
        </p:nvSpPr>
        <p:spPr>
          <a:xfrm>
            <a:off x="6198795" y="-21511"/>
            <a:ext cx="46736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ctrTitle"/>
          </p:nvPr>
        </p:nvSpPr>
        <p:spPr>
          <a:xfrm>
            <a:off x="6311154" y="2708476"/>
            <a:ext cx="4417807" cy="1702160"/>
          </a:xfrm>
        </p:spPr>
        <p:txBody>
          <a:bodyPr>
            <a:normAutofit/>
          </a:bodyPr>
          <a:lstStyle>
            <a:lvl1pPr>
              <a:defRPr sz="36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6311154" y="4421081"/>
            <a:ext cx="4413071"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单击以编辑母版副标题样式</a:t>
            </a:r>
            <a:endParaRPr lang="en-US" dirty="0"/>
          </a:p>
        </p:txBody>
      </p:sp>
      <p:sp>
        <p:nvSpPr>
          <p:cNvPr id="4" name="Date Placeholder 3"/>
          <p:cNvSpPr>
            <a:spLocks noGrp="1"/>
          </p:cNvSpPr>
          <p:nvPr>
            <p:ph type="dt" sz="half" idx="10"/>
          </p:nvPr>
        </p:nvSpPr>
        <p:spPr>
          <a:xfrm>
            <a:off x="6318325" y="1516829"/>
            <a:ext cx="2844800" cy="750981"/>
          </a:xfrm>
        </p:spPr>
        <p:txBody>
          <a:bodyPr anchor="b"/>
          <a:lstStyle>
            <a:lvl1pPr algn="l">
              <a:defRPr sz="2400"/>
            </a:lvl1pPr>
          </a:lstStyle>
          <a:p>
            <a:fld id="{752645E3-164D-4608-913A-C2AE4E2E22B0}" type="datetimeFigureOut">
              <a:rPr lang="zh-CN" altLang="en-US" smtClean="0"/>
              <a:t>2022/10/9</a:t>
            </a:fld>
            <a:endParaRPr lang="zh-CN" altLang="en-US"/>
          </a:p>
        </p:txBody>
      </p:sp>
      <p:sp>
        <p:nvSpPr>
          <p:cNvPr id="50" name="Rectangle 49"/>
          <p:cNvSpPr/>
          <p:nvPr/>
        </p:nvSpPr>
        <p:spPr>
          <a:xfrm>
            <a:off x="6201185" y="6088284"/>
            <a:ext cx="46736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Footer Placeholder 4"/>
          <p:cNvSpPr>
            <a:spLocks noGrp="1"/>
          </p:cNvSpPr>
          <p:nvPr>
            <p:ph type="ftr" sz="quarter" idx="11"/>
          </p:nvPr>
        </p:nvSpPr>
        <p:spPr>
          <a:xfrm>
            <a:off x="7071360" y="5719967"/>
            <a:ext cx="3775456" cy="365125"/>
          </a:xfrm>
        </p:spPr>
        <p:txBody>
          <a:bodyPr>
            <a:normAutofit/>
          </a:bodyPr>
          <a:lstStyle>
            <a:lvl1pPr>
              <a:defRPr>
                <a:solidFill>
                  <a:schemeClr val="accent1"/>
                </a:solidFill>
              </a:defRPr>
            </a:lvl1pPr>
          </a:lstStyle>
          <a:p>
            <a:endParaRPr lang="zh-CN" altLang="en-US"/>
          </a:p>
        </p:txBody>
      </p:sp>
      <p:sp>
        <p:nvSpPr>
          <p:cNvPr id="6" name="Slide Number Placeholder 5"/>
          <p:cNvSpPr>
            <a:spLocks noGrp="1"/>
          </p:cNvSpPr>
          <p:nvPr>
            <p:ph type="sldNum" sz="quarter" idx="12"/>
          </p:nvPr>
        </p:nvSpPr>
        <p:spPr>
          <a:xfrm>
            <a:off x="6198795" y="5719967"/>
            <a:ext cx="858221" cy="365125"/>
          </a:xfrm>
        </p:spPr>
        <p:txBody>
          <a:bodyPr/>
          <a:lstStyle>
            <a:lvl1pPr>
              <a:defRPr>
                <a:solidFill>
                  <a:schemeClr val="accent1"/>
                </a:solidFill>
              </a:defRPr>
            </a:lvl1pPr>
          </a:lstStyle>
          <a:p>
            <a:fld id="{3E8A53B9-76D9-4E73-A06F-15EBBBB88F5E}" type="slidenum">
              <a:rPr lang="zh-CN" altLang="en-US" smtClean="0"/>
              <a:t>‹#›</a:t>
            </a:fld>
            <a:endParaRPr lang="zh-CN" altLang="en-US"/>
          </a:p>
        </p:txBody>
      </p:sp>
      <p:sp>
        <p:nvSpPr>
          <p:cNvPr id="89" name="Rectangle 88"/>
          <p:cNvSpPr/>
          <p:nvPr/>
        </p:nvSpPr>
        <p:spPr>
          <a:xfrm>
            <a:off x="6201185" y="6088284"/>
            <a:ext cx="46736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44399428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752645E3-164D-4608-913A-C2AE4E2E22B0}" type="datetimeFigureOut">
              <a:rPr lang="zh-CN" altLang="en-US" smtClean="0"/>
              <a:t>2022/10/9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E8A53B9-76D9-4E73-A06F-15EBBBB88F5E}" type="slidenum">
              <a:rPr lang="zh-CN" altLang="en-US" smtClean="0"/>
              <a:t>‹#›</a:t>
            </a:fld>
            <a:endParaRPr lang="zh-CN" altLang="en-US"/>
          </a:p>
        </p:txBody>
      </p:sp>
    </p:spTree>
    <p:extLst>
      <p:ext uri="{BB962C8B-B14F-4D97-AF65-F5344CB8AC3E}">
        <p14:creationId xmlns:p14="http://schemas.microsoft.com/office/powerpoint/2010/main" val="295640612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678194" y="2900830"/>
            <a:ext cx="8849957" cy="1362075"/>
          </a:xfrm>
        </p:spPr>
        <p:txBody>
          <a:bodyPr anchor="b"/>
          <a:lstStyle>
            <a:lvl1pPr algn="l">
              <a:defRPr sz="4000" b="0" cap="none" baseline="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678194" y="4267201"/>
            <a:ext cx="8849956"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752645E3-164D-4608-913A-C2AE4E2E22B0}" type="datetimeFigureOut">
              <a:rPr lang="zh-CN" altLang="en-US" smtClean="0"/>
              <a:t>2022/10/9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E8A53B9-76D9-4E73-A06F-15EBBBB88F5E}" type="slidenum">
              <a:rPr lang="zh-CN" altLang="en-US" smtClean="0"/>
              <a:t>‹#›</a:t>
            </a:fld>
            <a:endParaRPr lang="zh-CN" altLang="en-US"/>
          </a:p>
        </p:txBody>
      </p:sp>
    </p:spTree>
    <p:extLst>
      <p:ext uri="{BB962C8B-B14F-4D97-AF65-F5344CB8AC3E}">
        <p14:creationId xmlns:p14="http://schemas.microsoft.com/office/powerpoint/2010/main" val="422979914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5" name="Date Placeholder 4"/>
          <p:cNvSpPr>
            <a:spLocks noGrp="1"/>
          </p:cNvSpPr>
          <p:nvPr>
            <p:ph type="dt" sz="half" idx="10"/>
          </p:nvPr>
        </p:nvSpPr>
        <p:spPr/>
        <p:txBody>
          <a:bodyPr/>
          <a:lstStyle/>
          <a:p>
            <a:fld id="{752645E3-164D-4608-913A-C2AE4E2E22B0}" type="datetimeFigureOut">
              <a:rPr lang="zh-CN" altLang="en-US" smtClean="0"/>
              <a:t>2022/10/9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E8A53B9-76D9-4E73-A06F-15EBBBB88F5E}" type="slidenum">
              <a:rPr lang="zh-CN" altLang="en-US" smtClean="0"/>
              <a:t>‹#›</a:t>
            </a:fld>
            <a:endParaRPr lang="zh-CN" altLang="en-US"/>
          </a:p>
        </p:txBody>
      </p:sp>
      <p:sp>
        <p:nvSpPr>
          <p:cNvPr id="9" name="Content Placeholder 8"/>
          <p:cNvSpPr>
            <a:spLocks noGrp="1"/>
          </p:cNvSpPr>
          <p:nvPr>
            <p:ph sz="quarter" idx="13"/>
          </p:nvPr>
        </p:nvSpPr>
        <p:spPr>
          <a:xfrm>
            <a:off x="1389888" y="2313432"/>
            <a:ext cx="4559808" cy="349300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1" name="Content Placeholder 10"/>
          <p:cNvSpPr>
            <a:spLocks noGrp="1"/>
          </p:cNvSpPr>
          <p:nvPr>
            <p:ph sz="quarter" idx="14"/>
          </p:nvPr>
        </p:nvSpPr>
        <p:spPr>
          <a:xfrm>
            <a:off x="6193536" y="2313431"/>
            <a:ext cx="4559808" cy="349300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Tree>
    <p:extLst>
      <p:ext uri="{BB962C8B-B14F-4D97-AF65-F5344CB8AC3E}">
        <p14:creationId xmlns:p14="http://schemas.microsoft.com/office/powerpoint/2010/main" val="68358452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1882815" y="2316009"/>
            <a:ext cx="407619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1388961" y="2974695"/>
            <a:ext cx="4559808"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682450" y="2316010"/>
            <a:ext cx="4074289"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6193536" y="2974695"/>
            <a:ext cx="4559808"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752645E3-164D-4608-913A-C2AE4E2E22B0}" type="datetimeFigureOut">
              <a:rPr lang="zh-CN" altLang="en-US" smtClean="0"/>
              <a:t>2022/10/9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3E8A53B9-76D9-4E73-A06F-15EBBBB88F5E}" type="slidenum">
              <a:rPr lang="zh-CN" altLang="en-US" smtClean="0"/>
              <a:t>‹#›</a:t>
            </a:fld>
            <a:endParaRPr lang="zh-CN" altLang="en-US"/>
          </a:p>
        </p:txBody>
      </p:sp>
    </p:spTree>
    <p:extLst>
      <p:ext uri="{BB962C8B-B14F-4D97-AF65-F5344CB8AC3E}">
        <p14:creationId xmlns:p14="http://schemas.microsoft.com/office/powerpoint/2010/main" val="195570073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fld id="{752645E3-164D-4608-913A-C2AE4E2E22B0}" type="datetimeFigureOut">
              <a:rPr lang="zh-CN" altLang="en-US" smtClean="0"/>
              <a:t>2022/10/9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3E8A53B9-76D9-4E73-A06F-15EBBBB88F5E}" type="slidenum">
              <a:rPr lang="zh-CN" altLang="en-US" smtClean="0"/>
              <a:t>‹#›</a:t>
            </a:fld>
            <a:endParaRPr lang="zh-CN" altLang="en-US"/>
          </a:p>
        </p:txBody>
      </p:sp>
    </p:spTree>
    <p:extLst>
      <p:ext uri="{BB962C8B-B14F-4D97-AF65-F5344CB8AC3E}">
        <p14:creationId xmlns:p14="http://schemas.microsoft.com/office/powerpoint/2010/main" val="22363550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2645E3-164D-4608-913A-C2AE4E2E22B0}" type="datetimeFigureOut">
              <a:rPr lang="zh-CN" altLang="en-US" smtClean="0"/>
              <a:t>2022/10/9</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3E8A53B9-76D9-4E73-A06F-15EBBBB88F5E}" type="slidenum">
              <a:rPr lang="zh-CN" altLang="en-US" smtClean="0"/>
              <a:t>‹#›</a:t>
            </a:fld>
            <a:endParaRPr lang="zh-CN" altLang="en-US"/>
          </a:p>
        </p:txBody>
      </p:sp>
    </p:spTree>
    <p:extLst>
      <p:ext uri="{BB962C8B-B14F-4D97-AF65-F5344CB8AC3E}">
        <p14:creationId xmlns:p14="http://schemas.microsoft.com/office/powerpoint/2010/main" val="88156980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grpSp>
        <p:nvGrpSpPr>
          <p:cNvPr id="44" name="Group 43"/>
          <p:cNvGrpSpPr/>
          <p:nvPr/>
        </p:nvGrpSpPr>
        <p:grpSpPr>
          <a:xfrm>
            <a:off x="-509872" y="0"/>
            <a:ext cx="13243109"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46" name="Rectangle 45"/>
          <p:cNvSpPr/>
          <p:nvPr/>
        </p:nvSpPr>
        <p:spPr>
          <a:xfrm>
            <a:off x="6081656" y="-21511"/>
            <a:ext cx="4905488"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7" name="Rectangle 56"/>
          <p:cNvSpPr/>
          <p:nvPr/>
        </p:nvSpPr>
        <p:spPr>
          <a:xfrm>
            <a:off x="6198795" y="-21510"/>
            <a:ext cx="46736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Date Placeholder 4"/>
          <p:cNvSpPr>
            <a:spLocks noGrp="1"/>
          </p:cNvSpPr>
          <p:nvPr>
            <p:ph type="dt" sz="half" idx="10"/>
          </p:nvPr>
        </p:nvSpPr>
        <p:spPr/>
        <p:txBody>
          <a:bodyPr/>
          <a:lstStyle/>
          <a:p>
            <a:fld id="{752645E3-164D-4608-913A-C2AE4E2E22B0}" type="datetimeFigureOut">
              <a:rPr lang="zh-CN" altLang="en-US" smtClean="0"/>
              <a:t>2022/10/9</a:t>
            </a:fld>
            <a:endParaRPr lang="zh-CN" altLang="en-US"/>
          </a:p>
        </p:txBody>
      </p:sp>
      <p:sp>
        <p:nvSpPr>
          <p:cNvPr id="7" name="Slide Number Placeholder 6"/>
          <p:cNvSpPr>
            <a:spLocks noGrp="1"/>
          </p:cNvSpPr>
          <p:nvPr>
            <p:ph type="sldNum" sz="quarter" idx="12"/>
          </p:nvPr>
        </p:nvSpPr>
        <p:spPr/>
        <p:txBody>
          <a:bodyPr/>
          <a:lstStyle/>
          <a:p>
            <a:fld id="{3E8A53B9-76D9-4E73-A06F-15EBBBB88F5E}" type="slidenum">
              <a:rPr lang="zh-CN" altLang="en-US" smtClean="0"/>
              <a:t>‹#›</a:t>
            </a:fld>
            <a:endParaRPr lang="zh-CN" altLang="en-US"/>
          </a:p>
        </p:txBody>
      </p:sp>
      <p:sp>
        <p:nvSpPr>
          <p:cNvPr id="58" name="Rectangle 57"/>
          <p:cNvSpPr/>
          <p:nvPr/>
        </p:nvSpPr>
        <p:spPr>
          <a:xfrm>
            <a:off x="1207429" y="601884"/>
            <a:ext cx="4749676"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Content Placeholder 2"/>
          <p:cNvSpPr>
            <a:spLocks noGrp="1"/>
          </p:cNvSpPr>
          <p:nvPr>
            <p:ph idx="1"/>
          </p:nvPr>
        </p:nvSpPr>
        <p:spPr>
          <a:xfrm>
            <a:off x="1527859" y="856527"/>
            <a:ext cx="4120587"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61" name="Rectangle 60"/>
          <p:cNvSpPr/>
          <p:nvPr/>
        </p:nvSpPr>
        <p:spPr>
          <a:xfrm>
            <a:off x="6201185" y="6088284"/>
            <a:ext cx="46736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Footer Placeholder 5"/>
          <p:cNvSpPr>
            <a:spLocks noGrp="1"/>
          </p:cNvSpPr>
          <p:nvPr>
            <p:ph type="ftr" sz="quarter" idx="11"/>
          </p:nvPr>
        </p:nvSpPr>
        <p:spPr>
          <a:xfrm>
            <a:off x="6188597" y="5724836"/>
            <a:ext cx="4658219" cy="365125"/>
          </a:xfrm>
        </p:spPr>
        <p:txBody>
          <a:bodyPr>
            <a:normAutofit/>
          </a:bodyPr>
          <a:lstStyle/>
          <a:p>
            <a:endParaRPr lang="zh-CN" altLang="en-US"/>
          </a:p>
        </p:txBody>
      </p:sp>
      <p:sp>
        <p:nvSpPr>
          <p:cNvPr id="2" name="Title 1"/>
          <p:cNvSpPr>
            <a:spLocks noGrp="1"/>
          </p:cNvSpPr>
          <p:nvPr>
            <p:ph type="title"/>
          </p:nvPr>
        </p:nvSpPr>
        <p:spPr>
          <a:xfrm>
            <a:off x="6319777" y="2657435"/>
            <a:ext cx="4406096" cy="1463153"/>
          </a:xfrm>
        </p:spPr>
        <p:txBody>
          <a:bodyPr anchor="b">
            <a:normAutofit/>
          </a:bodyPr>
          <a:lstStyle>
            <a:lvl1pPr algn="l">
              <a:defRPr sz="2800" b="0"/>
            </a:lvl1pPr>
          </a:lstStyle>
          <a:p>
            <a:r>
              <a:rPr lang="zh-CN" altLang="en-US" smtClean="0"/>
              <a:t>单击此处编辑母版标题样式</a:t>
            </a:r>
            <a:endParaRPr lang="en-US"/>
          </a:p>
        </p:txBody>
      </p:sp>
      <p:sp>
        <p:nvSpPr>
          <p:cNvPr id="4" name="Text Placeholder 3"/>
          <p:cNvSpPr>
            <a:spLocks noGrp="1"/>
          </p:cNvSpPr>
          <p:nvPr>
            <p:ph type="body" sz="half" idx="2"/>
          </p:nvPr>
        </p:nvSpPr>
        <p:spPr>
          <a:xfrm>
            <a:off x="6315456" y="4136994"/>
            <a:ext cx="4398379"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Tree>
    <p:extLst>
      <p:ext uri="{BB962C8B-B14F-4D97-AF65-F5344CB8AC3E}">
        <p14:creationId xmlns:p14="http://schemas.microsoft.com/office/powerpoint/2010/main" val="145255891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grpSp>
        <p:nvGrpSpPr>
          <p:cNvPr id="44" name="Group 43"/>
          <p:cNvGrpSpPr/>
          <p:nvPr/>
        </p:nvGrpSpPr>
        <p:grpSpPr>
          <a:xfrm>
            <a:off x="-509872" y="0"/>
            <a:ext cx="13243109"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94" name="Rectangle 93"/>
          <p:cNvSpPr/>
          <p:nvPr/>
        </p:nvSpPr>
        <p:spPr>
          <a:xfrm>
            <a:off x="6081656" y="-21511"/>
            <a:ext cx="4905488"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1" name="Rectangle 100"/>
          <p:cNvSpPr/>
          <p:nvPr/>
        </p:nvSpPr>
        <p:spPr>
          <a:xfrm>
            <a:off x="6198795" y="-21510"/>
            <a:ext cx="46736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2" name="Rectangle 101"/>
          <p:cNvSpPr/>
          <p:nvPr/>
        </p:nvSpPr>
        <p:spPr>
          <a:xfrm>
            <a:off x="1207429" y="601884"/>
            <a:ext cx="4749676"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5" name="Rectangle 104"/>
          <p:cNvSpPr/>
          <p:nvPr/>
        </p:nvSpPr>
        <p:spPr>
          <a:xfrm>
            <a:off x="6201185" y="6088284"/>
            <a:ext cx="46736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312565" y="2660904"/>
            <a:ext cx="4401312" cy="1463040"/>
          </a:xfrm>
        </p:spPr>
        <p:txBody>
          <a:bodyPr anchor="b">
            <a:normAutofit/>
          </a:bodyPr>
          <a:lstStyle>
            <a:lvl1pPr algn="l">
              <a:defRPr sz="2800" b="0"/>
            </a:lvl1pPr>
          </a:lstStyle>
          <a:p>
            <a:r>
              <a:rPr lang="zh-CN" altLang="en-US" smtClean="0"/>
              <a:t>单击此处编辑母版标题样式</a:t>
            </a:r>
            <a:endParaRPr lang="en-US"/>
          </a:p>
        </p:txBody>
      </p:sp>
      <p:sp>
        <p:nvSpPr>
          <p:cNvPr id="3" name="Picture Placeholder 2"/>
          <p:cNvSpPr>
            <a:spLocks noGrp="1"/>
          </p:cNvSpPr>
          <p:nvPr>
            <p:ph type="pic" idx="1"/>
          </p:nvPr>
        </p:nvSpPr>
        <p:spPr>
          <a:xfrm>
            <a:off x="1340278" y="693795"/>
            <a:ext cx="4479497"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6312841" y="4133089"/>
            <a:ext cx="4400764"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752645E3-164D-4608-913A-C2AE4E2E22B0}" type="datetimeFigureOut">
              <a:rPr lang="zh-CN" altLang="en-US" smtClean="0"/>
              <a:t>2022/10/9</a:t>
            </a:fld>
            <a:endParaRPr lang="zh-CN" altLang="en-US"/>
          </a:p>
        </p:txBody>
      </p:sp>
      <p:sp>
        <p:nvSpPr>
          <p:cNvPr id="6" name="Footer Placeholder 5"/>
          <p:cNvSpPr>
            <a:spLocks noGrp="1"/>
          </p:cNvSpPr>
          <p:nvPr>
            <p:ph type="ftr" sz="quarter" idx="11"/>
          </p:nvPr>
        </p:nvSpPr>
        <p:spPr>
          <a:xfrm>
            <a:off x="6188597" y="5724836"/>
            <a:ext cx="4658219" cy="365125"/>
          </a:xfrm>
        </p:spPr>
        <p:txBody>
          <a:bodyPr>
            <a:normAutofit/>
          </a:bodyPr>
          <a:lstStyle/>
          <a:p>
            <a:endParaRPr lang="zh-CN" altLang="en-US"/>
          </a:p>
        </p:txBody>
      </p:sp>
      <p:sp>
        <p:nvSpPr>
          <p:cNvPr id="7" name="Slide Number Placeholder 6"/>
          <p:cNvSpPr>
            <a:spLocks noGrp="1"/>
          </p:cNvSpPr>
          <p:nvPr>
            <p:ph type="sldNum" sz="quarter" idx="12"/>
          </p:nvPr>
        </p:nvSpPr>
        <p:spPr/>
        <p:txBody>
          <a:bodyPr/>
          <a:lstStyle/>
          <a:p>
            <a:fld id="{3E8A53B9-76D9-4E73-A06F-15EBBBB88F5E}" type="slidenum">
              <a:rPr lang="zh-CN" altLang="en-US" smtClean="0"/>
              <a:t>‹#›</a:t>
            </a:fld>
            <a:endParaRPr lang="zh-CN" altLang="en-US"/>
          </a:p>
        </p:txBody>
      </p:sp>
    </p:spTree>
    <p:extLst>
      <p:ext uri="{BB962C8B-B14F-4D97-AF65-F5344CB8AC3E}">
        <p14:creationId xmlns:p14="http://schemas.microsoft.com/office/powerpoint/2010/main" val="129544659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752645E3-164D-4608-913A-C2AE4E2E22B0}" type="datetimeFigureOut">
              <a:rPr lang="zh-CN" altLang="en-US" smtClean="0"/>
              <a:t>2022/10/9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E8A53B9-76D9-4E73-A06F-15EBBBB88F5E}" type="slidenum">
              <a:rPr lang="zh-CN" altLang="en-US" smtClean="0"/>
              <a:t>‹#›</a:t>
            </a:fld>
            <a:endParaRPr lang="zh-CN" altLang="en-US"/>
          </a:p>
        </p:txBody>
      </p:sp>
    </p:spTree>
    <p:extLst>
      <p:ext uri="{BB962C8B-B14F-4D97-AF65-F5344CB8AC3E}">
        <p14:creationId xmlns:p14="http://schemas.microsoft.com/office/powerpoint/2010/main" val="173382764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1" y="1030147"/>
            <a:ext cx="1979271" cy="4780344"/>
          </a:xfrm>
        </p:spPr>
        <p:txBody>
          <a:bodyPr vert="eaVert" anchor="ctr"/>
          <a:lstStyle/>
          <a:p>
            <a:r>
              <a:rPr lang="zh-CN" altLang="en-US" smtClean="0"/>
              <a:t>单击此处编辑母版标题样式</a:t>
            </a:r>
            <a:endParaRPr lang="en-US"/>
          </a:p>
        </p:txBody>
      </p:sp>
      <p:sp>
        <p:nvSpPr>
          <p:cNvPr id="3" name="Vertical Text Placeholder 2"/>
          <p:cNvSpPr>
            <a:spLocks noGrp="1"/>
          </p:cNvSpPr>
          <p:nvPr>
            <p:ph type="body" orient="vert" idx="1"/>
          </p:nvPr>
        </p:nvSpPr>
        <p:spPr>
          <a:xfrm>
            <a:off x="1404395" y="1030147"/>
            <a:ext cx="7231605" cy="4780344"/>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752645E3-164D-4608-913A-C2AE4E2E22B0}" type="datetimeFigureOut">
              <a:rPr lang="zh-CN" altLang="en-US" smtClean="0"/>
              <a:t>2022/10/9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E8A53B9-76D9-4E73-A06F-15EBBBB88F5E}" type="slidenum">
              <a:rPr lang="zh-CN" altLang="en-US" smtClean="0"/>
              <a:t>‹#›</a:t>
            </a:fld>
            <a:endParaRPr lang="zh-CN" altLang="en-US"/>
          </a:p>
        </p:txBody>
      </p:sp>
    </p:spTree>
    <p:extLst>
      <p:ext uri="{BB962C8B-B14F-4D97-AF65-F5344CB8AC3E}">
        <p14:creationId xmlns:p14="http://schemas.microsoft.com/office/powerpoint/2010/main" val="147426198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x">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6D56EB6-EB87-4EA4-8D2F-64CC7DF82977}" type="datetime2">
              <a:rPr lang="zh-CN" altLang="en-US" smtClean="0"/>
              <a:t>2022年10月9日</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B956499-6944-425D-9BB8-83C62C18DB14}" type="slidenum">
              <a:rPr lang="zh-CN" altLang="en-US" smtClean="0"/>
              <a:t>‹#›</a:t>
            </a:fld>
            <a:endParaRPr lang="zh-CN" altLang="en-US"/>
          </a:p>
        </p:txBody>
      </p:sp>
    </p:spTree>
    <p:extLst>
      <p:ext uri="{BB962C8B-B14F-4D97-AF65-F5344CB8AC3E}">
        <p14:creationId xmlns:p14="http://schemas.microsoft.com/office/powerpoint/2010/main" val="288246452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lvl1pPr algn="l">
              <a:defRPr/>
            </a:lvl1pPr>
          </a:lstStyle>
          <a:p>
            <a:fld id="{740AC739-AE3F-483C-86AA-7C87F8E3B2C5}" type="datetime2">
              <a:rPr lang="zh-CN" altLang="en-US" smtClean="0"/>
              <a:t>2022年10月9日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915118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9B5B698A-EA2E-4C57-8582-25D59D52DFC5}" type="datetime2">
              <a:rPr lang="zh-CN" altLang="en-US" smtClean="0"/>
              <a:t>2022年10月9日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143631564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7EB1E7BB-35BB-4969-8AED-8FAFCE87682F}" type="datetime2">
              <a:rPr lang="zh-CN" altLang="en-US" smtClean="0"/>
              <a:t>2022年10月9日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843486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7C11D2C6-D554-4EB4-9317-AFC8F3E39296}" type="datetime2">
              <a:rPr lang="zh-CN" altLang="en-US" smtClean="0"/>
              <a:t>2022年10月9日</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193586197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1024128" y="2967788"/>
            <a:ext cx="4754880" cy="334157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zh-CN" altLang="en-US" smtClean="0"/>
              <a:t>编辑母版文本样式</a:t>
            </a:r>
          </a:p>
        </p:txBody>
      </p:sp>
      <p:sp>
        <p:nvSpPr>
          <p:cNvPr id="6" name="Content Placeholder 5"/>
          <p:cNvSpPr>
            <a:spLocks noGrp="1"/>
          </p:cNvSpPr>
          <p:nvPr>
            <p:ph sz="quarter" idx="4"/>
          </p:nvPr>
        </p:nvSpPr>
        <p:spPr>
          <a:xfrm>
            <a:off x="5990888" y="2967788"/>
            <a:ext cx="4754880" cy="334157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A2175E56-F2EE-46B9-B1F0-970465A42BF9}" type="datetime2">
              <a:rPr lang="zh-CN" altLang="en-US" smtClean="0"/>
              <a:t>2022年10月9日</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34365576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7AC1E4AC-8A09-4B43-94B0-B77AAD0312A8}" type="datetime2">
              <a:rPr lang="zh-CN" altLang="en-US" smtClean="0"/>
              <a:t>2022年10月9日</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95349296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A87A4A-C2D1-4293-9F22-E136D5E169BA}" type="datetime2">
              <a:rPr lang="zh-CN" altLang="en-US" smtClean="0"/>
              <a:t>2022年10月9日</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247041498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2884DE24-C24C-45B2-B395-4B4759BBC685}" type="datetime2">
              <a:rPr lang="zh-CN" altLang="en-US" smtClean="0"/>
              <a:t>2022年10月9日</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94047639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060D7916-9485-488E-AF51-F9297EE2A4AE}" type="datetime2">
              <a:rPr lang="zh-CN" altLang="en-US" smtClean="0"/>
              <a:t>2022年10月9日</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00843F5-C4FD-41B7-B76F-DAD3F27C3440}" type="slidenum">
              <a:rPr lang="zh-CN" altLang="en-US" smtClean="0"/>
              <a:t>‹#›</a:t>
            </a:fld>
            <a:endParaRPr lang="zh-CN" alt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417325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AF9197A6-DF62-4DC9-A2F0-1B4D358F332E}" type="datetime2">
              <a:rPr lang="zh-CN" altLang="en-US" smtClean="0"/>
              <a:t>2022年10月9日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233535322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6C593F39-7040-452B-BE16-EE7153FCBBDD}" type="datetime2">
              <a:rPr lang="zh-CN" altLang="en-US" smtClean="0"/>
              <a:t>2022年10月9日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874519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x">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6D56EB6-EB87-4EA4-8D2F-64CC7DF82977}" type="datetime2">
              <a:rPr lang="zh-CN" altLang="en-US" smtClean="0"/>
              <a:t>2022年10月9日</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B956499-6944-425D-9BB8-83C62C18DB14}" type="slidenum">
              <a:rPr lang="zh-CN" altLang="en-US" smtClean="0"/>
              <a:t>‹#›</a:t>
            </a:fld>
            <a:endParaRPr lang="zh-CN" altLang="en-US"/>
          </a:p>
        </p:txBody>
      </p:sp>
    </p:spTree>
    <p:extLst>
      <p:ext uri="{BB962C8B-B14F-4D97-AF65-F5344CB8AC3E}">
        <p14:creationId xmlns:p14="http://schemas.microsoft.com/office/powerpoint/2010/main" val="424952274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fld id="{740AC739-AE3F-483C-86AA-7C87F8E3B2C5}" type="datetime2">
              <a:rPr lang="zh-CN" altLang="en-US" smtClean="0"/>
              <a:t>2022年10月9日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80111281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3"/>
          <p:cNvSpPr>
            <a:spLocks noGrp="1"/>
          </p:cNvSpPr>
          <p:nvPr>
            <p:ph type="dt" sz="half" idx="10"/>
          </p:nvPr>
        </p:nvSpPr>
        <p:spPr/>
        <p:txBody>
          <a:bodyPr/>
          <a:lstStyle/>
          <a:p>
            <a:fld id="{9B5B698A-EA2E-4C57-8582-25D59D52DFC5}" type="datetime2">
              <a:rPr lang="zh-CN" altLang="en-US" smtClean="0"/>
              <a:t>2022年10月9日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60434528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7EB1E7BB-35BB-4969-8AED-8FAFCE87682F}" type="datetime2">
              <a:rPr lang="zh-CN" altLang="en-US" smtClean="0"/>
              <a:t>2022年10月9日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119211195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7C11D2C6-D554-4EB4-9317-AFC8F3E39296}" type="datetime2">
              <a:rPr lang="zh-CN" altLang="en-US" smtClean="0"/>
              <a:t>2022年10月9日</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49807447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A2175E56-F2EE-46B9-B1F0-970465A42BF9}" type="datetime2">
              <a:rPr lang="zh-CN" altLang="en-US" smtClean="0"/>
              <a:t>2022年10月9日</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396841540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7" name="Date Placeholder 2"/>
          <p:cNvSpPr>
            <a:spLocks noGrp="1"/>
          </p:cNvSpPr>
          <p:nvPr>
            <p:ph type="dt" sz="half" idx="10"/>
          </p:nvPr>
        </p:nvSpPr>
        <p:spPr/>
        <p:txBody>
          <a:bodyPr/>
          <a:lstStyle/>
          <a:p>
            <a:fld id="{7AC1E4AC-8A09-4B43-94B0-B77AAD0312A8}" type="datetime2">
              <a:rPr lang="zh-CN" altLang="en-US" smtClean="0"/>
              <a:t>2022年10月9日</a:t>
            </a:fld>
            <a:endParaRPr lang="zh-CN" altLang="en-US"/>
          </a:p>
        </p:txBody>
      </p:sp>
      <p:sp>
        <p:nvSpPr>
          <p:cNvPr id="5" name="Footer Placeholder 3"/>
          <p:cNvSpPr>
            <a:spLocks noGrp="1"/>
          </p:cNvSpPr>
          <p:nvPr>
            <p:ph type="ftr" sz="quarter" idx="11"/>
          </p:nvPr>
        </p:nvSpPr>
        <p:spPr/>
        <p:txBody>
          <a:bodyPr/>
          <a:lstStyle/>
          <a:p>
            <a:endParaRPr lang="zh-CN" altLang="en-US"/>
          </a:p>
        </p:txBody>
      </p:sp>
      <p:sp>
        <p:nvSpPr>
          <p:cNvPr id="6" name="Slide Number Placeholder 4"/>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63779598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CA87A4A-C2D1-4293-9F22-E136D5E169BA}" type="datetime2">
              <a:rPr lang="zh-CN" altLang="en-US" smtClean="0"/>
              <a:t>2022年10月9日</a:t>
            </a:fld>
            <a:endParaRPr lang="zh-CN" altLang="en-US"/>
          </a:p>
        </p:txBody>
      </p:sp>
      <p:sp>
        <p:nvSpPr>
          <p:cNvPr id="5" name="Footer Placeholder 2"/>
          <p:cNvSpPr>
            <a:spLocks noGrp="1"/>
          </p:cNvSpPr>
          <p:nvPr>
            <p:ph type="ftr" sz="quarter" idx="11"/>
          </p:nvPr>
        </p:nvSpPr>
        <p:spPr/>
        <p:txBody>
          <a:bodyPr/>
          <a:lstStyle/>
          <a:p>
            <a:endParaRPr lang="zh-CN" altLang="en-US"/>
          </a:p>
        </p:txBody>
      </p:sp>
      <p:sp>
        <p:nvSpPr>
          <p:cNvPr id="6" name="Slide Number Placeholder 3"/>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125325052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7" name="Date Placeholder 4"/>
          <p:cNvSpPr>
            <a:spLocks noGrp="1"/>
          </p:cNvSpPr>
          <p:nvPr>
            <p:ph type="dt" sz="half" idx="10"/>
          </p:nvPr>
        </p:nvSpPr>
        <p:spPr/>
        <p:txBody>
          <a:bodyPr/>
          <a:lstStyle/>
          <a:p>
            <a:fld id="{2884DE24-C24C-45B2-B395-4B4759BBC685}" type="datetime2">
              <a:rPr lang="zh-CN" altLang="en-US" smtClean="0"/>
              <a:t>2022年10月9日</a:t>
            </a:fld>
            <a:endParaRPr lang="zh-CN" altLang="en-US"/>
          </a:p>
        </p:txBody>
      </p:sp>
      <p:sp>
        <p:nvSpPr>
          <p:cNvPr id="5" name="Footer Placeholder 5"/>
          <p:cNvSpPr>
            <a:spLocks noGrp="1"/>
          </p:cNvSpPr>
          <p:nvPr>
            <p:ph type="ftr" sz="quarter" idx="11"/>
          </p:nvPr>
        </p:nvSpPr>
        <p:spPr/>
        <p:txBody>
          <a:bodyPr/>
          <a:lstStyle/>
          <a:p>
            <a:endParaRPr lang="zh-CN" altLang="en-US"/>
          </a:p>
        </p:txBody>
      </p:sp>
      <p:sp>
        <p:nvSpPr>
          <p:cNvPr id="6" name="Slide Number Placeholder 6"/>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262220029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060D7916-9485-488E-AF51-F9297EE2A4AE}" type="datetime2">
              <a:rPr lang="zh-CN" altLang="en-US" smtClean="0"/>
              <a:t>2022年10月9日</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116572138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4D58F19B-7E99-4E32-A92F-499B6603415A}" type="datetime2">
              <a:rPr lang="zh-CN" altLang="en-US" smtClean="0"/>
              <a:t>2022年10月9日</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874962289"/>
      </p:ext>
    </p:extLst>
  </p:cSld>
  <p:clrMapOvr>
    <a:masterClrMapping/>
  </p:clrMapOvr>
  <p:hf hdr="0" ftr="0"/>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zh-CN" altLang="en-US" smtClean="0"/>
              <a:t>单击此处编辑母版标题样式</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4D58F19B-7E99-4E32-A92F-499B6603415A}" type="datetime2">
              <a:rPr lang="zh-CN" altLang="en-US" smtClean="0"/>
              <a:t>2022年10月9日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2744912062"/>
      </p:ext>
    </p:extLst>
  </p:cSld>
  <p:clrMapOvr>
    <a:masterClrMapping/>
  </p:clrMapOvr>
  <p:hf hdr="0" ftr="0"/>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zh-CN" altLang="en-US" smtClean="0"/>
              <a:t>单击此处编辑母版标题样式</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zh-CN" altLang="en-US" smtClean="0"/>
              <a:t>编辑母版文本样式</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4D58F19B-7E99-4E32-A92F-499B6603415A}" type="datetime2">
              <a:rPr lang="zh-CN" altLang="en-US" smtClean="0"/>
              <a:t>2022年10月9日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590442963"/>
      </p:ext>
    </p:extLst>
  </p:cSld>
  <p:clrMapOvr>
    <a:masterClrMapping/>
  </p:clrMapOvr>
  <p:hf hdr="0" ftr="0"/>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4D58F19B-7E99-4E32-A92F-499B6603415A}" type="datetime2">
              <a:rPr lang="zh-CN" altLang="en-US" smtClean="0"/>
              <a:t>2022年10月9日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2260057171"/>
      </p:ext>
    </p:extLst>
  </p:cSld>
  <p:clrMapOvr>
    <a:masterClrMapping/>
  </p:clrMapOvr>
  <p:hf hdr="0" ftr="0"/>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D58F19B-7E99-4E32-A92F-499B6603415A}" type="datetime2">
              <a:rPr lang="zh-CN" altLang="en-US" smtClean="0"/>
              <a:t>2022年10月9日</a:t>
            </a:fld>
            <a:endParaRPr lang="zh-CN" altLang="en-US"/>
          </a:p>
        </p:txBody>
      </p:sp>
      <p:sp>
        <p:nvSpPr>
          <p:cNvPr id="4"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4068312529"/>
      </p:ext>
    </p:extLst>
  </p:cSld>
  <p:clrMapOvr>
    <a:masterClrMapping/>
  </p:clrMapOvr>
  <p:hf hdr="0" ftr="0"/>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D58F19B-7E99-4E32-A92F-499B6603415A}" type="datetime2">
              <a:rPr lang="zh-CN" altLang="en-US" smtClean="0"/>
              <a:t>2022年10月9日</a:t>
            </a:fld>
            <a:endParaRPr lang="zh-CN" altLang="en-US"/>
          </a:p>
        </p:txBody>
      </p:sp>
      <p:sp>
        <p:nvSpPr>
          <p:cNvPr id="4"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1929285749"/>
      </p:ext>
    </p:extLst>
  </p:cSld>
  <p:clrMapOvr>
    <a:masterClrMapping/>
  </p:clrMapOvr>
  <p:hf hdr="0" ftr="0"/>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nchor="t" anchorCtr="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AF9197A6-DF62-4DC9-A2F0-1B4D358F332E}" type="datetime2">
              <a:rPr lang="zh-CN" altLang="en-US" smtClean="0"/>
              <a:t>2022年10月9日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265001387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6C593F39-7040-452B-BE16-EE7153FCBBDD}" type="datetime2">
              <a:rPr lang="zh-CN" altLang="en-US" smtClean="0"/>
              <a:t>2022年10月9日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214694588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x">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6D56EB6-EB87-4EA4-8D2F-64CC7DF82977}" type="datetime2">
              <a:rPr lang="zh-CN" altLang="en-US" smtClean="0"/>
              <a:t>2022年10月9日</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B956499-6944-425D-9BB8-83C62C18DB14}" type="slidenum">
              <a:rPr lang="zh-CN" altLang="en-US" smtClean="0"/>
              <a:t>‹#›</a:t>
            </a:fld>
            <a:endParaRPr lang="zh-CN" altLang="en-US"/>
          </a:p>
        </p:txBody>
      </p:sp>
    </p:spTree>
    <p:extLst>
      <p:ext uri="{BB962C8B-B14F-4D97-AF65-F5344CB8AC3E}">
        <p14:creationId xmlns:p14="http://schemas.microsoft.com/office/powerpoint/2010/main" val="213514688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zh-CN" altLang="en-US" smtClean="0"/>
              <a:t>单击此处编辑母版标题样式</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单击以编辑母版副标题样式</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740AC739-AE3F-483C-86AA-7C87F8E3B2C5}" type="datetime2">
              <a:rPr lang="zh-CN" altLang="en-US" smtClean="0"/>
              <a:t>2022年10月9日</a:t>
            </a:fld>
            <a:endParaRPr lang="zh-CN" alt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zh-CN" alt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307592932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9B5B698A-EA2E-4C57-8582-25D59D52DFC5}" type="datetime2">
              <a:rPr lang="zh-CN" altLang="en-US" smtClean="0"/>
              <a:t>2022年10月9日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3500322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7EB1E7BB-35BB-4969-8AED-8FAFCE87682F}" type="datetime2">
              <a:rPr lang="zh-CN" altLang="en-US" smtClean="0"/>
              <a:t>2022年10月9日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243301002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7C11D2C6-D554-4EB4-9317-AFC8F3E39296}" type="datetime2">
              <a:rPr lang="zh-CN" altLang="en-US" smtClean="0"/>
              <a:t>2022年10月9日</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417291042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A2175E56-F2EE-46B9-B1F0-970465A42BF9}" type="datetime2">
              <a:rPr lang="zh-CN" altLang="en-US" smtClean="0"/>
              <a:t>2022年10月9日</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365810925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7AC1E4AC-8A09-4B43-94B0-B77AAD0312A8}" type="datetime2">
              <a:rPr lang="zh-CN" altLang="en-US" smtClean="0"/>
              <a:t>2022年10月9日</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120567192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A87A4A-C2D1-4293-9F22-E136D5E169BA}" type="datetime2">
              <a:rPr lang="zh-CN" altLang="en-US" smtClean="0"/>
              <a:t>2022年10月9日</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151620389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2884DE24-C24C-45B2-B395-4B4759BBC685}" type="datetime2">
              <a:rPr lang="zh-CN" altLang="en-US" smtClean="0"/>
              <a:t>2022年10月9日</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1583843006"/>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zh-CN" altLang="en-US" smtClean="0"/>
              <a:t>单击图标添加图片</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060D7916-9485-488E-AF51-F9297EE2A4AE}" type="datetime2">
              <a:rPr lang="zh-CN" altLang="en-US" smtClean="0"/>
              <a:t>2022年10月9日</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395285540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4D58F19B-7E99-4E32-A92F-499B6603415A}" type="datetime2">
              <a:rPr lang="zh-CN" altLang="en-US" smtClean="0"/>
              <a:t>2022年10月9日</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3088373279"/>
      </p:ext>
    </p:extLst>
  </p:cSld>
  <p:clrMapOvr>
    <a:masterClrMapping/>
  </p:clrMapOvr>
  <p:hf hdr="0" ftr="0"/>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p:cSld name="标题和描述">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zh-CN" altLang="en-US" smtClean="0"/>
              <a:t>单击此处编辑母版标题样式</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4D58F19B-7E99-4E32-A92F-499B6603415A}" type="datetime2">
              <a:rPr lang="zh-CN" altLang="en-US" smtClean="0"/>
              <a:t>2022年10月9日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738961139"/>
      </p:ext>
    </p:extLst>
  </p:cSld>
  <p:clrMapOvr>
    <a:masterClrMapping/>
  </p:clrMapOvr>
  <p:hf hdr="0" ftr="0"/>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p:cSld name="带描述的引言">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zh-CN" altLang="en-US" smtClean="0"/>
              <a:t>单击此处编辑母版标题样式</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4D58F19B-7E99-4E32-A92F-499B6603415A}" type="datetime2">
              <a:rPr lang="zh-CN" altLang="en-US" smtClean="0"/>
              <a:t>2022年10月9日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3558814509"/>
      </p:ext>
    </p:extLst>
  </p:cSld>
  <p:clrMapOvr>
    <a:masterClrMapping/>
  </p:clrMapOvr>
  <p:hf hdr="0" ftr="0"/>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名片">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4D58F19B-7E99-4E32-A92F-499B6603415A}" type="datetime2">
              <a:rPr lang="zh-CN" altLang="en-US" smtClean="0"/>
              <a:t>2022年10月9日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3653569845"/>
      </p:ext>
    </p:extLst>
  </p:cSld>
  <p:clrMapOvr>
    <a:masterClrMapping/>
  </p:clrMapOvr>
  <p:hf hdr="0" ftr="0"/>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D58F19B-7E99-4E32-A92F-499B6603415A}" type="datetime2">
              <a:rPr lang="zh-CN" altLang="en-US" smtClean="0"/>
              <a:t>2022年10月9日</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2726941041"/>
      </p:ext>
    </p:extLst>
  </p:cSld>
  <p:clrMapOvr>
    <a:masterClrMapping/>
  </p:clrMapOvr>
  <p:hf hdr="0" ftr="0"/>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D58F19B-7E99-4E32-A92F-499B6603415A}" type="datetime2">
              <a:rPr lang="zh-CN" altLang="en-US" smtClean="0"/>
              <a:t>2022年10月9日</a:t>
            </a:fld>
            <a:endParaRPr lang="zh-CN" altLang="en-US"/>
          </a:p>
        </p:txBody>
      </p:sp>
      <p:sp>
        <p:nvSpPr>
          <p:cNvPr id="8" name="Footer Placeholder 7"/>
          <p:cNvSpPr>
            <a:spLocks noGrp="1"/>
          </p:cNvSpPr>
          <p:nvPr>
            <p:ph type="ftr" sz="quarter" idx="11"/>
          </p:nvPr>
        </p:nvSpPr>
        <p:spPr>
          <a:xfrm>
            <a:off x="561111" y="6391838"/>
            <a:ext cx="3644282" cy="304801"/>
          </a:xfrm>
        </p:spPr>
        <p:txBody>
          <a:bodyPr/>
          <a:lstStyle/>
          <a:p>
            <a:endParaRPr lang="zh-CN" altLang="en-US"/>
          </a:p>
        </p:txBody>
      </p:sp>
      <p:sp>
        <p:nvSpPr>
          <p:cNvPr id="9" name="Slide Number Placeholder 8"/>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1876036862"/>
      </p:ext>
    </p:extLst>
  </p:cSld>
  <p:clrMapOvr>
    <a:masterClrMapping/>
  </p:clrMapOvr>
  <p:hf hdr="0" ftr="0"/>
</p:sldLayout>
</file>

<file path=ppt/slideLayouts/slideLayout8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AF9197A6-DF62-4DC9-A2F0-1B4D358F332E}" type="datetime2">
              <a:rPr lang="zh-CN" altLang="en-US" smtClean="0"/>
              <a:t>2022年10月9日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69669307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6C593F39-7040-452B-BE16-EE7153FCBBDD}" type="datetime2">
              <a:rPr lang="zh-CN" altLang="en-US" smtClean="0"/>
              <a:t>2022年10月9日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151893613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x">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6D56EB6-EB87-4EA4-8D2F-64CC7DF82977}" type="datetime2">
              <a:rPr lang="zh-CN" altLang="en-US" smtClean="0"/>
              <a:t>2022年10月9日</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B956499-6944-425D-9BB8-83C62C18DB14}" type="slidenum">
              <a:rPr lang="zh-CN" altLang="en-US" smtClean="0"/>
              <a:t>‹#›</a:t>
            </a:fld>
            <a:endParaRPr lang="zh-CN" altLang="en-US"/>
          </a:p>
        </p:txBody>
      </p:sp>
    </p:spTree>
    <p:extLst>
      <p:ext uri="{BB962C8B-B14F-4D97-AF65-F5344CB8AC3E}">
        <p14:creationId xmlns:p14="http://schemas.microsoft.com/office/powerpoint/2010/main" val="2744505841"/>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fld id="{740AC739-AE3F-483C-86AA-7C87F8E3B2C5}" type="datetime2">
              <a:rPr lang="zh-CN" altLang="en-US" smtClean="0"/>
              <a:t>2022年10月9日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0056245"/>
      </p:ext>
    </p:extLst>
  </p:cSld>
  <p:clrMapOvr>
    <a:masterClrMapping/>
  </p:clrMapOvr>
  <p:transition spd="slow">
    <p:wipe/>
  </p:transition>
  <p:timing>
    <p:tnLst>
      <p:par>
        <p:cTn id="1" dur="indefinite" restart="never" nodeType="tmRoot"/>
      </p:par>
    </p:tnLst>
  </p:timing>
</p:sldLayout>
</file>

<file path=ppt/slideLayouts/slideLayout9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9B5B698A-EA2E-4C57-8582-25D59D52DFC5}" type="datetime2">
              <a:rPr lang="zh-CN" altLang="en-US" smtClean="0"/>
              <a:t>2022年10月9日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2747447404"/>
      </p:ext>
    </p:extLst>
  </p:cSld>
  <p:clrMapOvr>
    <a:masterClrMapping/>
  </p:clrMapOvr>
  <p:transition spd="slow">
    <p:wipe/>
  </p:transition>
  <p:timing>
    <p:tnLst>
      <p:par>
        <p:cTn id="1" dur="indefinite" restart="never" nodeType="tmRoot"/>
      </p:par>
    </p:tnLst>
  </p:timing>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7EB1E7BB-35BB-4969-8AED-8FAFCE87682F}" type="datetime2">
              <a:rPr lang="zh-CN" altLang="en-US" smtClean="0"/>
              <a:t>2022年10月9日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0134698"/>
      </p:ext>
    </p:extLst>
  </p:cSld>
  <p:clrMapOvr>
    <a:masterClrMapping/>
  </p:clrMapOvr>
  <p:transition spd="slow">
    <p:wipe/>
  </p:transition>
  <p:timing>
    <p:tnLst>
      <p:par>
        <p:cTn id="1" dur="indefinite" restart="never" nodeType="tmRoot"/>
      </p:par>
    </p:tnLst>
  </p:timing>
</p:sldLayout>
</file>

<file path=ppt/slideLayouts/slideLayout9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7C11D2C6-D554-4EB4-9317-AFC8F3E39296}" type="datetime2">
              <a:rPr lang="zh-CN" altLang="en-US" smtClean="0"/>
              <a:t>2022年10月9日</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1990185634"/>
      </p:ext>
    </p:extLst>
  </p:cSld>
  <p:clrMapOvr>
    <a:masterClrMapping/>
  </p:clrMapOvr>
  <p:transition spd="slow">
    <p:wipe/>
  </p:transition>
  <p:timing>
    <p:tnLst>
      <p:par>
        <p:cTn id="1" dur="indefinite" restart="never" nodeType="tmRoot"/>
      </p:par>
    </p:tnLst>
  </p:timing>
</p:sldLayout>
</file>

<file path=ppt/slideLayouts/slideLayout9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1097280" y="2582334"/>
            <a:ext cx="4937760" cy="3378200"/>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6217920" y="2582334"/>
            <a:ext cx="4937760" cy="3378200"/>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A2175E56-F2EE-46B9-B1F0-970465A42BF9}" type="datetime2">
              <a:rPr lang="zh-CN" altLang="en-US" smtClean="0"/>
              <a:t>2022年10月9日</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1017143557"/>
      </p:ext>
    </p:extLst>
  </p:cSld>
  <p:clrMapOvr>
    <a:masterClrMapping/>
  </p:clrMapOvr>
  <p:transition spd="slow">
    <p:wipe/>
  </p:transition>
  <p:timing>
    <p:tnLst>
      <p:par>
        <p:cTn id="1" dur="indefinite" restart="never" nodeType="tmRoot"/>
      </p:par>
    </p:tnLst>
  </p:timing>
</p:sldLayout>
</file>

<file path=ppt/slideLayouts/slideLayout9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7AC1E4AC-8A09-4B43-94B0-B77AAD0312A8}" type="datetime2">
              <a:rPr lang="zh-CN" altLang="en-US" smtClean="0"/>
              <a:t>2022年10月9日</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3614315037"/>
      </p:ext>
    </p:extLst>
  </p:cSld>
  <p:clrMapOvr>
    <a:masterClrMapping/>
  </p:clrMapOvr>
  <p:transition spd="slow">
    <p:wipe/>
  </p:transition>
  <p:timing>
    <p:tnLst>
      <p:par>
        <p:cTn id="1" dur="indefinite" restart="never" nodeType="tmRoot"/>
      </p:par>
    </p:tnLst>
  </p:timing>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CA87A4A-C2D1-4293-9F22-E136D5E169BA}" type="datetime2">
              <a:rPr lang="zh-CN" altLang="en-US" smtClean="0"/>
              <a:t>2022年10月9日</a:t>
            </a:fld>
            <a:endParaRPr lang="zh-CN" alt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zh-CN" altLang="en-US"/>
          </a:p>
        </p:txBody>
      </p:sp>
      <p:sp>
        <p:nvSpPr>
          <p:cNvPr id="9" name="Slide Number Placeholder 8"/>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2706715128"/>
      </p:ext>
    </p:extLst>
  </p:cSld>
  <p:clrMapOvr>
    <a:masterClrMapping/>
  </p:clrMapOvr>
  <p:transition spd="slow">
    <p:wipe/>
  </p:transition>
  <p:timing>
    <p:tnLst>
      <p:par>
        <p:cTn id="1" dur="indefinite" restart="never" nodeType="tmRoot"/>
      </p:par>
    </p:tnLst>
  </p:timing>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zh-CN" altLang="en-US" smtClean="0"/>
              <a:t>单击此处编辑母版标题样式</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884DE24-C24C-45B2-B395-4B4759BBC685}" type="datetime2">
              <a:rPr lang="zh-CN" altLang="en-US" smtClean="0"/>
              <a:t>2022年10月9日</a:t>
            </a:fld>
            <a:endParaRPr lang="zh-CN" alt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zh-CN"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4014448177"/>
      </p:ext>
    </p:extLst>
  </p:cSld>
  <p:clrMapOvr>
    <a:masterClrMapping/>
  </p:clrMapOvr>
  <p:transition spd="slow">
    <p:wipe/>
  </p:transition>
  <p:timing>
    <p:tnLst>
      <p:par>
        <p:cTn id="1" dur="indefinite" restart="never" nodeType="tmRoot"/>
      </p:par>
    </p:tnLst>
  </p:timing>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060D7916-9485-488E-AF51-F9297EE2A4AE}" type="datetime2">
              <a:rPr lang="zh-CN" altLang="en-US" smtClean="0"/>
              <a:t>2022年10月9日</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2779069912"/>
      </p:ext>
    </p:extLst>
  </p:cSld>
  <p:clrMapOvr>
    <a:masterClrMapping/>
  </p:clrMapOvr>
  <p:transition spd="slow">
    <p:wipe/>
  </p:transition>
  <p:timing>
    <p:tnLst>
      <p:par>
        <p:cTn id="1" dur="indefinite" restart="never" nodeType="tmRoot"/>
      </p:par>
    </p:tnLst>
  </p:timing>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AF9197A6-DF62-4DC9-A2F0-1B4D358F332E}" type="datetime2">
              <a:rPr lang="zh-CN" altLang="en-US" smtClean="0"/>
              <a:t>2022年10月9日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1548868713"/>
      </p:ext>
    </p:extLst>
  </p:cSld>
  <p:clrMapOvr>
    <a:masterClrMapping/>
  </p:clrMapOvr>
  <p:transition spd="slow">
    <p:wipe/>
  </p:transition>
  <p:timing>
    <p:tnLst>
      <p:par>
        <p:cTn id="1" dur="indefinite" restart="never" nodeType="tmRoot"/>
      </p:par>
    </p:tnLst>
  </p:timing>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6C593F39-7040-452B-BE16-EE7153FCBBDD}" type="datetime2">
              <a:rPr lang="zh-CN" altLang="en-US" smtClean="0"/>
              <a:t>2022年10月9日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00843F5-C4FD-41B7-B76F-DAD3F27C3440}" type="slidenum">
              <a:rPr lang="zh-CN" altLang="en-US" smtClean="0"/>
              <a:t>‹#›</a:t>
            </a:fld>
            <a:endParaRPr lang="zh-CN" altLang="en-US"/>
          </a:p>
        </p:txBody>
      </p:sp>
    </p:spTree>
    <p:extLst>
      <p:ext uri="{BB962C8B-B14F-4D97-AF65-F5344CB8AC3E}">
        <p14:creationId xmlns:p14="http://schemas.microsoft.com/office/powerpoint/2010/main" val="2008784345"/>
      </p:ext>
    </p:extLst>
  </p:cSld>
  <p:clrMapOvr>
    <a:masterClrMapping/>
  </p:clrMapOvr>
  <p:transition spd="slow">
    <p:wipe/>
  </p:transition>
  <p:timing>
    <p:tnLst>
      <p:par>
        <p:cTn id="1" dur="indefinite" restart="never" nodeType="tmRoot"/>
      </p:par>
    </p:tnLst>
  </p:timing>
</p:sldLayout>
</file>

<file path=ppt/slideLayouts/slideLayout102.xml><?xml version="1.0" encoding="utf-8"?>
<p:sldLayout xmlns:a="http://schemas.openxmlformats.org/drawingml/2006/main" xmlns:r="http://schemas.openxmlformats.org/officeDocument/2006/relationships" xmlns:p="http://schemas.openxmlformats.org/presentationml/2006/main" type="tx">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6D56EB6-EB87-4EA4-8D2F-64CC7DF82977}" type="datetime2">
              <a:rPr lang="zh-CN" altLang="en-US" smtClean="0"/>
              <a:t>2022年10月9日</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B956499-6944-425D-9BB8-83C62C18DB14}" type="slidenum">
              <a:rPr lang="zh-CN" altLang="en-US" smtClean="0"/>
              <a:t>‹#›</a:t>
            </a:fld>
            <a:endParaRPr lang="zh-CN" altLang="en-US"/>
          </a:p>
        </p:txBody>
      </p:sp>
    </p:spTree>
    <p:extLst>
      <p:ext uri="{BB962C8B-B14F-4D97-AF65-F5344CB8AC3E}">
        <p14:creationId xmlns:p14="http://schemas.microsoft.com/office/powerpoint/2010/main" val="2443588832"/>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jp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theme" Target="../theme/theme2.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image" Target="../media/image5.jpg"/><Relationship Id="rId2" Type="http://schemas.openxmlformats.org/officeDocument/2006/relationships/slideLayout" Target="../slideLayouts/slideLayout20.xml"/><Relationship Id="rId16" Type="http://schemas.openxmlformats.org/officeDocument/2006/relationships/hyperlink" Target="http://www.nipic.com/show/14996873.html" TargetMode="Externa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image" Target="../media/image9.jpeg"/><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image" Target="../media/image8.jp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theme" Target="../theme/theme3.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0.xml"/><Relationship Id="rId13" Type="http://schemas.openxmlformats.org/officeDocument/2006/relationships/theme" Target="../theme/theme4.xml"/><Relationship Id="rId3" Type="http://schemas.openxmlformats.org/officeDocument/2006/relationships/slideLayout" Target="../slideLayouts/slideLayout45.xml"/><Relationship Id="rId7" Type="http://schemas.openxmlformats.org/officeDocument/2006/relationships/slideLayout" Target="../slideLayouts/slideLayout49.xml"/><Relationship Id="rId12" Type="http://schemas.openxmlformats.org/officeDocument/2006/relationships/slideLayout" Target="../slideLayouts/slideLayout54.xml"/><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5" Type="http://schemas.openxmlformats.org/officeDocument/2006/relationships/slideLayout" Target="../slideLayouts/slideLayout47.xml"/><Relationship Id="rId10" Type="http://schemas.openxmlformats.org/officeDocument/2006/relationships/slideLayout" Target="../slideLayouts/slideLayout52.xml"/><Relationship Id="rId4" Type="http://schemas.openxmlformats.org/officeDocument/2006/relationships/slideLayout" Target="../slideLayouts/slideLayout46.xml"/><Relationship Id="rId9" Type="http://schemas.openxmlformats.org/officeDocument/2006/relationships/slideLayout" Target="../slideLayouts/slideLayout51.xml"/><Relationship Id="rId14" Type="http://schemas.openxmlformats.org/officeDocument/2006/relationships/image" Target="../media/image5.jp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2.xml"/><Relationship Id="rId13" Type="http://schemas.openxmlformats.org/officeDocument/2006/relationships/slideLayout" Target="../slideLayouts/slideLayout67.xml"/><Relationship Id="rId18" Type="http://schemas.openxmlformats.org/officeDocument/2006/relationships/slideLayout" Target="../slideLayouts/slideLayout72.xml"/><Relationship Id="rId3" Type="http://schemas.openxmlformats.org/officeDocument/2006/relationships/slideLayout" Target="../slideLayouts/slideLayout57.xml"/><Relationship Id="rId21" Type="http://schemas.openxmlformats.org/officeDocument/2006/relationships/image" Target="../media/image14.png"/><Relationship Id="rId7" Type="http://schemas.openxmlformats.org/officeDocument/2006/relationships/slideLayout" Target="../slideLayouts/slideLayout61.xml"/><Relationship Id="rId12" Type="http://schemas.openxmlformats.org/officeDocument/2006/relationships/slideLayout" Target="../slideLayouts/slideLayout66.xml"/><Relationship Id="rId17" Type="http://schemas.openxmlformats.org/officeDocument/2006/relationships/slideLayout" Target="../slideLayouts/slideLayout71.xml"/><Relationship Id="rId2" Type="http://schemas.openxmlformats.org/officeDocument/2006/relationships/slideLayout" Target="../slideLayouts/slideLayout56.xml"/><Relationship Id="rId16" Type="http://schemas.openxmlformats.org/officeDocument/2006/relationships/slideLayout" Target="../slideLayouts/slideLayout70.xml"/><Relationship Id="rId20" Type="http://schemas.openxmlformats.org/officeDocument/2006/relationships/image" Target="../media/image13.png"/><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24" Type="http://schemas.openxmlformats.org/officeDocument/2006/relationships/image" Target="../media/image5.jpg"/><Relationship Id="rId5" Type="http://schemas.openxmlformats.org/officeDocument/2006/relationships/slideLayout" Target="../slideLayouts/slideLayout59.xml"/><Relationship Id="rId15" Type="http://schemas.openxmlformats.org/officeDocument/2006/relationships/slideLayout" Target="../slideLayouts/slideLayout69.xml"/><Relationship Id="rId23" Type="http://schemas.openxmlformats.org/officeDocument/2006/relationships/image" Target="../media/image16.png"/><Relationship Id="rId10" Type="http://schemas.openxmlformats.org/officeDocument/2006/relationships/slideLayout" Target="../slideLayouts/slideLayout64.xml"/><Relationship Id="rId19" Type="http://schemas.openxmlformats.org/officeDocument/2006/relationships/theme" Target="../theme/theme5.xml"/><Relationship Id="rId4" Type="http://schemas.openxmlformats.org/officeDocument/2006/relationships/slideLayout" Target="../slideLayouts/slideLayout58.xml"/><Relationship Id="rId9" Type="http://schemas.openxmlformats.org/officeDocument/2006/relationships/slideLayout" Target="../slideLayouts/slideLayout63.xml"/><Relationship Id="rId14" Type="http://schemas.openxmlformats.org/officeDocument/2006/relationships/slideLayout" Target="../slideLayouts/slideLayout68.xml"/><Relationship Id="rId22" Type="http://schemas.openxmlformats.org/officeDocument/2006/relationships/image" Target="../media/image15.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slideLayout" Target="../slideLayouts/slideLayout85.xml"/><Relationship Id="rId18" Type="http://schemas.openxmlformats.org/officeDocument/2006/relationships/slideLayout" Target="../slideLayouts/slideLayout90.xml"/><Relationship Id="rId3" Type="http://schemas.openxmlformats.org/officeDocument/2006/relationships/slideLayout" Target="../slideLayouts/slideLayout75.xml"/><Relationship Id="rId21" Type="http://schemas.openxmlformats.org/officeDocument/2006/relationships/image" Target="../media/image5.jpg"/><Relationship Id="rId7" Type="http://schemas.openxmlformats.org/officeDocument/2006/relationships/slideLayout" Target="../slideLayouts/slideLayout79.xml"/><Relationship Id="rId12" Type="http://schemas.openxmlformats.org/officeDocument/2006/relationships/slideLayout" Target="../slideLayouts/slideLayout84.xml"/><Relationship Id="rId17" Type="http://schemas.openxmlformats.org/officeDocument/2006/relationships/slideLayout" Target="../slideLayouts/slideLayout89.xml"/><Relationship Id="rId2" Type="http://schemas.openxmlformats.org/officeDocument/2006/relationships/slideLayout" Target="../slideLayouts/slideLayout74.xml"/><Relationship Id="rId16" Type="http://schemas.openxmlformats.org/officeDocument/2006/relationships/slideLayout" Target="../slideLayouts/slideLayout88.xml"/><Relationship Id="rId20" Type="http://schemas.openxmlformats.org/officeDocument/2006/relationships/image" Target="../media/image12.jpeg"/><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5" Type="http://schemas.openxmlformats.org/officeDocument/2006/relationships/slideLayout" Target="../slideLayouts/slideLayout77.xml"/><Relationship Id="rId15" Type="http://schemas.openxmlformats.org/officeDocument/2006/relationships/slideLayout" Target="../slideLayouts/slideLayout87.xml"/><Relationship Id="rId10" Type="http://schemas.openxmlformats.org/officeDocument/2006/relationships/slideLayout" Target="../slideLayouts/slideLayout82.xml"/><Relationship Id="rId19" Type="http://schemas.openxmlformats.org/officeDocument/2006/relationships/theme" Target="../theme/theme6.xml"/><Relationship Id="rId4" Type="http://schemas.openxmlformats.org/officeDocument/2006/relationships/slideLayout" Target="../slideLayouts/slideLayout76.xml"/><Relationship Id="rId9" Type="http://schemas.openxmlformats.org/officeDocument/2006/relationships/slideLayout" Target="../slideLayouts/slideLayout81.xml"/><Relationship Id="rId14" Type="http://schemas.openxmlformats.org/officeDocument/2006/relationships/slideLayout" Target="../slideLayouts/slideLayout8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98.xml"/><Relationship Id="rId13" Type="http://schemas.openxmlformats.org/officeDocument/2006/relationships/theme" Target="../theme/theme7.xml"/><Relationship Id="rId3" Type="http://schemas.openxmlformats.org/officeDocument/2006/relationships/slideLayout" Target="../slideLayouts/slideLayout93.xml"/><Relationship Id="rId7" Type="http://schemas.openxmlformats.org/officeDocument/2006/relationships/slideLayout" Target="../slideLayouts/slideLayout97.xml"/><Relationship Id="rId12" Type="http://schemas.openxmlformats.org/officeDocument/2006/relationships/slideLayout" Target="../slideLayouts/slideLayout102.xml"/><Relationship Id="rId2" Type="http://schemas.openxmlformats.org/officeDocument/2006/relationships/slideLayout" Target="../slideLayouts/slideLayout92.xml"/><Relationship Id="rId1" Type="http://schemas.openxmlformats.org/officeDocument/2006/relationships/slideLayout" Target="../slideLayouts/slideLayout91.xml"/><Relationship Id="rId6" Type="http://schemas.openxmlformats.org/officeDocument/2006/relationships/slideLayout" Target="../slideLayouts/slideLayout96.xml"/><Relationship Id="rId11" Type="http://schemas.openxmlformats.org/officeDocument/2006/relationships/slideLayout" Target="../slideLayouts/slideLayout101.xml"/><Relationship Id="rId5" Type="http://schemas.openxmlformats.org/officeDocument/2006/relationships/slideLayout" Target="../slideLayouts/slideLayout95.xml"/><Relationship Id="rId10" Type="http://schemas.openxmlformats.org/officeDocument/2006/relationships/slideLayout" Target="../slideLayouts/slideLayout100.xml"/><Relationship Id="rId4" Type="http://schemas.openxmlformats.org/officeDocument/2006/relationships/slideLayout" Target="../slideLayouts/slideLayout94.xml"/><Relationship Id="rId9" Type="http://schemas.openxmlformats.org/officeDocument/2006/relationships/slideLayout" Target="../slideLayouts/slideLayout99.xml"/><Relationship Id="rId14" Type="http://schemas.openxmlformats.org/officeDocument/2006/relationships/image" Target="../media/image5.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D58F19B-7E99-4E32-A92F-499B6603415A}" type="datetime2">
              <a:rPr lang="zh-CN" altLang="en-US" smtClean="0"/>
              <a:t>2022年10月9日</a:t>
            </a:fld>
            <a:endParaRPr lang="zh-CN" alt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zh-CN" alt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00843F5-C4FD-41B7-B76F-DAD3F27C3440}" type="slidenum">
              <a:rPr lang="zh-CN" altLang="en-US" smtClean="0"/>
              <a:t>‹#›</a:t>
            </a:fld>
            <a:endParaRPr lang="zh-CN" altLang="en-US"/>
          </a:p>
        </p:txBody>
      </p:sp>
      <p:pic>
        <p:nvPicPr>
          <p:cNvPr id="12" name="图片 11"/>
          <p:cNvPicPr>
            <a:picLocks noChangeAspect="1"/>
          </p:cNvPicPr>
          <p:nvPr userDrawn="1"/>
        </p:nvPicPr>
        <p:blipFill>
          <a:blip r:embed="rId22">
            <a:extLst>
              <a:ext uri="{28A0092B-C50C-407E-A947-70E740481C1C}">
                <a14:useLocalDpi xmlns:a14="http://schemas.microsoft.com/office/drawing/2010/main" val="0"/>
              </a:ext>
            </a:extLst>
          </a:blip>
          <a:stretch>
            <a:fillRect/>
          </a:stretch>
        </p:blipFill>
        <p:spPr>
          <a:xfrm>
            <a:off x="0" y="0"/>
            <a:ext cx="1463040" cy="768096"/>
          </a:xfrm>
          <a:prstGeom prst="rect">
            <a:avLst/>
          </a:prstGeom>
        </p:spPr>
      </p:pic>
    </p:spTree>
    <p:extLst>
      <p:ext uri="{BB962C8B-B14F-4D97-AF65-F5344CB8AC3E}">
        <p14:creationId xmlns:p14="http://schemas.microsoft.com/office/powerpoint/2010/main" val="131634430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Lst>
  <p:hf hdr="0" ftr="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3">
        <a:schemeClr val="bg2"/>
      </p:bgRef>
    </p:bg>
    <p:spTree>
      <p:nvGrpSpPr>
        <p:cNvPr id="1" name=""/>
        <p:cNvGrpSpPr/>
        <p:nvPr/>
      </p:nvGrpSpPr>
      <p:grpSpPr>
        <a:xfrm>
          <a:off x="0" y="0"/>
          <a:ext cx="0" cy="0"/>
          <a:chOff x="0" y="0"/>
          <a:chExt cx="0" cy="0"/>
        </a:xfrm>
      </p:grpSpPr>
      <p:sp>
        <p:nvSpPr>
          <p:cNvPr id="10" name="Rectangle 9"/>
          <p:cNvSpPr/>
          <p:nvPr/>
        </p:nvSpPr>
        <p:spPr>
          <a:xfrm>
            <a:off x="0" y="2015734"/>
            <a:ext cx="12192000" cy="4079520"/>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14">
            <a:extLst>
              <a:ext uri="{28A0092B-C50C-407E-A947-70E740481C1C}">
                <a14:useLocalDpi xmlns:a14="http://schemas.microsoft.com/office/drawing/2010/main" val="0"/>
              </a:ext>
            </a:extLst>
          </a:blip>
          <a:srcRect l="12500" t="1538" r="12500" b="-1538"/>
          <a:stretch/>
        </p:blipFill>
        <p:spPr>
          <a:xfrm>
            <a:off x="-1" y="6095254"/>
            <a:ext cx="12192001" cy="774727"/>
          </a:xfrm>
          <a:prstGeom prst="rect">
            <a:avLst/>
          </a:prstGeom>
        </p:spPr>
      </p:pic>
      <p:cxnSp>
        <p:nvCxnSpPr>
          <p:cNvPr id="13" name="Straight Connector 12"/>
          <p:cNvCxnSpPr/>
          <p:nvPr/>
        </p:nvCxnSpPr>
        <p:spPr>
          <a:xfrm>
            <a:off x="0" y="6101127"/>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924655" y="804521"/>
            <a:ext cx="8761791" cy="1049235"/>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924655" y="2015734"/>
            <a:ext cx="8761791" cy="345061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7528723" y="330370"/>
            <a:ext cx="3157723"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D58F19B-7E99-4E32-A92F-499B6603415A}" type="datetime2">
              <a:rPr lang="zh-CN" altLang="en-US" smtClean="0"/>
              <a:t>2022年10月9日</a:t>
            </a:fld>
            <a:endParaRPr lang="zh-CN" altLang="en-US"/>
          </a:p>
        </p:txBody>
      </p:sp>
      <p:sp>
        <p:nvSpPr>
          <p:cNvPr id="5" name="Footer Placeholder 4"/>
          <p:cNvSpPr>
            <a:spLocks noGrp="1"/>
          </p:cNvSpPr>
          <p:nvPr>
            <p:ph type="ftr" sz="quarter" idx="3"/>
          </p:nvPr>
        </p:nvSpPr>
        <p:spPr>
          <a:xfrm>
            <a:off x="1924655" y="329309"/>
            <a:ext cx="5378672"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50300" y="798973"/>
            <a:ext cx="1060995" cy="503578"/>
          </a:xfrm>
          <a:prstGeom prst="rect">
            <a:avLst/>
          </a:prstGeom>
        </p:spPr>
        <p:txBody>
          <a:bodyPr vert="horz" lIns="91440" tIns="45720" rIns="91440" bIns="45720" rtlCol="0" anchor="t"/>
          <a:lstStyle>
            <a:lvl1pPr algn="r">
              <a:defRPr sz="2800">
                <a:solidFill>
                  <a:schemeClr val="accent1"/>
                </a:solidFill>
              </a:defRPr>
            </a:lvl1pPr>
          </a:lstStyle>
          <a:p>
            <a:fld id="{200843F5-C4FD-41B7-B76F-DAD3F27C3440}" type="slidenum">
              <a:rPr lang="zh-CN" altLang="en-US" smtClean="0"/>
              <a:t>‹#›</a:t>
            </a:fld>
            <a:endParaRPr lang="zh-CN" altLang="en-US"/>
          </a:p>
        </p:txBody>
      </p:sp>
      <p:pic>
        <p:nvPicPr>
          <p:cNvPr id="11" name="图片 10">
            <a:extLst>
              <a:ext uri="{FF2B5EF4-FFF2-40B4-BE49-F238E27FC236}">
                <a16:creationId xmlns:a16="http://schemas.microsoft.com/office/drawing/2014/main" id="{BD11C8D3-1B15-4C96-A5A0-1E9EC454E9A3}"/>
              </a:ext>
            </a:extLst>
          </p:cNvPr>
          <p:cNvPicPr>
            <a:picLocks noChangeAspect="1"/>
          </p:cNvPicPr>
          <p:nvPr/>
        </p:nvPicPr>
        <p:blipFill>
          <a:blip r:embed="rId15" cstate="print">
            <a:duotone>
              <a:prstClr val="black"/>
              <a:srgbClr val="D9C3A5">
                <a:tint val="50000"/>
                <a:satMod val="180000"/>
              </a:srgbClr>
            </a:duotone>
            <a:extLst>
              <a:ext uri="{28A0092B-C50C-407E-A947-70E740481C1C}">
                <a14:useLocalDpi xmlns:a14="http://schemas.microsoft.com/office/drawing/2010/main" val="0"/>
              </a:ext>
              <a:ext uri="{837473B0-CC2E-450A-ABE3-18F120FF3D39}">
                <a1611:picAttrSrcUrl xmlns="" xmlns:a14="http://schemas.microsoft.com/office/drawing/2010/main" xmlns:a16="http://schemas.microsoft.com/office/drawing/2014/main" xmlns:p14="http://schemas.microsoft.com/office/powerpoint/2010/main" xmlns:a1611="http://schemas.microsoft.com/office/drawing/2016/11/main" r:id="rId16"/>
              </a:ext>
            </a:extLst>
          </a:blip>
          <a:stretch>
            <a:fillRect/>
          </a:stretch>
        </p:blipFill>
        <p:spPr>
          <a:xfrm>
            <a:off x="10058400" y="0"/>
            <a:ext cx="2133600" cy="1600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14" name="图片 13"/>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0" y="0"/>
            <a:ext cx="1463040" cy="768096"/>
          </a:xfrm>
          <a:prstGeom prst="rect">
            <a:avLst/>
          </a:prstGeom>
        </p:spPr>
      </p:pic>
    </p:spTree>
    <p:extLst>
      <p:ext uri="{BB962C8B-B14F-4D97-AF65-F5344CB8AC3E}">
        <p14:creationId xmlns:p14="http://schemas.microsoft.com/office/powerpoint/2010/main" val="3912369634"/>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Lst>
  <p:transition spd="slow">
    <p:wipe/>
  </p:transition>
  <p:hf hdr="0" ftr="0"/>
  <p:txStyles>
    <p:titleStyle>
      <a:lvl1pPr algn="l" defTabSz="685800" rtl="0" eaLnBrk="1" latinLnBrk="0" hangingPunct="1">
        <a:lnSpc>
          <a:spcPct val="90000"/>
        </a:lnSpc>
        <a:spcBef>
          <a:spcPct val="0"/>
        </a:spcBef>
        <a:buNone/>
        <a:defRPr sz="3200" b="0" i="0" kern="1200" cap="all">
          <a:solidFill>
            <a:schemeClr val="tx1"/>
          </a:solidFill>
          <a:effectLst/>
          <a:latin typeface="+mj-lt"/>
          <a:ea typeface="微软雅黑" panose="020B0503020204020204" pitchFamily="34" charset="-122"/>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微软雅黑" panose="020B0503020204020204" pitchFamily="34" charset="-122"/>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微软雅黑" panose="020B0503020204020204" pitchFamily="34" charset="-122"/>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微软雅黑" panose="020B0503020204020204" pitchFamily="34" charset="-122"/>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微软雅黑" panose="020B0503020204020204" pitchFamily="34" charset="-122"/>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微软雅黑" panose="020B0503020204020204" pitchFamily="34" charset="-122"/>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406400" y="0"/>
            <a:ext cx="13243109"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66" name="Rectangle 65"/>
          <p:cNvSpPr/>
          <p:nvPr/>
        </p:nvSpPr>
        <p:spPr>
          <a:xfrm>
            <a:off x="609600" y="333488"/>
            <a:ext cx="109728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0" name="Rectangle 69"/>
          <p:cNvSpPr/>
          <p:nvPr/>
        </p:nvSpPr>
        <p:spPr>
          <a:xfrm>
            <a:off x="6081656" y="-21511"/>
            <a:ext cx="4905488"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1" name="Rectangle 70"/>
          <p:cNvSpPr/>
          <p:nvPr/>
        </p:nvSpPr>
        <p:spPr>
          <a:xfrm>
            <a:off x="6198795" y="-21510"/>
            <a:ext cx="46736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laceholder 1"/>
          <p:cNvSpPr>
            <a:spLocks noGrp="1"/>
          </p:cNvSpPr>
          <p:nvPr>
            <p:ph type="title"/>
          </p:nvPr>
        </p:nvSpPr>
        <p:spPr>
          <a:xfrm>
            <a:off x="1391320" y="1027664"/>
            <a:ext cx="9366325" cy="1143000"/>
          </a:xfrm>
          <a:prstGeom prst="rect">
            <a:avLst/>
          </a:prstGeom>
        </p:spPr>
        <p:txBody>
          <a:bodyPr vert="horz" lIns="91440" tIns="45720" rIns="91440" bIns="45720" rtlCol="0" anchor="b">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391323" y="2323652"/>
            <a:ext cx="9036423" cy="3508977"/>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7996517" y="224493"/>
            <a:ext cx="2844800" cy="365125"/>
          </a:xfrm>
          <a:prstGeom prst="rect">
            <a:avLst/>
          </a:prstGeom>
        </p:spPr>
        <p:txBody>
          <a:bodyPr vert="horz" lIns="91440" tIns="45720" rIns="91440" bIns="45720" rtlCol="0" anchor="ctr"/>
          <a:lstStyle>
            <a:lvl1pPr algn="r">
              <a:defRPr sz="1200">
                <a:solidFill>
                  <a:srgbClr val="FEFEFE"/>
                </a:solidFill>
              </a:defRPr>
            </a:lvl1pPr>
          </a:lstStyle>
          <a:p>
            <a:fld id="{752645E3-164D-4608-913A-C2AE4E2E22B0}" type="datetimeFigureOut">
              <a:rPr lang="zh-CN" altLang="en-US" smtClean="0"/>
              <a:t>2022/10/9</a:t>
            </a:fld>
            <a:endParaRPr lang="zh-CN" altLang="en-US"/>
          </a:p>
        </p:txBody>
      </p:sp>
      <p:sp>
        <p:nvSpPr>
          <p:cNvPr id="5" name="Footer Placeholder 4"/>
          <p:cNvSpPr>
            <a:spLocks noGrp="1"/>
          </p:cNvSpPr>
          <p:nvPr>
            <p:ph type="ftr" sz="quarter" idx="3"/>
          </p:nvPr>
        </p:nvSpPr>
        <p:spPr>
          <a:xfrm>
            <a:off x="6188597" y="5852161"/>
            <a:ext cx="4669536" cy="365125"/>
          </a:xfrm>
          <a:prstGeom prst="rect">
            <a:avLst/>
          </a:prstGeom>
        </p:spPr>
        <p:txBody>
          <a:bodyPr vert="horz" lIns="91440" tIns="45720" rIns="91440" bIns="45720" rtlCol="0" anchor="ctr"/>
          <a:lstStyle>
            <a:lvl1pPr algn="r">
              <a:defRPr sz="1200">
                <a:solidFill>
                  <a:schemeClr val="accent1"/>
                </a:solidFill>
              </a:defRPr>
            </a:lvl1pPr>
          </a:lstStyle>
          <a:p>
            <a:endParaRPr lang="zh-CN" altLang="en-US"/>
          </a:p>
        </p:txBody>
      </p:sp>
      <p:sp>
        <p:nvSpPr>
          <p:cNvPr id="6" name="Slide Number Placeholder 5"/>
          <p:cNvSpPr>
            <a:spLocks noGrp="1"/>
          </p:cNvSpPr>
          <p:nvPr>
            <p:ph type="sldNum" sz="quarter" idx="4"/>
          </p:nvPr>
        </p:nvSpPr>
        <p:spPr>
          <a:xfrm>
            <a:off x="6198795" y="224492"/>
            <a:ext cx="1776208" cy="365125"/>
          </a:xfrm>
          <a:prstGeom prst="rect">
            <a:avLst/>
          </a:prstGeom>
        </p:spPr>
        <p:txBody>
          <a:bodyPr vert="horz" lIns="91440" tIns="45720" rIns="91440" bIns="45720" rtlCol="0" anchor="ctr"/>
          <a:lstStyle>
            <a:lvl1pPr algn="l">
              <a:defRPr sz="1200">
                <a:solidFill>
                  <a:srgbClr val="FEFEFE"/>
                </a:solidFill>
              </a:defRPr>
            </a:lvl1pPr>
          </a:lstStyle>
          <a:p>
            <a:fld id="{3E8A53B9-76D9-4E73-A06F-15EBBBB88F5E}" type="slidenum">
              <a:rPr lang="zh-CN" altLang="en-US" smtClean="0"/>
              <a:t>‹#›</a:t>
            </a:fld>
            <a:endParaRPr lang="zh-CN" altLang="en-US"/>
          </a:p>
        </p:txBody>
      </p:sp>
    </p:spTree>
    <p:extLst>
      <p:ext uri="{BB962C8B-B14F-4D97-AF65-F5344CB8AC3E}">
        <p14:creationId xmlns:p14="http://schemas.microsoft.com/office/powerpoint/2010/main" val="2372676784"/>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Lst>
  <p:txStyles>
    <p:title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D58F19B-7E99-4E32-A92F-499B6603415A}" type="datetime2">
              <a:rPr lang="zh-CN" altLang="en-US" smtClean="0"/>
              <a:t>2022年10月9日</a:t>
            </a:fld>
            <a:endParaRPr lang="zh-CN" alt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zh-CN" alt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200843F5-C4FD-41B7-B76F-DAD3F27C3440}" type="slidenum">
              <a:rPr lang="zh-CN" altLang="en-US" smtClean="0"/>
              <a:t>‹#›</a:t>
            </a:fld>
            <a:endParaRPr lang="zh-CN" alt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0"/>
            <a:ext cx="1463040" cy="768096"/>
          </a:xfrm>
          <a:prstGeom prst="rect">
            <a:avLst/>
          </a:prstGeom>
        </p:spPr>
      </p:pic>
    </p:spTree>
    <p:extLst>
      <p:ext uri="{BB962C8B-B14F-4D97-AF65-F5344CB8AC3E}">
        <p14:creationId xmlns:p14="http://schemas.microsoft.com/office/powerpoint/2010/main" val="1293777865"/>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Lst>
  <p:hf hdr="0" ftr="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D58F19B-7E99-4E32-A92F-499B6603415A}" type="datetime2">
              <a:rPr lang="zh-CN" altLang="en-US" smtClean="0"/>
              <a:t>2022年10月9日</a:t>
            </a:fld>
            <a:endParaRPr lang="zh-CN" alt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zh-CN" alt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200843F5-C4FD-41B7-B76F-DAD3F27C3440}" type="slidenum">
              <a:rPr lang="zh-CN" altLang="en-US" smtClean="0"/>
              <a:t>‹#›</a:t>
            </a:fld>
            <a:endParaRPr lang="zh-CN" altLang="en-US"/>
          </a:p>
        </p:txBody>
      </p:sp>
      <p:pic>
        <p:nvPicPr>
          <p:cNvPr id="13" name="图片 12"/>
          <p:cNvPicPr>
            <a:picLocks noChangeAspect="1"/>
          </p:cNvPicPr>
          <p:nvPr userDrawn="1"/>
        </p:nvPicPr>
        <p:blipFill>
          <a:blip r:embed="rId24">
            <a:extLst>
              <a:ext uri="{28A0092B-C50C-407E-A947-70E740481C1C}">
                <a14:useLocalDpi xmlns:a14="http://schemas.microsoft.com/office/drawing/2010/main" val="0"/>
              </a:ext>
            </a:extLst>
          </a:blip>
          <a:stretch>
            <a:fillRect/>
          </a:stretch>
        </p:blipFill>
        <p:spPr>
          <a:xfrm>
            <a:off x="0" y="0"/>
            <a:ext cx="1463040" cy="768096"/>
          </a:xfrm>
          <a:prstGeom prst="rect">
            <a:avLst/>
          </a:prstGeom>
        </p:spPr>
      </p:pic>
    </p:spTree>
    <p:extLst>
      <p:ext uri="{BB962C8B-B14F-4D97-AF65-F5344CB8AC3E}">
        <p14:creationId xmlns:p14="http://schemas.microsoft.com/office/powerpoint/2010/main" val="3893731206"/>
      </p:ext>
    </p:extLst>
  </p:cSld>
  <p:clrMap bg1="dk1" tx1="lt1" bg2="dk2" tx2="lt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 id="2147483735" r:id="rId16"/>
    <p:sldLayoutId id="2147483736" r:id="rId17"/>
    <p:sldLayoutId id="2147483737" r:id="rId18"/>
  </p:sldLayoutIdLst>
  <p:hf hdr="0" ftr="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20">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4D58F19B-7E99-4E32-A92F-499B6603415A}" type="datetime2">
              <a:rPr lang="zh-CN" altLang="en-US" smtClean="0"/>
              <a:t>2022年10月9日</a:t>
            </a:fld>
            <a:endParaRPr lang="zh-CN" alt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zh-CN" alt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200843F5-C4FD-41B7-B76F-DAD3F27C3440}" type="slidenum">
              <a:rPr lang="zh-CN" altLang="en-US" smtClean="0"/>
              <a:t>‹#›</a:t>
            </a:fld>
            <a:endParaRPr lang="zh-CN" altLang="en-US"/>
          </a:p>
        </p:txBody>
      </p:sp>
      <p:pic>
        <p:nvPicPr>
          <p:cNvPr id="22" name="图片 21"/>
          <p:cNvPicPr>
            <a:picLocks noChangeAspect="1"/>
          </p:cNvPicPr>
          <p:nvPr userDrawn="1"/>
        </p:nvPicPr>
        <p:blipFill>
          <a:blip r:embed="rId21">
            <a:extLst>
              <a:ext uri="{28A0092B-C50C-407E-A947-70E740481C1C}">
                <a14:useLocalDpi xmlns:a14="http://schemas.microsoft.com/office/drawing/2010/main" val="0"/>
              </a:ext>
            </a:extLst>
          </a:blip>
          <a:stretch>
            <a:fillRect/>
          </a:stretch>
        </p:blipFill>
        <p:spPr>
          <a:xfrm>
            <a:off x="0" y="0"/>
            <a:ext cx="1463040" cy="768096"/>
          </a:xfrm>
          <a:prstGeom prst="rect">
            <a:avLst/>
          </a:prstGeom>
        </p:spPr>
      </p:pic>
    </p:spTree>
    <p:extLst>
      <p:ext uri="{BB962C8B-B14F-4D97-AF65-F5344CB8AC3E}">
        <p14:creationId xmlns:p14="http://schemas.microsoft.com/office/powerpoint/2010/main" val="3018747314"/>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54" r:id="rId16"/>
    <p:sldLayoutId id="2147483755" r:id="rId17"/>
    <p:sldLayoutId id="2147483756" r:id="rId18"/>
  </p:sldLayoutIdLst>
  <p:hf hdr="0" ftr="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D58F19B-7E99-4E32-A92F-499B6603415A}" type="datetime2">
              <a:rPr lang="zh-CN" altLang="en-US" smtClean="0"/>
              <a:t>2022年10月9日</a:t>
            </a:fld>
            <a:endParaRPr lang="zh-CN" alt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zh-CN" alt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00843F5-C4FD-41B7-B76F-DAD3F27C3440}" type="slidenum">
              <a:rPr lang="zh-CN" altLang="en-US" smtClean="0"/>
              <a:t>‹#›</a:t>
            </a:fld>
            <a:endParaRPr lang="zh-CN" alt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0"/>
            <a:ext cx="1463040" cy="768096"/>
          </a:xfrm>
          <a:prstGeom prst="rect">
            <a:avLst/>
          </a:prstGeom>
        </p:spPr>
      </p:pic>
    </p:spTree>
    <p:extLst>
      <p:ext uri="{BB962C8B-B14F-4D97-AF65-F5344CB8AC3E}">
        <p14:creationId xmlns:p14="http://schemas.microsoft.com/office/powerpoint/2010/main" val="3513541761"/>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Lst>
  <p:transition spd="slow">
    <p:wipe/>
  </p:transition>
  <p:timing>
    <p:tnLst>
      <p:par>
        <p:cTn id="1" dur="indefinite" restart="never" nodeType="tmRoot"/>
      </p:par>
    </p:tnLst>
  </p:timing>
  <p:hf hdr="0" ft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3" Type="http://schemas.openxmlformats.org/officeDocument/2006/relationships/hyperlink" Target="http://www.bjkw.gov.cn/" TargetMode="External"/><Relationship Id="rId2" Type="http://schemas.openxmlformats.org/officeDocument/2006/relationships/audio" Target="../media/audio1.wav"/><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高新技术企业科技政策介绍</a:t>
            </a:r>
          </a:p>
        </p:txBody>
      </p:sp>
      <p:sp>
        <p:nvSpPr>
          <p:cNvPr id="3" name="文本占位符 2"/>
          <p:cNvSpPr>
            <a:spLocks noGrp="1"/>
          </p:cNvSpPr>
          <p:nvPr>
            <p:ph type="subTitle" idx="1"/>
          </p:nvPr>
        </p:nvSpPr>
        <p:spPr/>
        <p:txBody>
          <a:bodyPr/>
          <a:lstStyle/>
          <a:p>
            <a:pPr lvl="0"/>
            <a:r>
              <a:rPr lang="zh-CN" altLang="en-US" dirty="0" smtClean="0"/>
              <a:t>北京正则明会计师事务所</a:t>
            </a:r>
          </a:p>
          <a:p>
            <a:pPr lvl="0"/>
            <a:r>
              <a:rPr lang="en-US" altLang="zh-CN" dirty="0" smtClean="0"/>
              <a:t>2014</a:t>
            </a:r>
            <a:r>
              <a:rPr lang="zh-CN" altLang="en-US" dirty="0" smtClean="0"/>
              <a:t>年</a:t>
            </a:r>
            <a:r>
              <a:rPr lang="en-US" altLang="zh-CN" dirty="0" smtClean="0"/>
              <a:t>5</a:t>
            </a:r>
            <a:r>
              <a:rPr lang="zh-CN" altLang="en-US" dirty="0" smtClean="0"/>
              <a:t>月</a:t>
            </a: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0" y="5334498"/>
            <a:ext cx="1524000" cy="1523501"/>
          </a:xfrm>
          <a:prstGeom prst="rect">
            <a:avLst/>
          </a:prstGeom>
        </p:spPr>
      </p:pic>
    </p:spTree>
    <p:extLst>
      <p:ext uri="{BB962C8B-B14F-4D97-AF65-F5344CB8AC3E}">
        <p14:creationId xmlns:p14="http://schemas.microsoft.com/office/powerpoint/2010/main" val="64425595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additive="base">
                                        <p:cTn id="14" dur="500" fill="hold"/>
                                        <p:tgtEl>
                                          <p:spTgt spid="3"/>
                                        </p:tgtEl>
                                        <p:attrNameLst>
                                          <p:attrName>ppt_x</p:attrName>
                                        </p:attrNameLst>
                                      </p:cBhvr>
                                      <p:tavLst>
                                        <p:tav tm="0">
                                          <p:val>
                                            <p:strVal val="#ppt_x"/>
                                          </p:val>
                                        </p:tav>
                                        <p:tav tm="100000">
                                          <p:val>
                                            <p:strVal val="#ppt_x"/>
                                          </p:val>
                                        </p:tav>
                                      </p:tavLst>
                                    </p:anim>
                                    <p:anim calcmode="lin" valueType="num">
                                      <p:cBhvr additive="base">
                                        <p:cTn id="1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聚焦产业培育，提升服务能力</a:t>
            </a:r>
          </a:p>
        </p:txBody>
      </p:sp>
      <p:graphicFrame>
        <p:nvGraphicFramePr>
          <p:cNvPr id="9" name="内容占位符 8"/>
          <p:cNvGraphicFramePr>
            <a:graphicFrameLocks noGrp="1"/>
          </p:cNvGraphicFramePr>
          <p:nvPr>
            <p:ph sz="half" idx="1"/>
            <p:extLst>
              <p:ext uri="{D42A27DB-BD31-4B8C-83A1-F6EECF244321}">
                <p14:modId xmlns:p14="http://schemas.microsoft.com/office/powerpoint/2010/main" val="843472480"/>
              </p:ext>
            </p:extLst>
          </p:nvPr>
        </p:nvGraphicFramePr>
        <p:xfrm>
          <a:off x="1298575" y="2560638"/>
          <a:ext cx="4718050" cy="33099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1" name="内容占位符 10"/>
          <p:cNvGraphicFramePr>
            <a:graphicFrameLocks noGrp="1"/>
          </p:cNvGraphicFramePr>
          <p:nvPr>
            <p:ph sz="half" idx="2"/>
            <p:extLst>
              <p:ext uri="{D42A27DB-BD31-4B8C-83A1-F6EECF244321}">
                <p14:modId xmlns:p14="http://schemas.microsoft.com/office/powerpoint/2010/main" val="3900190397"/>
              </p:ext>
            </p:extLst>
          </p:nvPr>
        </p:nvGraphicFramePr>
        <p:xfrm>
          <a:off x="6181725" y="2560638"/>
          <a:ext cx="4718050" cy="330993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2" name="日期占位符 11"/>
          <p:cNvSpPr>
            <a:spLocks noGrp="1"/>
          </p:cNvSpPr>
          <p:nvPr>
            <p:ph type="dt" sz="half" idx="10"/>
          </p:nvPr>
        </p:nvSpPr>
        <p:spPr/>
        <p:txBody>
          <a:bodyPr/>
          <a:lstStyle/>
          <a:p>
            <a:fld id="{7D85CDA9-14AC-4C15-A8B2-A44DDF40DFB5}" type="datetime2">
              <a:rPr lang="zh-CN" altLang="en-US" smtClean="0"/>
              <a:t>2022年10月9日</a:t>
            </a:fld>
            <a:endParaRPr lang="zh-CN" altLang="en-US"/>
          </a:p>
        </p:txBody>
      </p:sp>
      <p:sp>
        <p:nvSpPr>
          <p:cNvPr id="13" name="灯片编号占位符 12"/>
          <p:cNvSpPr>
            <a:spLocks noGrp="1"/>
          </p:cNvSpPr>
          <p:nvPr>
            <p:ph type="sldNum" sz="quarter" idx="12"/>
          </p:nvPr>
        </p:nvSpPr>
        <p:spPr/>
        <p:txBody>
          <a:bodyPr/>
          <a:lstStyle/>
          <a:p>
            <a:fld id="{200843F5-C4FD-41B7-B76F-DAD3F27C3440}" type="slidenum">
              <a:rPr lang="zh-CN" altLang="en-US" smtClean="0"/>
              <a:t>2</a:t>
            </a:fld>
            <a:endParaRPr lang="zh-CN" altLang="en-US"/>
          </a:p>
        </p:txBody>
      </p:sp>
    </p:spTree>
    <p:extLst>
      <p:ext uri="{BB962C8B-B14F-4D97-AF65-F5344CB8AC3E}">
        <p14:creationId xmlns:p14="http://schemas.microsoft.com/office/powerpoint/2010/main" val="32647119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重要说明</a:t>
            </a:r>
          </a:p>
        </p:txBody>
      </p:sp>
      <p:sp>
        <p:nvSpPr>
          <p:cNvPr id="3" name="文本占位符 2"/>
          <p:cNvSpPr>
            <a:spLocks noGrp="1"/>
          </p:cNvSpPr>
          <p:nvPr>
            <p:ph type="body" idx="1"/>
          </p:nvPr>
        </p:nvSpPr>
        <p:spPr/>
        <p:txBody>
          <a:bodyPr/>
          <a:lstStyle/>
          <a:p>
            <a:pPr lvl="0"/>
            <a:r>
              <a:rPr lang="zh-CN" altLang="en-US" dirty="0" smtClean="0"/>
              <a:t>所有政策及专项工作信息均可在市科委网站上查阅</a:t>
            </a:r>
          </a:p>
          <a:p>
            <a:pPr lvl="1"/>
            <a:r>
              <a:rPr lang="zh-CN" altLang="en-US" dirty="0" smtClean="0">
                <a:solidFill>
                  <a:srgbClr val="FF0000"/>
                </a:solidFill>
              </a:rPr>
              <a:t>北京市科委：</a:t>
            </a:r>
            <a:r>
              <a:rPr lang="en-US" altLang="zh-CN" dirty="0" smtClean="0">
                <a:solidFill>
                  <a:srgbClr val="FF0000"/>
                </a:solidFill>
                <a:hlinkClick r:id="rId3"/>
              </a:rPr>
              <a:t>http://www.bjkw.gov.cn</a:t>
            </a:r>
            <a:endParaRPr lang="en-US" altLang="zh-CN" dirty="0" smtClean="0">
              <a:solidFill>
                <a:srgbClr val="FF0000"/>
              </a:solidFill>
            </a:endParaRPr>
          </a:p>
          <a:p>
            <a:pPr lvl="0"/>
            <a:r>
              <a:rPr lang="zh-CN" altLang="en-US" dirty="0" smtClean="0"/>
              <a:t>所有工作均由市科委或者直属机构、授权机构办理</a:t>
            </a:r>
          </a:p>
          <a:p>
            <a:pPr lvl="0"/>
            <a:r>
              <a:rPr lang="zh-CN" altLang="en-US" dirty="0" smtClean="0"/>
              <a:t>所有工作均有明确办理流程和要求，请按照网站公示办理</a:t>
            </a:r>
          </a:p>
          <a:p>
            <a:pPr lvl="0"/>
            <a:r>
              <a:rPr lang="zh-CN" altLang="en-US" dirty="0" smtClean="0"/>
              <a:t>注意申报时间、要求、条件、流程等</a:t>
            </a:r>
          </a:p>
        </p:txBody>
      </p:sp>
      <p:sp>
        <p:nvSpPr>
          <p:cNvPr id="6" name="日期占位符 5"/>
          <p:cNvSpPr>
            <a:spLocks noGrp="1"/>
          </p:cNvSpPr>
          <p:nvPr>
            <p:ph type="dt" sz="half" idx="10"/>
          </p:nvPr>
        </p:nvSpPr>
        <p:spPr/>
        <p:txBody>
          <a:bodyPr/>
          <a:lstStyle/>
          <a:p>
            <a:fld id="{15989859-84C5-46F9-985C-852918FE6FFD}" type="datetime2">
              <a:rPr lang="zh-CN" altLang="en-US" smtClean="0"/>
              <a:t>2022年10月9日</a:t>
            </a:fld>
            <a:endParaRPr lang="zh-CN" altLang="en-US"/>
          </a:p>
        </p:txBody>
      </p:sp>
      <p:sp>
        <p:nvSpPr>
          <p:cNvPr id="7" name="灯片编号占位符 6"/>
          <p:cNvSpPr>
            <a:spLocks noGrp="1"/>
          </p:cNvSpPr>
          <p:nvPr>
            <p:ph type="sldNum" sz="quarter" idx="12"/>
          </p:nvPr>
        </p:nvSpPr>
        <p:spPr/>
        <p:txBody>
          <a:bodyPr/>
          <a:lstStyle/>
          <a:p>
            <a:fld id="{8B956499-6944-425D-9BB8-83C62C18DB14}" type="slidenum">
              <a:rPr lang="zh-CN" altLang="en-US" smtClean="0"/>
              <a:t>3</a:t>
            </a:fld>
            <a:endParaRPr lang="zh-CN" altLang="en-US"/>
          </a:p>
        </p:txBody>
      </p:sp>
    </p:spTree>
    <p:extLst>
      <p:ext uri="{BB962C8B-B14F-4D97-AF65-F5344CB8AC3E}">
        <p14:creationId xmlns:p14="http://schemas.microsoft.com/office/powerpoint/2010/main" val="25334991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2" name="hammer.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2" name="hammer.wav"/>
                                        </p:tgtEl>
                                      </p:cMediaNode>
                                    </p:audio>
                                  </p:sub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2"/>
                                            </p:cond>
                                          </p:stCondLst>
                                          <p:endCondLst>
                                            <p:cond evt="onStopAudio" delay="0">
                                              <p:tgtEl>
                                                <p:sldTgt/>
                                              </p:tgtEl>
                                            </p:cond>
                                          </p:endCondLst>
                                        </p:cTn>
                                        <p:tgtEl>
                                          <p:sndTgt r:embed="rId2" name="hammer.wav"/>
                                        </p:tgtEl>
                                      </p:cMediaNode>
                                    </p:audio>
                                  </p:sub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8"/>
                                            </p:cond>
                                          </p:stCondLst>
                                          <p:endCondLst>
                                            <p:cond evt="onStopAudio" delay="0">
                                              <p:tgtEl>
                                                <p:sldTgt/>
                                              </p:tgtEl>
                                            </p:cond>
                                          </p:endCondLst>
                                        </p:cTn>
                                        <p:tgtEl>
                                          <p:sndTgt r:embed="rId2" name="hammer.wav"/>
                                        </p:tgtEl>
                                      </p:cMediaNode>
                                    </p:audio>
                                  </p:sub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additive="base">
                                        <p:cTn id="3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4"/>
                                            </p:cond>
                                          </p:stCondLst>
                                          <p:endCondLst>
                                            <p:cond evt="onStopAudio" delay="0">
                                              <p:tgtEl>
                                                <p:sldTgt/>
                                              </p:tgtEl>
                                            </p:cond>
                                          </p:endCondLst>
                                        </p:cTn>
                                        <p:tgtEl>
                                          <p:sndTgt r:embed="rId2" name="hamm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bldLvl="2"/>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一、高新技术企业认定</a:t>
            </a:r>
          </a:p>
        </p:txBody>
      </p:sp>
      <p:sp>
        <p:nvSpPr>
          <p:cNvPr id="3" name="文本占位符 2"/>
          <p:cNvSpPr>
            <a:spLocks noGrp="1"/>
          </p:cNvSpPr>
          <p:nvPr>
            <p:ph type="body" idx="1"/>
          </p:nvPr>
        </p:nvSpPr>
        <p:spPr/>
        <p:txBody>
          <a:bodyPr/>
          <a:lstStyle/>
          <a:p>
            <a:pPr lvl="0"/>
            <a:r>
              <a:rPr lang="zh-CN" altLang="en-US" smtClean="0"/>
              <a:t>政策依据</a:t>
            </a:r>
          </a:p>
          <a:p>
            <a:pPr lvl="0"/>
            <a:r>
              <a:rPr lang="zh-CN" altLang="en-US" smtClean="0"/>
              <a:t>认定条件</a:t>
            </a:r>
          </a:p>
          <a:p>
            <a:pPr lvl="0"/>
            <a:r>
              <a:rPr lang="zh-CN" altLang="en-US" smtClean="0"/>
              <a:t>具体评定方法</a:t>
            </a:r>
          </a:p>
          <a:p>
            <a:pPr lvl="0"/>
            <a:r>
              <a:rPr lang="zh-CN" altLang="en-US" smtClean="0"/>
              <a:t>申报流程</a:t>
            </a:r>
          </a:p>
        </p:txBody>
      </p:sp>
      <p:sp>
        <p:nvSpPr>
          <p:cNvPr id="6" name="日期占位符 5"/>
          <p:cNvSpPr>
            <a:spLocks noGrp="1"/>
          </p:cNvSpPr>
          <p:nvPr>
            <p:ph type="dt" sz="half" idx="10"/>
          </p:nvPr>
        </p:nvSpPr>
        <p:spPr/>
        <p:txBody>
          <a:bodyPr/>
          <a:lstStyle/>
          <a:p>
            <a:fld id="{A744A094-9684-44D4-9211-D95C6201856C}" type="datetime2">
              <a:rPr lang="zh-CN" altLang="en-US" smtClean="0"/>
              <a:t>2022年10月9日</a:t>
            </a:fld>
            <a:endParaRPr lang="zh-CN" altLang="en-US"/>
          </a:p>
        </p:txBody>
      </p:sp>
      <p:sp>
        <p:nvSpPr>
          <p:cNvPr id="7" name="灯片编号占位符 6"/>
          <p:cNvSpPr>
            <a:spLocks noGrp="1"/>
          </p:cNvSpPr>
          <p:nvPr>
            <p:ph type="sldNum" sz="quarter" idx="12"/>
          </p:nvPr>
        </p:nvSpPr>
        <p:spPr/>
        <p:txBody>
          <a:bodyPr/>
          <a:lstStyle/>
          <a:p>
            <a:fld id="{8B956499-6944-425D-9BB8-83C62C18DB14}" type="slidenum">
              <a:rPr lang="zh-CN" altLang="en-US" smtClean="0"/>
              <a:t>4</a:t>
            </a:fld>
            <a:endParaRPr lang="zh-CN" altLang="en-US"/>
          </a:p>
        </p:txBody>
      </p:sp>
    </p:spTree>
    <p:extLst>
      <p:ext uri="{BB962C8B-B14F-4D97-AF65-F5344CB8AC3E}">
        <p14:creationId xmlns:p14="http://schemas.microsoft.com/office/powerpoint/2010/main" val="859724154"/>
      </p:ext>
    </p:extLst>
  </p:cSld>
  <p:clrMapOvr>
    <a:masterClrMapping/>
  </p:clrMapOvr>
  <p:transition spd="slow">
    <p:push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政策依据：</a:t>
            </a:r>
          </a:p>
        </p:txBody>
      </p:sp>
      <p:sp>
        <p:nvSpPr>
          <p:cNvPr id="3" name="文本占位符 2"/>
          <p:cNvSpPr>
            <a:spLocks noGrp="1"/>
          </p:cNvSpPr>
          <p:nvPr>
            <p:ph type="body" idx="1"/>
          </p:nvPr>
        </p:nvSpPr>
        <p:spPr/>
        <p:txBody>
          <a:bodyPr>
            <a:normAutofit/>
          </a:bodyPr>
          <a:lstStyle/>
          <a:p>
            <a:pPr lvl="0"/>
            <a:r>
              <a:rPr lang="en-US" altLang="zh-CN" smtClean="0"/>
              <a:t>1. 《</a:t>
            </a:r>
            <a:r>
              <a:rPr lang="zh-CN" altLang="en-US" smtClean="0"/>
              <a:t>中华人民共和国企业所得税法</a:t>
            </a:r>
            <a:r>
              <a:rPr lang="en-US" altLang="zh-CN" smtClean="0"/>
              <a:t>》</a:t>
            </a:r>
            <a:r>
              <a:rPr lang="zh-CN" altLang="en-US" smtClean="0"/>
              <a:t>（</a:t>
            </a:r>
            <a:r>
              <a:rPr lang="en-US" altLang="zh-CN" smtClean="0"/>
              <a:t>[2007]63</a:t>
            </a:r>
            <a:r>
              <a:rPr lang="zh-CN" altLang="en-US" smtClean="0"/>
              <a:t>号令）第二十八条：国家需要重点扶持的高新技术企业，减按</a:t>
            </a:r>
            <a:r>
              <a:rPr lang="en-US" altLang="zh-CN" smtClean="0"/>
              <a:t>15</a:t>
            </a:r>
            <a:r>
              <a:rPr lang="zh-CN" altLang="en-US" smtClean="0"/>
              <a:t>％的税率征收企业所得税。</a:t>
            </a:r>
          </a:p>
          <a:p>
            <a:pPr lvl="0"/>
            <a:r>
              <a:rPr lang="en-US" altLang="zh-CN" smtClean="0"/>
              <a:t>2. </a:t>
            </a:r>
            <a:r>
              <a:rPr lang="zh-CN" altLang="en-US" smtClean="0"/>
              <a:t>科技部、财政部、税务总局</a:t>
            </a:r>
            <a:r>
              <a:rPr lang="en-US" altLang="zh-CN" smtClean="0"/>
              <a:t>《</a:t>
            </a:r>
            <a:r>
              <a:rPr lang="zh-CN" altLang="en-US" smtClean="0"/>
              <a:t>高新技术企业认定管理办法</a:t>
            </a:r>
            <a:r>
              <a:rPr lang="en-US" altLang="zh-CN" smtClean="0"/>
              <a:t>》</a:t>
            </a:r>
            <a:r>
              <a:rPr lang="zh-CN" altLang="en-US" smtClean="0"/>
              <a:t>（国科发火</a:t>
            </a:r>
            <a:r>
              <a:rPr lang="en-US" altLang="zh-CN" smtClean="0"/>
              <a:t>[2008]172</a:t>
            </a:r>
            <a:r>
              <a:rPr lang="zh-CN" altLang="en-US" smtClean="0"/>
              <a:t>号）。</a:t>
            </a:r>
          </a:p>
          <a:p>
            <a:pPr lvl="0"/>
            <a:r>
              <a:rPr lang="en-US" altLang="zh-CN" smtClean="0"/>
              <a:t>3. </a:t>
            </a:r>
            <a:r>
              <a:rPr lang="zh-CN" altLang="en-US" smtClean="0"/>
              <a:t>科技部、财政部、税务总局</a:t>
            </a:r>
            <a:r>
              <a:rPr lang="en-US" altLang="zh-CN" smtClean="0"/>
              <a:t>《</a:t>
            </a:r>
            <a:r>
              <a:rPr lang="zh-CN" altLang="en-US" smtClean="0"/>
              <a:t>高新技术企业认定管理工作指引</a:t>
            </a:r>
            <a:r>
              <a:rPr lang="en-US" altLang="zh-CN" smtClean="0"/>
              <a:t>》</a:t>
            </a:r>
            <a:r>
              <a:rPr lang="zh-CN" altLang="en-US" smtClean="0"/>
              <a:t>（国科发火</a:t>
            </a:r>
            <a:r>
              <a:rPr lang="en-US" altLang="zh-CN" smtClean="0"/>
              <a:t>[2008]362</a:t>
            </a:r>
            <a:r>
              <a:rPr lang="zh-CN" altLang="en-US" smtClean="0"/>
              <a:t>号）。</a:t>
            </a:r>
          </a:p>
          <a:p>
            <a:pPr lvl="0"/>
            <a:r>
              <a:rPr lang="en-US" altLang="zh-CN" smtClean="0"/>
              <a:t>4. </a:t>
            </a:r>
            <a:r>
              <a:rPr lang="zh-CN" altLang="en-US" smtClean="0"/>
              <a:t>市科委、市财政局、市国税局、市地税局</a:t>
            </a:r>
            <a:r>
              <a:rPr lang="en-US" altLang="zh-CN" smtClean="0"/>
              <a:t>《</a:t>
            </a:r>
            <a:r>
              <a:rPr lang="zh-CN" altLang="en-US" smtClean="0"/>
              <a:t>北京市高新技术企业认定管理工作实施方案</a:t>
            </a:r>
            <a:r>
              <a:rPr lang="en-US" altLang="zh-CN" smtClean="0"/>
              <a:t>》</a:t>
            </a:r>
            <a:r>
              <a:rPr lang="zh-CN" altLang="en-US" smtClean="0"/>
              <a:t>（京科高发</a:t>
            </a:r>
            <a:r>
              <a:rPr lang="en-US" altLang="zh-CN" smtClean="0"/>
              <a:t>[2008]434</a:t>
            </a:r>
            <a:r>
              <a:rPr lang="zh-CN" altLang="en-US" smtClean="0"/>
              <a:t>号）。</a:t>
            </a:r>
          </a:p>
          <a:p>
            <a:pPr lvl="0"/>
            <a:r>
              <a:rPr lang="en-US" altLang="zh-CN" smtClean="0"/>
              <a:t>5.《</a:t>
            </a:r>
            <a:r>
              <a:rPr lang="zh-CN" altLang="en-US" smtClean="0"/>
              <a:t>关于完善中关村国家自主创新示范区高新技术企业认定管理试点工作的通知</a:t>
            </a:r>
            <a:r>
              <a:rPr lang="en-US" altLang="zh-CN" smtClean="0"/>
              <a:t>》</a:t>
            </a:r>
            <a:r>
              <a:rPr lang="zh-CN" altLang="en-US" smtClean="0"/>
              <a:t>（国科发火</a:t>
            </a:r>
            <a:r>
              <a:rPr lang="en-US" altLang="zh-CN" smtClean="0"/>
              <a:t>〔2011〕90</a:t>
            </a:r>
            <a:r>
              <a:rPr lang="zh-CN" altLang="en-US" smtClean="0"/>
              <a:t>号）。</a:t>
            </a:r>
          </a:p>
        </p:txBody>
      </p:sp>
      <p:sp>
        <p:nvSpPr>
          <p:cNvPr id="6" name="日期占位符 5"/>
          <p:cNvSpPr>
            <a:spLocks noGrp="1"/>
          </p:cNvSpPr>
          <p:nvPr>
            <p:ph type="dt" sz="half" idx="10"/>
          </p:nvPr>
        </p:nvSpPr>
        <p:spPr/>
        <p:txBody>
          <a:bodyPr/>
          <a:lstStyle/>
          <a:p>
            <a:fld id="{26FEA125-B90F-4107-B511-42FAF1200D9B}" type="datetime2">
              <a:rPr lang="zh-CN" altLang="en-US" smtClean="0"/>
              <a:t>2022年10月9日</a:t>
            </a:fld>
            <a:endParaRPr lang="zh-CN" altLang="en-US"/>
          </a:p>
        </p:txBody>
      </p:sp>
      <p:sp>
        <p:nvSpPr>
          <p:cNvPr id="7" name="灯片编号占位符 6"/>
          <p:cNvSpPr>
            <a:spLocks noGrp="1"/>
          </p:cNvSpPr>
          <p:nvPr>
            <p:ph type="sldNum" sz="quarter" idx="12"/>
          </p:nvPr>
        </p:nvSpPr>
        <p:spPr/>
        <p:txBody>
          <a:bodyPr/>
          <a:lstStyle/>
          <a:p>
            <a:fld id="{8B956499-6944-425D-9BB8-83C62C18DB14}" type="slidenum">
              <a:rPr lang="zh-CN" altLang="en-US" smtClean="0"/>
              <a:t>5</a:t>
            </a:fld>
            <a:endParaRPr lang="zh-CN" altLang="en-US"/>
          </a:p>
        </p:txBody>
      </p:sp>
    </p:spTree>
    <p:extLst>
      <p:ext uri="{BB962C8B-B14F-4D97-AF65-F5344CB8AC3E}">
        <p14:creationId xmlns:p14="http://schemas.microsoft.com/office/powerpoint/2010/main" val="4058122111"/>
      </p:ext>
    </p:extLst>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认定条件</a:t>
            </a:r>
          </a:p>
        </p:txBody>
      </p:sp>
      <p:sp>
        <p:nvSpPr>
          <p:cNvPr id="10" name="内容占位符 9"/>
          <p:cNvSpPr>
            <a:spLocks noGrp="1"/>
          </p:cNvSpPr>
          <p:nvPr>
            <p:ph idx="1"/>
          </p:nvPr>
        </p:nvSpPr>
        <p:spPr/>
        <p:txBody>
          <a:bodyPr/>
          <a:lstStyle/>
          <a:p>
            <a:endParaRPr lang="zh-CN" altLang="en-US"/>
          </a:p>
        </p:txBody>
      </p:sp>
      <p:sp>
        <p:nvSpPr>
          <p:cNvPr id="11" name="日期占位符 10"/>
          <p:cNvSpPr>
            <a:spLocks noGrp="1"/>
          </p:cNvSpPr>
          <p:nvPr>
            <p:ph type="dt" sz="half" idx="10"/>
          </p:nvPr>
        </p:nvSpPr>
        <p:spPr/>
        <p:txBody>
          <a:bodyPr/>
          <a:lstStyle/>
          <a:p>
            <a:fld id="{1826D89C-71B4-44E9-91E7-0CB0A71BBBEE}" type="datetime2">
              <a:rPr lang="zh-CN" altLang="en-US" smtClean="0"/>
              <a:t>2022年10月9日</a:t>
            </a:fld>
            <a:endParaRPr lang="zh-CN" altLang="en-US"/>
          </a:p>
        </p:txBody>
      </p:sp>
      <p:sp>
        <p:nvSpPr>
          <p:cNvPr id="12" name="灯片编号占位符 11"/>
          <p:cNvSpPr>
            <a:spLocks noGrp="1"/>
          </p:cNvSpPr>
          <p:nvPr>
            <p:ph type="sldNum" sz="quarter" idx="12"/>
          </p:nvPr>
        </p:nvSpPr>
        <p:spPr/>
        <p:txBody>
          <a:bodyPr/>
          <a:lstStyle/>
          <a:p>
            <a:fld id="{200843F5-C4FD-41B7-B76F-DAD3F27C3440}" type="slidenum">
              <a:rPr lang="zh-CN" altLang="en-US" smtClean="0"/>
              <a:t>6</a:t>
            </a:fld>
            <a:endParaRPr lang="zh-CN" altLang="en-US"/>
          </a:p>
        </p:txBody>
      </p:sp>
      <p:graphicFrame>
        <p:nvGraphicFramePr>
          <p:cNvPr id="7" name="表格 6"/>
          <p:cNvGraphicFramePr>
            <a:graphicFrameLocks noGrp="1"/>
          </p:cNvGraphicFramePr>
          <p:nvPr>
            <p:extLst>
              <p:ext uri="{D42A27DB-BD31-4B8C-83A1-F6EECF244321}">
                <p14:modId xmlns:p14="http://schemas.microsoft.com/office/powerpoint/2010/main" val="588301399"/>
              </p:ext>
            </p:extLst>
          </p:nvPr>
        </p:nvGraphicFramePr>
        <p:xfrm>
          <a:off x="628650" y="1390651"/>
          <a:ext cx="11220450" cy="5108593"/>
        </p:xfrm>
        <a:graphic>
          <a:graphicData uri="http://schemas.openxmlformats.org/drawingml/2006/table">
            <a:tbl>
              <a:tblPr firstRow="1" bandRow="1">
                <a:tableStyleId>{5C22544A-7EE6-4342-B048-85BDC9FD1C3A}</a:tableStyleId>
              </a:tblPr>
              <a:tblGrid>
                <a:gridCol w="2762250">
                  <a:extLst>
                    <a:ext uri="{9D8B030D-6E8A-4147-A177-3AD203B41FA5}">
                      <a16:colId xmlns:a16="http://schemas.microsoft.com/office/drawing/2014/main" val="1191247220"/>
                    </a:ext>
                  </a:extLst>
                </a:gridCol>
                <a:gridCol w="8458200">
                  <a:extLst>
                    <a:ext uri="{9D8B030D-6E8A-4147-A177-3AD203B41FA5}">
                      <a16:colId xmlns:a16="http://schemas.microsoft.com/office/drawing/2014/main" val="1283501725"/>
                    </a:ext>
                  </a:extLst>
                </a:gridCol>
              </a:tblGrid>
              <a:tr h="359357">
                <a:tc>
                  <a:txBody>
                    <a:bodyPr/>
                    <a:lstStyle/>
                    <a:p>
                      <a:r>
                        <a:rPr lang="zh-CN" altLang="en-US" dirty="0" smtClean="0"/>
                        <a:t>项目</a:t>
                      </a:r>
                      <a:endParaRPr lang="zh-CN" altLang="en-US" dirty="0"/>
                    </a:p>
                  </a:txBody>
                  <a:tcPr/>
                </a:tc>
                <a:tc>
                  <a:txBody>
                    <a:bodyPr/>
                    <a:lstStyle/>
                    <a:p>
                      <a:r>
                        <a:rPr lang="zh-CN" altLang="en-US" dirty="0" smtClean="0"/>
                        <a:t>规定条件</a:t>
                      </a:r>
                      <a:endParaRPr lang="zh-CN" altLang="en-US" dirty="0"/>
                    </a:p>
                  </a:txBody>
                  <a:tcPr/>
                </a:tc>
                <a:extLst>
                  <a:ext uri="{0D108BD9-81ED-4DB2-BD59-A6C34878D82A}">
                    <a16:rowId xmlns:a16="http://schemas.microsoft.com/office/drawing/2014/main" val="315002241"/>
                  </a:ext>
                </a:extLst>
              </a:tr>
              <a:tr h="901056">
                <a:tc>
                  <a:txBody>
                    <a:bodyPr/>
                    <a:lstStyle/>
                    <a:p>
                      <a:r>
                        <a:rPr lang="zh-CN" altLang="en-US" dirty="0" smtClean="0"/>
                        <a:t>自主知识产权</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在中国境内（不含港、澳、台地区）注册的企业，近三年内通过自主研发、受让、受赠、并购等方式，或通过</a:t>
                      </a:r>
                      <a:r>
                        <a:rPr lang="en-US" altLang="zh-CN" dirty="0" smtClean="0"/>
                        <a:t>5</a:t>
                      </a:r>
                      <a:r>
                        <a:rPr lang="zh-CN" altLang="en-US" dirty="0" smtClean="0"/>
                        <a:t>年以上的独占许可方式，对其主要产品（服务）的核心技术拥有自主知识产权</a:t>
                      </a:r>
                    </a:p>
                  </a:txBody>
                  <a:tcPr/>
                </a:tc>
                <a:extLst>
                  <a:ext uri="{0D108BD9-81ED-4DB2-BD59-A6C34878D82A}">
                    <a16:rowId xmlns:a16="http://schemas.microsoft.com/office/drawing/2014/main" val="2807780783"/>
                  </a:ext>
                </a:extLst>
              </a:tr>
              <a:tr h="485185">
                <a:tc>
                  <a:txBody>
                    <a:bodyPr/>
                    <a:lstStyle/>
                    <a:p>
                      <a:r>
                        <a:rPr lang="zh-CN" altLang="en-US" dirty="0" smtClean="0"/>
                        <a:t>产品（服务）</a:t>
                      </a:r>
                      <a:endParaRPr lang="zh-CN" altLang="en-US" dirty="0"/>
                    </a:p>
                  </a:txBody>
                  <a:tcPr/>
                </a:tc>
                <a:tc>
                  <a:txBody>
                    <a:bodyPr/>
                    <a:lstStyle/>
                    <a:p>
                      <a:r>
                        <a:rPr lang="zh-CN" altLang="en-US" dirty="0" smtClean="0"/>
                        <a:t>产品（服务）属于</a:t>
                      </a:r>
                      <a:r>
                        <a:rPr lang="en-US" altLang="zh-CN" dirty="0" smtClean="0"/>
                        <a:t>《</a:t>
                      </a:r>
                      <a:r>
                        <a:rPr lang="zh-CN" altLang="en-US" dirty="0" smtClean="0"/>
                        <a:t>国家重点支持的高新技术领域</a:t>
                      </a:r>
                      <a:r>
                        <a:rPr lang="en-US" altLang="zh-CN" dirty="0" smtClean="0"/>
                        <a:t>》</a:t>
                      </a:r>
                      <a:r>
                        <a:rPr lang="zh-CN" altLang="en-US" dirty="0" smtClean="0"/>
                        <a:t>规定的范围</a:t>
                      </a:r>
                      <a:endParaRPr lang="zh-CN" altLang="en-US" dirty="0"/>
                    </a:p>
                  </a:txBody>
                  <a:tcPr/>
                </a:tc>
                <a:extLst>
                  <a:ext uri="{0D108BD9-81ED-4DB2-BD59-A6C34878D82A}">
                    <a16:rowId xmlns:a16="http://schemas.microsoft.com/office/drawing/2014/main" val="391636318"/>
                  </a:ext>
                </a:extLst>
              </a:tr>
              <a:tr h="693120">
                <a:tc>
                  <a:txBody>
                    <a:bodyPr/>
                    <a:lstStyle/>
                    <a:p>
                      <a:r>
                        <a:rPr lang="zh-CN" altLang="en-US" dirty="0" smtClean="0"/>
                        <a:t>人员</a:t>
                      </a:r>
                      <a:endParaRPr lang="zh-CN" altLang="en-US" dirty="0"/>
                    </a:p>
                  </a:txBody>
                  <a:tcPr/>
                </a:tc>
                <a:tc>
                  <a:txBody>
                    <a:bodyPr/>
                    <a:lstStyle/>
                    <a:p>
                      <a:r>
                        <a:rPr lang="zh-CN" altLang="en-US" dirty="0" smtClean="0"/>
                        <a:t>具有大学专科以上学历的科技人员占企业当年职工总数的</a:t>
                      </a:r>
                      <a:r>
                        <a:rPr lang="en-US" altLang="zh-CN" dirty="0" smtClean="0"/>
                        <a:t>30%</a:t>
                      </a:r>
                      <a:r>
                        <a:rPr lang="zh-CN" altLang="en-US" dirty="0" smtClean="0"/>
                        <a:t>以上，其中研发人员占企业当年职工总数的</a:t>
                      </a:r>
                      <a:r>
                        <a:rPr lang="en-US" altLang="zh-CN" dirty="0" smtClean="0"/>
                        <a:t>10%</a:t>
                      </a:r>
                      <a:r>
                        <a:rPr lang="zh-CN" altLang="en-US" dirty="0" smtClean="0"/>
                        <a:t>以上</a:t>
                      </a:r>
                      <a:endParaRPr lang="zh-CN" altLang="en-US" dirty="0"/>
                    </a:p>
                  </a:txBody>
                  <a:tcPr/>
                </a:tc>
                <a:extLst>
                  <a:ext uri="{0D108BD9-81ED-4DB2-BD59-A6C34878D82A}">
                    <a16:rowId xmlns:a16="http://schemas.microsoft.com/office/drawing/2014/main" val="1567642555"/>
                  </a:ext>
                </a:extLst>
              </a:tr>
              <a:tr h="1316928">
                <a:tc>
                  <a:txBody>
                    <a:bodyPr/>
                    <a:lstStyle/>
                    <a:p>
                      <a:r>
                        <a:rPr lang="zh-CN" altLang="en-US" dirty="0" smtClean="0"/>
                        <a:t>研究开发费用总额占销售收入总额的比例</a:t>
                      </a:r>
                      <a:endParaRPr lang="zh-CN" altLang="en-US" dirty="0"/>
                    </a:p>
                  </a:txBody>
                  <a:tcPr/>
                </a:tc>
                <a:tc>
                  <a:txBody>
                    <a:bodyPr/>
                    <a:lstStyle/>
                    <a:p>
                      <a:pPr lvl="0"/>
                      <a:r>
                        <a:rPr lang="zh-CN" altLang="en-US" dirty="0" smtClean="0"/>
                        <a:t>近三个会计年度的研究开发费用总额占销售收入总额的比例符合如下要求：</a:t>
                      </a:r>
                      <a:endParaRPr lang="en-US" altLang="zh-CN" dirty="0" smtClean="0"/>
                    </a:p>
                    <a:p>
                      <a:pPr lvl="0"/>
                      <a:r>
                        <a:rPr lang="en-US" altLang="zh-CN" dirty="0" smtClean="0"/>
                        <a:t>1. </a:t>
                      </a:r>
                      <a:r>
                        <a:rPr lang="zh-CN" altLang="en-US" dirty="0" smtClean="0"/>
                        <a:t>最近一年销售收入小于</a:t>
                      </a:r>
                      <a:r>
                        <a:rPr lang="en-US" altLang="zh-CN" dirty="0" smtClean="0"/>
                        <a:t>5,000</a:t>
                      </a:r>
                      <a:r>
                        <a:rPr lang="zh-CN" altLang="en-US" dirty="0" smtClean="0"/>
                        <a:t>万元的企业，比例不低于</a:t>
                      </a:r>
                      <a:r>
                        <a:rPr lang="en-US" altLang="zh-CN" dirty="0" smtClean="0"/>
                        <a:t>6%</a:t>
                      </a:r>
                      <a:r>
                        <a:rPr lang="zh-CN" altLang="en-US" dirty="0" smtClean="0"/>
                        <a:t>；</a:t>
                      </a:r>
                      <a:endParaRPr lang="en-US" altLang="zh-CN" dirty="0" smtClean="0"/>
                    </a:p>
                    <a:p>
                      <a:pPr lvl="0"/>
                      <a:r>
                        <a:rPr lang="en-US" altLang="zh-CN" dirty="0" smtClean="0"/>
                        <a:t>2. </a:t>
                      </a:r>
                      <a:r>
                        <a:rPr lang="zh-CN" altLang="en-US" dirty="0" smtClean="0"/>
                        <a:t>最近一年销售收入在</a:t>
                      </a:r>
                      <a:r>
                        <a:rPr lang="en-US" altLang="zh-CN" dirty="0" smtClean="0"/>
                        <a:t>5,000</a:t>
                      </a:r>
                      <a:r>
                        <a:rPr lang="zh-CN" altLang="en-US" dirty="0" smtClean="0"/>
                        <a:t>万元至</a:t>
                      </a:r>
                      <a:r>
                        <a:rPr lang="en-US" altLang="zh-CN" dirty="0" smtClean="0"/>
                        <a:t>20,000</a:t>
                      </a:r>
                      <a:r>
                        <a:rPr lang="zh-CN" altLang="en-US" dirty="0" smtClean="0"/>
                        <a:t>万元的企业，比例不低于</a:t>
                      </a:r>
                      <a:r>
                        <a:rPr lang="en-US" altLang="zh-CN" dirty="0" smtClean="0"/>
                        <a:t>4%</a:t>
                      </a:r>
                      <a:r>
                        <a:rPr lang="zh-CN" altLang="en-US" dirty="0" smtClean="0"/>
                        <a:t>；</a:t>
                      </a:r>
                      <a:endParaRPr lang="en-US" altLang="zh-CN" dirty="0" smtClean="0"/>
                    </a:p>
                    <a:p>
                      <a:pPr lvl="0"/>
                      <a:r>
                        <a:rPr lang="en-US" altLang="zh-CN" dirty="0" smtClean="0"/>
                        <a:t>3. </a:t>
                      </a:r>
                      <a:r>
                        <a:rPr lang="zh-CN" altLang="en-US" dirty="0" smtClean="0"/>
                        <a:t>最近一年销售收入在</a:t>
                      </a:r>
                      <a:r>
                        <a:rPr lang="en-US" altLang="zh-CN" dirty="0" smtClean="0"/>
                        <a:t>20,000</a:t>
                      </a:r>
                      <a:r>
                        <a:rPr lang="zh-CN" altLang="en-US" dirty="0" smtClean="0"/>
                        <a:t>万元以上的企业，比例不低于</a:t>
                      </a:r>
                      <a:r>
                        <a:rPr lang="en-US" altLang="zh-CN" dirty="0" smtClean="0"/>
                        <a:t>3%</a:t>
                      </a:r>
                      <a:r>
                        <a:rPr lang="zh-CN" altLang="en-US" dirty="0" smtClean="0"/>
                        <a:t>。</a:t>
                      </a:r>
                    </a:p>
                  </a:txBody>
                  <a:tcPr/>
                </a:tc>
                <a:extLst>
                  <a:ext uri="{0D108BD9-81ED-4DB2-BD59-A6C34878D82A}">
                    <a16:rowId xmlns:a16="http://schemas.microsoft.com/office/drawing/2014/main" val="1872475290"/>
                  </a:ext>
                </a:extLst>
              </a:tr>
              <a:tr h="485185">
                <a:tc>
                  <a:txBody>
                    <a:bodyPr/>
                    <a:lstStyle/>
                    <a:p>
                      <a:r>
                        <a:rPr lang="zh-CN" altLang="en-US" dirty="0" smtClean="0"/>
                        <a:t>高新技术产品（服务）收入</a:t>
                      </a:r>
                      <a:endParaRPr lang="zh-CN" altLang="en-US" dirty="0"/>
                    </a:p>
                  </a:txBody>
                  <a:tcPr/>
                </a:tc>
                <a:tc>
                  <a:txBody>
                    <a:bodyPr/>
                    <a:lstStyle/>
                    <a:p>
                      <a:r>
                        <a:rPr lang="zh-CN" altLang="en-US" dirty="0" smtClean="0"/>
                        <a:t>高新技术产品（服务）收入占企业当年总收入的</a:t>
                      </a:r>
                      <a:r>
                        <a:rPr lang="en-US" altLang="zh-CN" dirty="0" smtClean="0"/>
                        <a:t>60%</a:t>
                      </a:r>
                      <a:r>
                        <a:rPr lang="zh-CN" altLang="en-US" dirty="0" smtClean="0"/>
                        <a:t>以上</a:t>
                      </a:r>
                      <a:endParaRPr lang="zh-CN" altLang="en-US" dirty="0"/>
                    </a:p>
                  </a:txBody>
                  <a:tcPr/>
                </a:tc>
                <a:extLst>
                  <a:ext uri="{0D108BD9-81ED-4DB2-BD59-A6C34878D82A}">
                    <a16:rowId xmlns:a16="http://schemas.microsoft.com/office/drawing/2014/main" val="1603067777"/>
                  </a:ext>
                </a:extLst>
              </a:tr>
              <a:tr h="693120">
                <a:tc>
                  <a:txBody>
                    <a:bodyPr/>
                    <a:lstStyle/>
                    <a:p>
                      <a:r>
                        <a:rPr lang="zh-CN" altLang="en-US" dirty="0" smtClean="0"/>
                        <a:t>其他</a:t>
                      </a:r>
                      <a:endParaRPr lang="zh-CN" altLang="en-US" dirty="0"/>
                    </a:p>
                  </a:txBody>
                  <a:tcPr/>
                </a:tc>
                <a:tc>
                  <a:txBody>
                    <a:bodyPr/>
                    <a:lstStyle/>
                    <a:p>
                      <a:r>
                        <a:rPr lang="zh-CN" altLang="en-US" dirty="0" smtClean="0"/>
                        <a:t>企业研究开发组织管理水平、科技成果转化能力、自主知识产权数量、销售与总资产成长性等指标符合</a:t>
                      </a:r>
                      <a:r>
                        <a:rPr lang="en-US" altLang="zh-CN" dirty="0" smtClean="0"/>
                        <a:t>《</a:t>
                      </a:r>
                      <a:r>
                        <a:rPr lang="zh-CN" altLang="en-US" dirty="0" smtClean="0"/>
                        <a:t>高新技术企业认定管理工作指引</a:t>
                      </a:r>
                      <a:r>
                        <a:rPr lang="en-US" altLang="zh-CN" dirty="0" smtClean="0"/>
                        <a:t>》</a:t>
                      </a:r>
                      <a:r>
                        <a:rPr lang="zh-CN" altLang="en-US" dirty="0" smtClean="0"/>
                        <a:t>的要求</a:t>
                      </a:r>
                      <a:endParaRPr lang="zh-CN" altLang="en-US" dirty="0"/>
                    </a:p>
                  </a:txBody>
                  <a:tcPr/>
                </a:tc>
                <a:extLst>
                  <a:ext uri="{0D108BD9-81ED-4DB2-BD59-A6C34878D82A}">
                    <a16:rowId xmlns:a16="http://schemas.microsoft.com/office/drawing/2014/main" val="172901991"/>
                  </a:ext>
                </a:extLst>
              </a:tr>
            </a:tbl>
          </a:graphicData>
        </a:graphic>
      </p:graphicFrame>
    </p:spTree>
    <p:extLst>
      <p:ext uri="{BB962C8B-B14F-4D97-AF65-F5344CB8AC3E}">
        <p14:creationId xmlns:p14="http://schemas.microsoft.com/office/powerpoint/2010/main" val="353429880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具体评定方法</a:t>
            </a:r>
          </a:p>
        </p:txBody>
      </p:sp>
      <p:sp>
        <p:nvSpPr>
          <p:cNvPr id="3" name="文本占位符 2"/>
          <p:cNvSpPr>
            <a:spLocks noGrp="1"/>
          </p:cNvSpPr>
          <p:nvPr>
            <p:ph type="body" idx="1"/>
          </p:nvPr>
        </p:nvSpPr>
        <p:spPr/>
        <p:txBody>
          <a:bodyPr/>
          <a:lstStyle/>
          <a:p>
            <a:pPr lvl="0"/>
            <a:r>
              <a:rPr lang="zh-CN" altLang="en-US" smtClean="0"/>
              <a:t>企业技术创新能力（专家打分）</a:t>
            </a:r>
          </a:p>
          <a:p>
            <a:pPr lvl="1"/>
            <a:r>
              <a:rPr lang="zh-CN" altLang="en-US" smtClean="0"/>
              <a:t>企业研究开发组织管理水平（</a:t>
            </a:r>
            <a:r>
              <a:rPr lang="en-US" altLang="zh-CN" smtClean="0"/>
              <a:t>20</a:t>
            </a:r>
            <a:r>
              <a:rPr lang="zh-CN" altLang="en-US" smtClean="0"/>
              <a:t>分）、科技成果转化能力（</a:t>
            </a:r>
            <a:r>
              <a:rPr lang="en-US" altLang="zh-CN" smtClean="0"/>
              <a:t>30</a:t>
            </a:r>
            <a:r>
              <a:rPr lang="zh-CN" altLang="en-US" smtClean="0"/>
              <a:t>分）、自主知识产权数量（</a:t>
            </a:r>
            <a:r>
              <a:rPr lang="en-US" altLang="zh-CN" smtClean="0"/>
              <a:t>30</a:t>
            </a:r>
            <a:r>
              <a:rPr lang="zh-CN" altLang="en-US" smtClean="0"/>
              <a:t>分）、销售与总资产成长性（</a:t>
            </a:r>
            <a:r>
              <a:rPr lang="en-US" altLang="zh-CN" smtClean="0"/>
              <a:t>20</a:t>
            </a:r>
            <a:r>
              <a:rPr lang="zh-CN" altLang="en-US" smtClean="0"/>
              <a:t>分）四项指标采取加权记分方式，满分</a:t>
            </a:r>
            <a:r>
              <a:rPr lang="en-US" altLang="zh-CN" smtClean="0"/>
              <a:t>100</a:t>
            </a:r>
            <a:r>
              <a:rPr lang="zh-CN" altLang="en-US" smtClean="0"/>
              <a:t>分，得分须在</a:t>
            </a:r>
            <a:r>
              <a:rPr lang="en-US" altLang="zh-CN" smtClean="0"/>
              <a:t>70</a:t>
            </a:r>
            <a:r>
              <a:rPr lang="zh-CN" altLang="en-US" smtClean="0"/>
              <a:t>分以上。</a:t>
            </a:r>
          </a:p>
          <a:p>
            <a:pPr lvl="1"/>
            <a:r>
              <a:rPr lang="zh-CN" altLang="en-US" smtClean="0"/>
              <a:t>企业不拥有核心自主知识产权的四项总分值为零。</a:t>
            </a:r>
          </a:p>
          <a:p>
            <a:pPr lvl="1"/>
            <a:r>
              <a:rPr lang="zh-CN" altLang="en-US" smtClean="0"/>
              <a:t>每项指标分数比例分为六个档次</a:t>
            </a:r>
            <a:r>
              <a:rPr lang="en-US" altLang="zh-CN" smtClean="0"/>
              <a:t>(A,B,C,D,E,F)</a:t>
            </a:r>
            <a:r>
              <a:rPr lang="zh-CN" altLang="en-US" smtClean="0"/>
              <a:t>，分别是：</a:t>
            </a:r>
            <a:r>
              <a:rPr lang="en-US" altLang="zh-CN" smtClean="0"/>
              <a:t>0.80-1.0</a:t>
            </a:r>
            <a:r>
              <a:rPr lang="zh-CN" altLang="en-US" smtClean="0"/>
              <a:t>、</a:t>
            </a:r>
            <a:r>
              <a:rPr lang="en-US" altLang="zh-CN" smtClean="0"/>
              <a:t>0.60-0.79</a:t>
            </a:r>
            <a:r>
              <a:rPr lang="zh-CN" altLang="en-US" smtClean="0"/>
              <a:t>、</a:t>
            </a:r>
            <a:r>
              <a:rPr lang="en-US" altLang="zh-CN" smtClean="0"/>
              <a:t>0.40-0.59</a:t>
            </a:r>
            <a:r>
              <a:rPr lang="zh-CN" altLang="en-US" smtClean="0"/>
              <a:t>、</a:t>
            </a:r>
            <a:r>
              <a:rPr lang="en-US" altLang="zh-CN" smtClean="0"/>
              <a:t>0.20-0.39</a:t>
            </a:r>
            <a:r>
              <a:rPr lang="zh-CN" altLang="en-US" smtClean="0"/>
              <a:t>、</a:t>
            </a:r>
            <a:r>
              <a:rPr lang="en-US" altLang="zh-CN" smtClean="0"/>
              <a:t>0.01-0.19</a:t>
            </a:r>
            <a:r>
              <a:rPr lang="zh-CN" altLang="en-US" smtClean="0"/>
              <a:t>、</a:t>
            </a:r>
            <a:r>
              <a:rPr lang="en-US" altLang="zh-CN" smtClean="0"/>
              <a:t>0</a:t>
            </a:r>
          </a:p>
          <a:p>
            <a:pPr lvl="1"/>
            <a:r>
              <a:rPr lang="zh-CN" altLang="en-US" smtClean="0"/>
              <a:t>各项指标实际得分＝本指标赋值</a:t>
            </a:r>
            <a:r>
              <a:rPr lang="en-US" altLang="zh-CN" smtClean="0"/>
              <a:t>×</a:t>
            </a:r>
            <a:r>
              <a:rPr lang="zh-CN" altLang="en-US" smtClean="0"/>
              <a:t>分数比例</a:t>
            </a:r>
          </a:p>
          <a:p>
            <a:pPr lvl="1"/>
            <a:r>
              <a:rPr lang="zh-CN" altLang="en-US" smtClean="0"/>
              <a:t>评价指标以申报之日前</a:t>
            </a:r>
            <a:r>
              <a:rPr lang="en-US" altLang="zh-CN" smtClean="0"/>
              <a:t>3</a:t>
            </a:r>
            <a:r>
              <a:rPr lang="zh-CN" altLang="en-US" smtClean="0"/>
              <a:t>个年度的数据为准。如企业创办期不足</a:t>
            </a:r>
            <a:r>
              <a:rPr lang="en-US" altLang="zh-CN" smtClean="0"/>
              <a:t>3</a:t>
            </a:r>
            <a:r>
              <a:rPr lang="zh-CN" altLang="en-US" smtClean="0"/>
              <a:t>年，以实际经营年限为准。</a:t>
            </a:r>
          </a:p>
        </p:txBody>
      </p:sp>
      <p:sp>
        <p:nvSpPr>
          <p:cNvPr id="6" name="日期占位符 5"/>
          <p:cNvSpPr>
            <a:spLocks noGrp="1"/>
          </p:cNvSpPr>
          <p:nvPr>
            <p:ph type="dt" sz="half" idx="10"/>
          </p:nvPr>
        </p:nvSpPr>
        <p:spPr/>
        <p:txBody>
          <a:bodyPr/>
          <a:lstStyle/>
          <a:p>
            <a:fld id="{247A8069-EE7E-41EE-87A5-E2257F94E71B}" type="datetime2">
              <a:rPr lang="zh-CN" altLang="en-US" smtClean="0"/>
              <a:t>2022年10月9日</a:t>
            </a:fld>
            <a:endParaRPr lang="zh-CN" altLang="en-US"/>
          </a:p>
        </p:txBody>
      </p:sp>
      <p:sp>
        <p:nvSpPr>
          <p:cNvPr id="7" name="灯片编号占位符 6"/>
          <p:cNvSpPr>
            <a:spLocks noGrp="1"/>
          </p:cNvSpPr>
          <p:nvPr>
            <p:ph type="sldNum" sz="quarter" idx="12"/>
          </p:nvPr>
        </p:nvSpPr>
        <p:spPr/>
        <p:txBody>
          <a:bodyPr/>
          <a:lstStyle/>
          <a:p>
            <a:fld id="{8B956499-6944-425D-9BB8-83C62C18DB14}" type="slidenum">
              <a:rPr lang="zh-CN" altLang="en-US" smtClean="0"/>
              <a:t>7</a:t>
            </a:fld>
            <a:endParaRPr lang="zh-CN" altLang="en-US"/>
          </a:p>
        </p:txBody>
      </p:sp>
    </p:spTree>
    <p:extLst>
      <p:ext uri="{BB962C8B-B14F-4D97-AF65-F5344CB8AC3E}">
        <p14:creationId xmlns:p14="http://schemas.microsoft.com/office/powerpoint/2010/main" val="4164353858"/>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具体评定方法</a:t>
            </a:r>
          </a:p>
        </p:txBody>
      </p:sp>
      <p:sp>
        <p:nvSpPr>
          <p:cNvPr id="3" name="文本占位符 2"/>
          <p:cNvSpPr>
            <a:spLocks noGrp="1"/>
          </p:cNvSpPr>
          <p:nvPr>
            <p:ph type="body" idx="1"/>
          </p:nvPr>
        </p:nvSpPr>
        <p:spPr/>
        <p:txBody>
          <a:bodyPr/>
          <a:lstStyle/>
          <a:p>
            <a:pPr lvl="0"/>
            <a:r>
              <a:rPr lang="zh-CN" altLang="en-US" smtClean="0"/>
              <a:t>（</a:t>
            </a:r>
            <a:r>
              <a:rPr lang="en-US" altLang="zh-CN" smtClean="0"/>
              <a:t>1</a:t>
            </a:r>
            <a:r>
              <a:rPr lang="zh-CN" altLang="en-US" smtClean="0"/>
              <a:t>）核心自主知识产权</a:t>
            </a:r>
          </a:p>
          <a:p>
            <a:pPr lvl="1"/>
            <a:r>
              <a:rPr lang="zh-CN" altLang="en-US" smtClean="0"/>
              <a:t>企业拥有的专利、软件著作权、集成电路布图设计专有权、植物新品种等核心自主知识产权的数量（不含商标）。</a:t>
            </a:r>
          </a:p>
          <a:p>
            <a:pPr lvl="0"/>
            <a:r>
              <a:rPr lang="zh-CN" altLang="en-US" smtClean="0"/>
              <a:t>说明：</a:t>
            </a:r>
          </a:p>
          <a:p>
            <a:pPr lvl="1"/>
            <a:r>
              <a:rPr lang="zh-CN" altLang="en-US" smtClean="0"/>
              <a:t>同一知识产权在国内外的申请、登记只记为一项。</a:t>
            </a:r>
          </a:p>
          <a:p>
            <a:pPr lvl="1"/>
            <a:r>
              <a:rPr lang="zh-CN" altLang="en-US" smtClean="0"/>
              <a:t>若知识产权的创造人与知识产权权属人分离，在计算知识产权数量时可分别计算。</a:t>
            </a:r>
          </a:p>
          <a:p>
            <a:pPr lvl="1"/>
            <a:r>
              <a:rPr lang="zh-CN" altLang="en-US" smtClean="0"/>
              <a:t>专利以获得授权证书为准。</a:t>
            </a:r>
          </a:p>
        </p:txBody>
      </p:sp>
      <p:sp>
        <p:nvSpPr>
          <p:cNvPr id="6" name="日期占位符 5"/>
          <p:cNvSpPr>
            <a:spLocks noGrp="1"/>
          </p:cNvSpPr>
          <p:nvPr>
            <p:ph type="dt" sz="half" idx="10"/>
          </p:nvPr>
        </p:nvSpPr>
        <p:spPr/>
        <p:txBody>
          <a:bodyPr/>
          <a:lstStyle/>
          <a:p>
            <a:fld id="{99410558-D002-41F0-80C8-EE1F8352AA0F}" type="datetime2">
              <a:rPr lang="zh-CN" altLang="en-US" smtClean="0"/>
              <a:t>2022年10月9日</a:t>
            </a:fld>
            <a:endParaRPr lang="zh-CN" altLang="en-US"/>
          </a:p>
        </p:txBody>
      </p:sp>
      <p:sp>
        <p:nvSpPr>
          <p:cNvPr id="7" name="灯片编号占位符 6"/>
          <p:cNvSpPr>
            <a:spLocks noGrp="1"/>
          </p:cNvSpPr>
          <p:nvPr>
            <p:ph type="sldNum" sz="quarter" idx="12"/>
          </p:nvPr>
        </p:nvSpPr>
        <p:spPr/>
        <p:txBody>
          <a:bodyPr/>
          <a:lstStyle/>
          <a:p>
            <a:fld id="{8B956499-6944-425D-9BB8-83C62C18DB14}" type="slidenum">
              <a:rPr lang="zh-CN" altLang="en-US" smtClean="0"/>
              <a:t>8</a:t>
            </a:fld>
            <a:endParaRPr lang="zh-CN" altLang="en-US"/>
          </a:p>
        </p:txBody>
      </p:sp>
    </p:spTree>
    <p:extLst>
      <p:ext uri="{BB962C8B-B14F-4D97-AF65-F5344CB8AC3E}">
        <p14:creationId xmlns:p14="http://schemas.microsoft.com/office/powerpoint/2010/main" val="1517944855"/>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具体评定方法</a:t>
            </a:r>
          </a:p>
        </p:txBody>
      </p:sp>
      <p:sp>
        <p:nvSpPr>
          <p:cNvPr id="3" name="文本占位符 2"/>
          <p:cNvSpPr>
            <a:spLocks noGrp="1"/>
          </p:cNvSpPr>
          <p:nvPr>
            <p:ph type="body" idx="1"/>
          </p:nvPr>
        </p:nvSpPr>
        <p:spPr/>
        <p:txBody>
          <a:bodyPr/>
          <a:lstStyle/>
          <a:p>
            <a:pPr lvl="0"/>
            <a:r>
              <a:rPr lang="zh-CN" altLang="en-US" smtClean="0"/>
              <a:t>（</a:t>
            </a:r>
            <a:r>
              <a:rPr lang="en-US" altLang="zh-CN" smtClean="0"/>
              <a:t>2</a:t>
            </a:r>
            <a:r>
              <a:rPr lang="zh-CN" altLang="en-US" smtClean="0"/>
              <a:t>）科技成果转化能力</a:t>
            </a:r>
          </a:p>
          <a:p>
            <a:pPr lvl="1"/>
            <a:r>
              <a:rPr lang="zh-CN" altLang="en-US" smtClean="0"/>
              <a:t>最近</a:t>
            </a:r>
            <a:r>
              <a:rPr lang="en-US" altLang="zh-CN" smtClean="0"/>
              <a:t>3</a:t>
            </a:r>
            <a:r>
              <a:rPr lang="zh-CN" altLang="en-US" smtClean="0"/>
              <a:t>年内科技成果转化的年平均数。</a:t>
            </a:r>
          </a:p>
          <a:p>
            <a:pPr lvl="0"/>
            <a:r>
              <a:rPr lang="zh-CN" altLang="en-US" smtClean="0"/>
              <a:t>说明：</a:t>
            </a:r>
          </a:p>
          <a:p>
            <a:pPr lvl="1"/>
            <a:r>
              <a:rPr lang="zh-CN" altLang="en-US" smtClean="0"/>
              <a:t>同一科学技术成果在国内外的申请只记为一项。</a:t>
            </a:r>
          </a:p>
          <a:p>
            <a:pPr lvl="1"/>
            <a:r>
              <a:rPr lang="zh-CN" altLang="en-US" smtClean="0"/>
              <a:t>购入或出售技术成果以正式技术合同为准。</a:t>
            </a:r>
          </a:p>
          <a:p>
            <a:pPr lvl="1"/>
            <a:r>
              <a:rPr lang="zh-CN" altLang="en-US" smtClean="0"/>
              <a:t>此项评价可计入技术诀窍，但价值较小的不算在内。从产品或工艺的改进表现来评价技术诀窍等的价值大小（企业可以不披露具体内容）。</a:t>
            </a:r>
          </a:p>
          <a:p>
            <a:pPr lvl="1"/>
            <a:r>
              <a:rPr lang="zh-CN" altLang="en-US" smtClean="0"/>
              <a:t>技术成果转化的判断依据是：企业以技术成果形成产品、服务、样品、样机等。</a:t>
            </a:r>
          </a:p>
        </p:txBody>
      </p:sp>
      <p:sp>
        <p:nvSpPr>
          <p:cNvPr id="6" name="日期占位符 5"/>
          <p:cNvSpPr>
            <a:spLocks noGrp="1"/>
          </p:cNvSpPr>
          <p:nvPr>
            <p:ph type="dt" sz="half" idx="10"/>
          </p:nvPr>
        </p:nvSpPr>
        <p:spPr/>
        <p:txBody>
          <a:bodyPr/>
          <a:lstStyle/>
          <a:p>
            <a:fld id="{1CAF7D12-760E-4813-ACD7-19F32137347C}" type="datetime2">
              <a:rPr lang="zh-CN" altLang="en-US" smtClean="0"/>
              <a:t>2022年10月9日</a:t>
            </a:fld>
            <a:endParaRPr lang="zh-CN" altLang="en-US"/>
          </a:p>
        </p:txBody>
      </p:sp>
      <p:sp>
        <p:nvSpPr>
          <p:cNvPr id="7" name="灯片编号占位符 6"/>
          <p:cNvSpPr>
            <a:spLocks noGrp="1"/>
          </p:cNvSpPr>
          <p:nvPr>
            <p:ph type="sldNum" sz="quarter" idx="12"/>
          </p:nvPr>
        </p:nvSpPr>
        <p:spPr/>
        <p:txBody>
          <a:bodyPr/>
          <a:lstStyle/>
          <a:p>
            <a:fld id="{8B956499-6944-425D-9BB8-83C62C18DB14}" type="slidenum">
              <a:rPr lang="zh-CN" altLang="en-US" smtClean="0"/>
              <a:t>9</a:t>
            </a:fld>
            <a:endParaRPr lang="zh-CN" altLang="en-US"/>
          </a:p>
        </p:txBody>
      </p:sp>
    </p:spTree>
    <p:extLst>
      <p:ext uri="{BB962C8B-B14F-4D97-AF65-F5344CB8AC3E}">
        <p14:creationId xmlns:p14="http://schemas.microsoft.com/office/powerpoint/2010/main" val="751765084"/>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具体评定方法</a:t>
            </a:r>
          </a:p>
        </p:txBody>
      </p:sp>
      <p:sp>
        <p:nvSpPr>
          <p:cNvPr id="3" name="文本占位符 2"/>
          <p:cNvSpPr>
            <a:spLocks noGrp="1"/>
          </p:cNvSpPr>
          <p:nvPr>
            <p:ph type="body" idx="1"/>
          </p:nvPr>
        </p:nvSpPr>
        <p:spPr/>
        <p:txBody>
          <a:bodyPr/>
          <a:lstStyle/>
          <a:p>
            <a:pPr lvl="0"/>
            <a:r>
              <a:rPr lang="zh-CN" altLang="en-US" smtClean="0"/>
              <a:t>（</a:t>
            </a:r>
            <a:r>
              <a:rPr lang="en-US" altLang="zh-CN" smtClean="0"/>
              <a:t>3</a:t>
            </a:r>
            <a:r>
              <a:rPr lang="zh-CN" altLang="en-US" smtClean="0"/>
              <a:t>）研究开发的组织管理水平</a:t>
            </a:r>
          </a:p>
          <a:p>
            <a:pPr lvl="1"/>
            <a:r>
              <a:rPr lang="zh-CN" altLang="en-US" smtClean="0"/>
              <a:t>（</a:t>
            </a:r>
            <a:r>
              <a:rPr lang="en-US" altLang="zh-CN" smtClean="0"/>
              <a:t>1</a:t>
            </a:r>
            <a:r>
              <a:rPr lang="zh-CN" altLang="en-US" smtClean="0"/>
              <a:t>）制定了研究开发项目立项报告</a:t>
            </a:r>
            <a:r>
              <a:rPr lang="en-US" altLang="zh-CN" smtClean="0"/>
              <a:t>;</a:t>
            </a:r>
          </a:p>
          <a:p>
            <a:pPr lvl="1"/>
            <a:r>
              <a:rPr lang="zh-CN" altLang="en-US" smtClean="0"/>
              <a:t>（</a:t>
            </a:r>
            <a:r>
              <a:rPr lang="en-US" altLang="zh-CN" smtClean="0"/>
              <a:t>2</a:t>
            </a:r>
            <a:r>
              <a:rPr lang="zh-CN" altLang="en-US" smtClean="0"/>
              <a:t>）建立了研发投入核算体系；</a:t>
            </a:r>
          </a:p>
          <a:p>
            <a:pPr lvl="1"/>
            <a:r>
              <a:rPr lang="zh-CN" altLang="en-US" smtClean="0"/>
              <a:t>（</a:t>
            </a:r>
            <a:r>
              <a:rPr lang="en-US" altLang="zh-CN" smtClean="0"/>
              <a:t>3</a:t>
            </a:r>
            <a:r>
              <a:rPr lang="zh-CN" altLang="en-US" smtClean="0"/>
              <a:t>）开展了产学研合作的研发活动；</a:t>
            </a:r>
          </a:p>
          <a:p>
            <a:pPr lvl="1"/>
            <a:r>
              <a:rPr lang="zh-CN" altLang="en-US" smtClean="0"/>
              <a:t>（</a:t>
            </a:r>
            <a:r>
              <a:rPr lang="en-US" altLang="zh-CN" smtClean="0"/>
              <a:t>4</a:t>
            </a:r>
            <a:r>
              <a:rPr lang="zh-CN" altLang="en-US" smtClean="0"/>
              <a:t>）设有研发机构并具备相应的设施和设备；</a:t>
            </a:r>
          </a:p>
          <a:p>
            <a:pPr lvl="1"/>
            <a:r>
              <a:rPr lang="zh-CN" altLang="en-US" smtClean="0"/>
              <a:t>（</a:t>
            </a:r>
            <a:r>
              <a:rPr lang="en-US" altLang="zh-CN" smtClean="0"/>
              <a:t>5</a:t>
            </a:r>
            <a:r>
              <a:rPr lang="zh-CN" altLang="en-US" smtClean="0"/>
              <a:t>）建立了研发人员的绩效考核奖励制度。</a:t>
            </a:r>
          </a:p>
        </p:txBody>
      </p:sp>
      <p:sp>
        <p:nvSpPr>
          <p:cNvPr id="6" name="日期占位符 5"/>
          <p:cNvSpPr>
            <a:spLocks noGrp="1"/>
          </p:cNvSpPr>
          <p:nvPr>
            <p:ph type="dt" sz="half" idx="10"/>
          </p:nvPr>
        </p:nvSpPr>
        <p:spPr/>
        <p:txBody>
          <a:bodyPr/>
          <a:lstStyle/>
          <a:p>
            <a:fld id="{221DE9D4-FBE5-4552-82EE-E6E9221BF1C5}" type="datetime2">
              <a:rPr lang="zh-CN" altLang="en-US" smtClean="0"/>
              <a:t>2022年10月9日</a:t>
            </a:fld>
            <a:endParaRPr lang="zh-CN" altLang="en-US"/>
          </a:p>
        </p:txBody>
      </p:sp>
      <p:sp>
        <p:nvSpPr>
          <p:cNvPr id="7" name="灯片编号占位符 6"/>
          <p:cNvSpPr>
            <a:spLocks noGrp="1"/>
          </p:cNvSpPr>
          <p:nvPr>
            <p:ph type="sldNum" sz="quarter" idx="12"/>
          </p:nvPr>
        </p:nvSpPr>
        <p:spPr/>
        <p:txBody>
          <a:bodyPr/>
          <a:lstStyle/>
          <a:p>
            <a:fld id="{8B956499-6944-425D-9BB8-83C62C18DB14}" type="slidenum">
              <a:rPr lang="zh-CN" altLang="en-US" smtClean="0"/>
              <a:t>10</a:t>
            </a:fld>
            <a:endParaRPr lang="zh-CN" altLang="en-US"/>
          </a:p>
        </p:txBody>
      </p:sp>
    </p:spTree>
    <p:extLst>
      <p:ext uri="{BB962C8B-B14F-4D97-AF65-F5344CB8AC3E}">
        <p14:creationId xmlns:p14="http://schemas.microsoft.com/office/powerpoint/2010/main" val="1178366965"/>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具体评定方法</a:t>
            </a:r>
          </a:p>
        </p:txBody>
      </p:sp>
      <p:pic>
        <p:nvPicPr>
          <p:cNvPr id="7" name="内容占位符 6"/>
          <p:cNvPicPr>
            <a:picLocks noGrp="1" noChangeAspect="1"/>
          </p:cNvPicPr>
          <p:nvPr>
            <p:ph idx="1"/>
          </p:nvPr>
        </p:nvPicPr>
        <p:blipFill>
          <a:blip r:embed="rId2">
            <a:duotone>
              <a:prstClr val="black"/>
              <a:srgbClr val="D9C3A5">
                <a:tint val="50000"/>
                <a:satMod val="180000"/>
              </a:srgbClr>
            </a:duotone>
            <a:extLst>
              <a:ext uri="{28A0092B-C50C-407E-A947-70E740481C1C}">
                <a14:useLocalDpi xmlns:a14="http://schemas.microsoft.com/office/drawing/2010/main" val="0"/>
              </a:ext>
            </a:extLst>
          </a:blip>
          <a:stretch>
            <a:fillRect/>
          </a:stretch>
        </p:blipFill>
        <p:spPr>
          <a:xfrm>
            <a:off x="6061075" y="2532063"/>
            <a:ext cx="3971925" cy="165735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3" name="文本占位符 2"/>
          <p:cNvSpPr>
            <a:spLocks noGrp="1"/>
          </p:cNvSpPr>
          <p:nvPr>
            <p:ph type="body" sz="half" idx="2"/>
          </p:nvPr>
        </p:nvSpPr>
        <p:spPr/>
        <p:txBody>
          <a:bodyPr/>
          <a:lstStyle/>
          <a:p>
            <a:pPr lvl="0"/>
            <a:r>
              <a:rPr lang="zh-CN" altLang="en-US" smtClean="0"/>
              <a:t>（</a:t>
            </a:r>
            <a:r>
              <a:rPr lang="en-US" altLang="zh-CN" smtClean="0"/>
              <a:t>4</a:t>
            </a:r>
            <a:r>
              <a:rPr lang="zh-CN" altLang="en-US" smtClean="0"/>
              <a:t>）总资产和销售额成长性指标</a:t>
            </a:r>
          </a:p>
          <a:p>
            <a:pPr lvl="1"/>
            <a:r>
              <a:rPr lang="zh-CN" altLang="en-US" smtClean="0"/>
              <a:t>此项指标是对反映企业经营绩效的总资产增长率和销售增长率的评价（各占</a:t>
            </a:r>
            <a:r>
              <a:rPr lang="en-US" altLang="zh-CN" smtClean="0"/>
              <a:t>10</a:t>
            </a:r>
            <a:r>
              <a:rPr lang="zh-CN" altLang="en-US" smtClean="0"/>
              <a:t>分），具体计算方法如下 ：</a:t>
            </a:r>
          </a:p>
          <a:p>
            <a:pPr lvl="1"/>
            <a:r>
              <a:rPr lang="zh-CN" altLang="en-US" smtClean="0"/>
              <a:t>总资产增长率＝</a:t>
            </a:r>
            <a:r>
              <a:rPr lang="en-US" altLang="zh-CN" smtClean="0"/>
              <a:t>1/2</a:t>
            </a:r>
            <a:r>
              <a:rPr lang="zh-CN" altLang="en-US" smtClean="0"/>
              <a:t>（第二年总资产额</a:t>
            </a:r>
            <a:r>
              <a:rPr lang="en-US" altLang="zh-CN" smtClean="0"/>
              <a:t>÷</a:t>
            </a:r>
            <a:r>
              <a:rPr lang="zh-CN" altLang="en-US" smtClean="0"/>
              <a:t>第一年总资产额＋第三年总资产额</a:t>
            </a:r>
            <a:r>
              <a:rPr lang="en-US" altLang="zh-CN" smtClean="0"/>
              <a:t>÷</a:t>
            </a:r>
            <a:r>
              <a:rPr lang="zh-CN" altLang="en-US" smtClean="0"/>
              <a:t>第二年总资产额）－</a:t>
            </a:r>
            <a:r>
              <a:rPr lang="en-US" altLang="zh-CN" smtClean="0"/>
              <a:t>1</a:t>
            </a:r>
            <a:r>
              <a:rPr lang="zh-CN" altLang="en-US" smtClean="0"/>
              <a:t>。</a:t>
            </a:r>
          </a:p>
          <a:p>
            <a:pPr lvl="1"/>
            <a:r>
              <a:rPr lang="zh-CN" altLang="en-US" smtClean="0"/>
              <a:t>销售增长率＝</a:t>
            </a:r>
            <a:r>
              <a:rPr lang="en-US" altLang="zh-CN" smtClean="0"/>
              <a:t>1/2</a:t>
            </a:r>
            <a:r>
              <a:rPr lang="zh-CN" altLang="en-US" smtClean="0"/>
              <a:t>（第二年销售额</a:t>
            </a:r>
            <a:r>
              <a:rPr lang="en-US" altLang="zh-CN" smtClean="0"/>
              <a:t>÷</a:t>
            </a:r>
            <a:r>
              <a:rPr lang="zh-CN" altLang="en-US" smtClean="0"/>
              <a:t>第一年销售额＋第三年销售额</a:t>
            </a:r>
            <a:r>
              <a:rPr lang="en-US" altLang="zh-CN" smtClean="0"/>
              <a:t>÷</a:t>
            </a:r>
            <a:r>
              <a:rPr lang="zh-CN" altLang="en-US" smtClean="0"/>
              <a:t>第二年销售额）－</a:t>
            </a:r>
            <a:r>
              <a:rPr lang="en-US" altLang="zh-CN" smtClean="0"/>
              <a:t>1</a:t>
            </a:r>
            <a:r>
              <a:rPr lang="zh-CN" altLang="en-US" smtClean="0"/>
              <a:t>；</a:t>
            </a:r>
          </a:p>
        </p:txBody>
      </p:sp>
      <p:sp>
        <p:nvSpPr>
          <p:cNvPr id="8" name="日期占位符 7"/>
          <p:cNvSpPr>
            <a:spLocks noGrp="1"/>
          </p:cNvSpPr>
          <p:nvPr>
            <p:ph type="dt" sz="half" idx="10"/>
          </p:nvPr>
        </p:nvSpPr>
        <p:spPr/>
        <p:txBody>
          <a:bodyPr/>
          <a:lstStyle/>
          <a:p>
            <a:fld id="{73E91AA3-7125-4957-96E9-C4EAF4C8696E}" type="datetime2">
              <a:rPr lang="zh-CN" altLang="en-US" smtClean="0"/>
              <a:t>2022年10月9日</a:t>
            </a:fld>
            <a:endParaRPr lang="zh-CN" altLang="en-US"/>
          </a:p>
        </p:txBody>
      </p:sp>
      <p:sp>
        <p:nvSpPr>
          <p:cNvPr id="9" name="灯片编号占位符 8"/>
          <p:cNvSpPr>
            <a:spLocks noGrp="1"/>
          </p:cNvSpPr>
          <p:nvPr>
            <p:ph type="sldNum" sz="quarter" idx="12"/>
          </p:nvPr>
        </p:nvSpPr>
        <p:spPr/>
        <p:txBody>
          <a:bodyPr/>
          <a:lstStyle/>
          <a:p>
            <a:fld id="{200843F5-C4FD-41B7-B76F-DAD3F27C3440}" type="slidenum">
              <a:rPr lang="zh-CN" altLang="en-US" smtClean="0"/>
              <a:t>11</a:t>
            </a:fld>
            <a:endParaRPr lang="zh-CN" altLang="en-US"/>
          </a:p>
        </p:txBody>
      </p:sp>
    </p:spTree>
    <p:extLst>
      <p:ext uri="{BB962C8B-B14F-4D97-AF65-F5344CB8AC3E}">
        <p14:creationId xmlns:p14="http://schemas.microsoft.com/office/powerpoint/2010/main" val="3880731393"/>
      </p:ext>
    </p:extLst>
  </p:cSld>
  <p:clrMapOvr>
    <a:masterClrMapping/>
  </p:clrMapOvr>
  <p:transition spd="slow">
    <p:push dir="u"/>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申报流程</a:t>
            </a:r>
          </a:p>
        </p:txBody>
      </p:sp>
      <p:sp>
        <p:nvSpPr>
          <p:cNvPr id="3" name="文本占位符 2"/>
          <p:cNvSpPr>
            <a:spLocks noGrp="1"/>
          </p:cNvSpPr>
          <p:nvPr>
            <p:ph type="body" idx="1"/>
          </p:nvPr>
        </p:nvSpPr>
        <p:spPr/>
        <p:txBody>
          <a:bodyPr/>
          <a:lstStyle/>
          <a:p>
            <a:pPr lvl="0"/>
            <a:r>
              <a:rPr lang="zh-CN" altLang="en-US" smtClean="0"/>
              <a:t>企业</a:t>
            </a:r>
          </a:p>
          <a:p>
            <a:pPr lvl="0"/>
            <a:r>
              <a:rPr lang="zh-CN" altLang="en-US" smtClean="0"/>
              <a:t>市科委</a:t>
            </a:r>
          </a:p>
          <a:p>
            <a:pPr lvl="0"/>
            <a:r>
              <a:rPr lang="zh-CN" altLang="en-US" smtClean="0"/>
              <a:t>组织专家核查</a:t>
            </a:r>
          </a:p>
          <a:p>
            <a:pPr lvl="0"/>
            <a:r>
              <a:rPr lang="zh-CN" altLang="en-US" smtClean="0"/>
              <a:t>市级认定小组核准</a:t>
            </a:r>
          </a:p>
          <a:p>
            <a:pPr lvl="0"/>
            <a:r>
              <a:rPr lang="zh-CN" altLang="en-US" smtClean="0"/>
              <a:t>报全国认定小组</a:t>
            </a:r>
          </a:p>
          <a:p>
            <a:pPr lvl="0"/>
            <a:r>
              <a:rPr lang="zh-CN" altLang="en-US" smtClean="0"/>
              <a:t>证书</a:t>
            </a:r>
          </a:p>
        </p:txBody>
      </p:sp>
      <p:sp>
        <p:nvSpPr>
          <p:cNvPr id="6" name="日期占位符 5"/>
          <p:cNvSpPr>
            <a:spLocks noGrp="1"/>
          </p:cNvSpPr>
          <p:nvPr>
            <p:ph type="dt" sz="half" idx="10"/>
          </p:nvPr>
        </p:nvSpPr>
        <p:spPr/>
        <p:txBody>
          <a:bodyPr/>
          <a:lstStyle/>
          <a:p>
            <a:fld id="{F3895000-CAB8-4B1A-B6BB-6361829621A6}" type="datetime2">
              <a:rPr lang="zh-CN" altLang="en-US" smtClean="0"/>
              <a:t>2022年10月9日</a:t>
            </a:fld>
            <a:endParaRPr lang="zh-CN" altLang="en-US"/>
          </a:p>
        </p:txBody>
      </p:sp>
      <p:sp>
        <p:nvSpPr>
          <p:cNvPr id="7" name="灯片编号占位符 6"/>
          <p:cNvSpPr>
            <a:spLocks noGrp="1"/>
          </p:cNvSpPr>
          <p:nvPr>
            <p:ph type="sldNum" sz="quarter" idx="12"/>
          </p:nvPr>
        </p:nvSpPr>
        <p:spPr/>
        <p:txBody>
          <a:bodyPr/>
          <a:lstStyle/>
          <a:p>
            <a:fld id="{8B956499-6944-425D-9BB8-83C62C18DB14}" type="slidenum">
              <a:rPr lang="zh-CN" altLang="en-US" smtClean="0"/>
              <a:t>12</a:t>
            </a:fld>
            <a:endParaRPr lang="zh-CN" altLang="en-US"/>
          </a:p>
        </p:txBody>
      </p:sp>
    </p:spTree>
    <p:extLst>
      <p:ext uri="{BB962C8B-B14F-4D97-AF65-F5344CB8AC3E}">
        <p14:creationId xmlns:p14="http://schemas.microsoft.com/office/powerpoint/2010/main" val="1415115434"/>
      </p:ext>
    </p:extLst>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二、技术先进型服务企业认定</a:t>
            </a:r>
          </a:p>
        </p:txBody>
      </p:sp>
      <p:sp>
        <p:nvSpPr>
          <p:cNvPr id="3" name="文本占位符 2"/>
          <p:cNvSpPr>
            <a:spLocks noGrp="1"/>
          </p:cNvSpPr>
          <p:nvPr>
            <p:ph type="body" idx="1"/>
          </p:nvPr>
        </p:nvSpPr>
        <p:spPr/>
        <p:txBody>
          <a:bodyPr/>
          <a:lstStyle/>
          <a:p>
            <a:pPr lvl="0"/>
            <a:r>
              <a:rPr lang="zh-CN" altLang="en-US" smtClean="0"/>
              <a:t>政策依据</a:t>
            </a:r>
          </a:p>
          <a:p>
            <a:pPr lvl="0"/>
            <a:r>
              <a:rPr lang="zh-CN" altLang="en-US" smtClean="0"/>
              <a:t>技术先进型服务业务认定范围</a:t>
            </a:r>
          </a:p>
          <a:p>
            <a:pPr lvl="0"/>
            <a:r>
              <a:rPr lang="zh-CN" altLang="en-US" smtClean="0"/>
              <a:t>申请条件</a:t>
            </a:r>
          </a:p>
          <a:p>
            <a:pPr lvl="0"/>
            <a:r>
              <a:rPr lang="zh-CN" altLang="en-US" smtClean="0"/>
              <a:t>提交材料</a:t>
            </a:r>
          </a:p>
          <a:p>
            <a:pPr lvl="0"/>
            <a:r>
              <a:rPr lang="zh-CN" altLang="en-US" smtClean="0"/>
              <a:t>申报程序</a:t>
            </a:r>
          </a:p>
        </p:txBody>
      </p:sp>
      <p:sp>
        <p:nvSpPr>
          <p:cNvPr id="6" name="日期占位符 5"/>
          <p:cNvSpPr>
            <a:spLocks noGrp="1"/>
          </p:cNvSpPr>
          <p:nvPr>
            <p:ph type="dt" sz="half" idx="10"/>
          </p:nvPr>
        </p:nvSpPr>
        <p:spPr/>
        <p:txBody>
          <a:bodyPr/>
          <a:lstStyle/>
          <a:p>
            <a:fld id="{D135A45C-E614-43F1-982F-8C261F65CA5D}" type="datetime2">
              <a:rPr lang="zh-CN" altLang="en-US" smtClean="0"/>
              <a:t>2022年10月9日</a:t>
            </a:fld>
            <a:endParaRPr lang="zh-CN" altLang="en-US"/>
          </a:p>
        </p:txBody>
      </p:sp>
      <p:sp>
        <p:nvSpPr>
          <p:cNvPr id="7" name="灯片编号占位符 6"/>
          <p:cNvSpPr>
            <a:spLocks noGrp="1"/>
          </p:cNvSpPr>
          <p:nvPr>
            <p:ph type="sldNum" sz="quarter" idx="12"/>
          </p:nvPr>
        </p:nvSpPr>
        <p:spPr/>
        <p:txBody>
          <a:bodyPr/>
          <a:lstStyle/>
          <a:p>
            <a:fld id="{8B956499-6944-425D-9BB8-83C62C18DB14}" type="slidenum">
              <a:rPr lang="zh-CN" altLang="en-US" smtClean="0"/>
              <a:t>13</a:t>
            </a:fld>
            <a:endParaRPr lang="zh-CN" altLang="en-US"/>
          </a:p>
        </p:txBody>
      </p:sp>
    </p:spTree>
    <p:extLst>
      <p:ext uri="{BB962C8B-B14F-4D97-AF65-F5344CB8AC3E}">
        <p14:creationId xmlns:p14="http://schemas.microsoft.com/office/powerpoint/2010/main" val="2579056098"/>
      </p:ext>
    </p:extLst>
  </p:cSld>
  <p:clrMapOvr>
    <a:masterClrMapping/>
  </p:clrMapOvr>
  <p:transition spd="slow">
    <p:wip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政策依据：</a:t>
            </a:r>
          </a:p>
        </p:txBody>
      </p:sp>
      <p:sp>
        <p:nvSpPr>
          <p:cNvPr id="3" name="文本占位符 2"/>
          <p:cNvSpPr>
            <a:spLocks noGrp="1"/>
          </p:cNvSpPr>
          <p:nvPr>
            <p:ph type="body" idx="1"/>
          </p:nvPr>
        </p:nvSpPr>
        <p:spPr/>
        <p:txBody>
          <a:bodyPr/>
          <a:lstStyle/>
          <a:p>
            <a:pPr lvl="0"/>
            <a:r>
              <a:rPr lang="zh-CN" altLang="en-US" smtClean="0"/>
              <a:t>财政部、国家税务总局、商务部、科技部、国家发展改革委</a:t>
            </a:r>
            <a:r>
              <a:rPr lang="en-US" altLang="zh-CN" smtClean="0"/>
              <a:t>《</a:t>
            </a:r>
            <a:r>
              <a:rPr lang="zh-CN" altLang="en-US" smtClean="0"/>
              <a:t>关于技术先进型服务企业有关企业所得税政策问题的通知</a:t>
            </a:r>
            <a:r>
              <a:rPr lang="en-US" altLang="zh-CN" smtClean="0"/>
              <a:t>》</a:t>
            </a:r>
            <a:r>
              <a:rPr lang="zh-CN" altLang="en-US" smtClean="0"/>
              <a:t>（财税</a:t>
            </a:r>
            <a:r>
              <a:rPr lang="en-US" altLang="zh-CN" smtClean="0"/>
              <a:t>[2010]65</a:t>
            </a:r>
            <a:r>
              <a:rPr lang="zh-CN" altLang="en-US" smtClean="0"/>
              <a:t>号）</a:t>
            </a:r>
          </a:p>
          <a:p>
            <a:pPr lvl="0"/>
            <a:r>
              <a:rPr lang="zh-CN" altLang="en-US" smtClean="0"/>
              <a:t>北京市技术先进型服务企业认定管理办法（</a:t>
            </a:r>
            <a:r>
              <a:rPr lang="en-US" altLang="zh-CN" smtClean="0"/>
              <a:t>2012</a:t>
            </a:r>
            <a:r>
              <a:rPr lang="zh-CN" altLang="en-US" smtClean="0"/>
              <a:t>年修订）（京科发</a:t>
            </a:r>
            <a:r>
              <a:rPr lang="en-US" altLang="zh-CN" smtClean="0"/>
              <a:t>〔2012〕166</a:t>
            </a:r>
            <a:r>
              <a:rPr lang="zh-CN" altLang="en-US" smtClean="0"/>
              <a:t>号）</a:t>
            </a:r>
          </a:p>
        </p:txBody>
      </p:sp>
      <p:sp>
        <p:nvSpPr>
          <p:cNvPr id="6" name="日期占位符 5"/>
          <p:cNvSpPr>
            <a:spLocks noGrp="1"/>
          </p:cNvSpPr>
          <p:nvPr>
            <p:ph type="dt" sz="half" idx="10"/>
          </p:nvPr>
        </p:nvSpPr>
        <p:spPr/>
        <p:txBody>
          <a:bodyPr/>
          <a:lstStyle/>
          <a:p>
            <a:fld id="{F74AC510-75D9-46B0-972A-8BA1297FCAE8}" type="datetime2">
              <a:rPr lang="zh-CN" altLang="en-US" smtClean="0"/>
              <a:t>2022年10月9日</a:t>
            </a:fld>
            <a:endParaRPr lang="zh-CN" altLang="en-US"/>
          </a:p>
        </p:txBody>
      </p:sp>
      <p:sp>
        <p:nvSpPr>
          <p:cNvPr id="7" name="灯片编号占位符 6"/>
          <p:cNvSpPr>
            <a:spLocks noGrp="1"/>
          </p:cNvSpPr>
          <p:nvPr>
            <p:ph type="sldNum" sz="quarter" idx="12"/>
          </p:nvPr>
        </p:nvSpPr>
        <p:spPr/>
        <p:txBody>
          <a:bodyPr/>
          <a:lstStyle/>
          <a:p>
            <a:fld id="{8B956499-6944-425D-9BB8-83C62C18DB14}" type="slidenum">
              <a:rPr lang="zh-CN" altLang="en-US" smtClean="0"/>
              <a:t>14</a:t>
            </a:fld>
            <a:endParaRPr lang="zh-CN" altLang="en-US"/>
          </a:p>
        </p:txBody>
      </p:sp>
    </p:spTree>
    <p:extLst>
      <p:ext uri="{BB962C8B-B14F-4D97-AF65-F5344CB8AC3E}">
        <p14:creationId xmlns:p14="http://schemas.microsoft.com/office/powerpoint/2010/main" val="2909450685"/>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smtClean="0"/>
              <a:t>（一）技术先进型服务企业可享受的优惠政策：</a:t>
            </a:r>
          </a:p>
        </p:txBody>
      </p:sp>
      <p:sp>
        <p:nvSpPr>
          <p:cNvPr id="3" name="文本占位符 2"/>
          <p:cNvSpPr>
            <a:spLocks noGrp="1"/>
          </p:cNvSpPr>
          <p:nvPr>
            <p:ph type="body" idx="1"/>
          </p:nvPr>
        </p:nvSpPr>
        <p:spPr/>
        <p:txBody>
          <a:bodyPr/>
          <a:lstStyle/>
          <a:p>
            <a:pPr lvl="0"/>
            <a:r>
              <a:rPr lang="zh-CN" altLang="en-US" smtClean="0"/>
              <a:t>经认定的技术先进型服务企业，减按</a:t>
            </a:r>
            <a:r>
              <a:rPr lang="en-US" altLang="zh-CN" smtClean="0"/>
              <a:t>15%</a:t>
            </a:r>
            <a:r>
              <a:rPr lang="zh-CN" altLang="en-US" smtClean="0"/>
              <a:t>的税率征收企业所得税。</a:t>
            </a:r>
          </a:p>
          <a:p>
            <a:pPr lvl="0"/>
            <a:r>
              <a:rPr lang="zh-CN" altLang="en-US" smtClean="0"/>
              <a:t>经认定的技术先进型服务企业发生的职工教育经费支出，不超过工资薪金总额</a:t>
            </a:r>
            <a:r>
              <a:rPr lang="en-US" altLang="zh-CN" smtClean="0"/>
              <a:t>8%</a:t>
            </a:r>
            <a:r>
              <a:rPr lang="zh-CN" altLang="en-US" smtClean="0"/>
              <a:t>的部分，准予在计算应纳税所得额时扣除；超过部分，准予在以后纳税年度结转扣除。</a:t>
            </a:r>
          </a:p>
        </p:txBody>
      </p:sp>
      <p:sp>
        <p:nvSpPr>
          <p:cNvPr id="6" name="日期占位符 5"/>
          <p:cNvSpPr>
            <a:spLocks noGrp="1"/>
          </p:cNvSpPr>
          <p:nvPr>
            <p:ph type="dt" sz="half" idx="10"/>
          </p:nvPr>
        </p:nvSpPr>
        <p:spPr/>
        <p:txBody>
          <a:bodyPr/>
          <a:lstStyle/>
          <a:p>
            <a:fld id="{76620017-0128-475D-863F-8E96DF3D2D57}" type="datetime2">
              <a:rPr lang="zh-CN" altLang="en-US" smtClean="0"/>
              <a:t>2022年10月9日</a:t>
            </a:fld>
            <a:endParaRPr lang="zh-CN" altLang="en-US"/>
          </a:p>
        </p:txBody>
      </p:sp>
      <p:sp>
        <p:nvSpPr>
          <p:cNvPr id="7" name="灯片编号占位符 6"/>
          <p:cNvSpPr>
            <a:spLocks noGrp="1"/>
          </p:cNvSpPr>
          <p:nvPr>
            <p:ph type="sldNum" sz="quarter" idx="12"/>
          </p:nvPr>
        </p:nvSpPr>
        <p:spPr/>
        <p:txBody>
          <a:bodyPr/>
          <a:lstStyle/>
          <a:p>
            <a:fld id="{8B956499-6944-425D-9BB8-83C62C18DB14}" type="slidenum">
              <a:rPr lang="zh-CN" altLang="en-US" smtClean="0"/>
              <a:t>15</a:t>
            </a:fld>
            <a:endParaRPr lang="zh-CN" altLang="en-US"/>
          </a:p>
        </p:txBody>
      </p:sp>
    </p:spTree>
    <p:extLst>
      <p:ext uri="{BB962C8B-B14F-4D97-AF65-F5344CB8AC3E}">
        <p14:creationId xmlns:p14="http://schemas.microsoft.com/office/powerpoint/2010/main" val="1617377443"/>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（二）技术先进型服务业务认定范围</a:t>
            </a:r>
          </a:p>
        </p:txBody>
      </p:sp>
      <p:sp>
        <p:nvSpPr>
          <p:cNvPr id="3" name="文本占位符 2"/>
          <p:cNvSpPr>
            <a:spLocks noGrp="1"/>
          </p:cNvSpPr>
          <p:nvPr>
            <p:ph type="body" idx="1"/>
          </p:nvPr>
        </p:nvSpPr>
        <p:spPr/>
        <p:txBody>
          <a:bodyPr/>
          <a:lstStyle/>
          <a:p>
            <a:pPr lvl="0"/>
            <a:r>
              <a:rPr lang="en-US" altLang="zh-CN" smtClean="0"/>
              <a:t>1</a:t>
            </a:r>
            <a:r>
              <a:rPr lang="zh-CN" altLang="en-US" smtClean="0"/>
              <a:t>、信息技术外包服务（</a:t>
            </a:r>
            <a:r>
              <a:rPr lang="en-US" altLang="zh-CN" smtClean="0"/>
              <a:t>ITO</a:t>
            </a:r>
            <a:r>
              <a:rPr lang="zh-CN" altLang="en-US" smtClean="0"/>
              <a:t>）：包括软件研发及外包、信息技术研发服务外包和信息系统运营维护外包等。</a:t>
            </a:r>
          </a:p>
          <a:p>
            <a:pPr lvl="0"/>
            <a:r>
              <a:rPr lang="en-US" altLang="zh-CN" smtClean="0"/>
              <a:t>2</a:t>
            </a:r>
            <a:r>
              <a:rPr lang="zh-CN" altLang="en-US" smtClean="0"/>
              <a:t>、技术性业务流程外包服务（</a:t>
            </a:r>
            <a:r>
              <a:rPr lang="en-US" altLang="zh-CN" smtClean="0"/>
              <a:t>BPO</a:t>
            </a:r>
            <a:r>
              <a:rPr lang="zh-CN" altLang="en-US" smtClean="0"/>
              <a:t>）：包括企业业务流程设计服务、企业内部管理服务、企业运营服务和企业供应链服务等。</a:t>
            </a:r>
          </a:p>
          <a:p>
            <a:pPr lvl="0"/>
            <a:r>
              <a:rPr lang="en-US" altLang="zh-CN" smtClean="0"/>
              <a:t>3</a:t>
            </a:r>
            <a:r>
              <a:rPr lang="zh-CN" altLang="en-US" smtClean="0"/>
              <a:t>、技术性知识流程外包服务（</a:t>
            </a:r>
            <a:r>
              <a:rPr lang="en-US" altLang="zh-CN" smtClean="0"/>
              <a:t>KPO</a:t>
            </a:r>
            <a:r>
              <a:rPr lang="zh-CN" altLang="en-US" smtClean="0"/>
              <a:t>）。</a:t>
            </a:r>
          </a:p>
        </p:txBody>
      </p:sp>
      <p:sp>
        <p:nvSpPr>
          <p:cNvPr id="6" name="日期占位符 5"/>
          <p:cNvSpPr>
            <a:spLocks noGrp="1"/>
          </p:cNvSpPr>
          <p:nvPr>
            <p:ph type="dt" sz="half" idx="10"/>
          </p:nvPr>
        </p:nvSpPr>
        <p:spPr/>
        <p:txBody>
          <a:bodyPr/>
          <a:lstStyle/>
          <a:p>
            <a:fld id="{C81EA989-7C44-417D-A43A-E291A40C55EB}" type="datetime2">
              <a:rPr lang="zh-CN" altLang="en-US" smtClean="0"/>
              <a:t>2022年10月9日</a:t>
            </a:fld>
            <a:endParaRPr lang="zh-CN" altLang="en-US"/>
          </a:p>
        </p:txBody>
      </p:sp>
      <p:sp>
        <p:nvSpPr>
          <p:cNvPr id="7" name="灯片编号占位符 6"/>
          <p:cNvSpPr>
            <a:spLocks noGrp="1"/>
          </p:cNvSpPr>
          <p:nvPr>
            <p:ph type="sldNum" sz="quarter" idx="12"/>
          </p:nvPr>
        </p:nvSpPr>
        <p:spPr/>
        <p:txBody>
          <a:bodyPr/>
          <a:lstStyle/>
          <a:p>
            <a:fld id="{8B956499-6944-425D-9BB8-83C62C18DB14}" type="slidenum">
              <a:rPr lang="zh-CN" altLang="en-US" smtClean="0"/>
              <a:t>16</a:t>
            </a:fld>
            <a:endParaRPr lang="zh-CN" altLang="en-US"/>
          </a:p>
        </p:txBody>
      </p:sp>
    </p:spTree>
    <p:extLst>
      <p:ext uri="{BB962C8B-B14F-4D97-AF65-F5344CB8AC3E}">
        <p14:creationId xmlns:p14="http://schemas.microsoft.com/office/powerpoint/2010/main" val="3068958265"/>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（三）申请条件：</a:t>
            </a:r>
          </a:p>
        </p:txBody>
      </p:sp>
      <p:sp>
        <p:nvSpPr>
          <p:cNvPr id="3" name="文本占位符 2"/>
          <p:cNvSpPr>
            <a:spLocks noGrp="1"/>
          </p:cNvSpPr>
          <p:nvPr>
            <p:ph type="body" idx="1"/>
          </p:nvPr>
        </p:nvSpPr>
        <p:spPr/>
        <p:txBody>
          <a:bodyPr>
            <a:normAutofit fontScale="92500" lnSpcReduction="10000"/>
          </a:bodyPr>
          <a:lstStyle/>
          <a:p>
            <a:pPr lvl="0"/>
            <a:r>
              <a:rPr lang="zh-CN" altLang="en-US" smtClean="0"/>
              <a:t>企业申请认定技术先进型服务企业必须同时符合以下条件：</a:t>
            </a:r>
          </a:p>
          <a:p>
            <a:pPr lvl="1"/>
            <a:r>
              <a:rPr lang="en-US" altLang="zh-CN" smtClean="0"/>
              <a:t>1.</a:t>
            </a:r>
            <a:r>
              <a:rPr lang="zh-CN" altLang="en-US" smtClean="0"/>
              <a:t>从事</a:t>
            </a:r>
            <a:r>
              <a:rPr lang="en-US" altLang="zh-CN" smtClean="0"/>
              <a:t>《</a:t>
            </a:r>
            <a:r>
              <a:rPr lang="zh-CN" altLang="en-US" smtClean="0"/>
              <a:t>技术先进型服务业务认定范围（试行）</a:t>
            </a:r>
            <a:r>
              <a:rPr lang="en-US" altLang="zh-CN" smtClean="0"/>
              <a:t>》</a:t>
            </a:r>
            <a:r>
              <a:rPr lang="zh-CN" altLang="en-US" smtClean="0"/>
              <a:t>中的一种或多种技术先进型服务业务的企业，应采用先进技术或具备较强的研发能力。</a:t>
            </a:r>
          </a:p>
          <a:p>
            <a:pPr lvl="1"/>
            <a:r>
              <a:rPr lang="en-US" altLang="zh-CN" smtClean="0"/>
              <a:t>2.</a:t>
            </a:r>
            <a:r>
              <a:rPr lang="zh-CN" altLang="en-US" smtClean="0"/>
              <a:t>企业的注册地及生产经营地在北京市行政区域内。</a:t>
            </a:r>
          </a:p>
          <a:p>
            <a:pPr lvl="1"/>
            <a:r>
              <a:rPr lang="en-US" altLang="zh-CN" smtClean="0"/>
              <a:t>3.</a:t>
            </a:r>
            <a:r>
              <a:rPr lang="zh-CN" altLang="en-US" smtClean="0"/>
              <a:t>企业具有法人资格，近两年在进出口业务管理、财务管理、税收管理、外汇管理、海关管理等方面无违法行为</a:t>
            </a:r>
          </a:p>
          <a:p>
            <a:pPr lvl="1"/>
            <a:r>
              <a:rPr lang="en-US" altLang="zh-CN" smtClean="0"/>
              <a:t>4.</a:t>
            </a:r>
            <a:r>
              <a:rPr lang="zh-CN" altLang="en-US" smtClean="0"/>
              <a:t>具有大专以上学历的员工占企业职工总数的</a:t>
            </a:r>
            <a:r>
              <a:rPr lang="en-US" altLang="zh-CN" smtClean="0"/>
              <a:t>50%</a:t>
            </a:r>
            <a:r>
              <a:rPr lang="zh-CN" altLang="en-US" smtClean="0"/>
              <a:t>以上。</a:t>
            </a:r>
          </a:p>
          <a:p>
            <a:pPr lvl="1"/>
            <a:r>
              <a:rPr lang="en-US" altLang="zh-CN" smtClean="0"/>
              <a:t>5.</a:t>
            </a:r>
            <a:r>
              <a:rPr lang="zh-CN" altLang="en-US" smtClean="0"/>
              <a:t>从事</a:t>
            </a:r>
            <a:r>
              <a:rPr lang="en-US" altLang="zh-CN" smtClean="0"/>
              <a:t>《</a:t>
            </a:r>
            <a:r>
              <a:rPr lang="zh-CN" altLang="en-US" smtClean="0"/>
              <a:t>技术先进型服务业务认定范围（试行）</a:t>
            </a:r>
            <a:r>
              <a:rPr lang="en-US" altLang="zh-CN" smtClean="0"/>
              <a:t>》</a:t>
            </a:r>
            <a:r>
              <a:rPr lang="zh-CN" altLang="en-US" smtClean="0"/>
              <a:t>中的技术先进型服务业务取得的收入占企业当年总收入的</a:t>
            </a:r>
            <a:r>
              <a:rPr lang="en-US" altLang="zh-CN" smtClean="0"/>
              <a:t>50%</a:t>
            </a:r>
            <a:r>
              <a:rPr lang="zh-CN" altLang="en-US" smtClean="0"/>
              <a:t>以上。</a:t>
            </a:r>
          </a:p>
          <a:p>
            <a:pPr lvl="1"/>
            <a:r>
              <a:rPr lang="en-US" altLang="zh-CN" smtClean="0"/>
              <a:t>6.</a:t>
            </a:r>
            <a:r>
              <a:rPr lang="zh-CN" altLang="en-US" smtClean="0"/>
              <a:t>从事离岸服务外包业务取得的收入不低于企业当年总收入的</a:t>
            </a:r>
            <a:r>
              <a:rPr lang="en-US" altLang="zh-CN" smtClean="0"/>
              <a:t>50%</a:t>
            </a:r>
            <a:r>
              <a:rPr lang="zh-CN" altLang="en-US" smtClean="0"/>
              <a:t>。</a:t>
            </a:r>
          </a:p>
        </p:txBody>
      </p:sp>
      <p:sp>
        <p:nvSpPr>
          <p:cNvPr id="6" name="日期占位符 5"/>
          <p:cNvSpPr>
            <a:spLocks noGrp="1"/>
          </p:cNvSpPr>
          <p:nvPr>
            <p:ph type="dt" sz="half" idx="10"/>
          </p:nvPr>
        </p:nvSpPr>
        <p:spPr/>
        <p:txBody>
          <a:bodyPr/>
          <a:lstStyle/>
          <a:p>
            <a:fld id="{8ECEF71B-12B2-4D89-B5D1-FB6E8286CAE7}" type="datetime2">
              <a:rPr lang="zh-CN" altLang="en-US" smtClean="0"/>
              <a:t>2022年10月9日</a:t>
            </a:fld>
            <a:endParaRPr lang="zh-CN" altLang="en-US"/>
          </a:p>
        </p:txBody>
      </p:sp>
      <p:sp>
        <p:nvSpPr>
          <p:cNvPr id="7" name="灯片编号占位符 6"/>
          <p:cNvSpPr>
            <a:spLocks noGrp="1"/>
          </p:cNvSpPr>
          <p:nvPr>
            <p:ph type="sldNum" sz="quarter" idx="12"/>
          </p:nvPr>
        </p:nvSpPr>
        <p:spPr/>
        <p:txBody>
          <a:bodyPr/>
          <a:lstStyle/>
          <a:p>
            <a:fld id="{8B956499-6944-425D-9BB8-83C62C18DB14}" type="slidenum">
              <a:rPr lang="zh-CN" altLang="en-US" smtClean="0"/>
              <a:t>17</a:t>
            </a:fld>
            <a:endParaRPr lang="zh-CN" altLang="en-US"/>
          </a:p>
        </p:txBody>
      </p:sp>
    </p:spTree>
    <p:extLst>
      <p:ext uri="{BB962C8B-B14F-4D97-AF65-F5344CB8AC3E}">
        <p14:creationId xmlns:p14="http://schemas.microsoft.com/office/powerpoint/2010/main" val="2984875997"/>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提交材料</a:t>
            </a:r>
          </a:p>
        </p:txBody>
      </p:sp>
      <p:sp>
        <p:nvSpPr>
          <p:cNvPr id="3" name="文本占位符 2"/>
          <p:cNvSpPr>
            <a:spLocks noGrp="1"/>
          </p:cNvSpPr>
          <p:nvPr>
            <p:ph type="body" idx="1"/>
          </p:nvPr>
        </p:nvSpPr>
        <p:spPr/>
        <p:txBody>
          <a:bodyPr/>
          <a:lstStyle/>
          <a:p>
            <a:pPr lvl="0"/>
            <a:r>
              <a:rPr lang="zh-CN" altLang="en-US" smtClean="0"/>
              <a:t>除常规中要求的企业资质、知识产权、经营状况、人员构成、财务报表等材料外，要求：</a:t>
            </a:r>
          </a:p>
          <a:p>
            <a:pPr lvl="1"/>
            <a:r>
              <a:rPr lang="zh-CN" altLang="en-US" smtClean="0"/>
              <a:t>由北京技术市场管理办公室出具的企业上一会计年度技术先进型服务业务收入证明。</a:t>
            </a:r>
          </a:p>
          <a:p>
            <a:pPr lvl="1"/>
            <a:r>
              <a:rPr lang="zh-CN" altLang="en-US" smtClean="0"/>
              <a:t>由市商务委出具的企业上一会计年度国际（离岸）外包服务业务合同执行额登记证明。</a:t>
            </a:r>
          </a:p>
          <a:p>
            <a:pPr lvl="1"/>
            <a:r>
              <a:rPr lang="zh-CN" altLang="en-US" smtClean="0"/>
              <a:t>企业获开发能力和成熟度模型、开发能力和成熟度模型集成、</a:t>
            </a:r>
            <a:r>
              <a:rPr lang="en-US" altLang="zh-CN" smtClean="0"/>
              <a:t>IT</a:t>
            </a:r>
            <a:r>
              <a:rPr lang="zh-CN" altLang="en-US" smtClean="0"/>
              <a:t>服务管理、信息安全管理、服务提供商环境安全、</a:t>
            </a:r>
            <a:r>
              <a:rPr lang="en-US" altLang="zh-CN" smtClean="0"/>
              <a:t>ISO</a:t>
            </a:r>
            <a:r>
              <a:rPr lang="zh-CN" altLang="en-US" smtClean="0"/>
              <a:t>质量体系认证、人力资源能力认证等国际资质认证的证书（复印件）。</a:t>
            </a:r>
          </a:p>
        </p:txBody>
      </p:sp>
      <p:sp>
        <p:nvSpPr>
          <p:cNvPr id="6" name="日期占位符 5"/>
          <p:cNvSpPr>
            <a:spLocks noGrp="1"/>
          </p:cNvSpPr>
          <p:nvPr>
            <p:ph type="dt" sz="half" idx="10"/>
          </p:nvPr>
        </p:nvSpPr>
        <p:spPr/>
        <p:txBody>
          <a:bodyPr/>
          <a:lstStyle/>
          <a:p>
            <a:fld id="{33BCAEBC-6A6B-4DF0-8AD1-65186EDEEE54}" type="datetime2">
              <a:rPr lang="zh-CN" altLang="en-US" smtClean="0"/>
              <a:t>2022年10月9日</a:t>
            </a:fld>
            <a:endParaRPr lang="zh-CN" altLang="en-US"/>
          </a:p>
        </p:txBody>
      </p:sp>
      <p:sp>
        <p:nvSpPr>
          <p:cNvPr id="7" name="灯片编号占位符 6"/>
          <p:cNvSpPr>
            <a:spLocks noGrp="1"/>
          </p:cNvSpPr>
          <p:nvPr>
            <p:ph type="sldNum" sz="quarter" idx="12"/>
          </p:nvPr>
        </p:nvSpPr>
        <p:spPr/>
        <p:txBody>
          <a:bodyPr/>
          <a:lstStyle/>
          <a:p>
            <a:fld id="{8B956499-6944-425D-9BB8-83C62C18DB14}" type="slidenum">
              <a:rPr lang="zh-CN" altLang="en-US" smtClean="0"/>
              <a:t>18</a:t>
            </a:fld>
            <a:endParaRPr lang="zh-CN" altLang="en-US"/>
          </a:p>
        </p:txBody>
      </p:sp>
    </p:spTree>
    <p:extLst>
      <p:ext uri="{BB962C8B-B14F-4D97-AF65-F5344CB8AC3E}">
        <p14:creationId xmlns:p14="http://schemas.microsoft.com/office/powerpoint/2010/main" val="1698928486"/>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（四）申报程序：</a:t>
            </a:r>
          </a:p>
        </p:txBody>
      </p:sp>
      <p:sp>
        <p:nvSpPr>
          <p:cNvPr id="3" name="文本占位符 2"/>
          <p:cNvSpPr>
            <a:spLocks noGrp="1"/>
          </p:cNvSpPr>
          <p:nvPr>
            <p:ph type="body" idx="1"/>
          </p:nvPr>
        </p:nvSpPr>
        <p:spPr/>
        <p:txBody>
          <a:bodyPr/>
          <a:lstStyle/>
          <a:p>
            <a:pPr lvl="1"/>
            <a:r>
              <a:rPr lang="zh-CN" altLang="en-US" smtClean="0"/>
              <a:t>受理</a:t>
            </a:r>
          </a:p>
          <a:p>
            <a:pPr lvl="1"/>
            <a:r>
              <a:rPr lang="zh-CN" altLang="en-US" smtClean="0"/>
              <a:t>组织评审</a:t>
            </a:r>
          </a:p>
          <a:p>
            <a:pPr lvl="1"/>
            <a:r>
              <a:rPr lang="zh-CN" altLang="en-US" smtClean="0"/>
              <a:t>认定小组核准</a:t>
            </a:r>
          </a:p>
          <a:p>
            <a:pPr lvl="1"/>
            <a:r>
              <a:rPr lang="zh-CN" altLang="en-US" smtClean="0"/>
              <a:t>备案</a:t>
            </a:r>
          </a:p>
        </p:txBody>
      </p:sp>
      <p:sp>
        <p:nvSpPr>
          <p:cNvPr id="6" name="日期占位符 5"/>
          <p:cNvSpPr>
            <a:spLocks noGrp="1"/>
          </p:cNvSpPr>
          <p:nvPr>
            <p:ph type="dt" sz="half" idx="10"/>
          </p:nvPr>
        </p:nvSpPr>
        <p:spPr/>
        <p:txBody>
          <a:bodyPr/>
          <a:lstStyle/>
          <a:p>
            <a:fld id="{692D6A39-3871-4F27-934D-AF9149C7DE69}" type="datetime2">
              <a:rPr lang="zh-CN" altLang="en-US" smtClean="0"/>
              <a:t>2022年10月9日</a:t>
            </a:fld>
            <a:endParaRPr lang="zh-CN" altLang="en-US"/>
          </a:p>
        </p:txBody>
      </p:sp>
      <p:sp>
        <p:nvSpPr>
          <p:cNvPr id="7" name="灯片编号占位符 6"/>
          <p:cNvSpPr>
            <a:spLocks noGrp="1"/>
          </p:cNvSpPr>
          <p:nvPr>
            <p:ph type="sldNum" sz="quarter" idx="12"/>
          </p:nvPr>
        </p:nvSpPr>
        <p:spPr/>
        <p:txBody>
          <a:bodyPr/>
          <a:lstStyle/>
          <a:p>
            <a:fld id="{8B956499-6944-425D-9BB8-83C62C18DB14}" type="slidenum">
              <a:rPr lang="zh-CN" altLang="en-US" smtClean="0"/>
              <a:t>19</a:t>
            </a:fld>
            <a:endParaRPr lang="zh-CN" altLang="en-US"/>
          </a:p>
        </p:txBody>
      </p:sp>
    </p:spTree>
    <p:extLst>
      <p:ext uri="{BB962C8B-B14F-4D97-AF65-F5344CB8AC3E}">
        <p14:creationId xmlns:p14="http://schemas.microsoft.com/office/powerpoint/2010/main" val="3031842926"/>
      </p:ext>
    </p:extLst>
  </p:cSld>
  <p:clrMapOvr>
    <a:masterClrMapping/>
  </p:clrMapOvr>
  <p:transition spd="slow">
    <p:wip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三、研发经费加计扣除</a:t>
            </a:r>
          </a:p>
        </p:txBody>
      </p:sp>
      <p:sp>
        <p:nvSpPr>
          <p:cNvPr id="3" name="文本占位符 2"/>
          <p:cNvSpPr>
            <a:spLocks noGrp="1"/>
          </p:cNvSpPr>
          <p:nvPr>
            <p:ph type="body" idx="1"/>
          </p:nvPr>
        </p:nvSpPr>
        <p:spPr/>
        <p:txBody>
          <a:bodyPr/>
          <a:lstStyle/>
          <a:p>
            <a:pPr lvl="0"/>
            <a:r>
              <a:rPr lang="zh-CN" altLang="en-US" smtClean="0"/>
              <a:t>政策依据</a:t>
            </a:r>
          </a:p>
          <a:p>
            <a:pPr lvl="0"/>
            <a:r>
              <a:rPr lang="zh-CN" altLang="en-US" smtClean="0"/>
              <a:t>研发经费：八项归集内容</a:t>
            </a:r>
          </a:p>
          <a:p>
            <a:pPr lvl="0"/>
            <a:r>
              <a:rPr lang="zh-CN" altLang="en-US" smtClean="0"/>
              <a:t>执行流程</a:t>
            </a:r>
          </a:p>
          <a:p>
            <a:pPr lvl="0"/>
            <a:r>
              <a:rPr lang="zh-CN" altLang="en-US" smtClean="0"/>
              <a:t>常见问题</a:t>
            </a:r>
          </a:p>
        </p:txBody>
      </p:sp>
      <p:sp>
        <p:nvSpPr>
          <p:cNvPr id="6" name="日期占位符 5"/>
          <p:cNvSpPr>
            <a:spLocks noGrp="1"/>
          </p:cNvSpPr>
          <p:nvPr>
            <p:ph type="dt" sz="half" idx="10"/>
          </p:nvPr>
        </p:nvSpPr>
        <p:spPr/>
        <p:txBody>
          <a:bodyPr/>
          <a:lstStyle/>
          <a:p>
            <a:fld id="{BEE14BAC-6B5E-4FA4-AC7D-E506F4F24905}" type="datetime2">
              <a:rPr lang="zh-CN" altLang="en-US" smtClean="0"/>
              <a:t>2022年10月9日</a:t>
            </a:fld>
            <a:endParaRPr lang="zh-CN" altLang="en-US"/>
          </a:p>
        </p:txBody>
      </p:sp>
      <p:sp>
        <p:nvSpPr>
          <p:cNvPr id="7" name="灯片编号占位符 6"/>
          <p:cNvSpPr>
            <a:spLocks noGrp="1"/>
          </p:cNvSpPr>
          <p:nvPr>
            <p:ph type="sldNum" sz="quarter" idx="12"/>
          </p:nvPr>
        </p:nvSpPr>
        <p:spPr/>
        <p:txBody>
          <a:bodyPr/>
          <a:lstStyle/>
          <a:p>
            <a:fld id="{8B956499-6944-425D-9BB8-83C62C18DB14}" type="slidenum">
              <a:rPr lang="zh-CN" altLang="en-US" smtClean="0"/>
              <a:t>20</a:t>
            </a:fld>
            <a:endParaRPr lang="zh-CN" altLang="en-US"/>
          </a:p>
        </p:txBody>
      </p:sp>
    </p:spTree>
    <p:extLst>
      <p:ext uri="{BB962C8B-B14F-4D97-AF65-F5344CB8AC3E}">
        <p14:creationId xmlns:p14="http://schemas.microsoft.com/office/powerpoint/2010/main" val="168940747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政策依据：</a:t>
            </a:r>
          </a:p>
        </p:txBody>
      </p:sp>
      <p:sp>
        <p:nvSpPr>
          <p:cNvPr id="3" name="文本占位符 2"/>
          <p:cNvSpPr>
            <a:spLocks noGrp="1"/>
          </p:cNvSpPr>
          <p:nvPr>
            <p:ph type="body" idx="1"/>
          </p:nvPr>
        </p:nvSpPr>
        <p:spPr/>
        <p:txBody>
          <a:bodyPr/>
          <a:lstStyle/>
          <a:p>
            <a:pPr lvl="0"/>
            <a:r>
              <a:rPr lang="zh-CN" altLang="en-US" smtClean="0"/>
              <a:t>根据</a:t>
            </a:r>
            <a:r>
              <a:rPr lang="en-US" altLang="zh-CN" smtClean="0"/>
              <a:t>《</a:t>
            </a:r>
            <a:r>
              <a:rPr lang="zh-CN" altLang="en-US" smtClean="0"/>
              <a:t>中华人民共和国企业所得税法</a:t>
            </a:r>
            <a:r>
              <a:rPr lang="en-US" altLang="zh-CN" smtClean="0"/>
              <a:t>》</a:t>
            </a:r>
            <a:r>
              <a:rPr lang="zh-CN" altLang="en-US" smtClean="0"/>
              <a:t>（</a:t>
            </a:r>
            <a:r>
              <a:rPr lang="en-US" altLang="zh-CN" smtClean="0"/>
              <a:t>[2007]63</a:t>
            </a:r>
            <a:r>
              <a:rPr lang="zh-CN" altLang="en-US" smtClean="0"/>
              <a:t>号令）第三十条规定，企业开发新技术、新产品、新工艺发生的研究开发费用，可以在计算应纳税所得额时加计扣除。</a:t>
            </a:r>
          </a:p>
          <a:p>
            <a:pPr lvl="0"/>
            <a:r>
              <a:rPr lang="zh-CN" altLang="en-US" smtClean="0"/>
              <a:t></a:t>
            </a:r>
            <a:r>
              <a:rPr lang="en-US" altLang="zh-CN" smtClean="0"/>
              <a:t>《</a:t>
            </a:r>
            <a:r>
              <a:rPr lang="zh-CN" altLang="en-US" smtClean="0"/>
              <a:t>国家税务总局关于印发</a:t>
            </a:r>
            <a:r>
              <a:rPr lang="en-US" altLang="zh-CN" smtClean="0"/>
              <a:t>&lt;</a:t>
            </a:r>
            <a:r>
              <a:rPr lang="zh-CN" altLang="en-US" smtClean="0"/>
              <a:t>企业研究开发费用税前扣除管理办法</a:t>
            </a:r>
            <a:r>
              <a:rPr lang="en-US" altLang="zh-CN" smtClean="0"/>
              <a:t>(</a:t>
            </a:r>
            <a:r>
              <a:rPr lang="zh-CN" altLang="en-US" smtClean="0"/>
              <a:t>试行</a:t>
            </a:r>
            <a:r>
              <a:rPr lang="en-US" altLang="zh-CN" smtClean="0"/>
              <a:t>)&gt;</a:t>
            </a:r>
            <a:r>
              <a:rPr lang="zh-CN" altLang="en-US" smtClean="0"/>
              <a:t>的通知</a:t>
            </a:r>
            <a:r>
              <a:rPr lang="en-US" altLang="zh-CN" smtClean="0"/>
              <a:t>》</a:t>
            </a:r>
            <a:r>
              <a:rPr lang="zh-CN" altLang="en-US" smtClean="0"/>
              <a:t>（国税发</a:t>
            </a:r>
            <a:r>
              <a:rPr lang="en-US" altLang="zh-CN" smtClean="0"/>
              <a:t>〔2008〕116</a:t>
            </a:r>
            <a:r>
              <a:rPr lang="zh-CN" altLang="en-US" smtClean="0"/>
              <a:t>号）</a:t>
            </a:r>
          </a:p>
          <a:p>
            <a:pPr lvl="0"/>
            <a:r>
              <a:rPr lang="zh-CN" altLang="en-US" smtClean="0"/>
              <a:t>根据</a:t>
            </a:r>
            <a:r>
              <a:rPr lang="en-US" altLang="zh-CN" smtClean="0"/>
              <a:t>《</a:t>
            </a:r>
            <a:r>
              <a:rPr lang="zh-CN" altLang="en-US" smtClean="0"/>
              <a:t>实施条例</a:t>
            </a:r>
            <a:r>
              <a:rPr lang="en-US" altLang="zh-CN" smtClean="0"/>
              <a:t>》</a:t>
            </a:r>
            <a:r>
              <a:rPr lang="zh-CN" altLang="en-US" smtClean="0"/>
              <a:t>第九十五条规定，企业所得税法第三十条第（一）项所称研究开发费用的加计扣除，是指企业为开发新技术、新产品、新工艺发生的研究开发费用，未形成无形资产计入当期损益的，在按照规定据实扣除的基础上，按照研究开发费用的</a:t>
            </a:r>
            <a:r>
              <a:rPr lang="en-US" altLang="zh-CN" smtClean="0"/>
              <a:t>50%</a:t>
            </a:r>
            <a:r>
              <a:rPr lang="zh-CN" altLang="en-US" smtClean="0"/>
              <a:t>加计扣除；形成无形资产的，按照无形资产成本的</a:t>
            </a:r>
            <a:r>
              <a:rPr lang="en-US" altLang="zh-CN" smtClean="0"/>
              <a:t>150%</a:t>
            </a:r>
            <a:r>
              <a:rPr lang="zh-CN" altLang="en-US" smtClean="0"/>
              <a:t>摊销。</a:t>
            </a:r>
          </a:p>
        </p:txBody>
      </p:sp>
      <p:sp>
        <p:nvSpPr>
          <p:cNvPr id="6" name="日期占位符 5"/>
          <p:cNvSpPr>
            <a:spLocks noGrp="1"/>
          </p:cNvSpPr>
          <p:nvPr>
            <p:ph type="dt" sz="half" idx="10"/>
          </p:nvPr>
        </p:nvSpPr>
        <p:spPr/>
        <p:txBody>
          <a:bodyPr/>
          <a:lstStyle/>
          <a:p>
            <a:fld id="{09FD32DD-1B1B-4DBA-98CF-CF4017BCA1AF}" type="datetime2">
              <a:rPr lang="zh-CN" altLang="en-US" smtClean="0"/>
              <a:t>2022年10月9日</a:t>
            </a:fld>
            <a:endParaRPr lang="zh-CN" altLang="en-US"/>
          </a:p>
        </p:txBody>
      </p:sp>
      <p:sp>
        <p:nvSpPr>
          <p:cNvPr id="7" name="灯片编号占位符 6"/>
          <p:cNvSpPr>
            <a:spLocks noGrp="1"/>
          </p:cNvSpPr>
          <p:nvPr>
            <p:ph type="sldNum" sz="quarter" idx="12"/>
          </p:nvPr>
        </p:nvSpPr>
        <p:spPr/>
        <p:txBody>
          <a:bodyPr/>
          <a:lstStyle/>
          <a:p>
            <a:fld id="{8B956499-6944-425D-9BB8-83C62C18DB14}" type="slidenum">
              <a:rPr lang="zh-CN" altLang="en-US" smtClean="0"/>
              <a:t>21</a:t>
            </a:fld>
            <a:endParaRPr lang="zh-CN" altLang="en-US"/>
          </a:p>
        </p:txBody>
      </p:sp>
    </p:spTree>
    <p:extLst>
      <p:ext uri="{BB962C8B-B14F-4D97-AF65-F5344CB8AC3E}">
        <p14:creationId xmlns:p14="http://schemas.microsoft.com/office/powerpoint/2010/main" val="363862350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研发经费</a:t>
            </a:r>
          </a:p>
        </p:txBody>
      </p:sp>
      <p:sp>
        <p:nvSpPr>
          <p:cNvPr id="3" name="文本占位符 2"/>
          <p:cNvSpPr>
            <a:spLocks noGrp="1"/>
          </p:cNvSpPr>
          <p:nvPr>
            <p:ph type="body" idx="1"/>
          </p:nvPr>
        </p:nvSpPr>
        <p:spPr/>
        <p:txBody>
          <a:bodyPr/>
          <a:lstStyle/>
          <a:p>
            <a:pPr lvl="0"/>
            <a:r>
              <a:rPr lang="zh-CN" altLang="en-US" smtClean="0"/>
              <a:t>八项归集内容</a:t>
            </a:r>
          </a:p>
          <a:p>
            <a:pPr lvl="1"/>
            <a:r>
              <a:rPr lang="zh-CN" altLang="en-US" smtClean="0"/>
              <a:t></a:t>
            </a:r>
            <a:r>
              <a:rPr lang="en-US" altLang="zh-CN" smtClean="0"/>
              <a:t>1</a:t>
            </a:r>
            <a:r>
              <a:rPr lang="zh-CN" altLang="en-US" smtClean="0"/>
              <a:t>、新产品设计费、新工艺规程制定费以及与研发活动直接相关的技术图书资料费、资料翻译费。</a:t>
            </a:r>
          </a:p>
          <a:p>
            <a:pPr lvl="1"/>
            <a:r>
              <a:rPr lang="zh-CN" altLang="en-US" smtClean="0"/>
              <a:t></a:t>
            </a:r>
            <a:r>
              <a:rPr lang="en-US" altLang="zh-CN" smtClean="0"/>
              <a:t>2</a:t>
            </a:r>
            <a:r>
              <a:rPr lang="zh-CN" altLang="en-US" smtClean="0"/>
              <a:t>、从事研发活动直接消耗的材料、燃料和动力费用。</a:t>
            </a:r>
          </a:p>
          <a:p>
            <a:pPr lvl="1"/>
            <a:r>
              <a:rPr lang="zh-CN" altLang="en-US" smtClean="0"/>
              <a:t></a:t>
            </a:r>
            <a:r>
              <a:rPr lang="en-US" altLang="zh-CN" smtClean="0"/>
              <a:t>3</a:t>
            </a:r>
            <a:r>
              <a:rPr lang="zh-CN" altLang="en-US" smtClean="0"/>
              <a:t>、在职直接从事研发活动人员的工资、薪金、奖金、津贴、补贴。</a:t>
            </a:r>
          </a:p>
          <a:p>
            <a:pPr lvl="1"/>
            <a:r>
              <a:rPr lang="zh-CN" altLang="en-US" smtClean="0"/>
              <a:t></a:t>
            </a:r>
            <a:r>
              <a:rPr lang="en-US" altLang="zh-CN" smtClean="0"/>
              <a:t>4</a:t>
            </a:r>
            <a:r>
              <a:rPr lang="zh-CN" altLang="en-US" smtClean="0"/>
              <a:t>、专门用于研发活动的仪器、设备的折旧费或租赁费。</a:t>
            </a:r>
          </a:p>
          <a:p>
            <a:pPr lvl="1"/>
            <a:r>
              <a:rPr lang="zh-CN" altLang="en-US" smtClean="0"/>
              <a:t></a:t>
            </a:r>
            <a:r>
              <a:rPr lang="en-US" altLang="zh-CN" smtClean="0"/>
              <a:t>5</a:t>
            </a:r>
            <a:r>
              <a:rPr lang="zh-CN" altLang="en-US" smtClean="0"/>
              <a:t>、专门用于研发活动的软件、专利权、非专利技术等无形资产的摊销费用。</a:t>
            </a:r>
          </a:p>
          <a:p>
            <a:pPr lvl="1"/>
            <a:r>
              <a:rPr lang="zh-CN" altLang="en-US" smtClean="0"/>
              <a:t></a:t>
            </a:r>
            <a:r>
              <a:rPr lang="en-US" altLang="zh-CN" smtClean="0"/>
              <a:t>6</a:t>
            </a:r>
            <a:r>
              <a:rPr lang="zh-CN" altLang="en-US" smtClean="0"/>
              <a:t>、专门用于中间试验和产品试制的模具、工艺装备开发及制造费。</a:t>
            </a:r>
          </a:p>
          <a:p>
            <a:pPr lvl="1"/>
            <a:r>
              <a:rPr lang="zh-CN" altLang="en-US" smtClean="0"/>
              <a:t></a:t>
            </a:r>
            <a:r>
              <a:rPr lang="en-US" altLang="zh-CN" smtClean="0"/>
              <a:t>7</a:t>
            </a:r>
            <a:r>
              <a:rPr lang="zh-CN" altLang="en-US" smtClean="0"/>
              <a:t>、勘探开发技术的现场试验费。</a:t>
            </a:r>
          </a:p>
          <a:p>
            <a:pPr lvl="1"/>
            <a:r>
              <a:rPr lang="zh-CN" altLang="en-US" smtClean="0"/>
              <a:t></a:t>
            </a:r>
            <a:r>
              <a:rPr lang="en-US" altLang="zh-CN" smtClean="0"/>
              <a:t>8</a:t>
            </a:r>
            <a:r>
              <a:rPr lang="zh-CN" altLang="en-US" smtClean="0"/>
              <a:t>、研发成果的论证、评审、验收费用。</a:t>
            </a:r>
          </a:p>
        </p:txBody>
      </p:sp>
      <p:sp>
        <p:nvSpPr>
          <p:cNvPr id="6" name="日期占位符 5"/>
          <p:cNvSpPr>
            <a:spLocks noGrp="1"/>
          </p:cNvSpPr>
          <p:nvPr>
            <p:ph type="dt" sz="half" idx="10"/>
          </p:nvPr>
        </p:nvSpPr>
        <p:spPr/>
        <p:txBody>
          <a:bodyPr/>
          <a:lstStyle/>
          <a:p>
            <a:fld id="{3B10D445-E53B-494D-902D-7590656E5841}" type="datetime2">
              <a:rPr lang="zh-CN" altLang="en-US" smtClean="0"/>
              <a:t>2022年10月9日</a:t>
            </a:fld>
            <a:endParaRPr lang="zh-CN" altLang="en-US"/>
          </a:p>
        </p:txBody>
      </p:sp>
      <p:sp>
        <p:nvSpPr>
          <p:cNvPr id="7" name="灯片编号占位符 6"/>
          <p:cNvSpPr>
            <a:spLocks noGrp="1"/>
          </p:cNvSpPr>
          <p:nvPr>
            <p:ph type="sldNum" sz="quarter" idx="12"/>
          </p:nvPr>
        </p:nvSpPr>
        <p:spPr/>
        <p:txBody>
          <a:bodyPr/>
          <a:lstStyle/>
          <a:p>
            <a:fld id="{8B956499-6944-425D-9BB8-83C62C18DB14}" type="slidenum">
              <a:rPr lang="zh-CN" altLang="en-US" smtClean="0"/>
              <a:t>22</a:t>
            </a:fld>
            <a:endParaRPr lang="zh-CN" altLang="en-US"/>
          </a:p>
        </p:txBody>
      </p:sp>
    </p:spTree>
    <p:extLst>
      <p:ext uri="{BB962C8B-B14F-4D97-AF65-F5344CB8AC3E}">
        <p14:creationId xmlns:p14="http://schemas.microsoft.com/office/powerpoint/2010/main" val="128075545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执行流程</a:t>
            </a:r>
          </a:p>
        </p:txBody>
      </p:sp>
      <p:sp>
        <p:nvSpPr>
          <p:cNvPr id="3" name="文本占位符 2"/>
          <p:cNvSpPr>
            <a:spLocks noGrp="1"/>
          </p:cNvSpPr>
          <p:nvPr>
            <p:ph type="body" idx="1"/>
          </p:nvPr>
        </p:nvSpPr>
        <p:spPr/>
        <p:txBody>
          <a:bodyPr/>
          <a:lstStyle/>
          <a:p>
            <a:pPr lvl="0"/>
            <a:r>
              <a:rPr lang="zh-CN" altLang="en-US" smtClean="0"/>
              <a:t>年度企业研究开发项目鉴定采取集中办理的方式。</a:t>
            </a:r>
          </a:p>
          <a:p>
            <a:pPr lvl="1"/>
            <a:r>
              <a:rPr lang="zh-CN" altLang="en-US" smtClean="0"/>
              <a:t>受理期限内将材料交至北京科技协作咨询服务中心。</a:t>
            </a:r>
          </a:p>
          <a:p>
            <a:pPr lvl="1"/>
            <a:r>
              <a:rPr lang="zh-CN" altLang="en-US" smtClean="0"/>
              <a:t>市科委组织专家评审，依据评审结果，公示后，出具</a:t>
            </a:r>
            <a:r>
              <a:rPr lang="en-US" altLang="zh-CN" smtClean="0"/>
              <a:t>《</a:t>
            </a:r>
            <a:r>
              <a:rPr lang="zh-CN" altLang="en-US" smtClean="0"/>
              <a:t>企业研究开发项目鉴定意见书</a:t>
            </a:r>
            <a:r>
              <a:rPr lang="en-US" altLang="zh-CN" smtClean="0"/>
              <a:t>》</a:t>
            </a:r>
            <a:r>
              <a:rPr lang="zh-CN" altLang="en-US" smtClean="0"/>
              <a:t>。</a:t>
            </a:r>
          </a:p>
          <a:p>
            <a:pPr lvl="1"/>
            <a:r>
              <a:rPr lang="zh-CN" altLang="en-US" smtClean="0"/>
              <a:t>企业可持</a:t>
            </a:r>
            <a:r>
              <a:rPr lang="en-US" altLang="zh-CN" smtClean="0"/>
              <a:t>《</a:t>
            </a:r>
            <a:r>
              <a:rPr lang="zh-CN" altLang="en-US" smtClean="0"/>
              <a:t>企业研究开发项目鉴定意见书</a:t>
            </a:r>
            <a:r>
              <a:rPr lang="en-US" altLang="zh-CN" smtClean="0"/>
              <a:t>》</a:t>
            </a:r>
            <a:r>
              <a:rPr lang="zh-CN" altLang="en-US" smtClean="0"/>
              <a:t>等相关材料到主管税务机关申请办理享受研究开发费用加计扣除的相关手续。</a:t>
            </a:r>
          </a:p>
        </p:txBody>
      </p:sp>
      <p:sp>
        <p:nvSpPr>
          <p:cNvPr id="6" name="日期占位符 5"/>
          <p:cNvSpPr>
            <a:spLocks noGrp="1"/>
          </p:cNvSpPr>
          <p:nvPr>
            <p:ph type="dt" sz="half" idx="10"/>
          </p:nvPr>
        </p:nvSpPr>
        <p:spPr/>
        <p:txBody>
          <a:bodyPr/>
          <a:lstStyle/>
          <a:p>
            <a:fld id="{F5E60852-4804-4A56-B509-EB83B7646E3C}" type="datetime2">
              <a:rPr lang="zh-CN" altLang="en-US" smtClean="0"/>
              <a:t>2022年10月9日</a:t>
            </a:fld>
            <a:endParaRPr lang="zh-CN" altLang="en-US"/>
          </a:p>
        </p:txBody>
      </p:sp>
      <p:sp>
        <p:nvSpPr>
          <p:cNvPr id="7" name="灯片编号占位符 6"/>
          <p:cNvSpPr>
            <a:spLocks noGrp="1"/>
          </p:cNvSpPr>
          <p:nvPr>
            <p:ph type="sldNum" sz="quarter" idx="12"/>
          </p:nvPr>
        </p:nvSpPr>
        <p:spPr/>
        <p:txBody>
          <a:bodyPr/>
          <a:lstStyle/>
          <a:p>
            <a:fld id="{8B956499-6944-425D-9BB8-83C62C18DB14}" type="slidenum">
              <a:rPr lang="zh-CN" altLang="en-US" smtClean="0"/>
              <a:t>23</a:t>
            </a:fld>
            <a:endParaRPr lang="zh-CN" altLang="en-US"/>
          </a:p>
        </p:txBody>
      </p:sp>
    </p:spTree>
    <p:extLst>
      <p:ext uri="{BB962C8B-B14F-4D97-AF65-F5344CB8AC3E}">
        <p14:creationId xmlns:p14="http://schemas.microsoft.com/office/powerpoint/2010/main" val="77526710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常见问题</a:t>
            </a:r>
          </a:p>
        </p:txBody>
      </p:sp>
      <p:sp>
        <p:nvSpPr>
          <p:cNvPr id="3" name="文本占位符 2"/>
          <p:cNvSpPr>
            <a:spLocks noGrp="1"/>
          </p:cNvSpPr>
          <p:nvPr>
            <p:ph type="body" idx="1"/>
          </p:nvPr>
        </p:nvSpPr>
        <p:spPr/>
        <p:txBody>
          <a:bodyPr>
            <a:normAutofit/>
          </a:bodyPr>
          <a:lstStyle/>
          <a:p>
            <a:pPr lvl="0"/>
            <a:r>
              <a:rPr lang="zh-CN" altLang="en-US" smtClean="0"/>
              <a:t> 创造性运用科学技术新知识，或实质性改进技术、工艺、产品（服务），是指企业通过研究开发活动在技术、工艺、产品（服务）方面的创新取得了有价值的成果，对北京市相关行业的技术、工艺领先具有推动作用，不包括企业产品（服务）的常规性升级或对公开的科研成果直接应用等活动（如直接采用公开的新工艺、材料、装置、产品、服务或知识等）。</a:t>
            </a:r>
          </a:p>
          <a:p>
            <a:pPr lvl="0"/>
            <a:r>
              <a:rPr lang="zh-CN" altLang="en-US" smtClean="0"/>
              <a:t>企业从事</a:t>
            </a:r>
            <a:r>
              <a:rPr lang="en-US" altLang="zh-CN" smtClean="0"/>
              <a:t>《</a:t>
            </a:r>
            <a:r>
              <a:rPr lang="zh-CN" altLang="en-US" smtClean="0"/>
              <a:t>国家重点支持的高新技术领域</a:t>
            </a:r>
            <a:r>
              <a:rPr lang="en-US" altLang="zh-CN" smtClean="0"/>
              <a:t>》</a:t>
            </a:r>
            <a:r>
              <a:rPr lang="zh-CN" altLang="en-US" smtClean="0"/>
              <a:t>和国家发展改革委员会等部门公布的</a:t>
            </a:r>
            <a:r>
              <a:rPr lang="en-US" altLang="zh-CN" smtClean="0"/>
              <a:t>《</a:t>
            </a:r>
            <a:r>
              <a:rPr lang="zh-CN" altLang="en-US" smtClean="0"/>
              <a:t>当前优先发展的高技术产业化重点领域指南（</a:t>
            </a:r>
            <a:r>
              <a:rPr lang="en-US" altLang="zh-CN" smtClean="0"/>
              <a:t>2007</a:t>
            </a:r>
            <a:r>
              <a:rPr lang="zh-CN" altLang="en-US" smtClean="0"/>
              <a:t>年度）</a:t>
            </a:r>
            <a:r>
              <a:rPr lang="en-US" altLang="zh-CN" smtClean="0"/>
              <a:t>》</a:t>
            </a:r>
            <a:r>
              <a:rPr lang="zh-CN" altLang="en-US" smtClean="0"/>
              <a:t>规定项目的研究开发活动，其在一个纳税年度中实际发生的下列费用支出，允许在计算应纳税所得额时按照规定实行加计扣除。</a:t>
            </a:r>
          </a:p>
        </p:txBody>
      </p:sp>
      <p:sp>
        <p:nvSpPr>
          <p:cNvPr id="6" name="日期占位符 5"/>
          <p:cNvSpPr>
            <a:spLocks noGrp="1"/>
          </p:cNvSpPr>
          <p:nvPr>
            <p:ph type="dt" sz="half" idx="10"/>
          </p:nvPr>
        </p:nvSpPr>
        <p:spPr/>
        <p:txBody>
          <a:bodyPr/>
          <a:lstStyle/>
          <a:p>
            <a:fld id="{120AD773-8E48-48CA-B630-5E880E26AEB3}" type="datetime2">
              <a:rPr lang="zh-CN" altLang="en-US" smtClean="0"/>
              <a:t>2022年10月9日</a:t>
            </a:fld>
            <a:endParaRPr lang="zh-CN" altLang="en-US"/>
          </a:p>
        </p:txBody>
      </p:sp>
      <p:sp>
        <p:nvSpPr>
          <p:cNvPr id="7" name="灯片编号占位符 6"/>
          <p:cNvSpPr>
            <a:spLocks noGrp="1"/>
          </p:cNvSpPr>
          <p:nvPr>
            <p:ph type="sldNum" sz="quarter" idx="12"/>
          </p:nvPr>
        </p:nvSpPr>
        <p:spPr/>
        <p:txBody>
          <a:bodyPr/>
          <a:lstStyle/>
          <a:p>
            <a:fld id="{8B956499-6944-425D-9BB8-83C62C18DB14}" type="slidenum">
              <a:rPr lang="zh-CN" altLang="en-US" smtClean="0"/>
              <a:t>24</a:t>
            </a:fld>
            <a:endParaRPr lang="zh-CN" altLang="en-US"/>
          </a:p>
        </p:txBody>
      </p:sp>
    </p:spTree>
    <p:extLst>
      <p:ext uri="{BB962C8B-B14F-4D97-AF65-F5344CB8AC3E}">
        <p14:creationId xmlns:p14="http://schemas.microsoft.com/office/powerpoint/2010/main" val="65301446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四、技术合同登记</a:t>
            </a:r>
          </a:p>
        </p:txBody>
      </p:sp>
      <p:sp>
        <p:nvSpPr>
          <p:cNvPr id="3" name="文本占位符 2"/>
          <p:cNvSpPr>
            <a:spLocks noGrp="1"/>
          </p:cNvSpPr>
          <p:nvPr>
            <p:ph type="body" idx="1"/>
          </p:nvPr>
        </p:nvSpPr>
        <p:spPr/>
        <p:txBody>
          <a:bodyPr/>
          <a:lstStyle/>
          <a:p>
            <a:pPr lvl="0"/>
            <a:r>
              <a:rPr lang="zh-CN" altLang="en-US" smtClean="0"/>
              <a:t>政策依据</a:t>
            </a:r>
          </a:p>
          <a:p>
            <a:pPr lvl="0"/>
            <a:r>
              <a:rPr lang="zh-CN" altLang="en-US" smtClean="0"/>
              <a:t>技术合同认定登记的重要性</a:t>
            </a:r>
          </a:p>
          <a:p>
            <a:pPr lvl="0"/>
            <a:r>
              <a:rPr lang="zh-CN" altLang="en-US" smtClean="0"/>
              <a:t>技术合同登记相关概念解读</a:t>
            </a:r>
          </a:p>
          <a:p>
            <a:pPr lvl="0"/>
            <a:r>
              <a:rPr lang="zh-CN" altLang="en-US" smtClean="0"/>
              <a:t>技术合同登记</a:t>
            </a:r>
            <a:r>
              <a:rPr lang="en-US" altLang="zh-CN" smtClean="0"/>
              <a:t>—</a:t>
            </a:r>
            <a:r>
              <a:rPr lang="zh-CN" altLang="en-US" smtClean="0"/>
              <a:t>认定登记工作</a:t>
            </a:r>
          </a:p>
          <a:p>
            <a:pPr lvl="0"/>
            <a:r>
              <a:rPr lang="zh-CN" altLang="en-US" smtClean="0"/>
              <a:t>享受政策需履行的手续</a:t>
            </a:r>
          </a:p>
          <a:p>
            <a:pPr lvl="0"/>
            <a:r>
              <a:rPr lang="zh-CN" altLang="en-US" smtClean="0"/>
              <a:t>需要提交的材料</a:t>
            </a:r>
          </a:p>
          <a:p>
            <a:pPr lvl="0"/>
            <a:r>
              <a:rPr lang="zh-CN" altLang="en-US" smtClean="0"/>
              <a:t>不予登记的合同</a:t>
            </a:r>
          </a:p>
        </p:txBody>
      </p:sp>
      <p:sp>
        <p:nvSpPr>
          <p:cNvPr id="6" name="日期占位符 5"/>
          <p:cNvSpPr>
            <a:spLocks noGrp="1"/>
          </p:cNvSpPr>
          <p:nvPr>
            <p:ph type="dt" sz="half" idx="10"/>
          </p:nvPr>
        </p:nvSpPr>
        <p:spPr/>
        <p:txBody>
          <a:bodyPr/>
          <a:lstStyle/>
          <a:p>
            <a:fld id="{7B546CA8-711B-4953-AADA-93DEC1ECC3A0}" type="datetime2">
              <a:rPr lang="zh-CN" altLang="en-US" smtClean="0"/>
              <a:t>2022年10月9日</a:t>
            </a:fld>
            <a:endParaRPr lang="zh-CN" altLang="en-US"/>
          </a:p>
        </p:txBody>
      </p:sp>
      <p:sp>
        <p:nvSpPr>
          <p:cNvPr id="7" name="灯片编号占位符 6"/>
          <p:cNvSpPr>
            <a:spLocks noGrp="1"/>
          </p:cNvSpPr>
          <p:nvPr>
            <p:ph type="sldNum" sz="quarter" idx="12"/>
          </p:nvPr>
        </p:nvSpPr>
        <p:spPr/>
        <p:txBody>
          <a:bodyPr/>
          <a:lstStyle/>
          <a:p>
            <a:fld id="{8B956499-6944-425D-9BB8-83C62C18DB14}" type="slidenum">
              <a:rPr lang="zh-CN" altLang="en-US" smtClean="0"/>
              <a:t>25</a:t>
            </a:fld>
            <a:endParaRPr lang="zh-CN" altLang="en-US"/>
          </a:p>
        </p:txBody>
      </p:sp>
    </p:spTree>
    <p:extLst>
      <p:ext uri="{BB962C8B-B14F-4D97-AF65-F5344CB8AC3E}">
        <p14:creationId xmlns:p14="http://schemas.microsoft.com/office/powerpoint/2010/main" val="339049810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政策依据</a:t>
            </a:r>
          </a:p>
        </p:txBody>
      </p:sp>
      <p:sp>
        <p:nvSpPr>
          <p:cNvPr id="3" name="文本占位符 2"/>
          <p:cNvSpPr>
            <a:spLocks noGrp="1"/>
          </p:cNvSpPr>
          <p:nvPr>
            <p:ph type="body" idx="1"/>
          </p:nvPr>
        </p:nvSpPr>
        <p:spPr/>
        <p:txBody>
          <a:bodyPr>
            <a:normAutofit/>
          </a:bodyPr>
          <a:lstStyle/>
          <a:p>
            <a:pPr lvl="0"/>
            <a:r>
              <a:rPr lang="en-US" altLang="zh-CN" smtClean="0"/>
              <a:t>《</a:t>
            </a:r>
            <a:r>
              <a:rPr lang="zh-CN" altLang="en-US" smtClean="0"/>
              <a:t>中华人民共和国企业所得税法</a:t>
            </a:r>
            <a:r>
              <a:rPr lang="en-US" altLang="zh-CN" smtClean="0"/>
              <a:t>》</a:t>
            </a:r>
            <a:r>
              <a:rPr lang="zh-CN" altLang="en-US" smtClean="0"/>
              <a:t>（</a:t>
            </a:r>
            <a:r>
              <a:rPr lang="en-US" altLang="zh-CN" smtClean="0"/>
              <a:t>[2007]63</a:t>
            </a:r>
            <a:r>
              <a:rPr lang="zh-CN" altLang="en-US" smtClean="0"/>
              <a:t>号令）</a:t>
            </a:r>
          </a:p>
          <a:p>
            <a:pPr lvl="0"/>
            <a:r>
              <a:rPr lang="zh-CN" altLang="en-US" smtClean="0"/>
              <a:t>北京市技术市场条例（</a:t>
            </a:r>
            <a:r>
              <a:rPr lang="en-US" altLang="zh-CN" smtClean="0"/>
              <a:t>2002</a:t>
            </a:r>
            <a:r>
              <a:rPr lang="zh-CN" altLang="en-US" smtClean="0"/>
              <a:t>年</a:t>
            </a:r>
            <a:r>
              <a:rPr lang="en-US" altLang="zh-CN" smtClean="0"/>
              <a:t>7</a:t>
            </a:r>
            <a:r>
              <a:rPr lang="zh-CN" altLang="en-US" smtClean="0"/>
              <a:t>月</a:t>
            </a:r>
            <a:r>
              <a:rPr lang="en-US" altLang="zh-CN" smtClean="0"/>
              <a:t>18</a:t>
            </a:r>
            <a:r>
              <a:rPr lang="zh-CN" altLang="en-US" smtClean="0"/>
              <a:t>日北京市第十一届人民代表大会常务委员会第三十五次会议通过）。</a:t>
            </a:r>
          </a:p>
          <a:p>
            <a:pPr lvl="0"/>
            <a:r>
              <a:rPr lang="zh-CN" altLang="en-US" smtClean="0"/>
              <a:t>税收优惠政策</a:t>
            </a:r>
          </a:p>
          <a:p>
            <a:pPr lvl="1"/>
            <a:r>
              <a:rPr lang="zh-CN" altLang="en-US" smtClean="0"/>
              <a:t>（</a:t>
            </a:r>
            <a:r>
              <a:rPr lang="en-US" altLang="zh-CN" smtClean="0"/>
              <a:t>1</a:t>
            </a:r>
            <a:r>
              <a:rPr lang="zh-CN" altLang="en-US" smtClean="0"/>
              <a:t>）技术转让和开发的卖方可以申请减免技术性收入所缴纳的营业税；</a:t>
            </a:r>
          </a:p>
          <a:p>
            <a:pPr lvl="1"/>
            <a:r>
              <a:rPr lang="zh-CN" altLang="en-US" smtClean="0"/>
              <a:t>（</a:t>
            </a:r>
            <a:r>
              <a:rPr lang="en-US" altLang="zh-CN" smtClean="0"/>
              <a:t>2</a:t>
            </a:r>
            <a:r>
              <a:rPr lang="zh-CN" altLang="en-US" smtClean="0"/>
              <a:t>）卖方可以从技术交易的净收入中提取不低于</a:t>
            </a:r>
            <a:r>
              <a:rPr lang="en-US" altLang="zh-CN" smtClean="0"/>
              <a:t>20%</a:t>
            </a:r>
            <a:r>
              <a:rPr lang="zh-CN" altLang="en-US" smtClean="0"/>
              <a:t>，奖励参与研究、开发、咨询和服务人员；</a:t>
            </a:r>
          </a:p>
          <a:p>
            <a:pPr lvl="1"/>
            <a:r>
              <a:rPr lang="zh-CN" altLang="en-US" smtClean="0"/>
              <a:t>（</a:t>
            </a:r>
            <a:r>
              <a:rPr lang="en-US" altLang="zh-CN" smtClean="0"/>
              <a:t>3</a:t>
            </a:r>
            <a:r>
              <a:rPr lang="zh-CN" altLang="en-US" smtClean="0"/>
              <a:t>）买方可以在实施该技术的获利当年新增收益中一次性提取</a:t>
            </a:r>
            <a:r>
              <a:rPr lang="en-US" altLang="zh-CN" smtClean="0"/>
              <a:t>35%</a:t>
            </a:r>
            <a:r>
              <a:rPr lang="zh-CN" altLang="en-US" smtClean="0"/>
              <a:t>，奖励为实施技术做出突出贡献人员；</a:t>
            </a:r>
          </a:p>
          <a:p>
            <a:pPr lvl="1"/>
            <a:r>
              <a:rPr lang="zh-CN" altLang="en-US" smtClean="0"/>
              <a:t>（</a:t>
            </a:r>
            <a:r>
              <a:rPr lang="en-US" altLang="zh-CN" smtClean="0"/>
              <a:t>4</a:t>
            </a:r>
            <a:r>
              <a:rPr lang="zh-CN" altLang="en-US" smtClean="0"/>
              <a:t>）一个纳税年度内，居民企业技术转让所得不超过</a:t>
            </a:r>
            <a:r>
              <a:rPr lang="en-US" altLang="zh-CN" smtClean="0"/>
              <a:t>500</a:t>
            </a:r>
            <a:r>
              <a:rPr lang="zh-CN" altLang="en-US" smtClean="0"/>
              <a:t>万元的部分，免征企业所得税；超过</a:t>
            </a:r>
            <a:r>
              <a:rPr lang="en-US" altLang="zh-CN" smtClean="0"/>
              <a:t>500</a:t>
            </a:r>
            <a:r>
              <a:rPr lang="zh-CN" altLang="en-US" smtClean="0"/>
              <a:t>万元的部分，减半征收企业所得税。</a:t>
            </a:r>
          </a:p>
        </p:txBody>
      </p:sp>
      <p:sp>
        <p:nvSpPr>
          <p:cNvPr id="6" name="日期占位符 5"/>
          <p:cNvSpPr>
            <a:spLocks noGrp="1"/>
          </p:cNvSpPr>
          <p:nvPr>
            <p:ph type="dt" sz="half" idx="10"/>
          </p:nvPr>
        </p:nvSpPr>
        <p:spPr/>
        <p:txBody>
          <a:bodyPr/>
          <a:lstStyle/>
          <a:p>
            <a:fld id="{087D32DD-3E7D-4E1A-BFF7-014C5C62ED7F}" type="datetime2">
              <a:rPr lang="zh-CN" altLang="en-US" smtClean="0"/>
              <a:t>2022年10月9日</a:t>
            </a:fld>
            <a:endParaRPr lang="zh-CN" altLang="en-US"/>
          </a:p>
        </p:txBody>
      </p:sp>
      <p:sp>
        <p:nvSpPr>
          <p:cNvPr id="7" name="灯片编号占位符 6"/>
          <p:cNvSpPr>
            <a:spLocks noGrp="1"/>
          </p:cNvSpPr>
          <p:nvPr>
            <p:ph type="sldNum" sz="quarter" idx="12"/>
          </p:nvPr>
        </p:nvSpPr>
        <p:spPr/>
        <p:txBody>
          <a:bodyPr/>
          <a:lstStyle/>
          <a:p>
            <a:fld id="{8B956499-6944-425D-9BB8-83C62C18DB14}" type="slidenum">
              <a:rPr lang="zh-CN" altLang="en-US" smtClean="0"/>
              <a:t>26</a:t>
            </a:fld>
            <a:endParaRPr lang="zh-CN" altLang="en-US"/>
          </a:p>
        </p:txBody>
      </p:sp>
    </p:spTree>
    <p:extLst>
      <p:ext uri="{BB962C8B-B14F-4D97-AF65-F5344CB8AC3E}">
        <p14:creationId xmlns:p14="http://schemas.microsoft.com/office/powerpoint/2010/main" val="56866934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（一）技术合同认定登记的重要性</a:t>
            </a:r>
          </a:p>
        </p:txBody>
      </p:sp>
      <p:sp>
        <p:nvSpPr>
          <p:cNvPr id="3" name="文本占位符 2"/>
          <p:cNvSpPr>
            <a:spLocks noGrp="1"/>
          </p:cNvSpPr>
          <p:nvPr>
            <p:ph type="body" idx="1"/>
          </p:nvPr>
        </p:nvSpPr>
        <p:spPr/>
        <p:txBody>
          <a:bodyPr/>
          <a:lstStyle/>
          <a:p>
            <a:pPr lvl="0"/>
            <a:r>
              <a:rPr lang="en-US" altLang="zh-CN" smtClean="0"/>
              <a:t>1</a:t>
            </a:r>
            <a:r>
              <a:rPr lang="zh-CN" altLang="en-US" smtClean="0"/>
              <a:t>、税收优惠政策的落实</a:t>
            </a:r>
          </a:p>
          <a:p>
            <a:pPr lvl="1"/>
            <a:r>
              <a:rPr lang="zh-CN" altLang="en-US" smtClean="0"/>
              <a:t>所得税减免：符合条件的技术转让收入</a:t>
            </a:r>
          </a:p>
          <a:p>
            <a:pPr lvl="0"/>
            <a:r>
              <a:rPr lang="en-US" altLang="zh-CN" smtClean="0"/>
              <a:t>2</a:t>
            </a:r>
            <a:r>
              <a:rPr lang="zh-CN" altLang="en-US" smtClean="0"/>
              <a:t>、高新技术企业技术性收入核定的需要</a:t>
            </a:r>
          </a:p>
          <a:p>
            <a:pPr lvl="1"/>
            <a:r>
              <a:rPr lang="zh-CN" altLang="en-US" smtClean="0"/>
              <a:t>高新技术产品（服务）收入占企业当年总收入的</a:t>
            </a:r>
            <a:r>
              <a:rPr lang="en-US" altLang="zh-CN" smtClean="0"/>
              <a:t>60%</a:t>
            </a:r>
            <a:r>
              <a:rPr lang="zh-CN" altLang="en-US" smtClean="0"/>
              <a:t>以上。</a:t>
            </a:r>
          </a:p>
          <a:p>
            <a:pPr lvl="0"/>
            <a:r>
              <a:rPr lang="en-US" altLang="zh-CN" smtClean="0"/>
              <a:t>3</a:t>
            </a:r>
            <a:r>
              <a:rPr lang="zh-CN" altLang="en-US" smtClean="0"/>
              <a:t>、技术先进型服务企业技术性收入核定的需要</a:t>
            </a:r>
          </a:p>
          <a:p>
            <a:pPr lvl="1"/>
            <a:r>
              <a:rPr lang="zh-CN" altLang="en-US" smtClean="0"/>
              <a:t>北京市技术先进型服务企业认定管理办法规定：技术先进型服务业务收入占企业当年总收入的</a:t>
            </a:r>
            <a:r>
              <a:rPr lang="en-US" altLang="zh-CN" smtClean="0"/>
              <a:t>50%</a:t>
            </a:r>
            <a:r>
              <a:rPr lang="zh-CN" altLang="en-US" smtClean="0"/>
              <a:t>以上。</a:t>
            </a:r>
          </a:p>
        </p:txBody>
      </p:sp>
      <p:sp>
        <p:nvSpPr>
          <p:cNvPr id="6" name="日期占位符 5"/>
          <p:cNvSpPr>
            <a:spLocks noGrp="1"/>
          </p:cNvSpPr>
          <p:nvPr>
            <p:ph type="dt" sz="half" idx="10"/>
          </p:nvPr>
        </p:nvSpPr>
        <p:spPr/>
        <p:txBody>
          <a:bodyPr/>
          <a:lstStyle/>
          <a:p>
            <a:fld id="{6A88450A-5DC8-42D6-99ED-4A75A072208F}" type="datetime2">
              <a:rPr lang="zh-CN" altLang="en-US" smtClean="0"/>
              <a:t>2022年10月9日</a:t>
            </a:fld>
            <a:endParaRPr lang="zh-CN" altLang="en-US"/>
          </a:p>
        </p:txBody>
      </p:sp>
      <p:sp>
        <p:nvSpPr>
          <p:cNvPr id="7" name="灯片编号占位符 6"/>
          <p:cNvSpPr>
            <a:spLocks noGrp="1"/>
          </p:cNvSpPr>
          <p:nvPr>
            <p:ph type="sldNum" sz="quarter" idx="12"/>
          </p:nvPr>
        </p:nvSpPr>
        <p:spPr/>
        <p:txBody>
          <a:bodyPr/>
          <a:lstStyle/>
          <a:p>
            <a:fld id="{8B956499-6944-425D-9BB8-83C62C18DB14}" type="slidenum">
              <a:rPr lang="zh-CN" altLang="en-US" smtClean="0"/>
              <a:t>27</a:t>
            </a:fld>
            <a:endParaRPr lang="zh-CN" altLang="en-US"/>
          </a:p>
        </p:txBody>
      </p:sp>
    </p:spTree>
    <p:extLst>
      <p:ext uri="{BB962C8B-B14F-4D97-AF65-F5344CB8AC3E}">
        <p14:creationId xmlns:p14="http://schemas.microsoft.com/office/powerpoint/2010/main" val="31417134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（二）技术合同登记相关概念解读</a:t>
            </a:r>
          </a:p>
        </p:txBody>
      </p:sp>
      <p:sp>
        <p:nvSpPr>
          <p:cNvPr id="3" name="文本占位符 2"/>
          <p:cNvSpPr>
            <a:spLocks noGrp="1"/>
          </p:cNvSpPr>
          <p:nvPr>
            <p:ph type="body" idx="1"/>
          </p:nvPr>
        </p:nvSpPr>
        <p:spPr/>
        <p:txBody>
          <a:bodyPr>
            <a:normAutofit fontScale="85000" lnSpcReduction="20000"/>
          </a:bodyPr>
          <a:lstStyle/>
          <a:p>
            <a:pPr lvl="0"/>
            <a:r>
              <a:rPr lang="en-US" altLang="zh-CN" smtClean="0"/>
              <a:t>1.</a:t>
            </a:r>
            <a:r>
              <a:rPr lang="zh-CN" altLang="en-US" smtClean="0"/>
              <a:t>符合条件的技术转让：财税</a:t>
            </a:r>
            <a:r>
              <a:rPr lang="en-US" altLang="zh-CN" smtClean="0"/>
              <a:t>【2010】111</a:t>
            </a:r>
            <a:r>
              <a:rPr lang="zh-CN" altLang="en-US" smtClean="0"/>
              <a:t>号</a:t>
            </a:r>
          </a:p>
          <a:p>
            <a:pPr lvl="1"/>
            <a:r>
              <a:rPr lang="zh-CN" altLang="en-US" smtClean="0"/>
              <a:t>居民企业转让专利技术、计算机软件著作权、集成电路布图设计权、 植物新品种、生物医药新品种，以及财政部和国家税务总局确定的其他技术。</a:t>
            </a:r>
          </a:p>
          <a:p>
            <a:pPr lvl="0"/>
            <a:r>
              <a:rPr lang="en-US" altLang="zh-CN" smtClean="0"/>
              <a:t>2.</a:t>
            </a:r>
            <a:r>
              <a:rPr lang="zh-CN" altLang="en-US" smtClean="0"/>
              <a:t>技术开发：</a:t>
            </a:r>
          </a:p>
          <a:p>
            <a:pPr lvl="1"/>
            <a:r>
              <a:rPr lang="zh-CN" altLang="en-US" smtClean="0"/>
              <a:t>新技术、新产品、新工艺、新材料、新品种及其系统的研究开发。</a:t>
            </a:r>
          </a:p>
          <a:p>
            <a:pPr lvl="0"/>
            <a:r>
              <a:rPr lang="en-US" altLang="zh-CN" smtClean="0"/>
              <a:t>3.</a:t>
            </a:r>
            <a:r>
              <a:rPr lang="zh-CN" altLang="en-US" smtClean="0"/>
              <a:t>技术转让：</a:t>
            </a:r>
          </a:p>
          <a:p>
            <a:pPr lvl="1"/>
            <a:r>
              <a:rPr lang="zh-CN" altLang="en-US" smtClean="0"/>
              <a:t>专利申请权转让、专利权转让、专利实施许可以及非专利技术（技术秘密）转让。</a:t>
            </a:r>
          </a:p>
          <a:p>
            <a:pPr lvl="0"/>
            <a:r>
              <a:rPr lang="en-US" altLang="zh-CN" smtClean="0"/>
              <a:t>4.</a:t>
            </a:r>
            <a:r>
              <a:rPr lang="zh-CN" altLang="en-US" smtClean="0"/>
              <a:t>技术服务：</a:t>
            </a:r>
          </a:p>
          <a:p>
            <a:pPr lvl="1"/>
            <a:r>
              <a:rPr lang="zh-CN" altLang="en-US" smtClean="0"/>
              <a:t>以知识解决特定技术问题。解决特定技术问题的项目；完成约定的专业技术工作；工作成果有具体的质量和数量指标；不涉及专利和技术秘密成果的权属问题。</a:t>
            </a:r>
          </a:p>
          <a:p>
            <a:pPr lvl="0"/>
            <a:r>
              <a:rPr lang="en-US" altLang="zh-CN" smtClean="0"/>
              <a:t>5.</a:t>
            </a:r>
            <a:r>
              <a:rPr lang="zh-CN" altLang="en-US" smtClean="0"/>
              <a:t>技术咨询：</a:t>
            </a:r>
          </a:p>
          <a:p>
            <a:pPr lvl="1"/>
            <a:r>
              <a:rPr lang="zh-CN" altLang="en-US" smtClean="0"/>
              <a:t>就特定技术项目提供可行性论证、技术预测、专题技术调查、分析评价报告。</a:t>
            </a:r>
          </a:p>
          <a:p>
            <a:pPr lvl="1"/>
            <a:r>
              <a:rPr lang="zh-CN" altLang="en-US" smtClean="0"/>
              <a:t>技术咨询合同委托方因实施受托方提供的咨询报告、所造成的经济损失，除合同另有约定外，受托方不承担赔偿责任。</a:t>
            </a:r>
          </a:p>
        </p:txBody>
      </p:sp>
      <p:sp>
        <p:nvSpPr>
          <p:cNvPr id="6" name="日期占位符 5"/>
          <p:cNvSpPr>
            <a:spLocks noGrp="1"/>
          </p:cNvSpPr>
          <p:nvPr>
            <p:ph type="dt" sz="half" idx="10"/>
          </p:nvPr>
        </p:nvSpPr>
        <p:spPr/>
        <p:txBody>
          <a:bodyPr/>
          <a:lstStyle/>
          <a:p>
            <a:fld id="{430B6C4B-0816-402E-8A34-0E2B4832E57E}" type="datetime2">
              <a:rPr lang="zh-CN" altLang="en-US" smtClean="0"/>
              <a:t>2022年10月9日</a:t>
            </a:fld>
            <a:endParaRPr lang="zh-CN" altLang="en-US"/>
          </a:p>
        </p:txBody>
      </p:sp>
      <p:sp>
        <p:nvSpPr>
          <p:cNvPr id="7" name="灯片编号占位符 6"/>
          <p:cNvSpPr>
            <a:spLocks noGrp="1"/>
          </p:cNvSpPr>
          <p:nvPr>
            <p:ph type="sldNum" sz="quarter" idx="12"/>
          </p:nvPr>
        </p:nvSpPr>
        <p:spPr/>
        <p:txBody>
          <a:bodyPr/>
          <a:lstStyle/>
          <a:p>
            <a:fld id="{8B956499-6944-425D-9BB8-83C62C18DB14}" type="slidenum">
              <a:rPr lang="zh-CN" altLang="en-US" smtClean="0"/>
              <a:t>28</a:t>
            </a:fld>
            <a:endParaRPr lang="zh-CN" altLang="en-US"/>
          </a:p>
        </p:txBody>
      </p:sp>
    </p:spTree>
    <p:extLst>
      <p:ext uri="{BB962C8B-B14F-4D97-AF65-F5344CB8AC3E}">
        <p14:creationId xmlns:p14="http://schemas.microsoft.com/office/powerpoint/2010/main" val="387392963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（三）技术合同的认定登记工作</a:t>
            </a:r>
          </a:p>
        </p:txBody>
      </p:sp>
      <p:sp>
        <p:nvSpPr>
          <p:cNvPr id="3" name="文本占位符 2"/>
          <p:cNvSpPr>
            <a:spLocks noGrp="1"/>
          </p:cNvSpPr>
          <p:nvPr>
            <p:ph type="body" idx="1"/>
          </p:nvPr>
        </p:nvSpPr>
        <p:spPr/>
        <p:txBody>
          <a:bodyPr/>
          <a:lstStyle/>
          <a:p>
            <a:pPr lvl="0"/>
            <a:r>
              <a:rPr lang="zh-CN" altLang="en-US" smtClean="0"/>
              <a:t>目前，经北京市科学技术委员会批准，北京地区设立有</a:t>
            </a:r>
            <a:r>
              <a:rPr lang="en-US" altLang="zh-CN" smtClean="0"/>
              <a:t>40</a:t>
            </a:r>
            <a:r>
              <a:rPr lang="zh-CN" altLang="en-US" smtClean="0"/>
              <a:t>个技术合同登记机构。</a:t>
            </a:r>
          </a:p>
          <a:p>
            <a:pPr lvl="0"/>
            <a:r>
              <a:rPr lang="zh-CN" altLang="en-US" smtClean="0"/>
              <a:t>北京技术市场管理办公室设有咨询、举报电话</a:t>
            </a:r>
          </a:p>
          <a:p>
            <a:pPr lvl="0"/>
            <a:r>
              <a:rPr lang="zh-CN" altLang="en-US" smtClean="0"/>
              <a:t>地址：北京市西城区西直门南大街</a:t>
            </a:r>
            <a:r>
              <a:rPr lang="en-US" altLang="zh-CN" smtClean="0"/>
              <a:t>9999</a:t>
            </a:r>
            <a:r>
              <a:rPr lang="zh-CN" altLang="en-US" smtClean="0"/>
              <a:t>号北楼；</a:t>
            </a:r>
          </a:p>
          <a:p>
            <a:pPr lvl="0"/>
            <a:r>
              <a:rPr lang="zh-CN" altLang="en-US" smtClean="0"/>
              <a:t>办公室电话：</a:t>
            </a:r>
            <a:r>
              <a:rPr lang="en-US" altLang="zh-CN" smtClean="0"/>
              <a:t>66666666</a:t>
            </a:r>
            <a:r>
              <a:rPr lang="zh-CN" altLang="en-US" smtClean="0"/>
              <a:t>；</a:t>
            </a:r>
          </a:p>
          <a:p>
            <a:pPr lvl="0"/>
            <a:r>
              <a:rPr lang="zh-CN" altLang="en-US" smtClean="0"/>
              <a:t>网址：</a:t>
            </a:r>
            <a:r>
              <a:rPr lang="en-US" altLang="zh-CN" smtClean="0"/>
              <a:t>www.cbtm.gov.cn</a:t>
            </a:r>
            <a:endParaRPr lang="zh-CN" altLang="en-US" smtClean="0"/>
          </a:p>
        </p:txBody>
      </p:sp>
      <p:sp>
        <p:nvSpPr>
          <p:cNvPr id="6" name="日期占位符 5"/>
          <p:cNvSpPr>
            <a:spLocks noGrp="1"/>
          </p:cNvSpPr>
          <p:nvPr>
            <p:ph type="dt" sz="half" idx="10"/>
          </p:nvPr>
        </p:nvSpPr>
        <p:spPr/>
        <p:txBody>
          <a:bodyPr/>
          <a:lstStyle/>
          <a:p>
            <a:fld id="{3EFE8A8B-D912-498C-ACA3-BE0699AB836B}" type="datetime2">
              <a:rPr lang="zh-CN" altLang="en-US" smtClean="0"/>
              <a:t>2022年10月9日</a:t>
            </a:fld>
            <a:endParaRPr lang="zh-CN" altLang="en-US"/>
          </a:p>
        </p:txBody>
      </p:sp>
      <p:sp>
        <p:nvSpPr>
          <p:cNvPr id="7" name="灯片编号占位符 6"/>
          <p:cNvSpPr>
            <a:spLocks noGrp="1"/>
          </p:cNvSpPr>
          <p:nvPr>
            <p:ph type="sldNum" sz="quarter" idx="12"/>
          </p:nvPr>
        </p:nvSpPr>
        <p:spPr/>
        <p:txBody>
          <a:bodyPr/>
          <a:lstStyle/>
          <a:p>
            <a:fld id="{8B956499-6944-425D-9BB8-83C62C18DB14}" type="slidenum">
              <a:rPr lang="zh-CN" altLang="en-US" smtClean="0"/>
              <a:t>29</a:t>
            </a:fld>
            <a:endParaRPr lang="zh-CN" altLang="en-US"/>
          </a:p>
        </p:txBody>
      </p:sp>
    </p:spTree>
    <p:extLst>
      <p:ext uri="{BB962C8B-B14F-4D97-AF65-F5344CB8AC3E}">
        <p14:creationId xmlns:p14="http://schemas.microsoft.com/office/powerpoint/2010/main" val="115231589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享受政策需履行的手续</a:t>
            </a:r>
          </a:p>
        </p:txBody>
      </p:sp>
      <p:sp>
        <p:nvSpPr>
          <p:cNvPr id="3" name="文本占位符 2"/>
          <p:cNvSpPr>
            <a:spLocks noGrp="1"/>
          </p:cNvSpPr>
          <p:nvPr>
            <p:ph type="body" idx="1"/>
          </p:nvPr>
        </p:nvSpPr>
        <p:spPr/>
        <p:txBody>
          <a:bodyPr/>
          <a:lstStyle/>
          <a:p>
            <a:pPr lvl="0"/>
            <a:r>
              <a:rPr lang="zh-CN" altLang="en-US" smtClean="0"/>
              <a:t>签订合同：必须签订“四技（技术转让、技术开发、技术服务、技术咨询）”技术合同</a:t>
            </a:r>
          </a:p>
          <a:p>
            <a:pPr lvl="0"/>
            <a:r>
              <a:rPr lang="zh-CN" altLang="en-US" smtClean="0"/>
              <a:t>合同登记：到政府有关部门指定的技术合同认定登记机构进行技术合同认定登记</a:t>
            </a:r>
          </a:p>
          <a:p>
            <a:pPr lvl="0"/>
            <a:r>
              <a:rPr lang="zh-CN" altLang="en-US" smtClean="0"/>
              <a:t>退营业税：当事人可持经认定登记的技术合同文本、</a:t>
            </a:r>
            <a:r>
              <a:rPr lang="en-US" altLang="zh-CN" smtClean="0"/>
              <a:t>《</a:t>
            </a:r>
            <a:r>
              <a:rPr lang="zh-CN" altLang="en-US" smtClean="0"/>
              <a:t>技术性收入核定表</a:t>
            </a:r>
            <a:r>
              <a:rPr lang="en-US" altLang="zh-CN" smtClean="0"/>
              <a:t>》</a:t>
            </a:r>
            <a:r>
              <a:rPr lang="zh-CN" altLang="en-US" smtClean="0"/>
              <a:t>、</a:t>
            </a:r>
            <a:r>
              <a:rPr lang="en-US" altLang="zh-CN" smtClean="0"/>
              <a:t>《</a:t>
            </a:r>
            <a:r>
              <a:rPr lang="zh-CN" altLang="en-US" smtClean="0"/>
              <a:t>技术交易奖酬金领取单</a:t>
            </a:r>
            <a:r>
              <a:rPr lang="en-US" altLang="zh-CN" smtClean="0"/>
              <a:t>》</a:t>
            </a:r>
            <a:r>
              <a:rPr lang="zh-CN" altLang="en-US" smtClean="0"/>
              <a:t>三项证明到主管税务机关申请办理减免税手续</a:t>
            </a:r>
          </a:p>
          <a:p>
            <a:pPr lvl="0"/>
            <a:r>
              <a:rPr lang="zh-CN" altLang="en-US" smtClean="0"/>
              <a:t>奖酬金提取：凭登记机构开具的奖酬金领取单和本单位出具的证明到单位基本账户银行提取现金</a:t>
            </a:r>
          </a:p>
        </p:txBody>
      </p:sp>
      <p:sp>
        <p:nvSpPr>
          <p:cNvPr id="6" name="日期占位符 5"/>
          <p:cNvSpPr>
            <a:spLocks noGrp="1"/>
          </p:cNvSpPr>
          <p:nvPr>
            <p:ph type="dt" sz="half" idx="10"/>
          </p:nvPr>
        </p:nvSpPr>
        <p:spPr/>
        <p:txBody>
          <a:bodyPr/>
          <a:lstStyle/>
          <a:p>
            <a:fld id="{C6977647-A5A2-4384-AE20-D5DB6C9AE762}" type="datetime2">
              <a:rPr lang="zh-CN" altLang="en-US" smtClean="0"/>
              <a:t>2022年10月9日</a:t>
            </a:fld>
            <a:endParaRPr lang="zh-CN" altLang="en-US"/>
          </a:p>
        </p:txBody>
      </p:sp>
      <p:sp>
        <p:nvSpPr>
          <p:cNvPr id="7" name="灯片编号占位符 6"/>
          <p:cNvSpPr>
            <a:spLocks noGrp="1"/>
          </p:cNvSpPr>
          <p:nvPr>
            <p:ph type="sldNum" sz="quarter" idx="12"/>
          </p:nvPr>
        </p:nvSpPr>
        <p:spPr/>
        <p:txBody>
          <a:bodyPr/>
          <a:lstStyle/>
          <a:p>
            <a:fld id="{8B956499-6944-425D-9BB8-83C62C18DB14}" type="slidenum">
              <a:rPr lang="zh-CN" altLang="en-US" smtClean="0"/>
              <a:t>30</a:t>
            </a:fld>
            <a:endParaRPr lang="zh-CN" altLang="en-US"/>
          </a:p>
        </p:txBody>
      </p:sp>
    </p:spTree>
    <p:extLst>
      <p:ext uri="{BB962C8B-B14F-4D97-AF65-F5344CB8AC3E}">
        <p14:creationId xmlns:p14="http://schemas.microsoft.com/office/powerpoint/2010/main" val="255424621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需要提交的材料</a:t>
            </a:r>
          </a:p>
        </p:txBody>
      </p:sp>
      <p:sp>
        <p:nvSpPr>
          <p:cNvPr id="3" name="文本占位符 2"/>
          <p:cNvSpPr>
            <a:spLocks noGrp="1"/>
          </p:cNvSpPr>
          <p:nvPr>
            <p:ph type="body" idx="1"/>
          </p:nvPr>
        </p:nvSpPr>
        <p:spPr/>
        <p:txBody>
          <a:bodyPr/>
          <a:lstStyle/>
          <a:p>
            <a:pPr lvl="0"/>
            <a:r>
              <a:rPr lang="zh-CN" altLang="en-US" smtClean="0"/>
              <a:t>（</a:t>
            </a:r>
            <a:r>
              <a:rPr lang="en-US" altLang="zh-CN" smtClean="0"/>
              <a:t>1</a:t>
            </a:r>
            <a:r>
              <a:rPr lang="zh-CN" altLang="en-US" smtClean="0"/>
              <a:t>）依法生效的合同及相关附件</a:t>
            </a:r>
            <a:r>
              <a:rPr lang="en-US" altLang="zh-CN" smtClean="0"/>
              <a:t>(</a:t>
            </a:r>
            <a:r>
              <a:rPr lang="zh-CN" altLang="en-US" smtClean="0"/>
              <a:t>一式两份</a:t>
            </a:r>
            <a:r>
              <a:rPr lang="en-US" altLang="zh-CN" smtClean="0"/>
              <a:t>)</a:t>
            </a:r>
          </a:p>
          <a:p>
            <a:pPr lvl="0"/>
            <a:r>
              <a:rPr lang="zh-CN" altLang="en-US" smtClean="0"/>
              <a:t>（</a:t>
            </a:r>
            <a:r>
              <a:rPr lang="en-US" altLang="zh-CN" smtClean="0"/>
              <a:t>2</a:t>
            </a:r>
            <a:r>
              <a:rPr lang="zh-CN" altLang="en-US" smtClean="0"/>
              <a:t>）</a:t>
            </a:r>
            <a:r>
              <a:rPr lang="en-US" altLang="zh-CN" smtClean="0"/>
              <a:t>《</a:t>
            </a:r>
            <a:r>
              <a:rPr lang="zh-CN" altLang="en-US" smtClean="0"/>
              <a:t>技术合同登记用户注册表</a:t>
            </a:r>
            <a:r>
              <a:rPr lang="en-US" altLang="zh-CN" smtClean="0"/>
              <a:t>》(</a:t>
            </a:r>
            <a:r>
              <a:rPr lang="zh-CN" altLang="en-US" smtClean="0"/>
              <a:t>网上填</a:t>
            </a:r>
            <a:r>
              <a:rPr lang="en-US" altLang="zh-CN" smtClean="0"/>
              <a:t>)</a:t>
            </a:r>
          </a:p>
          <a:p>
            <a:pPr lvl="0"/>
            <a:r>
              <a:rPr lang="zh-CN" altLang="en-US" smtClean="0"/>
              <a:t>（</a:t>
            </a:r>
            <a:r>
              <a:rPr lang="en-US" altLang="zh-CN" smtClean="0"/>
              <a:t>3</a:t>
            </a:r>
            <a:r>
              <a:rPr lang="zh-CN" altLang="en-US" smtClean="0"/>
              <a:t>）</a:t>
            </a:r>
            <a:r>
              <a:rPr lang="en-US" altLang="zh-CN" smtClean="0"/>
              <a:t>《</a:t>
            </a:r>
            <a:r>
              <a:rPr lang="zh-CN" altLang="en-US" smtClean="0"/>
              <a:t>技术合同登记表</a:t>
            </a:r>
            <a:r>
              <a:rPr lang="en-US" altLang="zh-CN" smtClean="0"/>
              <a:t>》(</a:t>
            </a:r>
            <a:r>
              <a:rPr lang="zh-CN" altLang="en-US" smtClean="0"/>
              <a:t>网上填</a:t>
            </a:r>
            <a:r>
              <a:rPr lang="en-US" altLang="zh-CN" smtClean="0"/>
              <a:t>) </a:t>
            </a:r>
            <a:endParaRPr lang="zh-CN" altLang="en-US" smtClean="0"/>
          </a:p>
        </p:txBody>
      </p:sp>
      <p:sp>
        <p:nvSpPr>
          <p:cNvPr id="6" name="日期占位符 5"/>
          <p:cNvSpPr>
            <a:spLocks noGrp="1"/>
          </p:cNvSpPr>
          <p:nvPr>
            <p:ph type="dt" sz="half" idx="10"/>
          </p:nvPr>
        </p:nvSpPr>
        <p:spPr/>
        <p:txBody>
          <a:bodyPr/>
          <a:lstStyle/>
          <a:p>
            <a:fld id="{ABBD7F01-2E31-45B0-90B9-25CDD373753D}" type="datetime2">
              <a:rPr lang="zh-CN" altLang="en-US" smtClean="0"/>
              <a:t>2022年10月9日</a:t>
            </a:fld>
            <a:endParaRPr lang="zh-CN" altLang="en-US"/>
          </a:p>
        </p:txBody>
      </p:sp>
      <p:sp>
        <p:nvSpPr>
          <p:cNvPr id="7" name="灯片编号占位符 6"/>
          <p:cNvSpPr>
            <a:spLocks noGrp="1"/>
          </p:cNvSpPr>
          <p:nvPr>
            <p:ph type="sldNum" sz="quarter" idx="12"/>
          </p:nvPr>
        </p:nvSpPr>
        <p:spPr/>
        <p:txBody>
          <a:bodyPr/>
          <a:lstStyle/>
          <a:p>
            <a:fld id="{8B956499-6944-425D-9BB8-83C62C18DB14}" type="slidenum">
              <a:rPr lang="zh-CN" altLang="en-US" smtClean="0"/>
              <a:t>31</a:t>
            </a:fld>
            <a:endParaRPr lang="zh-CN" altLang="en-US"/>
          </a:p>
        </p:txBody>
      </p:sp>
    </p:spTree>
    <p:extLst>
      <p:ext uri="{BB962C8B-B14F-4D97-AF65-F5344CB8AC3E}">
        <p14:creationId xmlns:p14="http://schemas.microsoft.com/office/powerpoint/2010/main" val="283586839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不予登记的合同</a:t>
            </a:r>
          </a:p>
        </p:txBody>
      </p:sp>
      <p:sp>
        <p:nvSpPr>
          <p:cNvPr id="3" name="文本占位符 2"/>
          <p:cNvSpPr>
            <a:spLocks noGrp="1"/>
          </p:cNvSpPr>
          <p:nvPr>
            <p:ph type="body" idx="1"/>
          </p:nvPr>
        </p:nvSpPr>
        <p:spPr/>
        <p:txBody>
          <a:bodyPr/>
          <a:lstStyle/>
          <a:p>
            <a:pPr lvl="1"/>
            <a:r>
              <a:rPr lang="zh-CN" altLang="en-US" smtClean="0"/>
              <a:t>（一）无效合同或未生效的合同；</a:t>
            </a:r>
          </a:p>
          <a:p>
            <a:pPr lvl="1"/>
            <a:r>
              <a:rPr lang="zh-CN" altLang="en-US" smtClean="0"/>
              <a:t>（二）非技术合同；</a:t>
            </a:r>
          </a:p>
          <a:p>
            <a:pPr lvl="1"/>
            <a:r>
              <a:rPr lang="zh-CN" altLang="en-US" smtClean="0"/>
              <a:t>（三）合同主体、技术标的、价款、报酬以及使用费约定不明确的；</a:t>
            </a:r>
          </a:p>
          <a:p>
            <a:pPr lvl="1"/>
            <a:r>
              <a:rPr lang="zh-CN" altLang="en-US" smtClean="0"/>
              <a:t>（四）国家规定需要有关部门审批的合同，未办理审批手续的；</a:t>
            </a:r>
          </a:p>
          <a:p>
            <a:pPr lvl="1"/>
            <a:r>
              <a:rPr lang="zh-CN" altLang="en-US" smtClean="0"/>
              <a:t>（五）合同名称与合同中的权利义务关系不一致的，登记机构要求当事人补正，当事人未予补正的；</a:t>
            </a:r>
          </a:p>
          <a:p>
            <a:pPr lvl="1"/>
            <a:r>
              <a:rPr lang="zh-CN" altLang="en-US" smtClean="0"/>
              <a:t>（六）合同条款含有非法垄断技术、妨碍技术进步等不合理限制条款的；</a:t>
            </a:r>
          </a:p>
          <a:p>
            <a:pPr lvl="1"/>
            <a:r>
              <a:rPr lang="zh-CN" altLang="en-US" smtClean="0"/>
              <a:t>（七）当事人不出具或者所出具的证明文件不符合要求的；</a:t>
            </a:r>
          </a:p>
          <a:p>
            <a:pPr lvl="1"/>
            <a:r>
              <a:rPr lang="zh-CN" altLang="en-US" smtClean="0"/>
              <a:t>（八）印章不齐全或者印章与书写名称不一致的；</a:t>
            </a:r>
          </a:p>
          <a:p>
            <a:pPr lvl="1"/>
            <a:r>
              <a:rPr lang="zh-CN" altLang="en-US" smtClean="0"/>
              <a:t>（九）其他不应认定登记的合同。</a:t>
            </a:r>
          </a:p>
          <a:p>
            <a:pPr lvl="1"/>
            <a:endParaRPr lang="zh-CN" altLang="en-US" smtClean="0"/>
          </a:p>
        </p:txBody>
      </p:sp>
      <p:sp>
        <p:nvSpPr>
          <p:cNvPr id="6" name="日期占位符 5"/>
          <p:cNvSpPr>
            <a:spLocks noGrp="1"/>
          </p:cNvSpPr>
          <p:nvPr>
            <p:ph type="dt" sz="half" idx="10"/>
          </p:nvPr>
        </p:nvSpPr>
        <p:spPr/>
        <p:txBody>
          <a:bodyPr/>
          <a:lstStyle/>
          <a:p>
            <a:fld id="{C632A7BA-8146-4DC2-A09A-F16F6CBBC516}" type="datetime2">
              <a:rPr lang="zh-CN" altLang="en-US" smtClean="0"/>
              <a:t>2022年10月9日</a:t>
            </a:fld>
            <a:endParaRPr lang="zh-CN" altLang="en-US"/>
          </a:p>
        </p:txBody>
      </p:sp>
      <p:sp>
        <p:nvSpPr>
          <p:cNvPr id="7" name="灯片编号占位符 6"/>
          <p:cNvSpPr>
            <a:spLocks noGrp="1"/>
          </p:cNvSpPr>
          <p:nvPr>
            <p:ph type="sldNum" sz="quarter" idx="12"/>
          </p:nvPr>
        </p:nvSpPr>
        <p:spPr/>
        <p:txBody>
          <a:bodyPr/>
          <a:lstStyle/>
          <a:p>
            <a:fld id="{8B956499-6944-425D-9BB8-83C62C18DB14}" type="slidenum">
              <a:rPr lang="zh-CN" altLang="en-US" smtClean="0"/>
              <a:t>32</a:t>
            </a:fld>
            <a:endParaRPr lang="zh-CN" altLang="en-US"/>
          </a:p>
        </p:txBody>
      </p:sp>
    </p:spTree>
    <p:extLst>
      <p:ext uri="{BB962C8B-B14F-4D97-AF65-F5344CB8AC3E}">
        <p14:creationId xmlns:p14="http://schemas.microsoft.com/office/powerpoint/2010/main" val="27145211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五、高新技术成果转化项目认定</a:t>
            </a:r>
          </a:p>
        </p:txBody>
      </p:sp>
      <p:sp>
        <p:nvSpPr>
          <p:cNvPr id="3" name="文本占位符 2"/>
          <p:cNvSpPr>
            <a:spLocks noGrp="1"/>
          </p:cNvSpPr>
          <p:nvPr>
            <p:ph type="body" idx="1"/>
          </p:nvPr>
        </p:nvSpPr>
        <p:spPr/>
        <p:txBody>
          <a:bodyPr/>
          <a:lstStyle/>
          <a:p>
            <a:pPr lvl="0"/>
            <a:r>
              <a:rPr lang="zh-CN" altLang="en-US" smtClean="0"/>
              <a:t>政策依据</a:t>
            </a:r>
          </a:p>
          <a:p>
            <a:pPr lvl="1"/>
            <a:r>
              <a:rPr lang="zh-CN" altLang="en-US" smtClean="0"/>
              <a:t></a:t>
            </a:r>
            <a:r>
              <a:rPr lang="en-US" altLang="zh-CN" smtClean="0"/>
              <a:t>2001</a:t>
            </a:r>
            <a:r>
              <a:rPr lang="zh-CN" altLang="en-US" smtClean="0"/>
              <a:t>年，市政府发布</a:t>
            </a:r>
            <a:r>
              <a:rPr lang="en-US" altLang="zh-CN" smtClean="0"/>
              <a:t>《</a:t>
            </a:r>
            <a:r>
              <a:rPr lang="zh-CN" altLang="en-US" smtClean="0"/>
              <a:t>北京市关于进一步促进高新技术产业发展的若干规定</a:t>
            </a:r>
            <a:r>
              <a:rPr lang="en-US" altLang="zh-CN" smtClean="0"/>
              <a:t>》</a:t>
            </a:r>
            <a:r>
              <a:rPr lang="zh-CN" altLang="en-US" smtClean="0"/>
              <a:t>（京政发</a:t>
            </a:r>
            <a:r>
              <a:rPr lang="en-US" altLang="zh-CN" smtClean="0"/>
              <a:t>〔2001〕38</a:t>
            </a:r>
            <a:r>
              <a:rPr lang="zh-CN" altLang="en-US" smtClean="0"/>
              <a:t>号）。</a:t>
            </a:r>
          </a:p>
          <a:p>
            <a:pPr lvl="1"/>
            <a:r>
              <a:rPr lang="zh-CN" altLang="en-US" smtClean="0"/>
              <a:t></a:t>
            </a:r>
            <a:r>
              <a:rPr lang="en-US" altLang="zh-CN" smtClean="0"/>
              <a:t>2011</a:t>
            </a:r>
            <a:r>
              <a:rPr lang="zh-CN" altLang="en-US" smtClean="0"/>
              <a:t>年，市政府发布</a:t>
            </a:r>
            <a:r>
              <a:rPr lang="en-US" altLang="zh-CN" smtClean="0"/>
              <a:t>《</a:t>
            </a:r>
            <a:r>
              <a:rPr lang="zh-CN" altLang="en-US" smtClean="0"/>
              <a:t>关于进一步加大统筹力度支持高技术产业发展的若干意见</a:t>
            </a:r>
            <a:r>
              <a:rPr lang="en-US" altLang="zh-CN" smtClean="0"/>
              <a:t>》</a:t>
            </a:r>
            <a:r>
              <a:rPr lang="zh-CN" altLang="en-US" smtClean="0"/>
              <a:t>（京政发</a:t>
            </a:r>
            <a:r>
              <a:rPr lang="en-US" altLang="zh-CN" smtClean="0"/>
              <a:t>〔2011〕73</a:t>
            </a:r>
            <a:r>
              <a:rPr lang="zh-CN" altLang="en-US" smtClean="0"/>
              <a:t>号），废止原</a:t>
            </a:r>
            <a:r>
              <a:rPr lang="en-US" altLang="zh-CN" smtClean="0"/>
              <a:t>38</a:t>
            </a:r>
            <a:r>
              <a:rPr lang="zh-CN" altLang="en-US" smtClean="0"/>
              <a:t>号文，提出“继续推进科技成果转化项目认定制度，对经认定的成果转化项目，予以重点支持，推动企业进一步加强自主创新”。</a:t>
            </a:r>
          </a:p>
          <a:p>
            <a:pPr lvl="1"/>
            <a:r>
              <a:rPr lang="zh-CN" altLang="en-US" smtClean="0"/>
              <a:t>经市政府同意，市科委牵头研究对认定政策进行调整，起草</a:t>
            </a:r>
            <a:r>
              <a:rPr lang="en-US" altLang="zh-CN" smtClean="0"/>
              <a:t>《</a:t>
            </a:r>
            <a:r>
              <a:rPr lang="zh-CN" altLang="en-US" smtClean="0"/>
              <a:t>北京市高新技术成果转化项目认定办法</a:t>
            </a:r>
            <a:r>
              <a:rPr lang="en-US" altLang="zh-CN" smtClean="0"/>
              <a:t>》</a:t>
            </a:r>
            <a:r>
              <a:rPr lang="zh-CN" altLang="en-US" smtClean="0"/>
              <a:t>，经中关村示范区领导小组第十三次会议审议通过。</a:t>
            </a:r>
            <a:r>
              <a:rPr lang="en-US" altLang="zh-CN" smtClean="0"/>
              <a:t>6</a:t>
            </a:r>
            <a:r>
              <a:rPr lang="zh-CN" altLang="en-US" smtClean="0"/>
              <a:t>月</a:t>
            </a:r>
            <a:r>
              <a:rPr lang="en-US" altLang="zh-CN" smtClean="0"/>
              <a:t>14</a:t>
            </a:r>
            <a:r>
              <a:rPr lang="zh-CN" altLang="en-US" smtClean="0"/>
              <a:t>日经市科委、市发改委、市财政局、市经信委、中关村管委会印发</a:t>
            </a:r>
            <a:r>
              <a:rPr lang="en-US" altLang="zh-CN" smtClean="0"/>
              <a:t>《</a:t>
            </a:r>
            <a:r>
              <a:rPr lang="zh-CN" altLang="en-US" smtClean="0"/>
              <a:t>北京市高新技术成果转化项目认定办法</a:t>
            </a:r>
            <a:r>
              <a:rPr lang="en-US" altLang="zh-CN" smtClean="0"/>
              <a:t>》</a:t>
            </a:r>
            <a:r>
              <a:rPr lang="zh-CN" altLang="en-US" smtClean="0"/>
              <a:t>（</a:t>
            </a:r>
            <a:r>
              <a:rPr lang="en-US" altLang="zh-CN" smtClean="0"/>
              <a:t>[</a:t>
            </a:r>
            <a:r>
              <a:rPr lang="zh-CN" altLang="en-US" smtClean="0"/>
              <a:t>京科发</a:t>
            </a:r>
            <a:r>
              <a:rPr lang="en-US" altLang="zh-CN" smtClean="0"/>
              <a:t>[2012]329</a:t>
            </a:r>
            <a:r>
              <a:rPr lang="zh-CN" altLang="en-US" smtClean="0"/>
              <a:t>号</a:t>
            </a:r>
            <a:r>
              <a:rPr lang="en-US" altLang="zh-CN" smtClean="0"/>
              <a:t>)</a:t>
            </a:r>
            <a:r>
              <a:rPr lang="zh-CN" altLang="en-US" smtClean="0"/>
              <a:t>。</a:t>
            </a:r>
          </a:p>
        </p:txBody>
      </p:sp>
      <p:sp>
        <p:nvSpPr>
          <p:cNvPr id="6" name="日期占位符 5"/>
          <p:cNvSpPr>
            <a:spLocks noGrp="1"/>
          </p:cNvSpPr>
          <p:nvPr>
            <p:ph type="dt" sz="half" idx="10"/>
          </p:nvPr>
        </p:nvSpPr>
        <p:spPr/>
        <p:txBody>
          <a:bodyPr/>
          <a:lstStyle/>
          <a:p>
            <a:fld id="{378DB931-8356-42C1-B5D9-7329452C64DF}" type="datetime2">
              <a:rPr lang="zh-CN" altLang="en-US" smtClean="0"/>
              <a:t>2022年10月9日</a:t>
            </a:fld>
            <a:endParaRPr lang="zh-CN" altLang="en-US"/>
          </a:p>
        </p:txBody>
      </p:sp>
      <p:sp>
        <p:nvSpPr>
          <p:cNvPr id="7" name="灯片编号占位符 6"/>
          <p:cNvSpPr>
            <a:spLocks noGrp="1"/>
          </p:cNvSpPr>
          <p:nvPr>
            <p:ph type="sldNum" sz="quarter" idx="12"/>
          </p:nvPr>
        </p:nvSpPr>
        <p:spPr/>
        <p:txBody>
          <a:bodyPr/>
          <a:lstStyle/>
          <a:p>
            <a:fld id="{8B956499-6944-425D-9BB8-83C62C18DB14}" type="slidenum">
              <a:rPr lang="zh-CN" altLang="en-US" smtClean="0"/>
              <a:t>33</a:t>
            </a:fld>
            <a:endParaRPr lang="zh-CN" altLang="en-US"/>
          </a:p>
        </p:txBody>
      </p:sp>
    </p:spTree>
    <p:extLst>
      <p:ext uri="{BB962C8B-B14F-4D97-AF65-F5344CB8AC3E}">
        <p14:creationId xmlns:p14="http://schemas.microsoft.com/office/powerpoint/2010/main" val="2038561910"/>
      </p:ext>
    </p:extLst>
  </p:cSld>
  <p:clrMapOvr>
    <a:masterClrMapping/>
  </p:clrMapOvr>
  <p:transition spd="slow">
    <p:randomBar dir="vert"/>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六、科技型中小企业技术创新资金</a:t>
            </a:r>
          </a:p>
        </p:txBody>
      </p:sp>
      <p:sp>
        <p:nvSpPr>
          <p:cNvPr id="3" name="文本占位符 2"/>
          <p:cNvSpPr>
            <a:spLocks noGrp="1"/>
          </p:cNvSpPr>
          <p:nvPr>
            <p:ph type="body" idx="1"/>
          </p:nvPr>
        </p:nvSpPr>
        <p:spPr/>
        <p:txBody>
          <a:bodyPr>
            <a:normAutofit/>
          </a:bodyPr>
          <a:lstStyle/>
          <a:p>
            <a:pPr lvl="0"/>
            <a:r>
              <a:rPr lang="zh-CN" altLang="en-US" smtClean="0"/>
              <a:t>创新资金主要有无偿资助和贷款贴息两种方式，以无偿资助方式为主。</a:t>
            </a:r>
          </a:p>
          <a:p>
            <a:pPr lvl="0"/>
            <a:r>
              <a:rPr lang="zh-CN" altLang="en-US" smtClean="0"/>
              <a:t>（一）无偿资助</a:t>
            </a:r>
          </a:p>
          <a:p>
            <a:pPr lvl="1"/>
            <a:r>
              <a:rPr lang="en-US" altLang="zh-CN" smtClean="0"/>
              <a:t>1</a:t>
            </a:r>
            <a:r>
              <a:rPr lang="zh-CN" altLang="en-US" smtClean="0"/>
              <a:t>、主要用于科技型中小企业技术创新中新项目、新技术、新产品研究开发及中试放大阶段的必要补助；</a:t>
            </a:r>
          </a:p>
          <a:p>
            <a:pPr lvl="1"/>
            <a:r>
              <a:rPr lang="en-US" altLang="zh-CN" smtClean="0"/>
              <a:t>2</a:t>
            </a:r>
            <a:r>
              <a:rPr lang="zh-CN" altLang="en-US" smtClean="0"/>
              <a:t>、项目新增投资一般在</a:t>
            </a:r>
            <a:r>
              <a:rPr lang="en-US" altLang="zh-CN" smtClean="0"/>
              <a:t>1000</a:t>
            </a:r>
            <a:r>
              <a:rPr lang="zh-CN" altLang="en-US" smtClean="0"/>
              <a:t>万元以下，资金来源基本确定，投资结构合理，项目实施周期不超过</a:t>
            </a:r>
            <a:r>
              <a:rPr lang="en-US" altLang="zh-CN" smtClean="0"/>
              <a:t>2</a:t>
            </a:r>
            <a:r>
              <a:rPr lang="zh-CN" altLang="en-US" smtClean="0"/>
              <a:t>年；</a:t>
            </a:r>
          </a:p>
          <a:p>
            <a:pPr lvl="1"/>
            <a:r>
              <a:rPr lang="en-US" altLang="zh-CN" smtClean="0"/>
              <a:t>3</a:t>
            </a:r>
            <a:r>
              <a:rPr lang="zh-CN" altLang="en-US" smtClean="0"/>
              <a:t>、企业需有与申请创新资金资助等额以上的自有资金匹配；</a:t>
            </a:r>
          </a:p>
          <a:p>
            <a:pPr lvl="1"/>
            <a:r>
              <a:rPr lang="en-US" altLang="zh-CN" smtClean="0"/>
              <a:t>4</a:t>
            </a:r>
            <a:r>
              <a:rPr lang="zh-CN" altLang="en-US" smtClean="0"/>
              <a:t>、无偿资助数额一般不超过</a:t>
            </a:r>
            <a:r>
              <a:rPr lang="en-US" altLang="zh-CN" smtClean="0"/>
              <a:t>60</a:t>
            </a:r>
            <a:r>
              <a:rPr lang="zh-CN" altLang="en-US" smtClean="0"/>
              <a:t>万元，重大项目不超过</a:t>
            </a:r>
            <a:r>
              <a:rPr lang="en-US" altLang="zh-CN" smtClean="0"/>
              <a:t>200</a:t>
            </a:r>
            <a:r>
              <a:rPr lang="zh-CN" altLang="en-US" smtClean="0"/>
              <a:t>万元。</a:t>
            </a:r>
          </a:p>
          <a:p>
            <a:pPr lvl="0"/>
            <a:r>
              <a:rPr lang="zh-CN" altLang="en-US" smtClean="0"/>
              <a:t>（二）科技部科技型中小企业基金中，还涉及中小企业公共服务机构补助资金、创业投资引导基金项目的企业和机构的资助</a:t>
            </a:r>
          </a:p>
        </p:txBody>
      </p:sp>
      <p:sp>
        <p:nvSpPr>
          <p:cNvPr id="6" name="日期占位符 5"/>
          <p:cNvSpPr>
            <a:spLocks noGrp="1"/>
          </p:cNvSpPr>
          <p:nvPr>
            <p:ph type="dt" sz="half" idx="10"/>
          </p:nvPr>
        </p:nvSpPr>
        <p:spPr/>
        <p:txBody>
          <a:bodyPr/>
          <a:lstStyle/>
          <a:p>
            <a:fld id="{09C447CC-C28D-4EAF-B406-E392A8FB9D28}" type="datetime2">
              <a:rPr lang="zh-CN" altLang="en-US" smtClean="0"/>
              <a:t>2022年10月9日</a:t>
            </a:fld>
            <a:endParaRPr lang="zh-CN" altLang="en-US"/>
          </a:p>
        </p:txBody>
      </p:sp>
      <p:sp>
        <p:nvSpPr>
          <p:cNvPr id="7" name="灯片编号占位符 6"/>
          <p:cNvSpPr>
            <a:spLocks noGrp="1"/>
          </p:cNvSpPr>
          <p:nvPr>
            <p:ph type="sldNum" sz="quarter" idx="12"/>
          </p:nvPr>
        </p:nvSpPr>
        <p:spPr/>
        <p:txBody>
          <a:bodyPr/>
          <a:lstStyle/>
          <a:p>
            <a:fld id="{8B956499-6944-425D-9BB8-83C62C18DB14}" type="slidenum">
              <a:rPr lang="zh-CN" altLang="en-US" smtClean="0"/>
              <a:t>34</a:t>
            </a:fld>
            <a:endParaRPr lang="zh-CN" altLang="en-US"/>
          </a:p>
        </p:txBody>
      </p:sp>
    </p:spTree>
    <p:extLst>
      <p:ext uri="{BB962C8B-B14F-4D97-AF65-F5344CB8AC3E}">
        <p14:creationId xmlns:p14="http://schemas.microsoft.com/office/powerpoint/2010/main" val="2899346369"/>
      </p:ext>
    </p:extLst>
  </p:cSld>
  <p:clrMapOvr>
    <a:masterClrMapping/>
  </p:clrMapOvr>
  <p:transition spd="slow">
    <p:randomBar dir="ver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七、设计产业促进</a:t>
            </a:r>
          </a:p>
        </p:txBody>
      </p:sp>
      <p:sp>
        <p:nvSpPr>
          <p:cNvPr id="3" name="文本占位符 2"/>
          <p:cNvSpPr>
            <a:spLocks noGrp="1"/>
          </p:cNvSpPr>
          <p:nvPr>
            <p:ph type="body" idx="1"/>
          </p:nvPr>
        </p:nvSpPr>
        <p:spPr/>
        <p:txBody>
          <a:bodyPr/>
          <a:lstStyle/>
          <a:p>
            <a:pPr lvl="0"/>
            <a:r>
              <a:rPr lang="zh-CN" altLang="en-US" smtClean="0"/>
              <a:t>政策依据</a:t>
            </a:r>
          </a:p>
          <a:p>
            <a:pPr lvl="1"/>
            <a:r>
              <a:rPr lang="zh-CN" altLang="en-US" smtClean="0"/>
              <a:t></a:t>
            </a:r>
            <a:r>
              <a:rPr lang="en-US" altLang="zh-CN" smtClean="0"/>
              <a:t>《</a:t>
            </a:r>
            <a:r>
              <a:rPr lang="zh-CN" altLang="en-US" smtClean="0"/>
              <a:t>北京市促进设计产业发展的指导意见</a:t>
            </a:r>
            <a:r>
              <a:rPr lang="en-US" altLang="zh-CN" smtClean="0"/>
              <a:t>》</a:t>
            </a:r>
            <a:r>
              <a:rPr lang="zh-CN" altLang="en-US" smtClean="0"/>
              <a:t>（京政发</a:t>
            </a:r>
            <a:r>
              <a:rPr lang="en-US" altLang="zh-CN" smtClean="0"/>
              <a:t>〔2010〕29</a:t>
            </a:r>
            <a:r>
              <a:rPr lang="zh-CN" altLang="en-US" smtClean="0"/>
              <a:t>号）</a:t>
            </a:r>
          </a:p>
          <a:p>
            <a:pPr lvl="1"/>
            <a:r>
              <a:rPr lang="zh-CN" altLang="en-US" smtClean="0"/>
              <a:t></a:t>
            </a:r>
            <a:r>
              <a:rPr lang="en-US" altLang="zh-CN" smtClean="0"/>
              <a:t>《</a:t>
            </a:r>
            <a:r>
              <a:rPr lang="zh-CN" altLang="en-US" smtClean="0"/>
              <a:t>北京市科学技术委员会关于进一步促进科技服务业发展的指导意见</a:t>
            </a:r>
            <a:r>
              <a:rPr lang="en-US" altLang="zh-CN" smtClean="0"/>
              <a:t>》</a:t>
            </a:r>
            <a:r>
              <a:rPr lang="zh-CN" altLang="en-US" smtClean="0"/>
              <a:t>（京科发</a:t>
            </a:r>
            <a:r>
              <a:rPr lang="en-US" altLang="zh-CN" smtClean="0"/>
              <a:t>〔2012〕40</a:t>
            </a:r>
            <a:r>
              <a:rPr lang="zh-CN" altLang="en-US" smtClean="0"/>
              <a:t>号）</a:t>
            </a:r>
          </a:p>
          <a:p>
            <a:pPr lvl="0"/>
            <a:r>
              <a:rPr lang="zh-CN" altLang="en-US" smtClean="0"/>
              <a:t>目标</a:t>
            </a:r>
          </a:p>
          <a:p>
            <a:pPr lvl="1"/>
            <a:r>
              <a:rPr lang="zh-CN" altLang="en-US" smtClean="0"/>
              <a:t>以推进设计之都建设为核心，以塑造“北京设计”品牌、促进设计与产业融合为着力点，打造</a:t>
            </a:r>
            <a:r>
              <a:rPr lang="en-US" altLang="zh-CN" smtClean="0"/>
              <a:t>2013</a:t>
            </a:r>
            <a:r>
              <a:rPr lang="zh-CN" altLang="en-US" smtClean="0"/>
              <a:t>设计之都推广年</a:t>
            </a:r>
          </a:p>
          <a:p>
            <a:pPr lvl="1"/>
            <a:r>
              <a:rPr lang="zh-CN" altLang="en-US" smtClean="0"/>
              <a:t>推动北京设计走向世界</a:t>
            </a:r>
          </a:p>
          <a:p>
            <a:pPr lvl="1"/>
            <a:r>
              <a:rPr lang="zh-CN" altLang="en-US" smtClean="0"/>
              <a:t>提升设计自主创新能力，促进设计与产业融合，提升市民生活品质</a:t>
            </a:r>
          </a:p>
        </p:txBody>
      </p:sp>
      <p:sp>
        <p:nvSpPr>
          <p:cNvPr id="6" name="日期占位符 5"/>
          <p:cNvSpPr>
            <a:spLocks noGrp="1"/>
          </p:cNvSpPr>
          <p:nvPr>
            <p:ph type="dt" sz="half" idx="10"/>
          </p:nvPr>
        </p:nvSpPr>
        <p:spPr/>
        <p:txBody>
          <a:bodyPr/>
          <a:lstStyle/>
          <a:p>
            <a:fld id="{98449843-58AE-4924-94EF-B13A63A346AD}" type="datetime2">
              <a:rPr lang="zh-CN" altLang="en-US" smtClean="0"/>
              <a:t>2022年10月9日</a:t>
            </a:fld>
            <a:endParaRPr lang="zh-CN" altLang="en-US"/>
          </a:p>
        </p:txBody>
      </p:sp>
      <p:sp>
        <p:nvSpPr>
          <p:cNvPr id="7" name="灯片编号占位符 6"/>
          <p:cNvSpPr>
            <a:spLocks noGrp="1"/>
          </p:cNvSpPr>
          <p:nvPr>
            <p:ph type="sldNum" sz="quarter" idx="12"/>
          </p:nvPr>
        </p:nvSpPr>
        <p:spPr/>
        <p:txBody>
          <a:bodyPr/>
          <a:lstStyle/>
          <a:p>
            <a:fld id="{8B956499-6944-425D-9BB8-83C62C18DB14}" type="slidenum">
              <a:rPr lang="zh-CN" altLang="en-US" smtClean="0"/>
              <a:t>35</a:t>
            </a:fld>
            <a:endParaRPr lang="zh-CN" altLang="en-US"/>
          </a:p>
        </p:txBody>
      </p:sp>
    </p:spTree>
    <p:extLst>
      <p:ext uri="{BB962C8B-B14F-4D97-AF65-F5344CB8AC3E}">
        <p14:creationId xmlns:p14="http://schemas.microsoft.com/office/powerpoint/2010/main" val="4027301975"/>
      </p:ext>
    </p:extLst>
  </p:cSld>
  <p:clrMapOvr>
    <a:masterClrMapping/>
  </p:clrMapOvr>
  <p:transition spd="slow">
    <p:randomBar dir="ver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八、产业技术创新战略联盟建设</a:t>
            </a:r>
          </a:p>
        </p:txBody>
      </p:sp>
      <p:sp>
        <p:nvSpPr>
          <p:cNvPr id="3" name="文本占位符 2"/>
          <p:cNvSpPr>
            <a:spLocks noGrp="1"/>
          </p:cNvSpPr>
          <p:nvPr>
            <p:ph type="body" idx="1"/>
          </p:nvPr>
        </p:nvSpPr>
        <p:spPr/>
        <p:txBody>
          <a:bodyPr>
            <a:normAutofit fontScale="92500" lnSpcReduction="10000"/>
          </a:bodyPr>
          <a:lstStyle/>
          <a:p>
            <a:pPr lvl="0"/>
            <a:r>
              <a:rPr lang="zh-CN" altLang="en-US" smtClean="0"/>
              <a:t>市科委联合其他部门发布了</a:t>
            </a:r>
            <a:r>
              <a:rPr lang="en-US" altLang="zh-CN" smtClean="0"/>
              <a:t>《</a:t>
            </a:r>
            <a:r>
              <a:rPr lang="zh-CN" altLang="en-US" smtClean="0"/>
              <a:t>关于促进产业技术创新战略联盟加快发展的意见</a:t>
            </a:r>
            <a:r>
              <a:rPr lang="en-US" altLang="zh-CN" smtClean="0"/>
              <a:t>》</a:t>
            </a:r>
            <a:r>
              <a:rPr lang="zh-CN" altLang="en-US" smtClean="0"/>
              <a:t>（京科发</a:t>
            </a:r>
            <a:r>
              <a:rPr lang="en-US" altLang="zh-CN" smtClean="0"/>
              <a:t>[2011]303</a:t>
            </a:r>
            <a:r>
              <a:rPr lang="zh-CN" altLang="en-US" smtClean="0"/>
              <a:t>号）等一批政策措施，将支持联盟发展作为当前的重要工作，自</a:t>
            </a:r>
            <a:r>
              <a:rPr lang="en-US" altLang="zh-CN" smtClean="0"/>
              <a:t>2010</a:t>
            </a:r>
            <a:r>
              <a:rPr lang="zh-CN" altLang="en-US" smtClean="0"/>
              <a:t>年起，设立“产业技术创新战略联盟建设”科技专项，为联盟发展营造有利环境三年来，市科委安排专项资金</a:t>
            </a:r>
            <a:r>
              <a:rPr lang="en-US" altLang="zh-CN" smtClean="0"/>
              <a:t>5000</a:t>
            </a:r>
            <a:r>
              <a:rPr lang="zh-CN" altLang="en-US" smtClean="0"/>
              <a:t>万元支持联盟发展，前两年共对</a:t>
            </a:r>
            <a:r>
              <a:rPr lang="en-US" altLang="zh-CN" smtClean="0"/>
              <a:t>58</a:t>
            </a:r>
            <a:r>
              <a:rPr lang="zh-CN" altLang="en-US" smtClean="0"/>
              <a:t>家联盟（其中有</a:t>
            </a:r>
            <a:r>
              <a:rPr lang="en-US" altLang="zh-CN" smtClean="0"/>
              <a:t>21</a:t>
            </a:r>
            <a:r>
              <a:rPr lang="zh-CN" altLang="en-US" smtClean="0"/>
              <a:t>家优秀联盟连续两年获得建设资</a:t>
            </a:r>
          </a:p>
          <a:p>
            <a:pPr lvl="0"/>
            <a:r>
              <a:rPr lang="zh-CN" altLang="en-US" smtClean="0"/>
              <a:t>金支持）支持</a:t>
            </a:r>
            <a:r>
              <a:rPr lang="en-US" altLang="zh-CN" smtClean="0"/>
              <a:t>3000</a:t>
            </a:r>
            <a:r>
              <a:rPr lang="zh-CN" altLang="en-US" smtClean="0"/>
              <a:t>万元专项资金，用于联盟能力建设，同时对联盟成员单位联合申报的</a:t>
            </a:r>
            <a:r>
              <a:rPr lang="en-US" altLang="zh-CN" smtClean="0"/>
              <a:t>10</a:t>
            </a:r>
            <a:r>
              <a:rPr lang="zh-CN" altLang="en-US" smtClean="0"/>
              <a:t>个共性技术研发及公共技术服务平台建设项目进行支持。</a:t>
            </a:r>
          </a:p>
          <a:p>
            <a:pPr lvl="0"/>
            <a:r>
              <a:rPr lang="en-US" altLang="zh-CN" smtClean="0"/>
              <a:t>1. </a:t>
            </a:r>
            <a:r>
              <a:rPr lang="zh-CN" altLang="en-US" smtClean="0"/>
              <a:t>求利益之同</a:t>
            </a:r>
            <a:r>
              <a:rPr lang="en-US" altLang="zh-CN" smtClean="0"/>
              <a:t>——</a:t>
            </a:r>
            <a:r>
              <a:rPr lang="zh-CN" altLang="en-US" smtClean="0"/>
              <a:t>以满足合作各方的内在要求和共同利益为基点联盟是一种利益共同体，共同的长期战略利益是联盟组建和持续发展的重要基础。</a:t>
            </a:r>
          </a:p>
          <a:p>
            <a:pPr lvl="0"/>
            <a:r>
              <a:rPr lang="en-US" altLang="zh-CN" smtClean="0"/>
              <a:t>2. </a:t>
            </a:r>
            <a:r>
              <a:rPr lang="zh-CN" altLang="en-US" smtClean="0"/>
              <a:t>立创新之本</a:t>
            </a:r>
            <a:r>
              <a:rPr lang="en-US" altLang="zh-CN" smtClean="0"/>
              <a:t>——</a:t>
            </a:r>
            <a:r>
              <a:rPr lang="zh-CN" altLang="en-US" smtClean="0"/>
              <a:t>以提升企业自主创新能力和产业核心竞争力为基点，加快产业技术联盟构建和发展对增强企业自主创新能力，提升产业核心竞争力，加快建立技术创新体系，实现国家创新体系建设的突破具有重要意义。</a:t>
            </a:r>
          </a:p>
        </p:txBody>
      </p:sp>
      <p:sp>
        <p:nvSpPr>
          <p:cNvPr id="6" name="日期占位符 5"/>
          <p:cNvSpPr>
            <a:spLocks noGrp="1"/>
          </p:cNvSpPr>
          <p:nvPr>
            <p:ph type="dt" sz="half" idx="10"/>
          </p:nvPr>
        </p:nvSpPr>
        <p:spPr/>
        <p:txBody>
          <a:bodyPr/>
          <a:lstStyle/>
          <a:p>
            <a:fld id="{9B75B086-9DE9-466D-9DC0-C83D25E064CD}" type="datetime2">
              <a:rPr lang="zh-CN" altLang="en-US" smtClean="0"/>
              <a:t>2022年10月9日</a:t>
            </a:fld>
            <a:endParaRPr lang="zh-CN" altLang="en-US"/>
          </a:p>
        </p:txBody>
      </p:sp>
      <p:sp>
        <p:nvSpPr>
          <p:cNvPr id="7" name="灯片编号占位符 6"/>
          <p:cNvSpPr>
            <a:spLocks noGrp="1"/>
          </p:cNvSpPr>
          <p:nvPr>
            <p:ph type="sldNum" sz="quarter" idx="12"/>
          </p:nvPr>
        </p:nvSpPr>
        <p:spPr/>
        <p:txBody>
          <a:bodyPr/>
          <a:lstStyle/>
          <a:p>
            <a:fld id="{8B956499-6944-425D-9BB8-83C62C18DB14}" type="slidenum">
              <a:rPr lang="zh-CN" altLang="en-US" smtClean="0"/>
              <a:t>36</a:t>
            </a:fld>
            <a:endParaRPr lang="zh-CN" altLang="en-US"/>
          </a:p>
        </p:txBody>
      </p:sp>
    </p:spTree>
    <p:extLst>
      <p:ext uri="{BB962C8B-B14F-4D97-AF65-F5344CB8AC3E}">
        <p14:creationId xmlns:p14="http://schemas.microsoft.com/office/powerpoint/2010/main" val="2763753097"/>
      </p:ext>
    </p:extLst>
  </p:cSld>
  <p:clrMapOvr>
    <a:masterClrMapping/>
  </p:clrMapOvr>
  <p:transition spd="slow">
    <p:randomBar dir="ver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九、技术转移专项</a:t>
            </a:r>
          </a:p>
        </p:txBody>
      </p:sp>
      <p:sp>
        <p:nvSpPr>
          <p:cNvPr id="3" name="文本占位符 2"/>
          <p:cNvSpPr>
            <a:spLocks noGrp="1"/>
          </p:cNvSpPr>
          <p:nvPr>
            <p:ph type="body" idx="1"/>
          </p:nvPr>
        </p:nvSpPr>
        <p:spPr/>
        <p:txBody>
          <a:bodyPr>
            <a:normAutofit lnSpcReduction="10000"/>
          </a:bodyPr>
          <a:lstStyle/>
          <a:p>
            <a:pPr lvl="0"/>
            <a:r>
              <a:rPr lang="zh-CN" altLang="en-US" smtClean="0"/>
              <a:t>政策依据</a:t>
            </a:r>
          </a:p>
          <a:p>
            <a:pPr lvl="1"/>
            <a:r>
              <a:rPr lang="en-US" altLang="zh-CN" smtClean="0"/>
              <a:t>《</a:t>
            </a:r>
            <a:r>
              <a:rPr lang="zh-CN" altLang="en-US" smtClean="0"/>
              <a:t>北京市科学技术委员会关于进一步促进科技服务业发展的指导意见</a:t>
            </a:r>
            <a:r>
              <a:rPr lang="en-US" altLang="zh-CN" smtClean="0"/>
              <a:t>》</a:t>
            </a:r>
            <a:r>
              <a:rPr lang="zh-CN" altLang="en-US" smtClean="0"/>
              <a:t>（京科发</a:t>
            </a:r>
            <a:r>
              <a:rPr lang="en-US" altLang="zh-CN" smtClean="0"/>
              <a:t>[2012]44</a:t>
            </a:r>
            <a:r>
              <a:rPr lang="zh-CN" altLang="en-US" smtClean="0"/>
              <a:t>号）重点支持方向（预计五月中下旬发布项目征集指南）</a:t>
            </a:r>
          </a:p>
          <a:p>
            <a:pPr lvl="1"/>
            <a:r>
              <a:rPr lang="zh-CN" altLang="en-US" smtClean="0"/>
              <a:t>提升服务能力，创新服务模式。提升机构专业化服务能力，鼓励机构集成创新，探索特色服务模式。</a:t>
            </a:r>
          </a:p>
          <a:p>
            <a:pPr lvl="1"/>
            <a:r>
              <a:rPr lang="zh-CN" altLang="en-US" smtClean="0"/>
              <a:t>开展人才培养，完善队伍建设。引导机构培养技术转移人才，逐步建设完善技术经纪人队伍。</a:t>
            </a:r>
          </a:p>
          <a:p>
            <a:pPr lvl="1"/>
            <a:r>
              <a:rPr lang="zh-CN" altLang="en-US" smtClean="0"/>
              <a:t>注重服务标准，规范管理流程。贯彻落实北京市地方标准</a:t>
            </a:r>
            <a:r>
              <a:rPr lang="en-US" altLang="zh-CN" smtClean="0"/>
              <a:t>《</a:t>
            </a:r>
            <a:r>
              <a:rPr lang="zh-CN" altLang="en-US" smtClean="0"/>
              <a:t>技术转移服务规范</a:t>
            </a:r>
            <a:r>
              <a:rPr lang="en-US" altLang="zh-CN" smtClean="0"/>
              <a:t>》</a:t>
            </a:r>
            <a:r>
              <a:rPr lang="zh-CN" altLang="en-US" smtClean="0"/>
              <a:t>，鼓励机构规范化管理发展。</a:t>
            </a:r>
          </a:p>
          <a:p>
            <a:pPr lvl="1"/>
            <a:r>
              <a:rPr lang="zh-CN" altLang="en-US" smtClean="0"/>
              <a:t>跟踪技术成果，实现转化落地。引导机构为科技成果在京转化落地服务，推动首都科技服务业发展。</a:t>
            </a:r>
          </a:p>
        </p:txBody>
      </p:sp>
      <p:sp>
        <p:nvSpPr>
          <p:cNvPr id="6" name="日期占位符 5"/>
          <p:cNvSpPr>
            <a:spLocks noGrp="1"/>
          </p:cNvSpPr>
          <p:nvPr>
            <p:ph type="dt" sz="half" idx="10"/>
          </p:nvPr>
        </p:nvSpPr>
        <p:spPr/>
        <p:txBody>
          <a:bodyPr/>
          <a:lstStyle/>
          <a:p>
            <a:fld id="{5E927072-DD41-41E4-83EB-6726C4916F66}" type="datetime2">
              <a:rPr lang="zh-CN" altLang="en-US" smtClean="0"/>
              <a:t>2022年10月9日</a:t>
            </a:fld>
            <a:endParaRPr lang="zh-CN" altLang="en-US"/>
          </a:p>
        </p:txBody>
      </p:sp>
      <p:sp>
        <p:nvSpPr>
          <p:cNvPr id="7" name="灯片编号占位符 6"/>
          <p:cNvSpPr>
            <a:spLocks noGrp="1"/>
          </p:cNvSpPr>
          <p:nvPr>
            <p:ph type="sldNum" sz="quarter" idx="12"/>
          </p:nvPr>
        </p:nvSpPr>
        <p:spPr/>
        <p:txBody>
          <a:bodyPr/>
          <a:lstStyle/>
          <a:p>
            <a:fld id="{8B956499-6944-425D-9BB8-83C62C18DB14}" type="slidenum">
              <a:rPr lang="zh-CN" altLang="en-US" smtClean="0"/>
              <a:t>37</a:t>
            </a:fld>
            <a:endParaRPr lang="zh-CN" altLang="en-US"/>
          </a:p>
        </p:txBody>
      </p:sp>
    </p:spTree>
    <p:extLst>
      <p:ext uri="{BB962C8B-B14F-4D97-AF65-F5344CB8AC3E}">
        <p14:creationId xmlns:p14="http://schemas.microsoft.com/office/powerpoint/2010/main" val="4074268157"/>
      </p:ext>
    </p:extLst>
  </p:cSld>
  <p:clrMapOvr>
    <a:masterClrMapping/>
  </p:clrMapOvr>
  <p:transition spd="slow">
    <p:randomBar dir="ver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十、工程技术服务促进</a:t>
            </a:r>
          </a:p>
        </p:txBody>
      </p:sp>
      <p:sp>
        <p:nvSpPr>
          <p:cNvPr id="3" name="文本占位符 2"/>
          <p:cNvSpPr>
            <a:spLocks noGrp="1"/>
          </p:cNvSpPr>
          <p:nvPr>
            <p:ph type="body" idx="1"/>
          </p:nvPr>
        </p:nvSpPr>
        <p:spPr/>
        <p:txBody>
          <a:bodyPr/>
          <a:lstStyle/>
          <a:p>
            <a:pPr lvl="0"/>
            <a:r>
              <a:rPr lang="zh-CN" altLang="en-US" smtClean="0"/>
              <a:t>政策依据</a:t>
            </a:r>
          </a:p>
          <a:p>
            <a:pPr lvl="1"/>
            <a:r>
              <a:rPr lang="en-US" altLang="zh-CN" smtClean="0"/>
              <a:t>《</a:t>
            </a:r>
            <a:r>
              <a:rPr lang="zh-CN" altLang="en-US" smtClean="0"/>
              <a:t>北京市科学技术委员会关于进一步促进科技服务业发展的指导意见</a:t>
            </a:r>
            <a:r>
              <a:rPr lang="en-US" altLang="zh-CN" smtClean="0"/>
              <a:t>》</a:t>
            </a:r>
            <a:r>
              <a:rPr lang="zh-CN" altLang="en-US" smtClean="0"/>
              <a:t>（京科发</a:t>
            </a:r>
            <a:r>
              <a:rPr lang="en-US" altLang="zh-CN" smtClean="0"/>
              <a:t>〔2012〕40</a:t>
            </a:r>
            <a:r>
              <a:rPr lang="zh-CN" altLang="en-US" smtClean="0"/>
              <a:t>号）重点支持</a:t>
            </a:r>
          </a:p>
          <a:p>
            <a:pPr lvl="1"/>
            <a:r>
              <a:rPr lang="zh-CN" altLang="en-US" smtClean="0"/>
              <a:t>充分发挥首都丰富的科技智力资源优势，强化科技对经济社会发展的支撑引领作用，提升“北京服务”的辐射力和影响力</a:t>
            </a:r>
          </a:p>
          <a:p>
            <a:pPr lvl="1"/>
            <a:r>
              <a:rPr lang="zh-CN" altLang="en-US" smtClean="0"/>
              <a:t>以技术创新为核心开展工程总包、分包</a:t>
            </a:r>
          </a:p>
        </p:txBody>
      </p:sp>
      <p:sp>
        <p:nvSpPr>
          <p:cNvPr id="6" name="日期占位符 5"/>
          <p:cNvSpPr>
            <a:spLocks noGrp="1"/>
          </p:cNvSpPr>
          <p:nvPr>
            <p:ph type="dt" sz="half" idx="10"/>
          </p:nvPr>
        </p:nvSpPr>
        <p:spPr/>
        <p:txBody>
          <a:bodyPr/>
          <a:lstStyle/>
          <a:p>
            <a:fld id="{1C338BC6-E29D-43D9-9EAA-CFD5E60DA1B9}" type="datetime2">
              <a:rPr lang="zh-CN" altLang="en-US" smtClean="0"/>
              <a:t>2022年10月9日</a:t>
            </a:fld>
            <a:endParaRPr lang="zh-CN" altLang="en-US"/>
          </a:p>
        </p:txBody>
      </p:sp>
      <p:sp>
        <p:nvSpPr>
          <p:cNvPr id="7" name="灯片编号占位符 6"/>
          <p:cNvSpPr>
            <a:spLocks noGrp="1"/>
          </p:cNvSpPr>
          <p:nvPr>
            <p:ph type="sldNum" sz="quarter" idx="12"/>
          </p:nvPr>
        </p:nvSpPr>
        <p:spPr/>
        <p:txBody>
          <a:bodyPr/>
          <a:lstStyle/>
          <a:p>
            <a:fld id="{8B956499-6944-425D-9BB8-83C62C18DB14}" type="slidenum">
              <a:rPr lang="zh-CN" altLang="en-US" smtClean="0"/>
              <a:t>38</a:t>
            </a:fld>
            <a:endParaRPr lang="zh-CN" altLang="en-US"/>
          </a:p>
        </p:txBody>
      </p:sp>
    </p:spTree>
    <p:extLst>
      <p:ext uri="{BB962C8B-B14F-4D97-AF65-F5344CB8AC3E}">
        <p14:creationId xmlns:p14="http://schemas.microsoft.com/office/powerpoint/2010/main" val="34559603"/>
      </p:ext>
    </p:extLst>
  </p:cSld>
  <p:clrMapOvr>
    <a:masterClrMapping/>
  </p:clrMapOvr>
  <p:transition spd="slow">
    <p:randomBar dir="vert"/>
  </p:transition>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0.jpeg"/></Relationships>
</file>

<file path=ppt/theme/_rels/theme4.xml.rels><?xml version="1.0" encoding="UTF-8" standalone="yes"?>
<Relationships xmlns="http://schemas.openxmlformats.org/package/2006/relationships"><Relationship Id="rId1" Type="http://schemas.openxmlformats.org/officeDocument/2006/relationships/image" Target="../media/image11.jpeg"/></Relationships>
</file>

<file path=ppt/theme/_rels/theme5.xml.rels><?xml version="1.0" encoding="UTF-8" standalone="yes"?>
<Relationships xmlns="http://schemas.openxmlformats.org/package/2006/relationships"><Relationship Id="rId1" Type="http://schemas.openxmlformats.org/officeDocument/2006/relationships/image" Target="../media/image12.jpeg"/></Relationships>
</file>

<file path=ppt/theme/_rels/theme6.xml.rels><?xml version="1.0" encoding="UTF-8" standalone="yes"?>
<Relationships xmlns="http://schemas.openxmlformats.org/package/2006/relationships"><Relationship Id="rId1" Type="http://schemas.openxmlformats.org/officeDocument/2006/relationships/image" Target="../media/image12.jpeg"/></Relationships>
</file>

<file path=ppt/theme/theme1.xml><?xml version="1.0" encoding="utf-8"?>
<a:theme xmlns:a="http://schemas.openxmlformats.org/drawingml/2006/main" name="环保">
  <a:themeElements>
    <a:clrScheme name="自定义 22">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FF0000"/>
      </a:hlink>
      <a:folHlink>
        <a:srgbClr val="0070C0"/>
      </a:folHlink>
    </a:clrScheme>
    <a:fontScheme name="环保">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环保">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画廊">
  <a:themeElements>
    <a:clrScheme name="画廊">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画廊">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画廊">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3.xml><?xml version="1.0" encoding="utf-8"?>
<a:theme xmlns:a="http://schemas.openxmlformats.org/drawingml/2006/main" name="奥斯汀">
  <a:themeElements>
    <a:clrScheme name="奥斯汀">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奥斯汀">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奥斯汀">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ppt/theme/theme4.xml><?xml version="1.0" encoding="utf-8"?>
<a:theme xmlns:a="http://schemas.openxmlformats.org/drawingml/2006/main" name="积分">
  <a:themeElements>
    <a:clrScheme name="积分">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积分">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积分">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5.xml><?xml version="1.0" encoding="utf-8"?>
<a:theme xmlns:a="http://schemas.openxmlformats.org/drawingml/2006/main" name="离子">
  <a:themeElements>
    <a:clrScheme name="离子">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离子">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离子">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6.xml><?xml version="1.0" encoding="utf-8"?>
<a:theme xmlns:a="http://schemas.openxmlformats.org/drawingml/2006/main" name="离子会议室">
  <a:themeElements>
    <a:clrScheme name="离子会议室">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离子会议室">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离子会议室">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7.xml><?xml version="1.0" encoding="utf-8"?>
<a:theme xmlns:a="http://schemas.openxmlformats.org/drawingml/2006/main" name="回顾">
  <a:themeElements>
    <a:clrScheme name="回顾">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回顾">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回顾">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TotalTime>
  <Words>3975</Words>
  <Application>Microsoft Office PowerPoint</Application>
  <PresentationFormat>宽屏</PresentationFormat>
  <Paragraphs>328</Paragraphs>
  <Slides>38</Slides>
  <Notes>0</Notes>
  <HiddenSlides>0</HiddenSlides>
  <MMClips>0</MMClips>
  <ScaleCrop>false</ScaleCrop>
  <HeadingPairs>
    <vt:vector size="6" baseType="variant">
      <vt:variant>
        <vt:lpstr>已用的字体</vt:lpstr>
      </vt:variant>
      <vt:variant>
        <vt:i4>16</vt:i4>
      </vt:variant>
      <vt:variant>
        <vt:lpstr>主题</vt:lpstr>
      </vt:variant>
      <vt:variant>
        <vt:i4>7</vt:i4>
      </vt:variant>
      <vt:variant>
        <vt:lpstr>幻灯片标题</vt:lpstr>
      </vt:variant>
      <vt:variant>
        <vt:i4>38</vt:i4>
      </vt:variant>
    </vt:vector>
  </HeadingPairs>
  <TitlesOfParts>
    <vt:vector size="61" baseType="lpstr">
      <vt:lpstr>等线</vt:lpstr>
      <vt:lpstr>方正舒体</vt:lpstr>
      <vt:lpstr>华文仿宋</vt:lpstr>
      <vt:lpstr>宋体</vt:lpstr>
      <vt:lpstr>微软雅黑</vt:lpstr>
      <vt:lpstr>幼圆</vt:lpstr>
      <vt:lpstr>Arial</vt:lpstr>
      <vt:lpstr>Calibri</vt:lpstr>
      <vt:lpstr>Calibri Light</vt:lpstr>
      <vt:lpstr>Century Gothic</vt:lpstr>
      <vt:lpstr>Garamond</vt:lpstr>
      <vt:lpstr>Gill Sans MT</vt:lpstr>
      <vt:lpstr>Tw Cen MT</vt:lpstr>
      <vt:lpstr>Tw Cen MT Condensed</vt:lpstr>
      <vt:lpstr>Wingdings 2</vt:lpstr>
      <vt:lpstr>Wingdings 3</vt:lpstr>
      <vt:lpstr>环保</vt:lpstr>
      <vt:lpstr>画廊</vt:lpstr>
      <vt:lpstr>奥斯汀</vt:lpstr>
      <vt:lpstr>积分</vt:lpstr>
      <vt:lpstr>离子</vt:lpstr>
      <vt:lpstr>离子会议室</vt:lpstr>
      <vt:lpstr>回顾</vt:lpstr>
      <vt:lpstr>高新技术企业科技政策介绍</vt:lpstr>
      <vt:lpstr>聚焦产业培育，提升服务能力</vt:lpstr>
      <vt:lpstr>重要说明</vt:lpstr>
      <vt:lpstr>一、高新技术企业认定</vt:lpstr>
      <vt:lpstr>政策依据：</vt:lpstr>
      <vt:lpstr>认定条件</vt:lpstr>
      <vt:lpstr>具体评定方法</vt:lpstr>
      <vt:lpstr>具体评定方法</vt:lpstr>
      <vt:lpstr>具体评定方法</vt:lpstr>
      <vt:lpstr>具体评定方法</vt:lpstr>
      <vt:lpstr>具体评定方法</vt:lpstr>
      <vt:lpstr>申报流程</vt:lpstr>
      <vt:lpstr>二、技术先进型服务企业认定</vt:lpstr>
      <vt:lpstr>政策依据：</vt:lpstr>
      <vt:lpstr>（一）技术先进型服务企业可享受的优惠政策：</vt:lpstr>
      <vt:lpstr>（二）技术先进型服务业务认定范围</vt:lpstr>
      <vt:lpstr>（三）申请条件：</vt:lpstr>
      <vt:lpstr>提交材料</vt:lpstr>
      <vt:lpstr>（四）申报程序：</vt:lpstr>
      <vt:lpstr>三、研发经费加计扣除</vt:lpstr>
      <vt:lpstr>政策依据：</vt:lpstr>
      <vt:lpstr>研发经费</vt:lpstr>
      <vt:lpstr>执行流程</vt:lpstr>
      <vt:lpstr>常见问题</vt:lpstr>
      <vt:lpstr>四、技术合同登记</vt:lpstr>
      <vt:lpstr>政策依据</vt:lpstr>
      <vt:lpstr>（一）技术合同认定登记的重要性</vt:lpstr>
      <vt:lpstr>（二）技术合同登记相关概念解读</vt:lpstr>
      <vt:lpstr>（三）技术合同的认定登记工作</vt:lpstr>
      <vt:lpstr>享受政策需履行的手续</vt:lpstr>
      <vt:lpstr>需要提交的材料</vt:lpstr>
      <vt:lpstr>不予登记的合同</vt:lpstr>
      <vt:lpstr>五、高新技术成果转化项目认定</vt:lpstr>
      <vt:lpstr>六、科技型中小企业技术创新资金</vt:lpstr>
      <vt:lpstr>七、设计产业促进</vt:lpstr>
      <vt:lpstr>八、产业技术创新战略联盟建设</vt:lpstr>
      <vt:lpstr>九、技术转移专项</vt:lpstr>
      <vt:lpstr>十、工程技术服务促进</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高新技术企业科技政策介绍</dc:title>
  <dc:creator>Micro</dc:creator>
  <cp:lastModifiedBy>Windows 用户11</cp:lastModifiedBy>
  <cp:revision>13</cp:revision>
  <dcterms:created xsi:type="dcterms:W3CDTF">2020-11-09T07:09:29Z</dcterms:created>
  <dcterms:modified xsi:type="dcterms:W3CDTF">2022-10-09T01:32:35Z</dcterms:modified>
</cp:coreProperties>
</file>