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customShows.xml" ContentType="application/vnd.openxmlformats-officedocument.presentationml.customShow+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custShowLst>
    <p:custShow name="放映方案 1" id="1">
      <p:slideLst>
        <p:slide id="256"/>
        <p:slide id="257"/>
        <p:slide id="259"/>
        <p:slide id="262"/>
      </p:slideLst>
    </p:custShow>
    <p:custShow name="放映方案 2" id="2">
      <p:slideLst>
        <p:slide id="256"/>
        <p:slide id="257"/>
        <p:slide id="258"/>
        <p:slide id="260"/>
        <p:slide id="261"/>
      </p:slideLst>
    </p:custShow>
  </p:custShowLst>
</p:presentation>
</file>

<file path=ppt/customShows.xml><?xml version="1.0" encoding="UTF-8" standalone="yes"?>
<p:custShowLst xmlns:p="http://schemas.openxmlformats.org/presentationml/2006/main">
    <p:custShow name="放映方案 1" id="1">
        <p:slideLst>
            <p:slide id="256" r:id="rId1"/>
            <p:slide id="257" r:id="rId2"/>
            <p:slide id="259" r:id="rId4"/>
            <p:slide id="262" r:id="rId7"/>
        </p:slideLst>
    </p:custShow>
    <p:custShow name="放映方案 2" id="2">
        <p:slideLst>
            <p:slide id="256" r:id="rId1"/>
            <p:slide id="257" r:id="rId2"/>
            <p:slide id="258" r:id="rId3"/>
            <p:slide id="260" r:id="rId5"/>
            <p:slide id="261" r:id="rId6"/>
        </p:slideLst>
    </p:custShow>
</p:custShow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CustomShows" Type="http://schemas.openxmlformats.org/officeDocument/2006/relationships/customShow" Target="customShow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Microsoft Office 图书策划案</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目录</a:t>
            </a:r>
          </a:p>
        </p:txBody>
      </p:sp>
      <p:sp>
        <p:nvSpPr>
          <p:cNvPr id="3" name="Content Placeholder 2"/>
          <p:cNvSpPr>
            <a:spLocks noGrp="1"/>
          </p:cNvSpPr>
          <p:nvPr>
            <p:ph idx="1"/>
          </p:nvPr>
        </p:nvSpPr>
        <p:spPr/>
        <p:txBody>
          <a:bodyPr/>
          <a:lstStyle/>
          <a:p>
            <a:pPr/>
            <a:r>
              <a:t>Microsoft Office 图书策划案</a:t>
            </a:r>
          </a:p>
          <a:p>
            <a:pPr/>
            <a:r>
              <a:t>推荐作者简介</a:t>
            </a:r>
          </a:p>
          <a:p>
            <a:pPr lvl="1"/>
            <a:r>
              <a:t>刘雅汶</a:t>
            </a:r>
          </a:p>
          <a:p>
            <a:pPr lvl="1"/>
            <a:r>
              <a:t>Contoso 公司技术经理</a:t>
            </a:r>
          </a:p>
          <a:p>
            <a:pPr/>
            <a:r>
              <a:t>主要代表作品</a:t>
            </a:r>
          </a:p>
          <a:p>
            <a:pPr lvl="1"/>
            <a:r>
              <a:t>《Microsoft Office 整合应用精要》</a:t>
            </a:r>
          </a:p>
          <a:p>
            <a:pPr lvl="1"/>
            <a:r>
              <a:t>《Microsoft Word 企业应用宝典》</a:t>
            </a:r>
          </a:p>
          <a:p>
            <a:pPr lvl="1"/>
            <a:r>
              <a:t>《Microsoft Office 应用办公好帮手》</a:t>
            </a:r>
          </a:p>
          <a:p>
            <a:pPr lvl="1"/>
            <a:r>
              <a:t>《Microsoft Office 专家门诊》</a:t>
            </a:r>
          </a:p>
          <a:p>
            <a:pPr/>
            <a:r>
              <a:t>Office 2010 的十大优势</a:t>
            </a:r>
          </a:p>
          <a:p>
            <a:pPr lvl="1"/>
            <a:r>
              <a:t>更直观地表达想法</a:t>
            </a:r>
          </a:p>
          <a:p>
            <a:pPr lvl="1"/>
            <a:r>
              <a:t>协作的绩效更高</a:t>
            </a:r>
          </a:p>
          <a:p>
            <a:pPr lvl="1"/>
            <a:r>
              <a:t>从更多地点更多设备上享受熟悉的 Office 体验</a:t>
            </a:r>
          </a:p>
          <a:p>
            <a:pPr lvl="1"/>
            <a:r>
              <a:t>提供强大的数据分析和可视化功能</a:t>
            </a:r>
          </a:p>
          <a:p>
            <a:pPr lvl="1"/>
            <a:r>
              <a:t>创建出类拔萃的演示文稿</a:t>
            </a:r>
          </a:p>
          <a:p>
            <a:pPr lvl="1"/>
            <a:r>
              <a:t>轻松管理大量电子邮件</a:t>
            </a:r>
          </a:p>
          <a:p>
            <a:pPr lvl="1"/>
            <a:r>
              <a:t>在一个位置存储并跟踪自己的所有想法和笔记</a:t>
            </a:r>
          </a:p>
          <a:p>
            <a:pPr lvl="1"/>
            <a:r>
              <a:t>即时传递消息</a:t>
            </a:r>
          </a:p>
          <a:p>
            <a:pPr lvl="1"/>
            <a:r>
              <a:t>更快、更轻松地完成任</a:t>
            </a:r>
          </a:p>
          <a:p>
            <a:pPr lvl="1"/>
            <a:r>
              <a:t>在不同的设备和平台上访问工作信息</a:t>
            </a:r>
          </a:p>
          <a:p>
            <a:pPr/>
            <a:r>
              <a:t>新版图书读者定位</a:t>
            </a:r>
          </a:p>
          <a:p>
            <a:pPr lvl="1"/>
            <a:r>
              <a:t>信息工作者</a:t>
            </a:r>
          </a:p>
          <a:p>
            <a:pPr lvl="1"/>
            <a:r>
              <a:t>学生和教师</a:t>
            </a:r>
          </a:p>
          <a:p>
            <a:pPr lvl="1"/>
            <a:r>
              <a:t>办公应用技能培训班</a:t>
            </a:r>
          </a:p>
          <a:p>
            <a:pPr lvl="1"/>
            <a:r>
              <a:t>大专院校教材</a:t>
            </a:r>
          </a:p>
          <a:p>
            <a:pPr/>
            <a:r>
              <a:t>PowerPoint 2010 创新的功能体验</a:t>
            </a:r>
          </a:p>
          <a:p>
            <a:pPr lvl="1"/>
            <a:r>
              <a:t>在新增的后台视图中管理文件</a:t>
            </a:r>
          </a:p>
          <a:p>
            <a:pPr lvl="1"/>
            <a:r>
              <a:t>与同事共同创作演示文稿</a:t>
            </a:r>
          </a:p>
          <a:p>
            <a:pPr lvl="1"/>
            <a:r>
              <a:t>将幻灯片组织为逻辑节</a:t>
            </a:r>
          </a:p>
          <a:p>
            <a:pPr lvl="1"/>
            <a:r>
              <a:t>将演示文稿转变成视频</a:t>
            </a:r>
          </a:p>
          <a:p>
            <a:pPr lvl="1"/>
            <a:r>
              <a:t>使用 SmartArt 图形图片布局</a:t>
            </a:r>
          </a:p>
          <a:p>
            <a:pPr lvl="1"/>
            <a:r>
              <a:t>删除背景工具</a:t>
            </a:r>
          </a:p>
          <a:p>
            <a:pPr/>
            <a:r>
              <a:t>2012 年同类图书销量统计</a:t>
            </a:r>
          </a:p>
          <a:p>
            <a:pPr/>
            <a:r>
              <a:t>新版图书创作流程示意</a:t>
            </a:r>
          </a:p>
          <a:p>
            <a:pPr lvl="1"/>
            <a:r>
              <a:t>确定选题</a:t>
            </a:r>
          </a:p>
          <a:p>
            <a:pPr lvl="2"/>
            <a:r>
              <a:t>选定作者</a:t>
            </a:r>
          </a:p>
          <a:p>
            <a:pPr lvl="2"/>
            <a:r>
              <a:t>选题沟通</a:t>
            </a:r>
          </a:p>
          <a:p>
            <a:pPr lvl="1"/>
            <a:r>
              <a:t>图书编写</a:t>
            </a:r>
          </a:p>
          <a:p>
            <a:pPr lvl="1"/>
            <a:r>
              <a:t>编辑审校</a:t>
            </a:r>
          </a:p>
          <a:p>
            <a:pPr lvl="1"/>
            <a:r>
              <a:t>排版印刷</a:t>
            </a:r>
          </a:p>
          <a:p>
            <a:pPr lvl="1"/>
            <a:r>
              <a:t>上市发行</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推荐作者简介</a:t>
            </a:r>
          </a:p>
        </p:txBody>
      </p:sp>
      <p:sp>
        <p:nvSpPr>
          <p:cNvPr id="3" name="Content Placeholder 2"/>
          <p:cNvSpPr>
            <a:spLocks noGrp="1"/>
          </p:cNvSpPr>
          <p:nvPr>
            <p:ph idx="1"/>
          </p:nvPr>
        </p:nvSpPr>
        <p:spPr/>
        <p:txBody>
          <a:bodyPr/>
          <a:lstStyle/>
          <a:p>
            <a:pPr/>
            <a:r>
              <a:t>刘雅汶</a:t>
            </a:r>
          </a:p>
          <a:p>
            <a:pPr/>
            <a:r>
              <a:t>Contoso 公司技术经理</a:t>
            </a:r>
          </a:p>
          <a:p>
            <a:pPr/>
            <a:r>
              <a:t>微软特邀资深顾问讲师，微软全球最有价值专家（MVP），微软课堂（论坛）中国区特邀讲师，技术教育大会优秀讲师，全国企业信息主管论坛主讲人，中文网络广播优秀讲师，多家计算机专业报刊专栏作者，对 Microsoft Office 产品有深入的研究。</a:t>
            </a:r>
          </a:p>
          <a:p>
            <a:pPr/>
            <a:r>
              <a:t>主要代表作品</a:t>
            </a:r>
          </a:p>
          <a:p>
            <a:pPr lvl="1"/>
            <a:r>
              <a:t>《Microsoft Office 整合应用精要》</a:t>
            </a:r>
          </a:p>
          <a:p>
            <a:pPr lvl="1"/>
            <a:r>
              <a:t>《Microsoft Word 企业应用宝典》</a:t>
            </a:r>
          </a:p>
          <a:p>
            <a:pPr lvl="1"/>
            <a:r>
              <a:t>《Microsoft Office 应用办公好帮手》</a:t>
            </a:r>
          </a:p>
          <a:p>
            <a:pPr lvl="1"/>
            <a:r>
              <a:t>《Microsoft Office 专家门诊》</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Office 2010 的十大优势</a:t>
            </a:r>
          </a:p>
        </p:txBody>
      </p:sp>
      <p:sp>
        <p:nvSpPr>
          <p:cNvPr id="3" name="Content Placeholder 2"/>
          <p:cNvSpPr>
            <a:spLocks noGrp="1"/>
          </p:cNvSpPr>
          <p:nvPr>
            <p:ph idx="1"/>
          </p:nvPr>
        </p:nvSpPr>
        <p:spPr/>
        <p:txBody>
          <a:bodyPr/>
          <a:lstStyle/>
          <a:p>
            <a:pPr/>
            <a:r>
              <a:t>更直观地表达想法</a:t>
            </a:r>
          </a:p>
          <a:p>
            <a:pPr/>
            <a:r>
              <a:t>Office 2010 开创了一些设计方法，让用户可以将想法生动地表达出来。使用新增的和改进的图片格式工具（例如，颜色饱和度和艺术效果）可以将文档画面转换为艺术品。在 Office 2010 中，将这些工具与大量预置的新 Office 主题和 SmartArt® 图形布局配合使用，可以更淋漓尽致地表达出自己的想法。</a:t>
            </a:r>
          </a:p>
          <a:p>
            <a:pPr/>
            <a:r>
              <a:t>协作的绩效更高</a:t>
            </a:r>
          </a:p>
          <a:p>
            <a:pPr/>
            <a:r>
              <a:t>在团队工作中，大家集思广益可以获得更好的解决方案并能更快地在限期内完成工作。当使用 Microsoft® Word 2010、Microsoft PowerPoint 2010、Microsoft® Excel Web App 和 Microsoft OneNote Shared Notebooks 与其他人合作时，可以与他们同时处理一个文件，甚至可以身处各不相同的地方。</a:t>
            </a:r>
          </a:p>
          <a:p>
            <a:pPr/>
            <a:r>
              <a:t>从更多地点更多设备上享受熟悉的 Office 体验</a:t>
            </a:r>
          </a:p>
          <a:p>
            <a:pPr/>
            <a:r>
              <a:t>使用 Office 2010，您可以从更多地点更多设备上更轻松地完成任。可以在智能手机或几乎每台连接至 Internet 的计算机上，随时随地进行工作。</a:t>
            </a:r>
          </a:p>
          <a:p>
            <a:pPr/>
            <a:r>
              <a:t>提供强大的数据分析和可视化功能</a:t>
            </a:r>
          </a:p>
          <a:p>
            <a:pPr/>
            <a:r>
              <a:t>使用 Excel 2010 中的数据分析和可视化功能可以跟踪和亮显重要的趋势。使用新增的 Sparklines 功能可以在工作表单元格中使用小图表来清晰简洁地表达数据。使用 Slicers 功能可以在多个层对 PivotTable 数据进行过滤和拆分，从而可以减少格式设置时间，增加分析时间。</a:t>
            </a:r>
          </a:p>
          <a:p>
            <a:pPr/>
            <a:r>
              <a:t>创建出类拔萃的演示文稿</a:t>
            </a:r>
          </a:p>
          <a:p>
            <a:pPr/>
            <a:r>
              <a:t>可以在演示文稿中使用个性化的视频来吸引观众。可以直接在 PowerPoint 2010 中插入和自定义视频，然后修剪，添加格式化方式和效果，或者在视频中标出关键点来引起观众对选定场景的注意。现在，插入的视频默认嵌入在文件中，这为用户省去了管理和发送额外视频文件的麻烦。</a:t>
            </a:r>
          </a:p>
          <a:p>
            <a:pPr/>
            <a:r>
              <a:t>轻松管理大量电子邮件</a:t>
            </a:r>
          </a:p>
          <a:p>
            <a:pPr/>
            <a:r>
              <a:t>可以将很长的电子邮件会话压缩成一些对话，并可对这些对话进行分类、存档、忽略和清除。使用新增的“快速步骤”功能，只需单击一下鼠标便可执行多个命令任务，例如回复并删除电子邮件，这样即节省时间又节约收件箱空间。</a:t>
            </a:r>
          </a:p>
          <a:p>
            <a:pPr/>
            <a:r>
              <a:t>在一个位置存储并跟踪自己的所有想法和笔记</a:t>
            </a:r>
          </a:p>
          <a:p>
            <a:pPr/>
            <a:r>
              <a:t>使用 OneNote 2010，即可在终极数字笔记本上跟踪、组织和共享文字、图片、视频和音频笔记。使用“版本跟踪”、“自动突出显示”和“链接笔记”等新功能，可以更好地管理笔记，从而始终能掌握自己的思路并能在团队协作过程中了解最新更新信息。</a:t>
            </a:r>
          </a:p>
          <a:p>
            <a:pPr/>
            <a:r>
              <a:t>即时传递消息</a:t>
            </a:r>
          </a:p>
          <a:p>
            <a:pPr/>
            <a:r>
              <a:t>可以将 PowerPoint 演示文稿广播给远程观众，不管他们有没有安装 PowerPoint。使用新增的“广播幻灯片”功能，可以通过 Web 浏览器快速分享演示文稿，无需执行其他任何设置。</a:t>
            </a:r>
          </a:p>
          <a:p>
            <a:pPr/>
            <a:r>
              <a:t>更快、更轻松地完成任</a:t>
            </a:r>
          </a:p>
          <a:p>
            <a:pPr/>
            <a:r>
              <a:t>Microsoft Office Backstage™ 视图代替了传统的“文件”菜单，将所有文件管理任务（例如保存、共享、打印和发布功能）都集中到一个位置。所有 Office 2010 应用程序都增强了功能区界面，让用户可以快速访问命令，以及自定义选项卡实现个性化体验。</a:t>
            </a:r>
          </a:p>
          <a:p>
            <a:pPr/>
            <a:r>
              <a:t>在不同的设备和平台上访问工作信息</a:t>
            </a:r>
          </a:p>
          <a:p>
            <a:pPr/>
            <a:r>
              <a:t>您可以享受在更多地点更多设备上使用 Office 2010 的自由。使用 Microsoft® Office 2010 时，无论您身在何处，均可以通过 PC、智能手机和 Web 浏览器来获得熟悉、直观的 Office 体验。</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新版图书读者定位</a:t>
            </a:r>
          </a:p>
        </p:txBody>
      </p:sp>
      <p:sp>
        <p:nvSpPr>
          <p:cNvPr id="3" name="Content Placeholder 2"/>
          <p:cNvSpPr>
            <a:spLocks noGrp="1"/>
          </p:cNvSpPr>
          <p:nvPr>
            <p:ph idx="1"/>
          </p:nvPr>
        </p:nvSpPr>
        <p:spPr/>
        <p:txBody>
          <a:bodyPr/>
          <a:lstStyle/>
          <a:p>
            <a:pPr/>
            <a:r>
              <a:t>信息工作者</a:t>
            </a:r>
          </a:p>
          <a:p>
            <a:pPr/>
            <a:r>
              <a:t>应用 Office 产品处理日常事务，制作各类商务报表、文档、演示文稿，并拥有与他人进行实时协作，远程及在家中办公的需求。此类人员占据所策划图书的半壁河山，其影响力值得高度关注。</a:t>
            </a:r>
          </a:p>
          <a:p>
            <a:pPr/>
            <a:r>
              <a:t>学生和教师</a:t>
            </a:r>
          </a:p>
          <a:p>
            <a:pPr/>
            <a:r>
              <a:t>此类人员的日常办公和学习主要集中于 Office 产品的客户端组件，如 Word、Excel、PowerPoint、OneNote 等，并多以课件、作业成果展示为主，其中值得关注的是其中所涉及到的特定学科的内容编辑。</a:t>
            </a:r>
          </a:p>
          <a:p>
            <a:pPr/>
            <a:r>
              <a:t>办公应用技能培训班</a:t>
            </a:r>
          </a:p>
          <a:p>
            <a:pPr/>
            <a:r>
              <a:t>很多培训班将集体采购本类图书。</a:t>
            </a:r>
          </a:p>
          <a:p>
            <a:pPr/>
            <a:r>
              <a:t>大专院校教材</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PowerPoint 2010 创新的功能体验</a:t>
            </a:r>
          </a:p>
        </p:txBody>
      </p:sp>
      <p:sp>
        <p:nvSpPr>
          <p:cNvPr id="3" name="Content Placeholder 2"/>
          <p:cNvSpPr>
            <a:spLocks noGrp="1"/>
          </p:cNvSpPr>
          <p:nvPr>
            <p:ph idx="1"/>
          </p:nvPr>
        </p:nvSpPr>
        <p:spPr/>
        <p:txBody>
          <a:bodyPr/>
          <a:lstStyle/>
          <a:p>
            <a:pPr/>
            <a:r>
              <a:t>在新增的后台视图中管理文件</a:t>
            </a:r>
          </a:p>
          <a:p>
            <a:pPr/>
            <a:r>
              <a:t>与同事共同创作演示文稿</a:t>
            </a:r>
          </a:p>
          <a:p>
            <a:pPr/>
            <a:r>
              <a:t>将幻灯片组织为逻辑节</a:t>
            </a:r>
          </a:p>
          <a:p>
            <a:pPr/>
            <a:r>
              <a:t>将演示文稿转变成视频</a:t>
            </a:r>
          </a:p>
          <a:p>
            <a:pPr/>
            <a:r>
              <a:t>使用 SmartArt 图形图片布局</a:t>
            </a:r>
          </a:p>
          <a:p>
            <a:pPr/>
            <a:r>
              <a:t>删除背景工具</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2012 年同类图书销量统计</a:t>
            </a:r>
          </a:p>
        </p:txBody>
      </p:sp>
      <p:sp>
        <p:nvSpPr>
          <p:cNvPr id="3" name="Content Placeholder 2"/>
          <p:cNvSpPr>
            <a:spLocks noGrp="1"/>
          </p:cNvSpPr>
          <p:nvPr>
            <p:ph idx="1"/>
          </p:nvPr>
        </p:nvSpPr>
        <p:spPr/>
        <p:txBody>
          <a:bodyPr/>
          <a:lstStyle/>
          <a:p/>
        </p:txBody>
      </p:sp>
      <p:graphicFrame>
        <p:nvGraphicFramePr>
          <p:cNvPr id="4" name="Table 3"/>
          <p:cNvGraphicFramePr>
            <a:graphicFrameLocks noGrp="1"/>
          </p:cNvGraphicFramePr>
          <p:nvPr/>
        </p:nvGraphicFramePr>
        <p:xfrm>
          <a:off x="457200" y="1371600"/>
          <a:ext cx="8229600" cy="3657600"/>
        </p:xfrm>
        <a:graphic>
          <a:graphicData uri="http://schemas.openxmlformats.org/drawingml/2006/table">
            <a:tbl>
              <a:tblPr firstRow="1" bandRow="1">
                <a:tableStyleId>{5C22544A-7EE6-4342-B048-85BDC9FD1C3A}</a:tableStyleId>
              </a:tblPr>
              <a:tblGrid>
                <a:gridCol w="1645920"/>
                <a:gridCol w="1645920"/>
                <a:gridCol w="1645920"/>
                <a:gridCol w="1645920"/>
                <a:gridCol w="1645920"/>
              </a:tblGrid>
              <a:tr h="609600">
                <a:tc>
                  <a:txBody>
                    <a:bodyPr/>
                    <a:lstStyle/>
                    <a:p>
                      <a:r>
                        <a:t>图书名称</a:t>
                      </a:r>
                    </a:p>
                  </a:txBody>
                  <a:tcPr/>
                </a:tc>
                <a:tc>
                  <a:txBody>
                    <a:bodyPr/>
                    <a:lstStyle/>
                    <a:p>
                      <a:r>
                        <a:t>出版社</a:t>
                      </a:r>
                    </a:p>
                  </a:txBody>
                  <a:tcPr/>
                </a:tc>
                <a:tc>
                  <a:txBody>
                    <a:bodyPr/>
                    <a:lstStyle/>
                    <a:p>
                      <a:r>
                        <a:t>作者</a:t>
                      </a:r>
                    </a:p>
                  </a:txBody>
                  <a:tcPr/>
                </a:tc>
                <a:tc>
                  <a:txBody>
                    <a:bodyPr/>
                    <a:lstStyle/>
                    <a:p>
                      <a:r>
                        <a:t>定价</a:t>
                      </a:r>
                    </a:p>
                  </a:txBody>
                  <a:tcPr/>
                </a:tc>
                <a:tc>
                  <a:txBody>
                    <a:bodyPr/>
                    <a:lstStyle/>
                    <a:p>
                      <a:r>
                        <a:t>销量</a:t>
                      </a:r>
                    </a:p>
                  </a:txBody>
                  <a:tcPr/>
                </a:tc>
              </a:tr>
              <a:tr h="609600">
                <a:tc>
                  <a:txBody>
                    <a:bodyPr/>
                    <a:lstStyle/>
                    <a:p>
                      <a:r>
                        <a:t>Office 2010 实战教程</a:t>
                      </a:r>
                    </a:p>
                  </a:txBody>
                  <a:tcPr/>
                </a:tc>
                <a:tc>
                  <a:txBody>
                    <a:bodyPr/>
                    <a:lstStyle/>
                    <a:p>
                      <a:r>
                        <a:t>清华大学出版社</a:t>
                      </a:r>
                    </a:p>
                  </a:txBody>
                  <a:tcPr/>
                </a:tc>
                <a:tc>
                  <a:txBody>
                    <a:bodyPr/>
                    <a:lstStyle/>
                    <a:p>
                      <a:r>
                        <a:t>张三</a:t>
                      </a:r>
                    </a:p>
                  </a:txBody>
                  <a:tcPr/>
                </a:tc>
                <a:tc>
                  <a:txBody>
                    <a:bodyPr/>
                    <a:lstStyle/>
                    <a:p>
                      <a:r>
                        <a:t>¥45.00</a:t>
                      </a:r>
                    </a:p>
                  </a:txBody>
                  <a:tcPr/>
                </a:tc>
                <a:tc>
                  <a:txBody>
                    <a:bodyPr/>
                    <a:lstStyle/>
                    <a:p>
                      <a:r>
                        <a:t>5000</a:t>
                      </a:r>
                    </a:p>
                  </a:txBody>
                  <a:tcPr/>
                </a:tc>
              </a:tr>
              <a:tr h="609600">
                <a:tc>
                  <a:txBody>
                    <a:bodyPr/>
                    <a:lstStyle/>
                    <a:p>
                      <a:r>
                        <a:t>Word 2010 从入门到精通</a:t>
                      </a:r>
                    </a:p>
                  </a:txBody>
                  <a:tcPr/>
                </a:tc>
                <a:tc>
                  <a:txBody>
                    <a:bodyPr/>
                    <a:lstStyle/>
                    <a:p>
                      <a:r>
                        <a:t>电子工业出版社</a:t>
                      </a:r>
                    </a:p>
                  </a:txBody>
                  <a:tcPr/>
                </a:tc>
                <a:tc>
                  <a:txBody>
                    <a:bodyPr/>
                    <a:lstStyle/>
                    <a:p>
                      <a:r>
                        <a:t>李四</a:t>
                      </a:r>
                    </a:p>
                  </a:txBody>
                  <a:tcPr/>
                </a:tc>
                <a:tc>
                  <a:txBody>
                    <a:bodyPr/>
                    <a:lstStyle/>
                    <a:p>
                      <a:r>
                        <a:t>¥38.00</a:t>
                      </a:r>
                    </a:p>
                  </a:txBody>
                  <a:tcPr/>
                </a:tc>
                <a:tc>
                  <a:txBody>
                    <a:bodyPr/>
                    <a:lstStyle/>
                    <a:p>
                      <a:r>
                        <a:t>4500</a:t>
                      </a:r>
                    </a:p>
                  </a:txBody>
                  <a:tcPr/>
                </a:tc>
              </a:tr>
              <a:tr h="609600">
                <a:tc>
                  <a:txBody>
                    <a:bodyPr/>
                    <a:lstStyle/>
                    <a:p>
                      <a:r>
                        <a:t>Excel 2010 数据分析</a:t>
                      </a:r>
                    </a:p>
                  </a:txBody>
                  <a:tcPr/>
                </a:tc>
                <a:tc>
                  <a:txBody>
                    <a:bodyPr/>
                    <a:lstStyle/>
                    <a:p>
                      <a:r>
                        <a:t>人民邮电出版社</a:t>
                      </a:r>
                    </a:p>
                  </a:txBody>
                  <a:tcPr/>
                </a:tc>
                <a:tc>
                  <a:txBody>
                    <a:bodyPr/>
                    <a:lstStyle/>
                    <a:p>
                      <a:r>
                        <a:t>王五</a:t>
                      </a:r>
                    </a:p>
                  </a:txBody>
                  <a:tcPr/>
                </a:tc>
                <a:tc>
                  <a:txBody>
                    <a:bodyPr/>
                    <a:lstStyle/>
                    <a:p>
                      <a:r>
                        <a:t>¥42.00</a:t>
                      </a:r>
                    </a:p>
                  </a:txBody>
                  <a:tcPr/>
                </a:tc>
                <a:tc>
                  <a:txBody>
                    <a:bodyPr/>
                    <a:lstStyle/>
                    <a:p>
                      <a:r>
                        <a:t>4200</a:t>
                      </a:r>
                    </a:p>
                  </a:txBody>
                  <a:tcPr/>
                </a:tc>
              </a:tr>
              <a:tr h="609600">
                <a:tc>
                  <a:txBody>
                    <a:bodyPr/>
                    <a:lstStyle/>
                    <a:p>
                      <a:r>
                        <a:t>PowerPoint 2010 演示设计</a:t>
                      </a:r>
                    </a:p>
                  </a:txBody>
                  <a:tcPr/>
                </a:tc>
                <a:tc>
                  <a:txBody>
                    <a:bodyPr/>
                    <a:lstStyle/>
                    <a:p>
                      <a:r>
                        <a:t>机械工业出版社</a:t>
                      </a:r>
                    </a:p>
                  </a:txBody>
                  <a:tcPr/>
                </a:tc>
                <a:tc>
                  <a:txBody>
                    <a:bodyPr/>
                    <a:lstStyle/>
                    <a:p>
                      <a:r>
                        <a:t>赵六</a:t>
                      </a:r>
                    </a:p>
                  </a:txBody>
                  <a:tcPr/>
                </a:tc>
                <a:tc>
                  <a:txBody>
                    <a:bodyPr/>
                    <a:lstStyle/>
                    <a:p>
                      <a:r>
                        <a:t>¥40.00</a:t>
                      </a:r>
                    </a:p>
                  </a:txBody>
                  <a:tcPr/>
                </a:tc>
                <a:tc>
                  <a:txBody>
                    <a:bodyPr/>
                    <a:lstStyle/>
                    <a:p>
                      <a:r>
                        <a:t>3800</a:t>
                      </a:r>
                    </a:p>
                  </a:txBody>
                  <a:tcPr/>
                </a:tc>
              </a:tr>
              <a:tr h="609600">
                <a:tc>
                  <a:txBody>
                    <a:bodyPr/>
                    <a:lstStyle/>
                    <a:p>
                      <a:r>
                        <a:t>Office 办公自动化</a:t>
                      </a:r>
                    </a:p>
                  </a:txBody>
                  <a:tcPr/>
                </a:tc>
                <a:tc>
                  <a:txBody>
                    <a:bodyPr/>
                    <a:lstStyle/>
                    <a:p>
                      <a:r>
                        <a:t>北京大学出版社</a:t>
                      </a:r>
                    </a:p>
                  </a:txBody>
                  <a:tcPr/>
                </a:tc>
                <a:tc>
                  <a:txBody>
                    <a:bodyPr/>
                    <a:lstStyle/>
                    <a:p>
                      <a:r>
                        <a:t>钱七</a:t>
                      </a:r>
                    </a:p>
                  </a:txBody>
                  <a:tcPr/>
                </a:tc>
                <a:tc>
                  <a:txBody>
                    <a:bodyPr/>
                    <a:lstStyle/>
                    <a:p>
                      <a:r>
                        <a:t>¥35.00</a:t>
                      </a:r>
                    </a:p>
                  </a:txBody>
                  <a:tcPr/>
                </a:tc>
                <a:tc>
                  <a:txBody>
                    <a:bodyPr/>
                    <a:lstStyle/>
                    <a:p>
                      <a:r>
                        <a:t>3500</a:t>
                      </a:r>
                    </a:p>
                  </a:txBody>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新版图书创作流程示意</a:t>
            </a:r>
          </a:p>
        </p:txBody>
      </p:sp>
      <p:sp>
        <p:nvSpPr>
          <p:cNvPr id="3" name="Content Placeholder 2"/>
          <p:cNvSpPr>
            <a:spLocks noGrp="1"/>
          </p:cNvSpPr>
          <p:nvPr>
            <p:ph idx="1"/>
          </p:nvPr>
        </p:nvSpPr>
        <p:spPr/>
        <p:txBody>
          <a:bodyPr/>
          <a:lstStyle/>
          <a:p>
            <a:pPr/>
            <a:r>
              <a:t>确定选题</a:t>
            </a:r>
          </a:p>
          <a:p>
            <a:pPr lvl="1"/>
            <a:r>
              <a:t>选定作者</a:t>
            </a:r>
          </a:p>
          <a:p>
            <a:pPr lvl="1"/>
            <a:r>
              <a:t>选题沟通</a:t>
            </a:r>
          </a:p>
          <a:p>
            <a:pPr/>
            <a:r>
              <a:t>图书编写</a:t>
            </a:r>
          </a:p>
          <a:p>
            <a:pPr/>
            <a:r>
              <a:t>编辑审校</a:t>
            </a:r>
          </a:p>
          <a:p>
            <a:pPr/>
            <a:r>
              <a:t>排版印刷</a:t>
            </a:r>
          </a:p>
          <a:p>
            <a:pPr/>
            <a:r>
              <a:t>上市发行</a:t>
            </a:r>
          </a:p>
        </p:txBody>
      </p:sp>
      <p:sp>
        <p:nvSpPr>
          <p:cNvPr id="4" name="Rounded Rectangle 3"/>
          <p:cNvSpPr/>
          <p:nvPr/>
        </p:nvSpPr>
        <p:spPr>
          <a:xfrm>
            <a:off x="457200" y="1371600"/>
            <a:ext cx="1371600" cy="731520"/>
          </a:xfrm>
          <a:prstGeom prst="roundRect">
            <a:avLst/>
          </a:prstGeom>
          <a:solidFill>
            <a:srgbClr val="4F81BD"/>
          </a:solidFill>
          <a:ln>
            <a:solidFill>
              <a:srgbClr val="4F81B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FFFFFF"/>
                </a:solidFill>
              </a:defRPr>
            </a:pPr>
            <a:r>
              <a:t>确定选题</a:t>
            </a:r>
          </a:p>
        </p:txBody>
      </p:sp>
      <p:sp>
        <p:nvSpPr>
          <p:cNvPr id="5" name="Right Arrow 4"/>
          <p:cNvSpPr/>
          <p:nvPr/>
        </p:nvSpPr>
        <p:spPr>
          <a:xfrm>
            <a:off x="1883664" y="1600200"/>
            <a:ext cx="274320" cy="274320"/>
          </a:xfrm>
          <a:prstGeom prst="rightArrow">
            <a:avLst/>
          </a:prstGeom>
          <a:solidFill>
            <a:srgbClr val="4F81BD"/>
          </a:solidFill>
          <a:ln>
            <a:solidFill>
              <a:srgbClr val="4F81B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103120" y="1371600"/>
            <a:ext cx="1371600" cy="731520"/>
          </a:xfrm>
          <a:prstGeom prst="roundRect">
            <a:avLst/>
          </a:prstGeom>
          <a:solidFill>
            <a:srgbClr val="4F81BD"/>
          </a:solidFill>
          <a:ln>
            <a:solidFill>
              <a:srgbClr val="4F81B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FFFFFF"/>
                </a:solidFill>
              </a:defRPr>
            </a:pPr>
            <a:r>
              <a:t>图书编写</a:t>
            </a:r>
          </a:p>
        </p:txBody>
      </p:sp>
      <p:sp>
        <p:nvSpPr>
          <p:cNvPr id="7" name="Right Arrow 6"/>
          <p:cNvSpPr/>
          <p:nvPr/>
        </p:nvSpPr>
        <p:spPr>
          <a:xfrm>
            <a:off x="3529584" y="1600200"/>
            <a:ext cx="274320" cy="274320"/>
          </a:xfrm>
          <a:prstGeom prst="rightArrow">
            <a:avLst/>
          </a:prstGeom>
          <a:solidFill>
            <a:srgbClr val="4F81BD"/>
          </a:solidFill>
          <a:ln>
            <a:solidFill>
              <a:srgbClr val="4F81B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749040" y="1371600"/>
            <a:ext cx="1371600" cy="731520"/>
          </a:xfrm>
          <a:prstGeom prst="roundRect">
            <a:avLst/>
          </a:prstGeom>
          <a:solidFill>
            <a:srgbClr val="4F81BD"/>
          </a:solidFill>
          <a:ln>
            <a:solidFill>
              <a:srgbClr val="4F81B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FFFFFF"/>
                </a:solidFill>
              </a:defRPr>
            </a:pPr>
            <a:r>
              <a:t>编辑审校</a:t>
            </a:r>
          </a:p>
        </p:txBody>
      </p:sp>
      <p:sp>
        <p:nvSpPr>
          <p:cNvPr id="9" name="Right Arrow 8"/>
          <p:cNvSpPr/>
          <p:nvPr/>
        </p:nvSpPr>
        <p:spPr>
          <a:xfrm>
            <a:off x="5175504" y="1600200"/>
            <a:ext cx="274320" cy="274320"/>
          </a:xfrm>
          <a:prstGeom prst="rightArrow">
            <a:avLst/>
          </a:prstGeom>
          <a:solidFill>
            <a:srgbClr val="4F81BD"/>
          </a:solidFill>
          <a:ln>
            <a:solidFill>
              <a:srgbClr val="4F81B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394960" y="1371600"/>
            <a:ext cx="1371600" cy="731520"/>
          </a:xfrm>
          <a:prstGeom prst="roundRect">
            <a:avLst/>
          </a:prstGeom>
          <a:solidFill>
            <a:srgbClr val="4F81BD"/>
          </a:solidFill>
          <a:ln>
            <a:solidFill>
              <a:srgbClr val="4F81B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FFFFFF"/>
                </a:solidFill>
              </a:defRPr>
            </a:pPr>
            <a:r>
              <a:t>排版印刷</a:t>
            </a:r>
          </a:p>
        </p:txBody>
      </p:sp>
      <p:sp>
        <p:nvSpPr>
          <p:cNvPr id="11" name="Right Arrow 10"/>
          <p:cNvSpPr/>
          <p:nvPr/>
        </p:nvSpPr>
        <p:spPr>
          <a:xfrm>
            <a:off x="6821424" y="1600200"/>
            <a:ext cx="274320" cy="274320"/>
          </a:xfrm>
          <a:prstGeom prst="rightArrow">
            <a:avLst/>
          </a:prstGeom>
          <a:solidFill>
            <a:srgbClr val="4F81BD"/>
          </a:solidFill>
          <a:ln>
            <a:solidFill>
              <a:srgbClr val="4F81B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040880" y="1371600"/>
            <a:ext cx="1371600" cy="731520"/>
          </a:xfrm>
          <a:prstGeom prst="roundRect">
            <a:avLst/>
          </a:prstGeom>
          <a:solidFill>
            <a:srgbClr val="4F81BD"/>
          </a:solidFill>
          <a:ln>
            <a:solidFill>
              <a:srgbClr val="4F81B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FFFFFF"/>
                </a:solidFill>
              </a:defRPr>
            </a:pPr>
            <a:r>
              <a:t>上市发行</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