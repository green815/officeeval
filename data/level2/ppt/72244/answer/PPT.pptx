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B68E8D46-13FC-41A6-8293-CC7ECF8D1A08}">
          <p14:sldIdLst>
            <p14:sldId id="256"/>
          </p14:sldIdLst>
        </p14:section>
        <p14:section name="概况" id="{6DBD878F-0908-422B-85C3-9C4D10B898E4}">
          <p14:sldIdLst>
            <p14:sldId id="257"/>
            <p14:sldId id="258"/>
          </p14:sldIdLst>
        </p14:section>
        <p14:section name="特点、参数等" id="{339B353C-DEA6-4648-9486-EC1978494691}">
          <p14:sldIdLst>
            <p14:sldId id="259"/>
            <p14:sldId id="260"/>
            <p14:sldId id="261"/>
            <p14:sldId id="262"/>
          </p14:sldIdLst>
        </p14:section>
        <p14:section name="图片欣赏" id="{36CFD285-51D5-4065-B1DB-12536149CCF0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90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D27C89-7C2B-4021-9A1E-752DC2298AD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F73471AE-3012-4DC3-A165-BCAA2DF799CE}">
      <dgm:prSet/>
      <dgm:spPr/>
      <dgm:t>
        <a:bodyPr/>
        <a:lstStyle/>
        <a:p>
          <a:pPr rtl="0"/>
          <a:r>
            <a:rPr lang="zh-CN" smtClean="0"/>
            <a:t>高性能</a:t>
          </a:r>
          <a:endParaRPr lang="zh-CN"/>
        </a:p>
      </dgm:t>
    </dgm:pt>
    <dgm:pt modelId="{CB8009FE-1B22-4502-B691-E4FB99E5FE99}" type="parTrans" cxnId="{7E9F549B-C248-46F9-836D-DA613A47266E}">
      <dgm:prSet/>
      <dgm:spPr/>
      <dgm:t>
        <a:bodyPr/>
        <a:lstStyle/>
        <a:p>
          <a:endParaRPr lang="zh-CN" altLang="en-US"/>
        </a:p>
      </dgm:t>
    </dgm:pt>
    <dgm:pt modelId="{8DE4E54B-663C-4449-B6A2-8D3CAD94D78E}" type="sibTrans" cxnId="{7E9F549B-C248-46F9-836D-DA613A47266E}">
      <dgm:prSet/>
      <dgm:spPr/>
      <dgm:t>
        <a:bodyPr/>
        <a:lstStyle/>
        <a:p>
          <a:endParaRPr lang="zh-CN" altLang="en-US"/>
        </a:p>
      </dgm:t>
    </dgm:pt>
    <dgm:pt modelId="{23BEC999-7BA2-41AE-BD8B-6BAD797F42ED}">
      <dgm:prSet/>
      <dgm:spPr/>
      <dgm:t>
        <a:bodyPr/>
        <a:lstStyle/>
        <a:p>
          <a:pPr rtl="0"/>
          <a:r>
            <a:rPr lang="zh-CN" dirty="0" smtClean="0"/>
            <a:t>峰值速度和持续速度都创造了新的世界纪录</a:t>
          </a:r>
          <a:endParaRPr lang="zh-CN" dirty="0"/>
        </a:p>
      </dgm:t>
    </dgm:pt>
    <dgm:pt modelId="{EB9E1419-0FB4-48B7-A2A4-EE8A693AB63F}" type="parTrans" cxnId="{B0663911-A6B9-4EBC-8F8D-47D3864D86C0}">
      <dgm:prSet/>
      <dgm:spPr/>
      <dgm:t>
        <a:bodyPr/>
        <a:lstStyle/>
        <a:p>
          <a:endParaRPr lang="zh-CN" altLang="en-US"/>
        </a:p>
      </dgm:t>
    </dgm:pt>
    <dgm:pt modelId="{DC20B12A-4B54-47BF-834B-15301A911539}" type="sibTrans" cxnId="{B0663911-A6B9-4EBC-8F8D-47D3864D86C0}">
      <dgm:prSet/>
      <dgm:spPr/>
      <dgm:t>
        <a:bodyPr/>
        <a:lstStyle/>
        <a:p>
          <a:endParaRPr lang="zh-CN" altLang="en-US"/>
        </a:p>
      </dgm:t>
    </dgm:pt>
    <dgm:pt modelId="{41EC81A2-9F81-4DB4-B48D-0430189EE873}">
      <dgm:prSet/>
      <dgm:spPr/>
      <dgm:t>
        <a:bodyPr/>
        <a:lstStyle/>
        <a:p>
          <a:pPr rtl="0"/>
          <a:r>
            <a:rPr lang="zh-CN" smtClean="0"/>
            <a:t>低能耗</a:t>
          </a:r>
          <a:endParaRPr lang="zh-CN"/>
        </a:p>
      </dgm:t>
    </dgm:pt>
    <dgm:pt modelId="{2CF6B074-1482-4FAA-B9B6-1A5110E2F354}" type="parTrans" cxnId="{D6CC90F3-48D8-444F-B362-8F785B7B4FC7}">
      <dgm:prSet/>
      <dgm:spPr/>
      <dgm:t>
        <a:bodyPr/>
        <a:lstStyle/>
        <a:p>
          <a:endParaRPr lang="zh-CN" altLang="en-US"/>
        </a:p>
      </dgm:t>
    </dgm:pt>
    <dgm:pt modelId="{88398E0E-AB4B-49FC-90A9-8FCE577701C9}" type="sibTrans" cxnId="{D6CC90F3-48D8-444F-B362-8F785B7B4FC7}">
      <dgm:prSet/>
      <dgm:spPr/>
      <dgm:t>
        <a:bodyPr/>
        <a:lstStyle/>
        <a:p>
          <a:endParaRPr lang="zh-CN" altLang="en-US"/>
        </a:p>
      </dgm:t>
    </dgm:pt>
    <dgm:pt modelId="{0DAC395A-699F-4ACD-914C-D75232C4DFE9}">
      <dgm:prSet/>
      <dgm:spPr/>
      <dgm:t>
        <a:bodyPr/>
        <a:lstStyle/>
        <a:p>
          <a:pPr rtl="0"/>
          <a:r>
            <a:rPr lang="zh-CN" smtClean="0"/>
            <a:t>能效比为每瓦特</a:t>
          </a:r>
          <a:r>
            <a:rPr lang="en-US" smtClean="0"/>
            <a:t>19</a:t>
          </a:r>
          <a:r>
            <a:rPr lang="zh-CN" smtClean="0"/>
            <a:t>亿次，达到了世界先进水平</a:t>
          </a:r>
          <a:endParaRPr lang="zh-CN"/>
        </a:p>
      </dgm:t>
    </dgm:pt>
    <dgm:pt modelId="{CFD2EE67-D8F7-4E80-9F33-E6EF216AF9E0}" type="parTrans" cxnId="{AC541735-6AF1-4F29-A847-5FB5D899FBA9}">
      <dgm:prSet/>
      <dgm:spPr/>
      <dgm:t>
        <a:bodyPr/>
        <a:lstStyle/>
        <a:p>
          <a:endParaRPr lang="zh-CN" altLang="en-US"/>
        </a:p>
      </dgm:t>
    </dgm:pt>
    <dgm:pt modelId="{5C0B3F97-E887-43EF-9688-B5426AE08AB4}" type="sibTrans" cxnId="{AC541735-6AF1-4F29-A847-5FB5D899FBA9}">
      <dgm:prSet/>
      <dgm:spPr/>
      <dgm:t>
        <a:bodyPr/>
        <a:lstStyle/>
        <a:p>
          <a:endParaRPr lang="zh-CN" altLang="en-US"/>
        </a:p>
      </dgm:t>
    </dgm:pt>
    <dgm:pt modelId="{31FCB663-E0CC-4A16-98C1-D80BAA368A68}">
      <dgm:prSet/>
      <dgm:spPr/>
      <dgm:t>
        <a:bodyPr/>
        <a:lstStyle/>
        <a:p>
          <a:pPr rtl="0"/>
          <a:r>
            <a:rPr lang="zh-CN" smtClean="0"/>
            <a:t>应用广</a:t>
          </a:r>
          <a:endParaRPr lang="zh-CN"/>
        </a:p>
      </dgm:t>
    </dgm:pt>
    <dgm:pt modelId="{F12CF188-63F8-4CBF-83FF-F6ACD60ABBBB}" type="parTrans" cxnId="{55EFD087-550C-4100-9D49-DB00BCEC7FDD}">
      <dgm:prSet/>
      <dgm:spPr/>
      <dgm:t>
        <a:bodyPr/>
        <a:lstStyle/>
        <a:p>
          <a:endParaRPr lang="zh-CN" altLang="en-US"/>
        </a:p>
      </dgm:t>
    </dgm:pt>
    <dgm:pt modelId="{BD5F79BC-8008-498D-B761-162B92F96264}" type="sibTrans" cxnId="{55EFD087-550C-4100-9D49-DB00BCEC7FDD}">
      <dgm:prSet/>
      <dgm:spPr/>
      <dgm:t>
        <a:bodyPr/>
        <a:lstStyle/>
        <a:p>
          <a:endParaRPr lang="zh-CN" altLang="en-US"/>
        </a:p>
      </dgm:t>
    </dgm:pt>
    <dgm:pt modelId="{B18D045F-EC0D-46E5-874F-0A8A736E11FA}">
      <dgm:prSet/>
      <dgm:spPr/>
      <dgm:t>
        <a:bodyPr/>
        <a:lstStyle/>
        <a:p>
          <a:pPr rtl="0"/>
          <a:r>
            <a:rPr lang="zh-CN" smtClean="0"/>
            <a:t>主打科学工程计算，兼顾了云计算</a:t>
          </a:r>
          <a:endParaRPr lang="zh-CN"/>
        </a:p>
      </dgm:t>
    </dgm:pt>
    <dgm:pt modelId="{13D85A23-BF74-4533-9FEB-881D37DB0F88}" type="parTrans" cxnId="{1A4C426F-C5BF-4901-80A6-B658A5FD95B1}">
      <dgm:prSet/>
      <dgm:spPr/>
      <dgm:t>
        <a:bodyPr/>
        <a:lstStyle/>
        <a:p>
          <a:endParaRPr lang="zh-CN" altLang="en-US"/>
        </a:p>
      </dgm:t>
    </dgm:pt>
    <dgm:pt modelId="{F44A543F-1B81-489A-8D28-D04F533153D0}" type="sibTrans" cxnId="{1A4C426F-C5BF-4901-80A6-B658A5FD95B1}">
      <dgm:prSet/>
      <dgm:spPr/>
      <dgm:t>
        <a:bodyPr/>
        <a:lstStyle/>
        <a:p>
          <a:endParaRPr lang="zh-CN" altLang="en-US"/>
        </a:p>
      </dgm:t>
    </dgm:pt>
    <dgm:pt modelId="{141EE9F5-DA91-444D-9223-593801373965}">
      <dgm:prSet/>
      <dgm:spPr/>
      <dgm:t>
        <a:bodyPr/>
        <a:lstStyle/>
        <a:p>
          <a:pPr rtl="0"/>
          <a:r>
            <a:rPr lang="zh-CN" smtClean="0"/>
            <a:t>易使用</a:t>
          </a:r>
          <a:endParaRPr lang="zh-CN"/>
        </a:p>
      </dgm:t>
    </dgm:pt>
    <dgm:pt modelId="{B9338A67-1998-409B-A422-35978EA86371}" type="parTrans" cxnId="{AE804D5E-F0C3-4222-BE51-9C09CFEA205E}">
      <dgm:prSet/>
      <dgm:spPr/>
      <dgm:t>
        <a:bodyPr/>
        <a:lstStyle/>
        <a:p>
          <a:endParaRPr lang="zh-CN" altLang="en-US"/>
        </a:p>
      </dgm:t>
    </dgm:pt>
    <dgm:pt modelId="{A3C16158-AF9D-409E-868E-0B9CEADA8F47}" type="sibTrans" cxnId="{AE804D5E-F0C3-4222-BE51-9C09CFEA205E}">
      <dgm:prSet/>
      <dgm:spPr/>
      <dgm:t>
        <a:bodyPr/>
        <a:lstStyle/>
        <a:p>
          <a:endParaRPr lang="zh-CN" altLang="en-US"/>
        </a:p>
      </dgm:t>
    </dgm:pt>
    <dgm:pt modelId="{50A7DD0D-6B0D-4AE8-8779-3561D19313A2}">
      <dgm:prSet/>
      <dgm:spPr/>
      <dgm:t>
        <a:bodyPr/>
        <a:lstStyle/>
        <a:p>
          <a:pPr rtl="0"/>
          <a:r>
            <a:rPr lang="zh-CN" smtClean="0"/>
            <a:t>创新发展了异构融合体系结构，提高了软件兼容性和易编程性</a:t>
          </a:r>
          <a:endParaRPr lang="zh-CN"/>
        </a:p>
      </dgm:t>
    </dgm:pt>
    <dgm:pt modelId="{62F72532-01CB-431D-95CC-50FA6248EF38}" type="parTrans" cxnId="{77C11371-B68C-41EA-A2A7-25A90A661440}">
      <dgm:prSet/>
      <dgm:spPr/>
      <dgm:t>
        <a:bodyPr/>
        <a:lstStyle/>
        <a:p>
          <a:endParaRPr lang="zh-CN" altLang="en-US"/>
        </a:p>
      </dgm:t>
    </dgm:pt>
    <dgm:pt modelId="{4E85FE23-E307-465C-83C6-02000B90EA32}" type="sibTrans" cxnId="{77C11371-B68C-41EA-A2A7-25A90A661440}">
      <dgm:prSet/>
      <dgm:spPr/>
      <dgm:t>
        <a:bodyPr/>
        <a:lstStyle/>
        <a:p>
          <a:endParaRPr lang="zh-CN" altLang="en-US"/>
        </a:p>
      </dgm:t>
    </dgm:pt>
    <dgm:pt modelId="{07FDC48A-59D7-4706-8869-A8841C813DCB}">
      <dgm:prSet/>
      <dgm:spPr/>
      <dgm:t>
        <a:bodyPr/>
        <a:lstStyle/>
        <a:p>
          <a:pPr rtl="0"/>
          <a:r>
            <a:rPr lang="zh-CN" smtClean="0"/>
            <a:t>性价比高</a:t>
          </a:r>
          <a:endParaRPr lang="zh-CN"/>
        </a:p>
      </dgm:t>
    </dgm:pt>
    <dgm:pt modelId="{8386C013-2DF5-4C64-B919-32A163B34194}" type="parTrans" cxnId="{5688E7E1-118A-4078-AB88-22DE973543E7}">
      <dgm:prSet/>
      <dgm:spPr/>
      <dgm:t>
        <a:bodyPr/>
        <a:lstStyle/>
        <a:p>
          <a:endParaRPr lang="zh-CN" altLang="en-US"/>
        </a:p>
      </dgm:t>
    </dgm:pt>
    <dgm:pt modelId="{93873E09-118D-4383-AD7A-11FE69AB671A}" type="sibTrans" cxnId="{5688E7E1-118A-4078-AB88-22DE973543E7}">
      <dgm:prSet/>
      <dgm:spPr/>
      <dgm:t>
        <a:bodyPr/>
        <a:lstStyle/>
        <a:p>
          <a:endParaRPr lang="zh-CN" altLang="en-US"/>
        </a:p>
      </dgm:t>
    </dgm:pt>
    <dgm:pt modelId="{7F0F3E64-755A-45CC-A05B-5F6197DC6CDD}">
      <dgm:prSet/>
      <dgm:spPr/>
      <dgm:t>
        <a:bodyPr/>
        <a:lstStyle/>
        <a:p>
          <a:pPr rtl="0"/>
          <a:r>
            <a:rPr lang="zh-CN" smtClean="0"/>
            <a:t>性能世界第一，研制经费仅为美国“泰坦”超级计算机的一半</a:t>
          </a:r>
          <a:endParaRPr lang="zh-CN"/>
        </a:p>
      </dgm:t>
    </dgm:pt>
    <dgm:pt modelId="{3A9A0BF2-982D-4669-8425-C5C06AB2734C}" type="parTrans" cxnId="{87CC096F-87EB-40C2-9145-6E4C92E26257}">
      <dgm:prSet/>
      <dgm:spPr/>
      <dgm:t>
        <a:bodyPr/>
        <a:lstStyle/>
        <a:p>
          <a:endParaRPr lang="zh-CN" altLang="en-US"/>
        </a:p>
      </dgm:t>
    </dgm:pt>
    <dgm:pt modelId="{B50B7538-FE35-497C-8980-4515F5CACD97}" type="sibTrans" cxnId="{87CC096F-87EB-40C2-9145-6E4C92E26257}">
      <dgm:prSet/>
      <dgm:spPr/>
      <dgm:t>
        <a:bodyPr/>
        <a:lstStyle/>
        <a:p>
          <a:endParaRPr lang="zh-CN" altLang="en-US"/>
        </a:p>
      </dgm:t>
    </dgm:pt>
    <dgm:pt modelId="{C5EC374B-6209-42EF-BCB9-F14C464FB939}" type="pres">
      <dgm:prSet presAssocID="{BBD27C89-7C2B-4021-9A1E-752DC2298AD8}" presName="Name0" presStyleCnt="0">
        <dgm:presLayoutVars>
          <dgm:dir/>
          <dgm:animLvl val="lvl"/>
          <dgm:resizeHandles val="exact"/>
        </dgm:presLayoutVars>
      </dgm:prSet>
      <dgm:spPr/>
    </dgm:pt>
    <dgm:pt modelId="{917530E2-FA02-4043-A439-7EA547AD2C08}" type="pres">
      <dgm:prSet presAssocID="{F73471AE-3012-4DC3-A165-BCAA2DF799CE}" presName="linNode" presStyleCnt="0"/>
      <dgm:spPr/>
    </dgm:pt>
    <dgm:pt modelId="{A49B98F1-2E86-42B2-800D-791B9F48EF3A}" type="pres">
      <dgm:prSet presAssocID="{F73471AE-3012-4DC3-A165-BCAA2DF799CE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8568E2A5-5BCD-4055-94C4-15830E01ED1F}" type="pres">
      <dgm:prSet presAssocID="{F73471AE-3012-4DC3-A165-BCAA2DF799CE}" presName="descendantText" presStyleLbl="alignAccFollowNode1" presStyleIdx="0" presStyleCnt="5">
        <dgm:presLayoutVars>
          <dgm:bulletEnabled val="1"/>
        </dgm:presLayoutVars>
      </dgm:prSet>
      <dgm:spPr/>
    </dgm:pt>
    <dgm:pt modelId="{55384130-99BA-4AB4-ADA2-98B441BA33BE}" type="pres">
      <dgm:prSet presAssocID="{8DE4E54B-663C-4449-B6A2-8D3CAD94D78E}" presName="sp" presStyleCnt="0"/>
      <dgm:spPr/>
    </dgm:pt>
    <dgm:pt modelId="{68DDF68E-A519-4782-A77E-A4FE3D5B9C41}" type="pres">
      <dgm:prSet presAssocID="{41EC81A2-9F81-4DB4-B48D-0430189EE873}" presName="linNode" presStyleCnt="0"/>
      <dgm:spPr/>
    </dgm:pt>
    <dgm:pt modelId="{7E747F0B-405F-4E0C-BD94-1DA58AAAB390}" type="pres">
      <dgm:prSet presAssocID="{41EC81A2-9F81-4DB4-B48D-0430189EE873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6FD48BE6-0ADD-4860-BDC9-0B52E0030AB4}" type="pres">
      <dgm:prSet presAssocID="{41EC81A2-9F81-4DB4-B48D-0430189EE873}" presName="descendantText" presStyleLbl="alignAccFollowNode1" presStyleIdx="1" presStyleCnt="5">
        <dgm:presLayoutVars>
          <dgm:bulletEnabled val="1"/>
        </dgm:presLayoutVars>
      </dgm:prSet>
      <dgm:spPr/>
    </dgm:pt>
    <dgm:pt modelId="{64AC1E44-1627-4795-8DCF-88AA79A4650D}" type="pres">
      <dgm:prSet presAssocID="{88398E0E-AB4B-49FC-90A9-8FCE577701C9}" presName="sp" presStyleCnt="0"/>
      <dgm:spPr/>
    </dgm:pt>
    <dgm:pt modelId="{06E52316-4082-41DC-96DD-B857A4403D83}" type="pres">
      <dgm:prSet presAssocID="{31FCB663-E0CC-4A16-98C1-D80BAA368A68}" presName="linNode" presStyleCnt="0"/>
      <dgm:spPr/>
    </dgm:pt>
    <dgm:pt modelId="{392B3693-551C-4C58-BBF0-8E6DA7B6DA42}" type="pres">
      <dgm:prSet presAssocID="{31FCB663-E0CC-4A16-98C1-D80BAA368A68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E2E41FAE-28D1-4FB1-8F15-A8A8586893B8}" type="pres">
      <dgm:prSet presAssocID="{31FCB663-E0CC-4A16-98C1-D80BAA368A68}" presName="descendantText" presStyleLbl="alignAccFollowNode1" presStyleIdx="2" presStyleCnt="5">
        <dgm:presLayoutVars>
          <dgm:bulletEnabled val="1"/>
        </dgm:presLayoutVars>
      </dgm:prSet>
      <dgm:spPr/>
    </dgm:pt>
    <dgm:pt modelId="{455175E1-B26E-462D-B9C7-94E40CD6490D}" type="pres">
      <dgm:prSet presAssocID="{BD5F79BC-8008-498D-B761-162B92F96264}" presName="sp" presStyleCnt="0"/>
      <dgm:spPr/>
    </dgm:pt>
    <dgm:pt modelId="{AC09520A-BAC2-4908-AB17-0AD6A5B2A1FC}" type="pres">
      <dgm:prSet presAssocID="{141EE9F5-DA91-444D-9223-593801373965}" presName="linNode" presStyleCnt="0"/>
      <dgm:spPr/>
    </dgm:pt>
    <dgm:pt modelId="{47979DB2-CF32-486D-A16F-37524F17B12F}" type="pres">
      <dgm:prSet presAssocID="{141EE9F5-DA91-444D-9223-593801373965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C38074EF-9181-4DD5-B480-4EE5A3A92241}" type="pres">
      <dgm:prSet presAssocID="{141EE9F5-DA91-444D-9223-593801373965}" presName="descendantText" presStyleLbl="alignAccFollowNode1" presStyleIdx="3" presStyleCnt="5">
        <dgm:presLayoutVars>
          <dgm:bulletEnabled val="1"/>
        </dgm:presLayoutVars>
      </dgm:prSet>
      <dgm:spPr/>
    </dgm:pt>
    <dgm:pt modelId="{153356C9-87B6-4987-B685-EC1ABAB9EDB5}" type="pres">
      <dgm:prSet presAssocID="{A3C16158-AF9D-409E-868E-0B9CEADA8F47}" presName="sp" presStyleCnt="0"/>
      <dgm:spPr/>
    </dgm:pt>
    <dgm:pt modelId="{236D34FE-FE03-4E14-9341-C2D6411833EB}" type="pres">
      <dgm:prSet presAssocID="{07FDC48A-59D7-4706-8869-A8841C813DCB}" presName="linNode" presStyleCnt="0"/>
      <dgm:spPr/>
    </dgm:pt>
    <dgm:pt modelId="{871E9AE7-9B95-49E4-B23F-2C6A95E1A54C}" type="pres">
      <dgm:prSet presAssocID="{07FDC48A-59D7-4706-8869-A8841C813DCB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A79666F1-228D-4EBB-B763-BCF97EC0B7EB}" type="pres">
      <dgm:prSet presAssocID="{07FDC48A-59D7-4706-8869-A8841C813DCB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4D73DCFC-D49C-438E-BA9B-361E50437131}" type="presOf" srcId="{B18D045F-EC0D-46E5-874F-0A8A736E11FA}" destId="{E2E41FAE-28D1-4FB1-8F15-A8A8586893B8}" srcOrd="0" destOrd="0" presId="urn:microsoft.com/office/officeart/2005/8/layout/vList5"/>
    <dgm:cxn modelId="{87CC096F-87EB-40C2-9145-6E4C92E26257}" srcId="{07FDC48A-59D7-4706-8869-A8841C813DCB}" destId="{7F0F3E64-755A-45CC-A05B-5F6197DC6CDD}" srcOrd="0" destOrd="0" parTransId="{3A9A0BF2-982D-4669-8425-C5C06AB2734C}" sibTransId="{B50B7538-FE35-497C-8980-4515F5CACD97}"/>
    <dgm:cxn modelId="{BA681D8E-1679-41FB-A6C7-735DE82E81E4}" type="presOf" srcId="{F73471AE-3012-4DC3-A165-BCAA2DF799CE}" destId="{A49B98F1-2E86-42B2-800D-791B9F48EF3A}" srcOrd="0" destOrd="0" presId="urn:microsoft.com/office/officeart/2005/8/layout/vList5"/>
    <dgm:cxn modelId="{7E9F549B-C248-46F9-836D-DA613A47266E}" srcId="{BBD27C89-7C2B-4021-9A1E-752DC2298AD8}" destId="{F73471AE-3012-4DC3-A165-BCAA2DF799CE}" srcOrd="0" destOrd="0" parTransId="{CB8009FE-1B22-4502-B691-E4FB99E5FE99}" sibTransId="{8DE4E54B-663C-4449-B6A2-8D3CAD94D78E}"/>
    <dgm:cxn modelId="{D6CC90F3-48D8-444F-B362-8F785B7B4FC7}" srcId="{BBD27C89-7C2B-4021-9A1E-752DC2298AD8}" destId="{41EC81A2-9F81-4DB4-B48D-0430189EE873}" srcOrd="1" destOrd="0" parTransId="{2CF6B074-1482-4FAA-B9B6-1A5110E2F354}" sibTransId="{88398E0E-AB4B-49FC-90A9-8FCE577701C9}"/>
    <dgm:cxn modelId="{AE804D5E-F0C3-4222-BE51-9C09CFEA205E}" srcId="{BBD27C89-7C2B-4021-9A1E-752DC2298AD8}" destId="{141EE9F5-DA91-444D-9223-593801373965}" srcOrd="3" destOrd="0" parTransId="{B9338A67-1998-409B-A422-35978EA86371}" sibTransId="{A3C16158-AF9D-409E-868E-0B9CEADA8F47}"/>
    <dgm:cxn modelId="{5688E7E1-118A-4078-AB88-22DE973543E7}" srcId="{BBD27C89-7C2B-4021-9A1E-752DC2298AD8}" destId="{07FDC48A-59D7-4706-8869-A8841C813DCB}" srcOrd="4" destOrd="0" parTransId="{8386C013-2DF5-4C64-B919-32A163B34194}" sibTransId="{93873E09-118D-4383-AD7A-11FE69AB671A}"/>
    <dgm:cxn modelId="{AF598EDB-33D8-4C04-A18F-27294DF02B6D}" type="presOf" srcId="{50A7DD0D-6B0D-4AE8-8779-3561D19313A2}" destId="{C38074EF-9181-4DD5-B480-4EE5A3A92241}" srcOrd="0" destOrd="0" presId="urn:microsoft.com/office/officeart/2005/8/layout/vList5"/>
    <dgm:cxn modelId="{99029772-7A82-4BBD-B2ED-A1588AB0FEE5}" type="presOf" srcId="{23BEC999-7BA2-41AE-BD8B-6BAD797F42ED}" destId="{8568E2A5-5BCD-4055-94C4-15830E01ED1F}" srcOrd="0" destOrd="0" presId="urn:microsoft.com/office/officeart/2005/8/layout/vList5"/>
    <dgm:cxn modelId="{87B14A43-DF97-4A3E-844D-63A4DA5FFEE9}" type="presOf" srcId="{41EC81A2-9F81-4DB4-B48D-0430189EE873}" destId="{7E747F0B-405F-4E0C-BD94-1DA58AAAB390}" srcOrd="0" destOrd="0" presId="urn:microsoft.com/office/officeart/2005/8/layout/vList5"/>
    <dgm:cxn modelId="{8F2AC15C-E810-4A82-987A-21AA181B71A2}" type="presOf" srcId="{141EE9F5-DA91-444D-9223-593801373965}" destId="{47979DB2-CF32-486D-A16F-37524F17B12F}" srcOrd="0" destOrd="0" presId="urn:microsoft.com/office/officeart/2005/8/layout/vList5"/>
    <dgm:cxn modelId="{B0663911-A6B9-4EBC-8F8D-47D3864D86C0}" srcId="{F73471AE-3012-4DC3-A165-BCAA2DF799CE}" destId="{23BEC999-7BA2-41AE-BD8B-6BAD797F42ED}" srcOrd="0" destOrd="0" parTransId="{EB9E1419-0FB4-48B7-A2A4-EE8A693AB63F}" sibTransId="{DC20B12A-4B54-47BF-834B-15301A911539}"/>
    <dgm:cxn modelId="{C86B9EB1-45C4-45AA-96BF-AC47D6FAB53E}" type="presOf" srcId="{31FCB663-E0CC-4A16-98C1-D80BAA368A68}" destId="{392B3693-551C-4C58-BBF0-8E6DA7B6DA42}" srcOrd="0" destOrd="0" presId="urn:microsoft.com/office/officeart/2005/8/layout/vList5"/>
    <dgm:cxn modelId="{77C11371-B68C-41EA-A2A7-25A90A661440}" srcId="{141EE9F5-DA91-444D-9223-593801373965}" destId="{50A7DD0D-6B0D-4AE8-8779-3561D19313A2}" srcOrd="0" destOrd="0" parTransId="{62F72532-01CB-431D-95CC-50FA6248EF38}" sibTransId="{4E85FE23-E307-465C-83C6-02000B90EA32}"/>
    <dgm:cxn modelId="{0D239FB2-3A72-4B7A-BAD9-BE70E151E267}" type="presOf" srcId="{07FDC48A-59D7-4706-8869-A8841C813DCB}" destId="{871E9AE7-9B95-49E4-B23F-2C6A95E1A54C}" srcOrd="0" destOrd="0" presId="urn:microsoft.com/office/officeart/2005/8/layout/vList5"/>
    <dgm:cxn modelId="{D48A2456-85A0-4832-B947-0C3393FFD4E6}" type="presOf" srcId="{7F0F3E64-755A-45CC-A05B-5F6197DC6CDD}" destId="{A79666F1-228D-4EBB-B763-BCF97EC0B7EB}" srcOrd="0" destOrd="0" presId="urn:microsoft.com/office/officeart/2005/8/layout/vList5"/>
    <dgm:cxn modelId="{1A4C426F-C5BF-4901-80A6-B658A5FD95B1}" srcId="{31FCB663-E0CC-4A16-98C1-D80BAA368A68}" destId="{B18D045F-EC0D-46E5-874F-0A8A736E11FA}" srcOrd="0" destOrd="0" parTransId="{13D85A23-BF74-4533-9FEB-881D37DB0F88}" sibTransId="{F44A543F-1B81-489A-8D28-D04F533153D0}"/>
    <dgm:cxn modelId="{B59F9E03-C3B0-4059-8628-97F6F6BE03AF}" type="presOf" srcId="{0DAC395A-699F-4ACD-914C-D75232C4DFE9}" destId="{6FD48BE6-0ADD-4860-BDC9-0B52E0030AB4}" srcOrd="0" destOrd="0" presId="urn:microsoft.com/office/officeart/2005/8/layout/vList5"/>
    <dgm:cxn modelId="{55EFD087-550C-4100-9D49-DB00BCEC7FDD}" srcId="{BBD27C89-7C2B-4021-9A1E-752DC2298AD8}" destId="{31FCB663-E0CC-4A16-98C1-D80BAA368A68}" srcOrd="2" destOrd="0" parTransId="{F12CF188-63F8-4CBF-83FF-F6ACD60ABBBB}" sibTransId="{BD5F79BC-8008-498D-B761-162B92F96264}"/>
    <dgm:cxn modelId="{1FE6A6AD-6313-48D0-867C-A8297C976768}" type="presOf" srcId="{BBD27C89-7C2B-4021-9A1E-752DC2298AD8}" destId="{C5EC374B-6209-42EF-BCB9-F14C464FB939}" srcOrd="0" destOrd="0" presId="urn:microsoft.com/office/officeart/2005/8/layout/vList5"/>
    <dgm:cxn modelId="{AC541735-6AF1-4F29-A847-5FB5D899FBA9}" srcId="{41EC81A2-9F81-4DB4-B48D-0430189EE873}" destId="{0DAC395A-699F-4ACD-914C-D75232C4DFE9}" srcOrd="0" destOrd="0" parTransId="{CFD2EE67-D8F7-4E80-9F33-E6EF216AF9E0}" sibTransId="{5C0B3F97-E887-43EF-9688-B5426AE08AB4}"/>
    <dgm:cxn modelId="{D26E517D-6DEC-4DA5-A4A1-A24DEEE985D9}" type="presParOf" srcId="{C5EC374B-6209-42EF-BCB9-F14C464FB939}" destId="{917530E2-FA02-4043-A439-7EA547AD2C08}" srcOrd="0" destOrd="0" presId="urn:microsoft.com/office/officeart/2005/8/layout/vList5"/>
    <dgm:cxn modelId="{BA7DB6CF-EFA2-4D1E-A587-B738873D3C4B}" type="presParOf" srcId="{917530E2-FA02-4043-A439-7EA547AD2C08}" destId="{A49B98F1-2E86-42B2-800D-791B9F48EF3A}" srcOrd="0" destOrd="0" presId="urn:microsoft.com/office/officeart/2005/8/layout/vList5"/>
    <dgm:cxn modelId="{F7C620D3-0C18-4B1E-BBFD-FAB638308011}" type="presParOf" srcId="{917530E2-FA02-4043-A439-7EA547AD2C08}" destId="{8568E2A5-5BCD-4055-94C4-15830E01ED1F}" srcOrd="1" destOrd="0" presId="urn:microsoft.com/office/officeart/2005/8/layout/vList5"/>
    <dgm:cxn modelId="{5C31BC53-849D-4203-AD66-5A3DC76F4B02}" type="presParOf" srcId="{C5EC374B-6209-42EF-BCB9-F14C464FB939}" destId="{55384130-99BA-4AB4-ADA2-98B441BA33BE}" srcOrd="1" destOrd="0" presId="urn:microsoft.com/office/officeart/2005/8/layout/vList5"/>
    <dgm:cxn modelId="{1D0B17AD-BB35-474D-B958-740AA571FDA3}" type="presParOf" srcId="{C5EC374B-6209-42EF-BCB9-F14C464FB939}" destId="{68DDF68E-A519-4782-A77E-A4FE3D5B9C41}" srcOrd="2" destOrd="0" presId="urn:microsoft.com/office/officeart/2005/8/layout/vList5"/>
    <dgm:cxn modelId="{1ED02A68-7C20-40AC-9BEB-20E705C439D1}" type="presParOf" srcId="{68DDF68E-A519-4782-A77E-A4FE3D5B9C41}" destId="{7E747F0B-405F-4E0C-BD94-1DA58AAAB390}" srcOrd="0" destOrd="0" presId="urn:microsoft.com/office/officeart/2005/8/layout/vList5"/>
    <dgm:cxn modelId="{CFF8BEDD-F040-458C-A507-13EA7B80B16D}" type="presParOf" srcId="{68DDF68E-A519-4782-A77E-A4FE3D5B9C41}" destId="{6FD48BE6-0ADD-4860-BDC9-0B52E0030AB4}" srcOrd="1" destOrd="0" presId="urn:microsoft.com/office/officeart/2005/8/layout/vList5"/>
    <dgm:cxn modelId="{D5EF35B4-E506-4E48-B3EC-7B46D3E7B397}" type="presParOf" srcId="{C5EC374B-6209-42EF-BCB9-F14C464FB939}" destId="{64AC1E44-1627-4795-8DCF-88AA79A4650D}" srcOrd="3" destOrd="0" presId="urn:microsoft.com/office/officeart/2005/8/layout/vList5"/>
    <dgm:cxn modelId="{F58ED2AC-D920-4C6E-83DB-14ACBDEC63DB}" type="presParOf" srcId="{C5EC374B-6209-42EF-BCB9-F14C464FB939}" destId="{06E52316-4082-41DC-96DD-B857A4403D83}" srcOrd="4" destOrd="0" presId="urn:microsoft.com/office/officeart/2005/8/layout/vList5"/>
    <dgm:cxn modelId="{5A9A39F3-3CEE-48BA-BB00-BD6B407DBCFA}" type="presParOf" srcId="{06E52316-4082-41DC-96DD-B857A4403D83}" destId="{392B3693-551C-4C58-BBF0-8E6DA7B6DA42}" srcOrd="0" destOrd="0" presId="urn:microsoft.com/office/officeart/2005/8/layout/vList5"/>
    <dgm:cxn modelId="{75321B75-EC9A-47B1-BF6A-BD893D3DBC77}" type="presParOf" srcId="{06E52316-4082-41DC-96DD-B857A4403D83}" destId="{E2E41FAE-28D1-4FB1-8F15-A8A8586893B8}" srcOrd="1" destOrd="0" presId="urn:microsoft.com/office/officeart/2005/8/layout/vList5"/>
    <dgm:cxn modelId="{1FAB2420-A63B-4E5A-8F8F-76401AD545C1}" type="presParOf" srcId="{C5EC374B-6209-42EF-BCB9-F14C464FB939}" destId="{455175E1-B26E-462D-B9C7-94E40CD6490D}" srcOrd="5" destOrd="0" presId="urn:microsoft.com/office/officeart/2005/8/layout/vList5"/>
    <dgm:cxn modelId="{7B058248-C356-4FE4-B552-0EF87E8C337F}" type="presParOf" srcId="{C5EC374B-6209-42EF-BCB9-F14C464FB939}" destId="{AC09520A-BAC2-4908-AB17-0AD6A5B2A1FC}" srcOrd="6" destOrd="0" presId="urn:microsoft.com/office/officeart/2005/8/layout/vList5"/>
    <dgm:cxn modelId="{5AFC2FB4-716D-4C33-BB8E-A5451CE507B6}" type="presParOf" srcId="{AC09520A-BAC2-4908-AB17-0AD6A5B2A1FC}" destId="{47979DB2-CF32-486D-A16F-37524F17B12F}" srcOrd="0" destOrd="0" presId="urn:microsoft.com/office/officeart/2005/8/layout/vList5"/>
    <dgm:cxn modelId="{11E5586A-DDE5-4E2A-A528-1D59BF2B6F97}" type="presParOf" srcId="{AC09520A-BAC2-4908-AB17-0AD6A5B2A1FC}" destId="{C38074EF-9181-4DD5-B480-4EE5A3A92241}" srcOrd="1" destOrd="0" presId="urn:microsoft.com/office/officeart/2005/8/layout/vList5"/>
    <dgm:cxn modelId="{BB55A816-ED75-414B-A893-8447FBEFA541}" type="presParOf" srcId="{C5EC374B-6209-42EF-BCB9-F14C464FB939}" destId="{153356C9-87B6-4987-B685-EC1ABAB9EDB5}" srcOrd="7" destOrd="0" presId="urn:microsoft.com/office/officeart/2005/8/layout/vList5"/>
    <dgm:cxn modelId="{619E2216-9DED-44E3-8F32-A76650ADB66D}" type="presParOf" srcId="{C5EC374B-6209-42EF-BCB9-F14C464FB939}" destId="{236D34FE-FE03-4E14-9341-C2D6411833EB}" srcOrd="8" destOrd="0" presId="urn:microsoft.com/office/officeart/2005/8/layout/vList5"/>
    <dgm:cxn modelId="{0C149CA4-5507-4B38-A3E4-465E34DB1CE0}" type="presParOf" srcId="{236D34FE-FE03-4E14-9341-C2D6411833EB}" destId="{871E9AE7-9B95-49E4-B23F-2C6A95E1A54C}" srcOrd="0" destOrd="0" presId="urn:microsoft.com/office/officeart/2005/8/layout/vList5"/>
    <dgm:cxn modelId="{32E36548-E477-4936-87F9-BD9A9E93D4D3}" type="presParOf" srcId="{236D34FE-FE03-4E14-9341-C2D6411833EB}" destId="{A79666F1-228D-4EBB-B763-BCF97EC0B7E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68E2A5-5BCD-4055-94C4-15830E01ED1F}">
      <dsp:nvSpPr>
        <dsp:cNvPr id="0" name=""/>
        <dsp:cNvSpPr/>
      </dsp:nvSpPr>
      <dsp:spPr>
        <a:xfrm rot="5400000">
          <a:off x="6273734" y="-2752076"/>
          <a:ext cx="510156" cy="61447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600" kern="1200" dirty="0" smtClean="0"/>
            <a:t>峰值速度和持续速度都创造了新的世界纪录</a:t>
          </a:r>
          <a:endParaRPr lang="zh-CN" sz="1600" kern="1200" dirty="0"/>
        </a:p>
      </dsp:txBody>
      <dsp:txXfrm rot="-5400000">
        <a:off x="3456430" y="90132"/>
        <a:ext cx="6119861" cy="460348"/>
      </dsp:txXfrm>
    </dsp:sp>
    <dsp:sp modelId="{A49B98F1-2E86-42B2-800D-791B9F48EF3A}">
      <dsp:nvSpPr>
        <dsp:cNvPr id="0" name=""/>
        <dsp:cNvSpPr/>
      </dsp:nvSpPr>
      <dsp:spPr>
        <a:xfrm>
          <a:off x="0" y="1458"/>
          <a:ext cx="3456430" cy="6376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900" kern="1200" smtClean="0"/>
            <a:t>高性能</a:t>
          </a:r>
          <a:endParaRPr lang="zh-CN" sz="2900" kern="1200"/>
        </a:p>
      </dsp:txBody>
      <dsp:txXfrm>
        <a:off x="31130" y="32588"/>
        <a:ext cx="3394170" cy="575435"/>
      </dsp:txXfrm>
    </dsp:sp>
    <dsp:sp modelId="{6FD48BE6-0ADD-4860-BDC9-0B52E0030AB4}">
      <dsp:nvSpPr>
        <dsp:cNvPr id="0" name=""/>
        <dsp:cNvSpPr/>
      </dsp:nvSpPr>
      <dsp:spPr>
        <a:xfrm rot="5400000">
          <a:off x="6273734" y="-2082495"/>
          <a:ext cx="510156" cy="61447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600" kern="1200" smtClean="0"/>
            <a:t>能效比为每瓦特</a:t>
          </a:r>
          <a:r>
            <a:rPr lang="en-US" sz="1600" kern="1200" smtClean="0"/>
            <a:t>19</a:t>
          </a:r>
          <a:r>
            <a:rPr lang="zh-CN" sz="1600" kern="1200" smtClean="0"/>
            <a:t>亿次，达到了世界先进水平</a:t>
          </a:r>
          <a:endParaRPr lang="zh-CN" sz="1600" kern="1200"/>
        </a:p>
      </dsp:txBody>
      <dsp:txXfrm rot="-5400000">
        <a:off x="3456430" y="759713"/>
        <a:ext cx="6119861" cy="460348"/>
      </dsp:txXfrm>
    </dsp:sp>
    <dsp:sp modelId="{7E747F0B-405F-4E0C-BD94-1DA58AAAB390}">
      <dsp:nvSpPr>
        <dsp:cNvPr id="0" name=""/>
        <dsp:cNvSpPr/>
      </dsp:nvSpPr>
      <dsp:spPr>
        <a:xfrm>
          <a:off x="0" y="671039"/>
          <a:ext cx="3456430" cy="6376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900" kern="1200" smtClean="0"/>
            <a:t>低能耗</a:t>
          </a:r>
          <a:endParaRPr lang="zh-CN" sz="2900" kern="1200"/>
        </a:p>
      </dsp:txBody>
      <dsp:txXfrm>
        <a:off x="31130" y="702169"/>
        <a:ext cx="3394170" cy="575435"/>
      </dsp:txXfrm>
    </dsp:sp>
    <dsp:sp modelId="{E2E41FAE-28D1-4FB1-8F15-A8A8586893B8}">
      <dsp:nvSpPr>
        <dsp:cNvPr id="0" name=""/>
        <dsp:cNvSpPr/>
      </dsp:nvSpPr>
      <dsp:spPr>
        <a:xfrm rot="5400000">
          <a:off x="6273734" y="-1412914"/>
          <a:ext cx="510156" cy="61447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600" kern="1200" smtClean="0"/>
            <a:t>主打科学工程计算，兼顾了云计算</a:t>
          </a:r>
          <a:endParaRPr lang="zh-CN" sz="1600" kern="1200"/>
        </a:p>
      </dsp:txBody>
      <dsp:txXfrm rot="-5400000">
        <a:off x="3456430" y="1429294"/>
        <a:ext cx="6119861" cy="460348"/>
      </dsp:txXfrm>
    </dsp:sp>
    <dsp:sp modelId="{392B3693-551C-4C58-BBF0-8E6DA7B6DA42}">
      <dsp:nvSpPr>
        <dsp:cNvPr id="0" name=""/>
        <dsp:cNvSpPr/>
      </dsp:nvSpPr>
      <dsp:spPr>
        <a:xfrm>
          <a:off x="0" y="1340620"/>
          <a:ext cx="3456430" cy="6376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900" kern="1200" smtClean="0"/>
            <a:t>应用广</a:t>
          </a:r>
          <a:endParaRPr lang="zh-CN" sz="2900" kern="1200"/>
        </a:p>
      </dsp:txBody>
      <dsp:txXfrm>
        <a:off x="31130" y="1371750"/>
        <a:ext cx="3394170" cy="575435"/>
      </dsp:txXfrm>
    </dsp:sp>
    <dsp:sp modelId="{C38074EF-9181-4DD5-B480-4EE5A3A92241}">
      <dsp:nvSpPr>
        <dsp:cNvPr id="0" name=""/>
        <dsp:cNvSpPr/>
      </dsp:nvSpPr>
      <dsp:spPr>
        <a:xfrm rot="5400000">
          <a:off x="6273734" y="-743333"/>
          <a:ext cx="510156" cy="61447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600" kern="1200" smtClean="0"/>
            <a:t>创新发展了异构融合体系结构，提高了软件兼容性和易编程性</a:t>
          </a:r>
          <a:endParaRPr lang="zh-CN" sz="1600" kern="1200"/>
        </a:p>
      </dsp:txBody>
      <dsp:txXfrm rot="-5400000">
        <a:off x="3456430" y="2098875"/>
        <a:ext cx="6119861" cy="460348"/>
      </dsp:txXfrm>
    </dsp:sp>
    <dsp:sp modelId="{47979DB2-CF32-486D-A16F-37524F17B12F}">
      <dsp:nvSpPr>
        <dsp:cNvPr id="0" name=""/>
        <dsp:cNvSpPr/>
      </dsp:nvSpPr>
      <dsp:spPr>
        <a:xfrm>
          <a:off x="0" y="2010200"/>
          <a:ext cx="3456430" cy="6376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900" kern="1200" smtClean="0"/>
            <a:t>易使用</a:t>
          </a:r>
          <a:endParaRPr lang="zh-CN" sz="2900" kern="1200"/>
        </a:p>
      </dsp:txBody>
      <dsp:txXfrm>
        <a:off x="31130" y="2041330"/>
        <a:ext cx="3394170" cy="575435"/>
      </dsp:txXfrm>
    </dsp:sp>
    <dsp:sp modelId="{A79666F1-228D-4EBB-B763-BCF97EC0B7EB}">
      <dsp:nvSpPr>
        <dsp:cNvPr id="0" name=""/>
        <dsp:cNvSpPr/>
      </dsp:nvSpPr>
      <dsp:spPr>
        <a:xfrm rot="5400000">
          <a:off x="6273734" y="-73753"/>
          <a:ext cx="510156" cy="61447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600" kern="1200" smtClean="0"/>
            <a:t>性能世界第一，研制经费仅为美国“泰坦”超级计算机的一半</a:t>
          </a:r>
          <a:endParaRPr lang="zh-CN" sz="1600" kern="1200"/>
        </a:p>
      </dsp:txBody>
      <dsp:txXfrm rot="-5400000">
        <a:off x="3456430" y="2768455"/>
        <a:ext cx="6119861" cy="460348"/>
      </dsp:txXfrm>
    </dsp:sp>
    <dsp:sp modelId="{871E9AE7-9B95-49E4-B23F-2C6A95E1A54C}">
      <dsp:nvSpPr>
        <dsp:cNvPr id="0" name=""/>
        <dsp:cNvSpPr/>
      </dsp:nvSpPr>
      <dsp:spPr>
        <a:xfrm>
          <a:off x="0" y="2679781"/>
          <a:ext cx="3456430" cy="6376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lvl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900" kern="1200" smtClean="0"/>
            <a:t>性价比高</a:t>
          </a:r>
          <a:endParaRPr lang="zh-CN" sz="2900" kern="1200"/>
        </a:p>
      </dsp:txBody>
      <dsp:txXfrm>
        <a:off x="31130" y="2710911"/>
        <a:ext cx="3394170" cy="5754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4EE56-6C69-4040-97AD-4FDC4647ABAA}" type="datetimeFigureOut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75D80-AA4A-411B-98F8-26B5273FA4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439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  <a:latin typeface="方正姚体" panose="02010601030101010101" pitchFamily="2" charset="-122"/>
                <a:ea typeface="方正姚体" panose="02010601030101010101" pitchFamily="2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E2A7AA8-B18B-4E51-B73B-380F90F53809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0795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0527-EBCC-4269-B554-D97FD3D30624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2024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55E87-659A-4255-99D0-F4861E629439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231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F491-AF4B-4F79-BD3E-D2DB0AD9F1BB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62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FE7C-06D5-4645-9899-D5B272A0C8C2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668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D86D2-9FB9-488D-AACB-90E49CFD0078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90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7F9A1-8DA2-485F-969B-9F3D1EE043B9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884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6D0D-B585-4E42-8F48-41A88E72D3BF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346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8AB5-302B-4408-9A25-35E24481717C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78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ADA5-8F40-4EC9-BB07-F9DCBFA888AE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330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00063-4ABF-445A-9AEA-BE47305CA061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917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5FEED-CF77-4B8C-9492-221053F8F29B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348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08C7-25DE-4DD6-972C-69D4CE6A0F8C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837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3D4C-8C94-44D4-96CC-F8226409544E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485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96FFA-FF33-4B2C-BC90-70595212A414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0773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F0FE9-4C75-4103-A982-E8F313A08715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1955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3F57F-9558-42F1-BDD5-2BA8FEA2FADE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94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55A741C-CB97-455D-BE82-866264CCAC4F}" type="datetime1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2308842-D9A4-43F6-95DA-2917219927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25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天河二号超级计算机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--2014</a:t>
            </a:r>
            <a:r>
              <a:rPr lang="zh-CN" altLang="en-US" dirty="0"/>
              <a:t>年再登世界超算榜首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5044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10000">
        <p:cut/>
      </p:transition>
    </mc:Choice>
    <mc:Fallback>
      <p:transition advTm="10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一、概况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由国防科大研制的天河二号超级计算机系统，以峰值计算速度每秒</a:t>
            </a:r>
            <a:r>
              <a:rPr lang="en-US" altLang="zh-CN" dirty="0"/>
              <a:t>5.49</a:t>
            </a:r>
            <a:r>
              <a:rPr lang="zh-CN" altLang="en-US" dirty="0"/>
              <a:t>亿亿次、持续计算速度每秒</a:t>
            </a:r>
            <a:r>
              <a:rPr lang="en-US" altLang="zh-CN" dirty="0"/>
              <a:t>3.39</a:t>
            </a:r>
            <a:r>
              <a:rPr lang="zh-CN" altLang="en-US" dirty="0"/>
              <a:t>亿亿次双精度浮点运算的优异性能位居榜首，成为全球最快超级计算机。</a:t>
            </a:r>
            <a:r>
              <a:rPr lang="en-US" altLang="zh-CN" dirty="0"/>
              <a:t>2010</a:t>
            </a:r>
            <a:r>
              <a:rPr lang="zh-CN" altLang="en-US" dirty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月，天河一号曾以每秒</a:t>
            </a:r>
            <a:r>
              <a:rPr lang="en-US" altLang="zh-CN" dirty="0"/>
              <a:t>4.7</a:t>
            </a:r>
            <a:r>
              <a:rPr lang="zh-CN" altLang="en-US" dirty="0"/>
              <a:t>千万亿次的峰值速度，首次将五星红旗插上超级计算领域的世界之巅。此次是继天河一号之后，中国超级计算机再次夺冠。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726" y="3336535"/>
            <a:ext cx="2872047" cy="1758142"/>
          </a:xfr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446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0000">
        <p:fade/>
      </p:transition>
    </mc:Choice>
    <mc:Fallback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一、概况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天河二号超级计算机系统由</a:t>
            </a:r>
            <a:r>
              <a:rPr lang="en-US" altLang="zh-CN" dirty="0"/>
              <a:t>170</a:t>
            </a:r>
            <a:r>
              <a:rPr lang="zh-CN" altLang="en-US" dirty="0"/>
              <a:t>个机柜组成，包括</a:t>
            </a:r>
            <a:r>
              <a:rPr lang="en-US" altLang="zh-CN" dirty="0"/>
              <a:t>125</a:t>
            </a:r>
            <a:r>
              <a:rPr lang="zh-CN" altLang="en-US" dirty="0"/>
              <a:t>个计算机柜、</a:t>
            </a:r>
            <a:r>
              <a:rPr lang="en-US" altLang="zh-CN" dirty="0"/>
              <a:t>8</a:t>
            </a:r>
            <a:r>
              <a:rPr lang="zh-CN" altLang="en-US" dirty="0"/>
              <a:t>个服务机柜、</a:t>
            </a:r>
            <a:r>
              <a:rPr lang="en-US" altLang="zh-CN" dirty="0"/>
              <a:t>13</a:t>
            </a:r>
            <a:r>
              <a:rPr lang="zh-CN" altLang="en-US" dirty="0"/>
              <a:t>个通信机柜和</a:t>
            </a:r>
            <a:r>
              <a:rPr lang="en-US" altLang="zh-CN" dirty="0"/>
              <a:t>24</a:t>
            </a:r>
            <a:r>
              <a:rPr lang="zh-CN" altLang="en-US" dirty="0"/>
              <a:t>个存储机柜，占地面积</a:t>
            </a:r>
            <a:r>
              <a:rPr lang="en-US" altLang="zh-CN" dirty="0"/>
              <a:t>720</a:t>
            </a:r>
            <a:r>
              <a:rPr lang="zh-CN" altLang="en-US" dirty="0"/>
              <a:t>平方米，内存总容量</a:t>
            </a:r>
            <a:r>
              <a:rPr lang="en-US" altLang="zh-CN" dirty="0"/>
              <a:t>1400</a:t>
            </a:r>
            <a:r>
              <a:rPr lang="zh-CN" altLang="en-US" dirty="0"/>
              <a:t>万亿字节，存储总容量</a:t>
            </a:r>
            <a:r>
              <a:rPr lang="en-US" altLang="zh-CN" dirty="0"/>
              <a:t>12400</a:t>
            </a:r>
            <a:r>
              <a:rPr lang="zh-CN" altLang="en-US" dirty="0"/>
              <a:t>万亿字节，最大运行功耗</a:t>
            </a:r>
            <a:r>
              <a:rPr lang="en-US" altLang="zh-CN" dirty="0"/>
              <a:t>17.8</a:t>
            </a:r>
            <a:r>
              <a:rPr lang="zh-CN" altLang="en-US" dirty="0"/>
              <a:t>兆瓦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r>
              <a:rPr lang="zh-CN" altLang="en-US" dirty="0"/>
              <a:t>天河二号运算</a:t>
            </a:r>
            <a:r>
              <a:rPr lang="en-US" altLang="zh-CN" dirty="0"/>
              <a:t>1</a:t>
            </a:r>
            <a:r>
              <a:rPr lang="zh-CN" altLang="en-US" dirty="0"/>
              <a:t>小时，相当于</a:t>
            </a:r>
            <a:r>
              <a:rPr lang="en-US" altLang="zh-CN" dirty="0"/>
              <a:t>13</a:t>
            </a:r>
            <a:r>
              <a:rPr lang="zh-CN" altLang="en-US" dirty="0"/>
              <a:t>亿人同时用计算器计算一千年，其存储总容量相当于存储每册</a:t>
            </a:r>
            <a:r>
              <a:rPr lang="en-US" altLang="zh-CN" dirty="0"/>
              <a:t>10</a:t>
            </a:r>
            <a:r>
              <a:rPr lang="zh-CN" altLang="en-US" dirty="0"/>
              <a:t>万字的图书</a:t>
            </a:r>
            <a:r>
              <a:rPr lang="en-US" altLang="zh-CN" dirty="0"/>
              <a:t>600</a:t>
            </a:r>
            <a:r>
              <a:rPr lang="zh-CN" altLang="en-US" dirty="0"/>
              <a:t>亿册。相比此前排名世界第一的美国“泰坦”超级计算机，天河二号计算速度是“泰坦”的</a:t>
            </a:r>
            <a:r>
              <a:rPr lang="en-US" altLang="zh-CN" dirty="0"/>
              <a:t>2</a:t>
            </a:r>
            <a:r>
              <a:rPr lang="zh-CN" altLang="en-US" dirty="0"/>
              <a:t>倍，计算密度是“泰坦”的</a:t>
            </a:r>
            <a:r>
              <a:rPr lang="en-US" altLang="zh-CN" dirty="0"/>
              <a:t>2.5</a:t>
            </a:r>
            <a:r>
              <a:rPr lang="zh-CN" altLang="en-US" dirty="0"/>
              <a:t>倍，能效比相当。与该校此前研制的天河一号相比，二者占地面积相当，天河二号计算性能和计算密度均提升了</a:t>
            </a:r>
            <a:r>
              <a:rPr lang="en-US" altLang="zh-CN" dirty="0"/>
              <a:t>10</a:t>
            </a:r>
            <a:r>
              <a:rPr lang="zh-CN" altLang="en-US" dirty="0"/>
              <a:t>倍以上，能效比提升了</a:t>
            </a:r>
            <a:r>
              <a:rPr lang="en-US" altLang="zh-CN" dirty="0"/>
              <a:t>2</a:t>
            </a:r>
            <a:r>
              <a:rPr lang="zh-CN" altLang="en-US" dirty="0"/>
              <a:t>倍，执行相同计算任务的耗电量只有天河一号的三分之一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505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0000">
        <p:fade/>
      </p:transition>
    </mc:Choice>
    <mc:Fallback>
      <p:transition spd="med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二、特点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387389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298015"/>
      </p:ext>
    </p:extLst>
  </p:cSld>
  <p:clrMapOvr>
    <a:masterClrMapping/>
  </p:clrMapOvr>
  <p:transition spd="slow" advTm="1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49B98F1-2E86-42B2-800D-791B9F48EF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A49B98F1-2E86-42B2-800D-791B9F48EF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A49B98F1-2E86-42B2-800D-791B9F48EF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568E2A5-5BCD-4055-94C4-15830E01ED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graphicEl>
                                              <a:dgm id="{8568E2A5-5BCD-4055-94C4-15830E01ED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graphicEl>
                                              <a:dgm id="{8568E2A5-5BCD-4055-94C4-15830E01ED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E747F0B-405F-4E0C-BD94-1DA58AAAB3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graphicEl>
                                              <a:dgm id="{7E747F0B-405F-4E0C-BD94-1DA58AAAB3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graphicEl>
                                              <a:dgm id="{7E747F0B-405F-4E0C-BD94-1DA58AAAB3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FD48BE6-0ADD-4860-BDC9-0B52E0030A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graphicEl>
                                              <a:dgm id="{6FD48BE6-0ADD-4860-BDC9-0B52E0030A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graphicEl>
                                              <a:dgm id="{6FD48BE6-0ADD-4860-BDC9-0B52E0030A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92B3693-551C-4C58-BBF0-8E6DA7B6DA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graphicEl>
                                              <a:dgm id="{392B3693-551C-4C58-BBF0-8E6DA7B6DA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graphicEl>
                                              <a:dgm id="{392B3693-551C-4C58-BBF0-8E6DA7B6DA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2E41FAE-28D1-4FB1-8F15-A8A8586893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graphicEl>
                                              <a:dgm id="{E2E41FAE-28D1-4FB1-8F15-A8A8586893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graphicEl>
                                              <a:dgm id="{E2E41FAE-28D1-4FB1-8F15-A8A8586893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7979DB2-CF32-486D-A16F-37524F17B1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graphicEl>
                                              <a:dgm id="{47979DB2-CF32-486D-A16F-37524F17B1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graphicEl>
                                              <a:dgm id="{47979DB2-CF32-486D-A16F-37524F17B1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38074EF-9181-4DD5-B480-4EE5A3A92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graphicEl>
                                              <a:dgm id="{C38074EF-9181-4DD5-B480-4EE5A3A92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graphicEl>
                                              <a:dgm id="{C38074EF-9181-4DD5-B480-4EE5A3A92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71E9AE7-9B95-49E4-B23F-2C6A95E1A5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graphicEl>
                                              <a:dgm id="{871E9AE7-9B95-49E4-B23F-2C6A95E1A5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graphicEl>
                                              <a:dgm id="{871E9AE7-9B95-49E4-B23F-2C6A95E1A5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79666F1-228D-4EBB-B763-BCF97EC0B7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graphicEl>
                                              <a:dgm id="{A79666F1-228D-4EBB-B763-BCF97EC0B7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graphicEl>
                                              <a:dgm id="{A79666F1-228D-4EBB-B763-BCF97EC0B7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三、技术参数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2058980"/>
              </p:ext>
            </p:extLst>
          </p:nvPr>
        </p:nvGraphicFramePr>
        <p:xfrm>
          <a:off x="1295402" y="2651763"/>
          <a:ext cx="9601196" cy="27431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45333">
                  <a:extLst>
                    <a:ext uri="{9D8B030D-6E8A-4147-A177-3AD203B41FA5}">
                      <a16:colId xmlns:a16="http://schemas.microsoft.com/office/drawing/2014/main" val="1142681061"/>
                    </a:ext>
                  </a:extLst>
                </a:gridCol>
                <a:gridCol w="6755863">
                  <a:extLst>
                    <a:ext uri="{9D8B030D-6E8A-4147-A177-3AD203B41FA5}">
                      <a16:colId xmlns:a16="http://schemas.microsoft.com/office/drawing/2014/main" val="332716259"/>
                    </a:ext>
                  </a:extLst>
                </a:gridCol>
              </a:tblGrid>
              <a:tr h="1855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节点数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16,000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56043711"/>
                  </a:ext>
                </a:extLst>
              </a:tr>
              <a:tr h="1855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中央处理器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英特尔</a:t>
                      </a:r>
                      <a:r>
                        <a:rPr lang="en-US" sz="1050" kern="100">
                          <a:effectLst/>
                        </a:rPr>
                        <a:t>Xeon IveBridge E5-2692</a:t>
                      </a:r>
                      <a:r>
                        <a:rPr lang="zh-CN" sz="1050" kern="100">
                          <a:effectLst/>
                        </a:rPr>
                        <a:t>（</a:t>
                      </a:r>
                      <a:r>
                        <a:rPr lang="en-US" sz="1050" kern="100">
                          <a:effectLst/>
                        </a:rPr>
                        <a:t>2.2GHZ)32,000</a:t>
                      </a:r>
                      <a:r>
                        <a:rPr lang="zh-CN" sz="1050" kern="100">
                          <a:effectLst/>
                        </a:rPr>
                        <a:t>颗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40097918"/>
                  </a:ext>
                </a:extLst>
              </a:tr>
              <a:tr h="1855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单节点处理器数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25211346"/>
                  </a:ext>
                </a:extLst>
              </a:tr>
              <a:tr h="1855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单处理器核心数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12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76103973"/>
                  </a:ext>
                </a:extLst>
              </a:tr>
              <a:tr h="1855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单节点协处理器数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19695521"/>
                  </a:ext>
                </a:extLst>
              </a:tr>
              <a:tr h="1855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单协处理器核心数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57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75989601"/>
                  </a:ext>
                </a:extLst>
              </a:tr>
              <a:tr h="1855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操作系统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麒麟操作系统</a:t>
                      </a:r>
                      <a:r>
                        <a:rPr lang="en-US" sz="1050" kern="100">
                          <a:effectLst/>
                        </a:rPr>
                        <a:t> (Kylin Linux)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73486694"/>
                  </a:ext>
                </a:extLst>
              </a:tr>
              <a:tr h="1855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峰值功率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17.6MW </a:t>
                      </a:r>
                      <a:r>
                        <a:rPr lang="zh-CN" sz="1050" kern="100">
                          <a:effectLst/>
                        </a:rPr>
                        <a:t>（整机附带散热系统时为</a:t>
                      </a:r>
                      <a:r>
                        <a:rPr lang="en-US" sz="1050" kern="100">
                          <a:effectLst/>
                        </a:rPr>
                        <a:t>24MW</a:t>
                      </a:r>
                      <a:r>
                        <a:rPr lang="zh-CN" sz="1050" kern="100">
                          <a:effectLst/>
                        </a:rPr>
                        <a:t>）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16045855"/>
                  </a:ext>
                </a:extLst>
              </a:tr>
              <a:tr h="35128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组件汇总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CPU Cores</a:t>
                      </a:r>
                      <a:r>
                        <a:rPr lang="zh-CN" sz="1050" kern="100">
                          <a:effectLst/>
                        </a:rPr>
                        <a:t>：</a:t>
                      </a:r>
                      <a:r>
                        <a:rPr lang="en-US" sz="1050" kern="100">
                          <a:effectLst/>
                        </a:rPr>
                        <a:t>384,000</a:t>
                      </a:r>
                      <a:endParaRPr lang="zh-CN" sz="1050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Accelerator/CP</a:t>
                      </a:r>
                      <a:r>
                        <a:rPr lang="zh-CN" sz="1050" kern="100">
                          <a:effectLst/>
                        </a:rPr>
                        <a:t>：</a:t>
                      </a:r>
                      <a:r>
                        <a:rPr lang="en-US" sz="1050" kern="100">
                          <a:effectLst/>
                        </a:rPr>
                        <a:t>48,000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62299156"/>
                  </a:ext>
                </a:extLst>
              </a:tr>
              <a:tr h="1855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单节点存储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64GB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31459639"/>
                  </a:ext>
                </a:extLst>
              </a:tr>
              <a:tr h="1855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内部存储器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1,375TB</a:t>
                      </a:r>
                      <a:r>
                        <a:rPr lang="zh-CN" sz="1050" kern="100">
                          <a:effectLst/>
                        </a:rPr>
                        <a:t>（</a:t>
                      </a:r>
                      <a:r>
                        <a:rPr lang="en-US" sz="1050" kern="100">
                          <a:effectLst/>
                        </a:rPr>
                        <a:t>1,000TB</a:t>
                      </a:r>
                      <a:r>
                        <a:rPr lang="zh-CN" sz="1050" kern="100">
                          <a:effectLst/>
                        </a:rPr>
                        <a:t>为系统存储器，</a:t>
                      </a:r>
                      <a:r>
                        <a:rPr lang="en-US" sz="1050" kern="100">
                          <a:effectLst/>
                        </a:rPr>
                        <a:t>375TB</a:t>
                      </a:r>
                      <a:r>
                        <a:rPr lang="zh-CN" sz="1050" kern="100">
                          <a:effectLst/>
                        </a:rPr>
                        <a:t>为协处理器独占）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1428770"/>
                  </a:ext>
                </a:extLst>
              </a:tr>
              <a:tr h="1855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外部存储器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12.4PB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85319456"/>
                  </a:ext>
                </a:extLst>
              </a:tr>
              <a:tr h="35128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运算速率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54.9PFLOPS</a:t>
                      </a:r>
                      <a:r>
                        <a:rPr lang="zh-CN" sz="1050" kern="100" dirty="0">
                          <a:effectLst/>
                        </a:rPr>
                        <a:t>（理论峰值）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33.86PFLOPS</a:t>
                      </a:r>
                      <a:r>
                        <a:rPr lang="zh-CN" sz="1050" kern="100" dirty="0">
                          <a:effectLst/>
                        </a:rPr>
                        <a:t>（实际峰值）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57429803"/>
                  </a:ext>
                </a:extLst>
              </a:tr>
            </a:tbl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586528"/>
      </p:ext>
    </p:extLst>
  </p:cSld>
  <p:clrMapOvr>
    <a:masterClrMapping/>
  </p:clrMapOvr>
  <p:transition spd="slow" advTm="10000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四、自主创新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天河二号自主创新了新型异构多态体系结构，在强化科学工程计算的同时，可高效支持大数据处理、高吞吐率和高安全信息服务等多类应用需求，设计了微异构计算阵列和新型并行编程模型及框架，提升了应用软件的兼容性、适用性和易用性。天河二号服务阵列采用了国家核高基重大专项支持、该校研制的新一代“</a:t>
            </a:r>
            <a:r>
              <a:rPr lang="en-US" altLang="zh-CN" dirty="0"/>
              <a:t>FT-1500”CPU</a:t>
            </a:r>
            <a:r>
              <a:rPr lang="zh-CN" altLang="en-US" dirty="0"/>
              <a:t>，这是当前国内主频最高的自主高性能通用</a:t>
            </a:r>
            <a:r>
              <a:rPr lang="en-US" altLang="zh-CN" dirty="0"/>
              <a:t>CPU</a:t>
            </a:r>
            <a:r>
              <a:rPr lang="zh-CN" altLang="en-US" dirty="0"/>
              <a:t>。天河二号还在高速互连、新型层次式加速存储架构、容错设计与故障管理、综合化能效控制、高密度高精度结构工艺等方面取得了一系列创新和突破。“中国创造”在天河二号上比比皆是，涌现了多个国际领先和国际先进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838234"/>
      </p:ext>
    </p:extLst>
  </p:cSld>
  <p:clrMapOvr>
    <a:masterClrMapping/>
  </p:clrMapOvr>
  <p:transition spd="slow" advTm="10000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五、应用领域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“天河二号”由</a:t>
            </a:r>
            <a:r>
              <a:rPr lang="en-US" altLang="zh-CN" dirty="0"/>
              <a:t>280</a:t>
            </a:r>
            <a:r>
              <a:rPr lang="zh-CN" altLang="en-US" dirty="0"/>
              <a:t>人历时两年多研制完成，耗资约</a:t>
            </a:r>
            <a:r>
              <a:rPr lang="en-US" altLang="zh-CN" dirty="0"/>
              <a:t>1</a:t>
            </a:r>
            <a:r>
              <a:rPr lang="zh-CN" altLang="en-US" dirty="0"/>
              <a:t>亿美元。</a:t>
            </a:r>
            <a:r>
              <a:rPr lang="en-US" altLang="zh-CN" dirty="0"/>
              <a:t>2013</a:t>
            </a:r>
            <a:r>
              <a:rPr lang="zh-CN" altLang="en-US" dirty="0"/>
              <a:t>年下半年，它将在广州超级计算中心投入运行，其先导系统已开始为生物医药、新材料等领域用户提供服务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r>
              <a:rPr lang="zh-CN" altLang="en-US" dirty="0"/>
              <a:t>目前，天河二号已应用于生物医药、新材料、工程设计与仿真分析、天气预报、智慧城市、电子商务、云计算与大数据、数字媒体和动漫设计等多个领域，还将广泛应用于大科学、大工程、信息化等领域，为经济社会转型升级提供重要支撑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82578"/>
      </p:ext>
    </p:extLst>
  </p:cSld>
  <p:clrMapOvr>
    <a:masterClrMapping/>
  </p:clrMapOvr>
  <p:transition spd="slow" advTm="10000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六、图片欣赏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由 </a:t>
            </a:r>
            <a:r>
              <a:rPr lang="en-US" altLang="zh-CN" smtClean="0"/>
              <a:t>Windows </a:t>
            </a:r>
            <a:r>
              <a:rPr lang="zh-CN" altLang="en-US" smtClean="0"/>
              <a:t>用户</a:t>
            </a:r>
            <a:r>
              <a:rPr lang="en-US" altLang="zh-CN" smtClean="0"/>
              <a:t>11 </a:t>
            </a:r>
            <a:r>
              <a:rPr lang="zh-CN" altLang="en-US" smtClean="0"/>
              <a:t>创建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723589"/>
      </p:ext>
    </p:extLst>
  </p:cSld>
  <p:clrMapOvr>
    <a:masterClrMapping/>
  </p:clrMapOvr>
  <p:transition spd="slow" advTm="10000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Image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63" y="457200"/>
            <a:ext cx="4738687" cy="2857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图片 2" descr="Image3"/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800" y="457200"/>
            <a:ext cx="3479800" cy="2857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图片 3" descr="Image4"/>
          <p:cNvPicPr>
            <a:picLocks noGrp="1" noChangeAspect="1"/>
          </p:cNvPicPr>
          <p:nvPr isPhoto="1"/>
        </p:nvPicPr>
        <p:blipFill>
          <a:blip r:embed="rId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13" y="3543300"/>
            <a:ext cx="4702175" cy="2857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图片 4" descr="Image5"/>
          <p:cNvPicPr>
            <a:picLocks noGrp="1" noChangeAspect="1"/>
          </p:cNvPicPr>
          <p:nvPr isPhoto="1"/>
        </p:nvPicPr>
        <p:blipFill>
          <a:blip r:embed="rId5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688" y="3543300"/>
            <a:ext cx="5026025" cy="2857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728176"/>
      </p:ext>
    </p:extLst>
  </p:cSld>
  <p:clrMapOvr>
    <a:masterClrMapping/>
  </p:clrMapOvr>
  <p:transition spd="slow" advTm="10000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Image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457200"/>
            <a:ext cx="4876800" cy="2857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图片 2" descr="Image7"/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175" y="457200"/>
            <a:ext cx="4335463" cy="2857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图片 3" descr="Image8"/>
          <p:cNvPicPr>
            <a:picLocks noGrp="1" noChangeAspect="1"/>
          </p:cNvPicPr>
          <p:nvPr isPhoto="1"/>
        </p:nvPicPr>
        <p:blipFill>
          <a:blip r:embed="rId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" y="3543300"/>
            <a:ext cx="4667250" cy="2857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图片 4" descr="Image9"/>
          <p:cNvPicPr>
            <a:picLocks noGrp="1" noChangeAspect="1"/>
          </p:cNvPicPr>
          <p:nvPr isPhoto="1"/>
        </p:nvPicPr>
        <p:blipFill>
          <a:blip r:embed="rId5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688" y="3543300"/>
            <a:ext cx="5026025" cy="2857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08842-D9A4-43F6-95DA-2917219927B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002570"/>
      </p:ext>
    </p:extLst>
  </p:cSld>
  <p:clrMapOvr>
    <a:masterClrMapping/>
  </p:clrMapOvr>
  <p:transition spd="slow" advTm="10000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26</TotalTime>
  <Words>731</Words>
  <Application>Microsoft Office PowerPoint</Application>
  <PresentationFormat>宽屏</PresentationFormat>
  <Paragraphs>62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等线</vt:lpstr>
      <vt:lpstr>方正舒体</vt:lpstr>
      <vt:lpstr>方正姚体</vt:lpstr>
      <vt:lpstr>宋体</vt:lpstr>
      <vt:lpstr>微软雅黑</vt:lpstr>
      <vt:lpstr>Arial</vt:lpstr>
      <vt:lpstr>Calibri</vt:lpstr>
      <vt:lpstr>Garamond</vt:lpstr>
      <vt:lpstr>Times New Roman</vt:lpstr>
      <vt:lpstr>环保</vt:lpstr>
      <vt:lpstr>天河二号超级计算机</vt:lpstr>
      <vt:lpstr>一、概况</vt:lpstr>
      <vt:lpstr>一、概况</vt:lpstr>
      <vt:lpstr>二、特点</vt:lpstr>
      <vt:lpstr>三、技术参数</vt:lpstr>
      <vt:lpstr>四、自主创新</vt:lpstr>
      <vt:lpstr>五、应用领域</vt:lpstr>
      <vt:lpstr>六、图片欣赏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</dc:creator>
  <cp:lastModifiedBy>Windows 用户11</cp:lastModifiedBy>
  <cp:revision>5</cp:revision>
  <dcterms:created xsi:type="dcterms:W3CDTF">2020-12-05T07:07:31Z</dcterms:created>
  <dcterms:modified xsi:type="dcterms:W3CDTF">2021-10-08T09:51:11Z</dcterms:modified>
</cp:coreProperties>
</file>