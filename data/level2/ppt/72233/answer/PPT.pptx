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4" r:id="rId2"/>
  </p:sldMasterIdLst>
  <p:notesMasterIdLst>
    <p:notesMasterId r:id="rId15"/>
  </p:notesMasterIdLst>
  <p:sldIdLst>
    <p:sldId id="256" r:id="rId3"/>
    <p:sldId id="259" r:id="rId4"/>
    <p:sldId id="261" r:id="rId5"/>
    <p:sldId id="263" r:id="rId6"/>
    <p:sldId id="265" r:id="rId7"/>
    <p:sldId id="267" r:id="rId8"/>
    <p:sldId id="268" r:id="rId9"/>
    <p:sldId id="269" r:id="rId10"/>
    <p:sldId id="270" r:id="rId11"/>
    <p:sldId id="273" r:id="rId12"/>
    <p:sldId id="275" r:id="rId13"/>
    <p:sldId id="27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87E6EB5-A675-46F2-AEE3-D30241FC6B43}">
          <p14:sldIdLst>
            <p14:sldId id="256"/>
            <p14:sldId id="259"/>
            <p14:sldId id="261"/>
            <p14:sldId id="263"/>
          </p14:sldIdLst>
        </p14:section>
        <p14:section name="参赛条件" id="{BBB0C6CA-E6E0-4DF5-BCD2-037E3BB49AAF}">
          <p14:sldIdLst>
            <p14:sldId id="265"/>
            <p14:sldId id="267"/>
            <p14:sldId id="268"/>
            <p14:sldId id="269"/>
          </p14:sldIdLst>
        </p14:section>
        <p14:section name="无标题节" id="{35FE3EEB-A488-42EE-B944-EA0BE7B8C94F}">
          <p14:sldIdLst>
            <p14:sldId id="270"/>
            <p14:sldId id="273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6" autoAdjust="0"/>
    <p:restoredTop sz="74250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outlineViewPr>
    <p:cViewPr>
      <p:scale>
        <a:sx n="33" d="100"/>
        <a:sy n="33" d="100"/>
      </p:scale>
      <p:origin x="0" y="-77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103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4B0581-6FCC-4DD5-9E81-818EB9B9DF8F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zh-CN" altLang="en-US"/>
        </a:p>
      </dgm:t>
    </dgm:pt>
    <dgm:pt modelId="{19B8E0DE-FE24-42AF-9B69-94388228B3BC}">
      <dgm:prSet/>
      <dgm:spPr/>
      <dgm:t>
        <a:bodyPr/>
        <a:lstStyle/>
        <a:p>
          <a:pPr rtl="0"/>
          <a:r>
            <a:rPr lang="en-US" dirty="0" smtClean="0"/>
            <a:t>1.</a:t>
          </a:r>
          <a:r>
            <a:rPr lang="zh-CN" dirty="0" smtClean="0"/>
            <a:t> 在线报名</a:t>
          </a:r>
          <a:endParaRPr lang="zh-CN" dirty="0"/>
        </a:p>
      </dgm:t>
    </dgm:pt>
    <dgm:pt modelId="{D032E8C5-E673-4DED-A784-4E68E4C9DA74}" type="parTrans" cxnId="{A90EE477-067A-4338-9ACB-0ADD5D500980}">
      <dgm:prSet/>
      <dgm:spPr/>
      <dgm:t>
        <a:bodyPr/>
        <a:lstStyle/>
        <a:p>
          <a:endParaRPr lang="zh-CN" altLang="en-US"/>
        </a:p>
      </dgm:t>
    </dgm:pt>
    <dgm:pt modelId="{41D83A75-F87F-4AC0-A817-EAE7B6EA3E1C}" type="sibTrans" cxnId="{A90EE477-067A-4338-9ACB-0ADD5D500980}">
      <dgm:prSet/>
      <dgm:spPr/>
      <dgm:t>
        <a:bodyPr/>
        <a:lstStyle/>
        <a:p>
          <a:endParaRPr lang="zh-CN" altLang="en-US"/>
        </a:p>
      </dgm:t>
    </dgm:pt>
    <dgm:pt modelId="{BC5FA3AE-2018-49BC-8898-2F49567535A9}">
      <dgm:prSet/>
      <dgm:spPr/>
      <dgm:t>
        <a:bodyPr/>
        <a:lstStyle/>
        <a:p>
          <a:pPr rtl="0"/>
          <a:r>
            <a:rPr lang="en-US" smtClean="0"/>
            <a:t>4</a:t>
          </a:r>
          <a:r>
            <a:rPr lang="zh-CN" smtClean="0"/>
            <a:t>月</a:t>
          </a:r>
          <a:r>
            <a:rPr lang="en-US" smtClean="0"/>
            <a:t>30</a:t>
          </a:r>
          <a:r>
            <a:rPr lang="zh-CN" smtClean="0"/>
            <a:t>日前，通过大赛官方网站</a:t>
          </a:r>
          <a:r>
            <a:rPr lang="en-US" smtClean="0"/>
            <a:t>dasai.enerbeijing.com</a:t>
          </a:r>
          <a:r>
            <a:rPr lang="zh-CN" smtClean="0"/>
            <a:t>报名。</a:t>
          </a:r>
          <a:endParaRPr lang="zh-CN"/>
        </a:p>
      </dgm:t>
    </dgm:pt>
    <dgm:pt modelId="{087E34D8-520C-4A91-B513-BACCF208C00B}" type="parTrans" cxnId="{DE7024D5-3316-459B-9D66-28DB141433F9}">
      <dgm:prSet/>
      <dgm:spPr/>
      <dgm:t>
        <a:bodyPr/>
        <a:lstStyle/>
        <a:p>
          <a:endParaRPr lang="zh-CN" altLang="en-US"/>
        </a:p>
      </dgm:t>
    </dgm:pt>
    <dgm:pt modelId="{CFFC9784-3BF0-4553-948D-D9808A670CA9}" type="sibTrans" cxnId="{DE7024D5-3316-459B-9D66-28DB141433F9}">
      <dgm:prSet/>
      <dgm:spPr/>
      <dgm:t>
        <a:bodyPr/>
        <a:lstStyle/>
        <a:p>
          <a:endParaRPr lang="zh-CN" altLang="en-US"/>
        </a:p>
      </dgm:t>
    </dgm:pt>
    <dgm:pt modelId="{5340EF91-90C9-4209-A1BB-F4C1D7B8C635}">
      <dgm:prSet/>
      <dgm:spPr/>
      <dgm:t>
        <a:bodyPr/>
        <a:lstStyle/>
        <a:p>
          <a:pPr rtl="0"/>
          <a:r>
            <a:rPr lang="en-US" smtClean="0"/>
            <a:t>2.</a:t>
          </a:r>
          <a:r>
            <a:rPr lang="zh-CN" smtClean="0"/>
            <a:t> 初赛阶段</a:t>
          </a:r>
          <a:endParaRPr lang="zh-CN"/>
        </a:p>
      </dgm:t>
    </dgm:pt>
    <dgm:pt modelId="{3283CC16-A416-43A7-BDE1-6D35AA8B5098}" type="parTrans" cxnId="{104F4B3F-506A-4875-AF3F-BEB95C8B662A}">
      <dgm:prSet/>
      <dgm:spPr/>
      <dgm:t>
        <a:bodyPr/>
        <a:lstStyle/>
        <a:p>
          <a:endParaRPr lang="zh-CN" altLang="en-US"/>
        </a:p>
      </dgm:t>
    </dgm:pt>
    <dgm:pt modelId="{6014ABB1-0901-4B12-83BF-B4F401592331}" type="sibTrans" cxnId="{104F4B3F-506A-4875-AF3F-BEB95C8B662A}">
      <dgm:prSet/>
      <dgm:spPr/>
      <dgm:t>
        <a:bodyPr/>
        <a:lstStyle/>
        <a:p>
          <a:endParaRPr lang="zh-CN" altLang="en-US"/>
        </a:p>
      </dgm:t>
    </dgm:pt>
    <dgm:pt modelId="{D0A94D5A-32B0-487E-9DDD-D64FB56281CD}">
      <dgm:prSet/>
      <dgm:spPr/>
      <dgm:t>
        <a:bodyPr/>
        <a:lstStyle/>
        <a:p>
          <a:pPr rtl="0"/>
          <a:r>
            <a:rPr lang="en-US" smtClean="0"/>
            <a:t>5</a:t>
          </a:r>
          <a:r>
            <a:rPr lang="zh-CN" smtClean="0"/>
            <a:t>月</a:t>
          </a:r>
          <a:r>
            <a:rPr lang="en-US" smtClean="0"/>
            <a:t>10</a:t>
          </a:r>
          <a:r>
            <a:rPr lang="zh-CN" smtClean="0"/>
            <a:t>日前，专家对进入初赛的参赛项目进行评分，初创企业组、成长企业组和创业团队组各选出</a:t>
          </a:r>
          <a:r>
            <a:rPr lang="en-US" smtClean="0"/>
            <a:t>10</a:t>
          </a:r>
          <a:r>
            <a:rPr lang="zh-CN" smtClean="0"/>
            <a:t>名进入复赛，共</a:t>
          </a:r>
          <a:r>
            <a:rPr lang="en-US" smtClean="0"/>
            <a:t>30</a:t>
          </a:r>
          <a:r>
            <a:rPr lang="zh-CN" smtClean="0"/>
            <a:t>名。</a:t>
          </a:r>
          <a:endParaRPr lang="zh-CN"/>
        </a:p>
      </dgm:t>
    </dgm:pt>
    <dgm:pt modelId="{89645835-12BC-4EB8-94E2-E04A042937B6}" type="parTrans" cxnId="{06145E08-A9C9-447D-9BD7-6E6346AFB69C}">
      <dgm:prSet/>
      <dgm:spPr/>
      <dgm:t>
        <a:bodyPr/>
        <a:lstStyle/>
        <a:p>
          <a:endParaRPr lang="zh-CN" altLang="en-US"/>
        </a:p>
      </dgm:t>
    </dgm:pt>
    <dgm:pt modelId="{C43D922A-27E6-46FA-AF2C-A6549F3E2157}" type="sibTrans" cxnId="{06145E08-A9C9-447D-9BD7-6E6346AFB69C}">
      <dgm:prSet/>
      <dgm:spPr/>
      <dgm:t>
        <a:bodyPr/>
        <a:lstStyle/>
        <a:p>
          <a:endParaRPr lang="zh-CN" altLang="en-US"/>
        </a:p>
      </dgm:t>
    </dgm:pt>
    <dgm:pt modelId="{AD43F344-08B0-4690-8DC9-6324CB777850}">
      <dgm:prSet/>
      <dgm:spPr/>
      <dgm:t>
        <a:bodyPr/>
        <a:lstStyle/>
        <a:p>
          <a:pPr rtl="0"/>
          <a:r>
            <a:rPr lang="en-US" smtClean="0"/>
            <a:t>3.</a:t>
          </a:r>
          <a:r>
            <a:rPr lang="zh-CN" smtClean="0"/>
            <a:t> 孵化培训</a:t>
          </a:r>
          <a:endParaRPr lang="zh-CN"/>
        </a:p>
      </dgm:t>
    </dgm:pt>
    <dgm:pt modelId="{7C117915-97FA-4C91-9509-DAC7BAABFB74}" type="parTrans" cxnId="{62E75192-1288-4DEF-8F05-2DF6A74840BA}">
      <dgm:prSet/>
      <dgm:spPr/>
      <dgm:t>
        <a:bodyPr/>
        <a:lstStyle/>
        <a:p>
          <a:endParaRPr lang="zh-CN" altLang="en-US"/>
        </a:p>
      </dgm:t>
    </dgm:pt>
    <dgm:pt modelId="{4FBDEB0C-38C5-43B8-A521-A424CE080FB5}" type="sibTrans" cxnId="{62E75192-1288-4DEF-8F05-2DF6A74840BA}">
      <dgm:prSet/>
      <dgm:spPr/>
      <dgm:t>
        <a:bodyPr/>
        <a:lstStyle/>
        <a:p>
          <a:endParaRPr lang="zh-CN" altLang="en-US"/>
        </a:p>
      </dgm:t>
    </dgm:pt>
    <dgm:pt modelId="{F97C7983-CE11-4F07-81FA-9001A9BFC3DF}">
      <dgm:prSet/>
      <dgm:spPr/>
      <dgm:t>
        <a:bodyPr/>
        <a:lstStyle/>
        <a:p>
          <a:pPr rtl="0"/>
          <a:r>
            <a:rPr lang="zh-CN" smtClean="0"/>
            <a:t>进入复赛的参赛项目入驻孵化基地，免费接受创投导师辅导以及创业机构的一站式孵化服务。</a:t>
          </a:r>
          <a:endParaRPr lang="zh-CN"/>
        </a:p>
      </dgm:t>
    </dgm:pt>
    <dgm:pt modelId="{3DF6295D-AE8E-4571-B57B-2D2B1AA63F1A}" type="parTrans" cxnId="{3118918F-AD1E-4B66-96CA-994FE258D996}">
      <dgm:prSet/>
      <dgm:spPr/>
      <dgm:t>
        <a:bodyPr/>
        <a:lstStyle/>
        <a:p>
          <a:endParaRPr lang="zh-CN" altLang="en-US"/>
        </a:p>
      </dgm:t>
    </dgm:pt>
    <dgm:pt modelId="{336453B9-1354-42BA-A3B4-F1E3B9B99C35}" type="sibTrans" cxnId="{3118918F-AD1E-4B66-96CA-994FE258D996}">
      <dgm:prSet/>
      <dgm:spPr/>
      <dgm:t>
        <a:bodyPr/>
        <a:lstStyle/>
        <a:p>
          <a:endParaRPr lang="zh-CN" altLang="en-US"/>
        </a:p>
      </dgm:t>
    </dgm:pt>
    <dgm:pt modelId="{71CFC698-67FD-433A-B1B8-CF3BDBD81C78}">
      <dgm:prSet/>
      <dgm:spPr/>
      <dgm:t>
        <a:bodyPr/>
        <a:lstStyle/>
        <a:p>
          <a:pPr rtl="0"/>
          <a:r>
            <a:rPr lang="en-US" smtClean="0"/>
            <a:t>4.</a:t>
          </a:r>
          <a:r>
            <a:rPr lang="zh-CN" smtClean="0"/>
            <a:t> 复赛阶段</a:t>
          </a:r>
          <a:endParaRPr lang="zh-CN"/>
        </a:p>
      </dgm:t>
    </dgm:pt>
    <dgm:pt modelId="{532C06E9-25AD-4F85-82A3-30653C7CD85A}" type="parTrans" cxnId="{F709A179-57DC-481A-8606-BC352AD4F996}">
      <dgm:prSet/>
      <dgm:spPr/>
      <dgm:t>
        <a:bodyPr/>
        <a:lstStyle/>
        <a:p>
          <a:endParaRPr lang="zh-CN" altLang="en-US"/>
        </a:p>
      </dgm:t>
    </dgm:pt>
    <dgm:pt modelId="{28FD187A-9501-4F31-B478-433D0946454E}" type="sibTrans" cxnId="{F709A179-57DC-481A-8606-BC352AD4F996}">
      <dgm:prSet/>
      <dgm:spPr/>
      <dgm:t>
        <a:bodyPr/>
        <a:lstStyle/>
        <a:p>
          <a:endParaRPr lang="zh-CN" altLang="en-US"/>
        </a:p>
      </dgm:t>
    </dgm:pt>
    <dgm:pt modelId="{858FA5A8-2E86-4CF5-B0F8-23556C2E69B3}">
      <dgm:prSet/>
      <dgm:spPr/>
      <dgm:t>
        <a:bodyPr/>
        <a:lstStyle/>
        <a:p>
          <a:pPr rtl="0"/>
          <a:r>
            <a:rPr lang="en-US" smtClean="0"/>
            <a:t>5</a:t>
          </a:r>
          <a:r>
            <a:rPr lang="zh-CN" smtClean="0"/>
            <a:t>月</a:t>
          </a:r>
          <a:r>
            <a:rPr lang="en-US" smtClean="0"/>
            <a:t>30</a:t>
          </a:r>
          <a:r>
            <a:rPr lang="zh-CN" smtClean="0"/>
            <a:t>日前，按照现场答辩、专家评审的方式，初创企业组、成长企业组和创业团队组分别确定</a:t>
          </a:r>
          <a:r>
            <a:rPr lang="en-US" smtClean="0"/>
            <a:t>5</a:t>
          </a:r>
          <a:r>
            <a:rPr lang="zh-CN" smtClean="0"/>
            <a:t>名进入决赛，共</a:t>
          </a:r>
          <a:r>
            <a:rPr lang="en-US" smtClean="0"/>
            <a:t>15</a:t>
          </a:r>
          <a:r>
            <a:rPr lang="zh-CN" smtClean="0"/>
            <a:t>名。</a:t>
          </a:r>
          <a:endParaRPr lang="zh-CN"/>
        </a:p>
      </dgm:t>
    </dgm:pt>
    <dgm:pt modelId="{120A2CF9-64DA-40DF-B852-00B12B1FC285}" type="parTrans" cxnId="{E82CE88F-458B-4802-95E0-B50E24B3181B}">
      <dgm:prSet/>
      <dgm:spPr/>
      <dgm:t>
        <a:bodyPr/>
        <a:lstStyle/>
        <a:p>
          <a:endParaRPr lang="zh-CN" altLang="en-US"/>
        </a:p>
      </dgm:t>
    </dgm:pt>
    <dgm:pt modelId="{7063E543-2BB3-4A64-BE67-F8A579B16286}" type="sibTrans" cxnId="{E82CE88F-458B-4802-95E0-B50E24B3181B}">
      <dgm:prSet/>
      <dgm:spPr/>
      <dgm:t>
        <a:bodyPr/>
        <a:lstStyle/>
        <a:p>
          <a:endParaRPr lang="zh-CN" altLang="en-US"/>
        </a:p>
      </dgm:t>
    </dgm:pt>
    <dgm:pt modelId="{289FCCBD-5CD9-4BEA-9EE0-DAAAE860FBD3}">
      <dgm:prSet/>
      <dgm:spPr/>
      <dgm:t>
        <a:bodyPr/>
        <a:lstStyle/>
        <a:p>
          <a:pPr rtl="0"/>
          <a:r>
            <a:rPr lang="en-US" smtClean="0"/>
            <a:t>5.</a:t>
          </a:r>
          <a:r>
            <a:rPr lang="zh-CN" smtClean="0"/>
            <a:t> 决赛颁奖</a:t>
          </a:r>
          <a:endParaRPr lang="zh-CN"/>
        </a:p>
      </dgm:t>
    </dgm:pt>
    <dgm:pt modelId="{A6296DB2-A9E1-44F1-A8C9-E8742753FE68}" type="parTrans" cxnId="{AAC4D9A0-44AD-4699-97A3-155B32109973}">
      <dgm:prSet/>
      <dgm:spPr/>
      <dgm:t>
        <a:bodyPr/>
        <a:lstStyle/>
        <a:p>
          <a:endParaRPr lang="zh-CN" altLang="en-US"/>
        </a:p>
      </dgm:t>
    </dgm:pt>
    <dgm:pt modelId="{319F5F7F-92F2-445A-841A-F4B9C5F697C5}" type="sibTrans" cxnId="{AAC4D9A0-44AD-4699-97A3-155B32109973}">
      <dgm:prSet/>
      <dgm:spPr/>
      <dgm:t>
        <a:bodyPr/>
        <a:lstStyle/>
        <a:p>
          <a:endParaRPr lang="zh-CN" altLang="en-US"/>
        </a:p>
      </dgm:t>
    </dgm:pt>
    <dgm:pt modelId="{5AF9A471-EE34-4E42-81EF-6449A992F5C6}">
      <dgm:prSet/>
      <dgm:spPr/>
      <dgm:t>
        <a:bodyPr/>
        <a:lstStyle/>
        <a:p>
          <a:pPr rtl="0"/>
          <a:r>
            <a:rPr lang="zh-CN" dirty="0" smtClean="0"/>
            <a:t>在</a:t>
          </a:r>
          <a:r>
            <a:rPr lang="en-US" dirty="0" smtClean="0"/>
            <a:t>2016</a:t>
          </a:r>
          <a:r>
            <a:rPr lang="zh-CN" dirty="0" smtClean="0"/>
            <a:t>年节能宣传周期间组织现场决赛，采取项目现场展示、评委打分的方式进行决赛，并通过网络媒体进行直播，最终确定出获奖项目并现场颁奖。</a:t>
          </a:r>
          <a:endParaRPr lang="zh-CN" dirty="0"/>
        </a:p>
      </dgm:t>
    </dgm:pt>
    <dgm:pt modelId="{CA40E893-24D1-46E0-97B6-E9127C82DB9E}" type="parTrans" cxnId="{17E97A74-DB09-49C0-82F2-C28593747BE9}">
      <dgm:prSet/>
      <dgm:spPr/>
      <dgm:t>
        <a:bodyPr/>
        <a:lstStyle/>
        <a:p>
          <a:endParaRPr lang="zh-CN" altLang="en-US"/>
        </a:p>
      </dgm:t>
    </dgm:pt>
    <dgm:pt modelId="{FACB335A-E4CD-4CC5-8C20-4D372673D1C4}" type="sibTrans" cxnId="{17E97A74-DB09-49C0-82F2-C28593747BE9}">
      <dgm:prSet/>
      <dgm:spPr/>
      <dgm:t>
        <a:bodyPr/>
        <a:lstStyle/>
        <a:p>
          <a:endParaRPr lang="zh-CN" altLang="en-US"/>
        </a:p>
      </dgm:t>
    </dgm:pt>
    <dgm:pt modelId="{C0F5A57C-CE1D-4EC0-90D1-22E4EC898FAA}" type="pres">
      <dgm:prSet presAssocID="{304B0581-6FCC-4DD5-9E81-818EB9B9DF8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9BCBF8C-9334-4CBD-8FA7-1D3B15AD0868}" type="pres">
      <dgm:prSet presAssocID="{19B8E0DE-FE24-42AF-9B69-94388228B3BC}" presName="linNode" presStyleCnt="0"/>
      <dgm:spPr/>
    </dgm:pt>
    <dgm:pt modelId="{2E9ABD48-2A53-4566-91EB-4E298A819AF0}" type="pres">
      <dgm:prSet presAssocID="{19B8E0DE-FE24-42AF-9B69-94388228B3BC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E94B827-252A-4961-83E7-A6D66E6A3A76}" type="pres">
      <dgm:prSet presAssocID="{19B8E0DE-FE24-42AF-9B69-94388228B3BC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7977D3E-D0A7-4BC9-8802-1EE0C839A847}" type="pres">
      <dgm:prSet presAssocID="{41D83A75-F87F-4AC0-A817-EAE7B6EA3E1C}" presName="sp" presStyleCnt="0"/>
      <dgm:spPr/>
    </dgm:pt>
    <dgm:pt modelId="{FCA31AFB-A500-4EF6-B2EB-13334EFE075F}" type="pres">
      <dgm:prSet presAssocID="{5340EF91-90C9-4209-A1BB-F4C1D7B8C635}" presName="linNode" presStyleCnt="0"/>
      <dgm:spPr/>
    </dgm:pt>
    <dgm:pt modelId="{271EE7B0-EEBF-448E-BF0E-32A799D049E7}" type="pres">
      <dgm:prSet presAssocID="{5340EF91-90C9-4209-A1BB-F4C1D7B8C635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EA1AA82-EF54-4502-8913-15BBAEA4019E}" type="pres">
      <dgm:prSet presAssocID="{5340EF91-90C9-4209-A1BB-F4C1D7B8C635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77A2CB8-BD86-421E-B385-814BDF371A4D}" type="pres">
      <dgm:prSet presAssocID="{6014ABB1-0901-4B12-83BF-B4F401592331}" presName="sp" presStyleCnt="0"/>
      <dgm:spPr/>
    </dgm:pt>
    <dgm:pt modelId="{623D3023-D434-4871-92BE-60C6D1F6D019}" type="pres">
      <dgm:prSet presAssocID="{AD43F344-08B0-4690-8DC9-6324CB777850}" presName="linNode" presStyleCnt="0"/>
      <dgm:spPr/>
    </dgm:pt>
    <dgm:pt modelId="{4D9FE5AE-6DB2-4847-A1F9-9FD0A8E81B86}" type="pres">
      <dgm:prSet presAssocID="{AD43F344-08B0-4690-8DC9-6324CB777850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2DA1335-F6AB-48EB-9F93-77B45F664372}" type="pres">
      <dgm:prSet presAssocID="{AD43F344-08B0-4690-8DC9-6324CB777850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A0B1FA-3298-4869-9188-F054F1015453}" type="pres">
      <dgm:prSet presAssocID="{4FBDEB0C-38C5-43B8-A521-A424CE080FB5}" presName="sp" presStyleCnt="0"/>
      <dgm:spPr/>
    </dgm:pt>
    <dgm:pt modelId="{5B178AA9-20C6-4ADD-BAF2-8A1554A01490}" type="pres">
      <dgm:prSet presAssocID="{71CFC698-67FD-433A-B1B8-CF3BDBD81C78}" presName="linNode" presStyleCnt="0"/>
      <dgm:spPr/>
    </dgm:pt>
    <dgm:pt modelId="{7DB1F510-20F7-428D-93DD-B3151CC3F102}" type="pres">
      <dgm:prSet presAssocID="{71CFC698-67FD-433A-B1B8-CF3BDBD81C78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FBE9E1-E9FD-4E96-978C-01006B4080B9}" type="pres">
      <dgm:prSet presAssocID="{71CFC698-67FD-433A-B1B8-CF3BDBD81C78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D253AD-D320-40AB-9019-A1C77B8234F6}" type="pres">
      <dgm:prSet presAssocID="{28FD187A-9501-4F31-B478-433D0946454E}" presName="sp" presStyleCnt="0"/>
      <dgm:spPr/>
    </dgm:pt>
    <dgm:pt modelId="{1E440E80-B4B2-456A-A0D8-C869AB14E30B}" type="pres">
      <dgm:prSet presAssocID="{289FCCBD-5CD9-4BEA-9EE0-DAAAE860FBD3}" presName="linNode" presStyleCnt="0"/>
      <dgm:spPr/>
    </dgm:pt>
    <dgm:pt modelId="{C337F671-4CC1-412E-B521-974925A351FB}" type="pres">
      <dgm:prSet presAssocID="{289FCCBD-5CD9-4BEA-9EE0-DAAAE860FBD3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23A8C8F-EEBE-4A5E-A6B5-F04E61A6E465}" type="pres">
      <dgm:prSet presAssocID="{289FCCBD-5CD9-4BEA-9EE0-DAAAE860FBD3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90EE477-067A-4338-9ACB-0ADD5D500980}" srcId="{304B0581-6FCC-4DD5-9E81-818EB9B9DF8F}" destId="{19B8E0DE-FE24-42AF-9B69-94388228B3BC}" srcOrd="0" destOrd="0" parTransId="{D032E8C5-E673-4DED-A784-4E68E4C9DA74}" sibTransId="{41D83A75-F87F-4AC0-A817-EAE7B6EA3E1C}"/>
    <dgm:cxn modelId="{C1985627-A644-4666-88F5-5BE72FCCECF2}" type="presOf" srcId="{19B8E0DE-FE24-42AF-9B69-94388228B3BC}" destId="{2E9ABD48-2A53-4566-91EB-4E298A819AF0}" srcOrd="0" destOrd="0" presId="urn:microsoft.com/office/officeart/2005/8/layout/vList5"/>
    <dgm:cxn modelId="{CE7B6473-95B9-422B-8711-60A52E0246CF}" type="presOf" srcId="{AD43F344-08B0-4690-8DC9-6324CB777850}" destId="{4D9FE5AE-6DB2-4847-A1F9-9FD0A8E81B86}" srcOrd="0" destOrd="0" presId="urn:microsoft.com/office/officeart/2005/8/layout/vList5"/>
    <dgm:cxn modelId="{ED53304D-94A9-4B9B-87E4-9A5988F3C6AD}" type="presOf" srcId="{304B0581-6FCC-4DD5-9E81-818EB9B9DF8F}" destId="{C0F5A57C-CE1D-4EC0-90D1-22E4EC898FAA}" srcOrd="0" destOrd="0" presId="urn:microsoft.com/office/officeart/2005/8/layout/vList5"/>
    <dgm:cxn modelId="{F709A179-57DC-481A-8606-BC352AD4F996}" srcId="{304B0581-6FCC-4DD5-9E81-818EB9B9DF8F}" destId="{71CFC698-67FD-433A-B1B8-CF3BDBD81C78}" srcOrd="3" destOrd="0" parTransId="{532C06E9-25AD-4F85-82A3-30653C7CD85A}" sibTransId="{28FD187A-9501-4F31-B478-433D0946454E}"/>
    <dgm:cxn modelId="{AAC4D9A0-44AD-4699-97A3-155B32109973}" srcId="{304B0581-6FCC-4DD5-9E81-818EB9B9DF8F}" destId="{289FCCBD-5CD9-4BEA-9EE0-DAAAE860FBD3}" srcOrd="4" destOrd="0" parTransId="{A6296DB2-A9E1-44F1-A8C9-E8742753FE68}" sibTransId="{319F5F7F-92F2-445A-841A-F4B9C5F697C5}"/>
    <dgm:cxn modelId="{DEFCCC46-40C3-4630-BA2C-5F852C8CB67B}" type="presOf" srcId="{5340EF91-90C9-4209-A1BB-F4C1D7B8C635}" destId="{271EE7B0-EEBF-448E-BF0E-32A799D049E7}" srcOrd="0" destOrd="0" presId="urn:microsoft.com/office/officeart/2005/8/layout/vList5"/>
    <dgm:cxn modelId="{A89F037D-EBFF-4E64-8A9B-599357AB457F}" type="presOf" srcId="{71CFC698-67FD-433A-B1B8-CF3BDBD81C78}" destId="{7DB1F510-20F7-428D-93DD-B3151CC3F102}" srcOrd="0" destOrd="0" presId="urn:microsoft.com/office/officeart/2005/8/layout/vList5"/>
    <dgm:cxn modelId="{104F4B3F-506A-4875-AF3F-BEB95C8B662A}" srcId="{304B0581-6FCC-4DD5-9E81-818EB9B9DF8F}" destId="{5340EF91-90C9-4209-A1BB-F4C1D7B8C635}" srcOrd="1" destOrd="0" parTransId="{3283CC16-A416-43A7-BDE1-6D35AA8B5098}" sibTransId="{6014ABB1-0901-4B12-83BF-B4F401592331}"/>
    <dgm:cxn modelId="{189717FD-DBC7-4E05-B612-85736C6A62A9}" type="presOf" srcId="{289FCCBD-5CD9-4BEA-9EE0-DAAAE860FBD3}" destId="{C337F671-4CC1-412E-B521-974925A351FB}" srcOrd="0" destOrd="0" presId="urn:microsoft.com/office/officeart/2005/8/layout/vList5"/>
    <dgm:cxn modelId="{DE7024D5-3316-459B-9D66-28DB141433F9}" srcId="{19B8E0DE-FE24-42AF-9B69-94388228B3BC}" destId="{BC5FA3AE-2018-49BC-8898-2F49567535A9}" srcOrd="0" destOrd="0" parTransId="{087E34D8-520C-4A91-B513-BACCF208C00B}" sibTransId="{CFFC9784-3BF0-4553-948D-D9808A670CA9}"/>
    <dgm:cxn modelId="{17E97A74-DB09-49C0-82F2-C28593747BE9}" srcId="{289FCCBD-5CD9-4BEA-9EE0-DAAAE860FBD3}" destId="{5AF9A471-EE34-4E42-81EF-6449A992F5C6}" srcOrd="0" destOrd="0" parTransId="{CA40E893-24D1-46E0-97B6-E9127C82DB9E}" sibTransId="{FACB335A-E4CD-4CC5-8C20-4D372673D1C4}"/>
    <dgm:cxn modelId="{E82CE88F-458B-4802-95E0-B50E24B3181B}" srcId="{71CFC698-67FD-433A-B1B8-CF3BDBD81C78}" destId="{858FA5A8-2E86-4CF5-B0F8-23556C2E69B3}" srcOrd="0" destOrd="0" parTransId="{120A2CF9-64DA-40DF-B852-00B12B1FC285}" sibTransId="{7063E543-2BB3-4A64-BE67-F8A579B16286}"/>
    <dgm:cxn modelId="{BD903621-7DF1-4A3A-BF66-0AD3CFCA00F4}" type="presOf" srcId="{858FA5A8-2E86-4CF5-B0F8-23556C2E69B3}" destId="{2AFBE9E1-E9FD-4E96-978C-01006B4080B9}" srcOrd="0" destOrd="0" presId="urn:microsoft.com/office/officeart/2005/8/layout/vList5"/>
    <dgm:cxn modelId="{06145E08-A9C9-447D-9BD7-6E6346AFB69C}" srcId="{5340EF91-90C9-4209-A1BB-F4C1D7B8C635}" destId="{D0A94D5A-32B0-487E-9DDD-D64FB56281CD}" srcOrd="0" destOrd="0" parTransId="{89645835-12BC-4EB8-94E2-E04A042937B6}" sibTransId="{C43D922A-27E6-46FA-AF2C-A6549F3E2157}"/>
    <dgm:cxn modelId="{1F0D91AB-A4D3-41BB-AE84-D2FBADF896C2}" type="presOf" srcId="{F97C7983-CE11-4F07-81FA-9001A9BFC3DF}" destId="{82DA1335-F6AB-48EB-9F93-77B45F664372}" srcOrd="0" destOrd="0" presId="urn:microsoft.com/office/officeart/2005/8/layout/vList5"/>
    <dgm:cxn modelId="{3118918F-AD1E-4B66-96CA-994FE258D996}" srcId="{AD43F344-08B0-4690-8DC9-6324CB777850}" destId="{F97C7983-CE11-4F07-81FA-9001A9BFC3DF}" srcOrd="0" destOrd="0" parTransId="{3DF6295D-AE8E-4571-B57B-2D2B1AA63F1A}" sibTransId="{336453B9-1354-42BA-A3B4-F1E3B9B99C35}"/>
    <dgm:cxn modelId="{17A5FE6B-3C71-46F2-B118-77750F9E13CB}" type="presOf" srcId="{5AF9A471-EE34-4E42-81EF-6449A992F5C6}" destId="{223A8C8F-EEBE-4A5E-A6B5-F04E61A6E465}" srcOrd="0" destOrd="0" presId="urn:microsoft.com/office/officeart/2005/8/layout/vList5"/>
    <dgm:cxn modelId="{4D4F1623-4D2D-4E19-9423-0C1D59DC8F5E}" type="presOf" srcId="{BC5FA3AE-2018-49BC-8898-2F49567535A9}" destId="{7E94B827-252A-4961-83E7-A6D66E6A3A76}" srcOrd="0" destOrd="0" presId="urn:microsoft.com/office/officeart/2005/8/layout/vList5"/>
    <dgm:cxn modelId="{62E75192-1288-4DEF-8F05-2DF6A74840BA}" srcId="{304B0581-6FCC-4DD5-9E81-818EB9B9DF8F}" destId="{AD43F344-08B0-4690-8DC9-6324CB777850}" srcOrd="2" destOrd="0" parTransId="{7C117915-97FA-4C91-9509-DAC7BAABFB74}" sibTransId="{4FBDEB0C-38C5-43B8-A521-A424CE080FB5}"/>
    <dgm:cxn modelId="{23CECD24-0900-4D10-840E-B1E209A9EAFD}" type="presOf" srcId="{D0A94D5A-32B0-487E-9DDD-D64FB56281CD}" destId="{6EA1AA82-EF54-4502-8913-15BBAEA4019E}" srcOrd="0" destOrd="0" presId="urn:microsoft.com/office/officeart/2005/8/layout/vList5"/>
    <dgm:cxn modelId="{6A5B9018-ED78-437D-87AD-A1BFBAC740FC}" type="presParOf" srcId="{C0F5A57C-CE1D-4EC0-90D1-22E4EC898FAA}" destId="{F9BCBF8C-9334-4CBD-8FA7-1D3B15AD0868}" srcOrd="0" destOrd="0" presId="urn:microsoft.com/office/officeart/2005/8/layout/vList5"/>
    <dgm:cxn modelId="{8B7AA8B1-2145-4225-BC16-80454C9E0113}" type="presParOf" srcId="{F9BCBF8C-9334-4CBD-8FA7-1D3B15AD0868}" destId="{2E9ABD48-2A53-4566-91EB-4E298A819AF0}" srcOrd="0" destOrd="0" presId="urn:microsoft.com/office/officeart/2005/8/layout/vList5"/>
    <dgm:cxn modelId="{2E5473BF-7E37-4DC9-B540-84238DE63BE2}" type="presParOf" srcId="{F9BCBF8C-9334-4CBD-8FA7-1D3B15AD0868}" destId="{7E94B827-252A-4961-83E7-A6D66E6A3A76}" srcOrd="1" destOrd="0" presId="urn:microsoft.com/office/officeart/2005/8/layout/vList5"/>
    <dgm:cxn modelId="{4494D866-6143-48FC-9AC6-C047F6A6B6A4}" type="presParOf" srcId="{C0F5A57C-CE1D-4EC0-90D1-22E4EC898FAA}" destId="{67977D3E-D0A7-4BC9-8802-1EE0C839A847}" srcOrd="1" destOrd="0" presId="urn:microsoft.com/office/officeart/2005/8/layout/vList5"/>
    <dgm:cxn modelId="{D9C1DB9F-AB08-4E04-A4D1-6C264A7A97BE}" type="presParOf" srcId="{C0F5A57C-CE1D-4EC0-90D1-22E4EC898FAA}" destId="{FCA31AFB-A500-4EF6-B2EB-13334EFE075F}" srcOrd="2" destOrd="0" presId="urn:microsoft.com/office/officeart/2005/8/layout/vList5"/>
    <dgm:cxn modelId="{B86C7DBA-525B-44A3-9030-A58C9BA92D27}" type="presParOf" srcId="{FCA31AFB-A500-4EF6-B2EB-13334EFE075F}" destId="{271EE7B0-EEBF-448E-BF0E-32A799D049E7}" srcOrd="0" destOrd="0" presId="urn:microsoft.com/office/officeart/2005/8/layout/vList5"/>
    <dgm:cxn modelId="{FAA20F6A-4C04-4AEF-98BA-8DB5A3D13EAA}" type="presParOf" srcId="{FCA31AFB-A500-4EF6-B2EB-13334EFE075F}" destId="{6EA1AA82-EF54-4502-8913-15BBAEA4019E}" srcOrd="1" destOrd="0" presId="urn:microsoft.com/office/officeart/2005/8/layout/vList5"/>
    <dgm:cxn modelId="{9562C43D-227E-4BF7-B056-8FC19BD1DB9D}" type="presParOf" srcId="{C0F5A57C-CE1D-4EC0-90D1-22E4EC898FAA}" destId="{677A2CB8-BD86-421E-B385-814BDF371A4D}" srcOrd="3" destOrd="0" presId="urn:microsoft.com/office/officeart/2005/8/layout/vList5"/>
    <dgm:cxn modelId="{6E4F4D54-B7B2-4D4E-A5A3-9581DF1BA6F8}" type="presParOf" srcId="{C0F5A57C-CE1D-4EC0-90D1-22E4EC898FAA}" destId="{623D3023-D434-4871-92BE-60C6D1F6D019}" srcOrd="4" destOrd="0" presId="urn:microsoft.com/office/officeart/2005/8/layout/vList5"/>
    <dgm:cxn modelId="{FB5C29D9-2838-4EB2-A213-170EE4A4F7B6}" type="presParOf" srcId="{623D3023-D434-4871-92BE-60C6D1F6D019}" destId="{4D9FE5AE-6DB2-4847-A1F9-9FD0A8E81B86}" srcOrd="0" destOrd="0" presId="urn:microsoft.com/office/officeart/2005/8/layout/vList5"/>
    <dgm:cxn modelId="{F3394A72-4558-4F55-B71A-7279C64553D0}" type="presParOf" srcId="{623D3023-D434-4871-92BE-60C6D1F6D019}" destId="{82DA1335-F6AB-48EB-9F93-77B45F664372}" srcOrd="1" destOrd="0" presId="urn:microsoft.com/office/officeart/2005/8/layout/vList5"/>
    <dgm:cxn modelId="{7E026FD9-3F9A-480A-B169-BDF22E599C31}" type="presParOf" srcId="{C0F5A57C-CE1D-4EC0-90D1-22E4EC898FAA}" destId="{88A0B1FA-3298-4869-9188-F054F1015453}" srcOrd="5" destOrd="0" presId="urn:microsoft.com/office/officeart/2005/8/layout/vList5"/>
    <dgm:cxn modelId="{7EAD7C7E-BE16-4C30-ABD6-D87AEA09E373}" type="presParOf" srcId="{C0F5A57C-CE1D-4EC0-90D1-22E4EC898FAA}" destId="{5B178AA9-20C6-4ADD-BAF2-8A1554A01490}" srcOrd="6" destOrd="0" presId="urn:microsoft.com/office/officeart/2005/8/layout/vList5"/>
    <dgm:cxn modelId="{3E16C771-7BBA-45A1-AFD3-B0B05757FD3D}" type="presParOf" srcId="{5B178AA9-20C6-4ADD-BAF2-8A1554A01490}" destId="{7DB1F510-20F7-428D-93DD-B3151CC3F102}" srcOrd="0" destOrd="0" presId="urn:microsoft.com/office/officeart/2005/8/layout/vList5"/>
    <dgm:cxn modelId="{608C757F-21F5-4921-B207-630F0754BCE2}" type="presParOf" srcId="{5B178AA9-20C6-4ADD-BAF2-8A1554A01490}" destId="{2AFBE9E1-E9FD-4E96-978C-01006B4080B9}" srcOrd="1" destOrd="0" presId="urn:microsoft.com/office/officeart/2005/8/layout/vList5"/>
    <dgm:cxn modelId="{DA60656D-4C36-4296-9C18-692339F65C66}" type="presParOf" srcId="{C0F5A57C-CE1D-4EC0-90D1-22E4EC898FAA}" destId="{29D253AD-D320-40AB-9019-A1C77B8234F6}" srcOrd="7" destOrd="0" presId="urn:microsoft.com/office/officeart/2005/8/layout/vList5"/>
    <dgm:cxn modelId="{DCAE0E57-48EE-4BCA-8164-EFAE581CE6F3}" type="presParOf" srcId="{C0F5A57C-CE1D-4EC0-90D1-22E4EC898FAA}" destId="{1E440E80-B4B2-456A-A0D8-C869AB14E30B}" srcOrd="8" destOrd="0" presId="urn:microsoft.com/office/officeart/2005/8/layout/vList5"/>
    <dgm:cxn modelId="{F88D4894-B8FE-4E02-BF98-87356E5D0D8A}" type="presParOf" srcId="{1E440E80-B4B2-456A-A0D8-C869AB14E30B}" destId="{C337F671-4CC1-412E-B521-974925A351FB}" srcOrd="0" destOrd="0" presId="urn:microsoft.com/office/officeart/2005/8/layout/vList5"/>
    <dgm:cxn modelId="{23EF4723-7867-4D0C-80CE-1F33FB593CF2}" type="presParOf" srcId="{1E440E80-B4B2-456A-A0D8-C869AB14E30B}" destId="{223A8C8F-EEBE-4A5E-A6B5-F04E61A6E46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4B827-252A-4961-83E7-A6D66E6A3A76}">
      <dsp:nvSpPr>
        <dsp:cNvPr id="0" name=""/>
        <dsp:cNvSpPr/>
      </dsp:nvSpPr>
      <dsp:spPr>
        <a:xfrm rot="5400000">
          <a:off x="6855592" y="-2994535"/>
          <a:ext cx="590030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smtClean="0"/>
            <a:t>4</a:t>
          </a:r>
          <a:r>
            <a:rPr lang="zh-CN" sz="1200" kern="1200" smtClean="0"/>
            <a:t>月</a:t>
          </a:r>
          <a:r>
            <a:rPr lang="en-US" sz="1200" kern="1200" smtClean="0"/>
            <a:t>30</a:t>
          </a:r>
          <a:r>
            <a:rPr lang="zh-CN" sz="1200" kern="1200" smtClean="0"/>
            <a:t>日前，通过大赛官方网站</a:t>
          </a:r>
          <a:r>
            <a:rPr lang="en-US" sz="1200" kern="1200" smtClean="0"/>
            <a:t>dasai.enerbeijing.com</a:t>
          </a:r>
          <a:r>
            <a:rPr lang="zh-CN" sz="1200" kern="1200" smtClean="0"/>
            <a:t>报名。</a:t>
          </a:r>
          <a:endParaRPr lang="zh-CN" sz="1200" kern="1200"/>
        </a:p>
      </dsp:txBody>
      <dsp:txXfrm rot="-5400000">
        <a:off x="3785616" y="104244"/>
        <a:ext cx="6701181" cy="532424"/>
      </dsp:txXfrm>
    </dsp:sp>
    <dsp:sp modelId="{2E9ABD48-2A53-4566-91EB-4E298A819AF0}">
      <dsp:nvSpPr>
        <dsp:cNvPr id="0" name=""/>
        <dsp:cNvSpPr/>
      </dsp:nvSpPr>
      <dsp:spPr>
        <a:xfrm>
          <a:off x="0" y="1686"/>
          <a:ext cx="3785616" cy="7375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1.</a:t>
          </a:r>
          <a:r>
            <a:rPr lang="zh-CN" sz="2700" kern="1200" dirty="0" smtClean="0"/>
            <a:t> 在线报名</a:t>
          </a:r>
          <a:endParaRPr lang="zh-CN" sz="2700" kern="1200" dirty="0"/>
        </a:p>
      </dsp:txBody>
      <dsp:txXfrm>
        <a:off x="36004" y="37690"/>
        <a:ext cx="3713608" cy="665530"/>
      </dsp:txXfrm>
    </dsp:sp>
    <dsp:sp modelId="{6EA1AA82-EF54-4502-8913-15BBAEA4019E}">
      <dsp:nvSpPr>
        <dsp:cNvPr id="0" name=""/>
        <dsp:cNvSpPr/>
      </dsp:nvSpPr>
      <dsp:spPr>
        <a:xfrm rot="5400000">
          <a:off x="6855592" y="-2220120"/>
          <a:ext cx="590030" cy="67299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smtClean="0"/>
            <a:t>5</a:t>
          </a:r>
          <a:r>
            <a:rPr lang="zh-CN" sz="1200" kern="1200" smtClean="0"/>
            <a:t>月</a:t>
          </a:r>
          <a:r>
            <a:rPr lang="en-US" sz="1200" kern="1200" smtClean="0"/>
            <a:t>10</a:t>
          </a:r>
          <a:r>
            <a:rPr lang="zh-CN" sz="1200" kern="1200" smtClean="0"/>
            <a:t>日前，专家对进入初赛的参赛项目进行评分，初创企业组、成长企业组和创业团队组各选出</a:t>
          </a:r>
          <a:r>
            <a:rPr lang="en-US" sz="1200" kern="1200" smtClean="0"/>
            <a:t>10</a:t>
          </a:r>
          <a:r>
            <a:rPr lang="zh-CN" sz="1200" kern="1200" smtClean="0"/>
            <a:t>名进入复赛，共</a:t>
          </a:r>
          <a:r>
            <a:rPr lang="en-US" sz="1200" kern="1200" smtClean="0"/>
            <a:t>30</a:t>
          </a:r>
          <a:r>
            <a:rPr lang="zh-CN" sz="1200" kern="1200" smtClean="0"/>
            <a:t>名。</a:t>
          </a:r>
          <a:endParaRPr lang="zh-CN" sz="1200" kern="1200"/>
        </a:p>
      </dsp:txBody>
      <dsp:txXfrm rot="-5400000">
        <a:off x="3785616" y="878659"/>
        <a:ext cx="6701181" cy="532424"/>
      </dsp:txXfrm>
    </dsp:sp>
    <dsp:sp modelId="{271EE7B0-EEBF-448E-BF0E-32A799D049E7}">
      <dsp:nvSpPr>
        <dsp:cNvPr id="0" name=""/>
        <dsp:cNvSpPr/>
      </dsp:nvSpPr>
      <dsp:spPr>
        <a:xfrm>
          <a:off x="0" y="776102"/>
          <a:ext cx="3785616" cy="73753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2.</a:t>
          </a:r>
          <a:r>
            <a:rPr lang="zh-CN" sz="2700" kern="1200" smtClean="0"/>
            <a:t> 初赛阶段</a:t>
          </a:r>
          <a:endParaRPr lang="zh-CN" sz="2700" kern="1200"/>
        </a:p>
      </dsp:txBody>
      <dsp:txXfrm>
        <a:off x="36004" y="812106"/>
        <a:ext cx="3713608" cy="665530"/>
      </dsp:txXfrm>
    </dsp:sp>
    <dsp:sp modelId="{82DA1335-F6AB-48EB-9F93-77B45F664372}">
      <dsp:nvSpPr>
        <dsp:cNvPr id="0" name=""/>
        <dsp:cNvSpPr/>
      </dsp:nvSpPr>
      <dsp:spPr>
        <a:xfrm rot="5400000">
          <a:off x="6855592" y="-1445704"/>
          <a:ext cx="590030" cy="672998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200" kern="1200" smtClean="0"/>
            <a:t>进入复赛的参赛项目入驻孵化基地，免费接受创投导师辅导以及创业机构的一站式孵化服务。</a:t>
          </a:r>
          <a:endParaRPr lang="zh-CN" sz="1200" kern="1200"/>
        </a:p>
      </dsp:txBody>
      <dsp:txXfrm rot="-5400000">
        <a:off x="3785616" y="1653075"/>
        <a:ext cx="6701181" cy="532424"/>
      </dsp:txXfrm>
    </dsp:sp>
    <dsp:sp modelId="{4D9FE5AE-6DB2-4847-A1F9-9FD0A8E81B86}">
      <dsp:nvSpPr>
        <dsp:cNvPr id="0" name=""/>
        <dsp:cNvSpPr/>
      </dsp:nvSpPr>
      <dsp:spPr>
        <a:xfrm>
          <a:off x="0" y="1550518"/>
          <a:ext cx="3785616" cy="73753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3.</a:t>
          </a:r>
          <a:r>
            <a:rPr lang="zh-CN" sz="2700" kern="1200" smtClean="0"/>
            <a:t> 孵化培训</a:t>
          </a:r>
          <a:endParaRPr lang="zh-CN" sz="2700" kern="1200"/>
        </a:p>
      </dsp:txBody>
      <dsp:txXfrm>
        <a:off x="36004" y="1586522"/>
        <a:ext cx="3713608" cy="665530"/>
      </dsp:txXfrm>
    </dsp:sp>
    <dsp:sp modelId="{2AFBE9E1-E9FD-4E96-978C-01006B4080B9}">
      <dsp:nvSpPr>
        <dsp:cNvPr id="0" name=""/>
        <dsp:cNvSpPr/>
      </dsp:nvSpPr>
      <dsp:spPr>
        <a:xfrm rot="5400000">
          <a:off x="6855592" y="-671288"/>
          <a:ext cx="590030" cy="67299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smtClean="0"/>
            <a:t>5</a:t>
          </a:r>
          <a:r>
            <a:rPr lang="zh-CN" sz="1200" kern="1200" smtClean="0"/>
            <a:t>月</a:t>
          </a:r>
          <a:r>
            <a:rPr lang="en-US" sz="1200" kern="1200" smtClean="0"/>
            <a:t>30</a:t>
          </a:r>
          <a:r>
            <a:rPr lang="zh-CN" sz="1200" kern="1200" smtClean="0"/>
            <a:t>日前，按照现场答辩、专家评审的方式，初创企业组、成长企业组和创业团队组分别确定</a:t>
          </a:r>
          <a:r>
            <a:rPr lang="en-US" sz="1200" kern="1200" smtClean="0"/>
            <a:t>5</a:t>
          </a:r>
          <a:r>
            <a:rPr lang="zh-CN" sz="1200" kern="1200" smtClean="0"/>
            <a:t>名进入决赛，共</a:t>
          </a:r>
          <a:r>
            <a:rPr lang="en-US" sz="1200" kern="1200" smtClean="0"/>
            <a:t>15</a:t>
          </a:r>
          <a:r>
            <a:rPr lang="zh-CN" sz="1200" kern="1200" smtClean="0"/>
            <a:t>名。</a:t>
          </a:r>
          <a:endParaRPr lang="zh-CN" sz="1200" kern="1200"/>
        </a:p>
      </dsp:txBody>
      <dsp:txXfrm rot="-5400000">
        <a:off x="3785616" y="2427491"/>
        <a:ext cx="6701181" cy="532424"/>
      </dsp:txXfrm>
    </dsp:sp>
    <dsp:sp modelId="{7DB1F510-20F7-428D-93DD-B3151CC3F102}">
      <dsp:nvSpPr>
        <dsp:cNvPr id="0" name=""/>
        <dsp:cNvSpPr/>
      </dsp:nvSpPr>
      <dsp:spPr>
        <a:xfrm>
          <a:off x="0" y="2324933"/>
          <a:ext cx="3785616" cy="73753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4.</a:t>
          </a:r>
          <a:r>
            <a:rPr lang="zh-CN" sz="2700" kern="1200" smtClean="0"/>
            <a:t> 复赛阶段</a:t>
          </a:r>
          <a:endParaRPr lang="zh-CN" sz="2700" kern="1200"/>
        </a:p>
      </dsp:txBody>
      <dsp:txXfrm>
        <a:off x="36004" y="2360937"/>
        <a:ext cx="3713608" cy="665530"/>
      </dsp:txXfrm>
    </dsp:sp>
    <dsp:sp modelId="{223A8C8F-EEBE-4A5E-A6B5-F04E61A6E465}">
      <dsp:nvSpPr>
        <dsp:cNvPr id="0" name=""/>
        <dsp:cNvSpPr/>
      </dsp:nvSpPr>
      <dsp:spPr>
        <a:xfrm rot="5400000">
          <a:off x="6855592" y="103126"/>
          <a:ext cx="590030" cy="6729984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200" kern="1200" dirty="0" smtClean="0"/>
            <a:t>在</a:t>
          </a:r>
          <a:r>
            <a:rPr lang="en-US" sz="1200" kern="1200" dirty="0" smtClean="0"/>
            <a:t>2016</a:t>
          </a:r>
          <a:r>
            <a:rPr lang="zh-CN" sz="1200" kern="1200" dirty="0" smtClean="0"/>
            <a:t>年节能宣传周期间组织现场决赛，采取项目现场展示、评委打分的方式进行决赛，并通过网络媒体进行直播，最终确定出获奖项目并现场颁奖。</a:t>
          </a:r>
          <a:endParaRPr lang="zh-CN" sz="1200" kern="1200" dirty="0"/>
        </a:p>
      </dsp:txBody>
      <dsp:txXfrm rot="-5400000">
        <a:off x="3785616" y="3201906"/>
        <a:ext cx="6701181" cy="532424"/>
      </dsp:txXfrm>
    </dsp:sp>
    <dsp:sp modelId="{C337F671-4CC1-412E-B521-974925A351FB}">
      <dsp:nvSpPr>
        <dsp:cNvPr id="0" name=""/>
        <dsp:cNvSpPr/>
      </dsp:nvSpPr>
      <dsp:spPr>
        <a:xfrm>
          <a:off x="0" y="3099349"/>
          <a:ext cx="3785616" cy="73753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smtClean="0"/>
            <a:t>5.</a:t>
          </a:r>
          <a:r>
            <a:rPr lang="zh-CN" sz="2700" kern="1200" smtClean="0"/>
            <a:t> 决赛颁奖</a:t>
          </a:r>
          <a:endParaRPr lang="zh-CN" sz="2700" kern="1200"/>
        </a:p>
      </dsp:txBody>
      <dsp:txXfrm>
        <a:off x="36004" y="3135353"/>
        <a:ext cx="3713608" cy="665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2FA2B-7B6F-4161-A79C-59DE049F2DF2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356BE-35D4-434C-9579-8C1E2FFAE9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14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baseline="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为整合创新创业要素，通过促进节能环保低碳科技创新和成果转化，搭建为节能环保低碳中小企业服务的平台，宣传创新创业人物，树立创新创业品牌，引导更广泛的社会资源支持创新创业，促进节能环保低碳中小企业创新发展，北京市发展和改革委员会举办“北京市节能环保低碳创业大赛”，现面向社会征集大赛项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F356BE-35D4-434C-9579-8C1E2FFAE9DC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568" y="5558482"/>
            <a:ext cx="1961804" cy="167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33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1">
          <a:blip r:embed="rId2">
            <a:alphaModFix amt="35000"/>
            <a:lum/>
          </a:blip>
          <a:srcRect/>
          <a:stretch>
            <a:fillRect t="-42000" b="-4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78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4690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76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69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2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228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SmartArt图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SmartArt 占位符 6"/>
          <p:cNvSpPr>
            <a:spLocks noGrp="1"/>
          </p:cNvSpPr>
          <p:nvPr>
            <p:ph type="dgm" sz="quarter" idx="13"/>
          </p:nvPr>
        </p:nvSpPr>
        <p:spPr>
          <a:xfrm>
            <a:off x="1000124" y="2274888"/>
            <a:ext cx="10353675" cy="325404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725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96686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21468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单击以编辑母版副标题样式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82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7536" y="6400800"/>
            <a:ext cx="4267200" cy="283800"/>
          </a:xfrm>
        </p:spPr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936" y="6400800"/>
            <a:ext cx="49784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24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43248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49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2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93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87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92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26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98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14733" y="1053546"/>
            <a:ext cx="7872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4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3" y="1142984"/>
            <a:ext cx="7867667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62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85344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35403" y="1143000"/>
            <a:ext cx="9630997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600" y="5410200"/>
            <a:ext cx="7543851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592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36613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20275" y="274638"/>
            <a:ext cx="1962125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915424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6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79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1.jpg"/></Relationships>
</file>

<file path=ppt/slideMasters/slideMaster1.xml><?xml version="1.0" encoding="utf-8"?>
<p:sldMaster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100" y="4676775"/>
            <a:ext cx="4533900" cy="218122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2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8" r:id="rId4"/>
    <p:sldLayoutId id="2147483671" r:id="rId5"/>
    <p:sldLayoutId id="2147483672" r:id="rId6"/>
    <p:sldLayoutId id="214748367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0"/>
        </a:buBlip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53617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1600" y="6400800"/>
            <a:ext cx="42672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9034D133-576D-4D9D-A4A2-5D0DDE5AB018}" type="datetimeFigureOut">
              <a:rPr lang="zh-CN" altLang="en-US" smtClean="0"/>
              <a:t>2021/10/11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12000" y="6400800"/>
            <a:ext cx="49784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D326EBD-A998-4910-8475-B4E2511356E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0" y="4676776"/>
            <a:ext cx="6045200" cy="2181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100" y="4676775"/>
            <a:ext cx="45339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8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北京市节能环保低碳创业大赛（第二季）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征集工作正式启动</a:t>
            </a:r>
          </a:p>
        </p:txBody>
      </p:sp>
    </p:spTree>
    <p:extLst>
      <p:ext uri="{BB962C8B-B14F-4D97-AF65-F5344CB8AC3E}">
        <p14:creationId xmlns:p14="http://schemas.microsoft.com/office/powerpoint/2010/main" val="203655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5000">
        <p:cut/>
      </p:transition>
    </mc:Choice>
    <mc:Fallback xmlns="">
      <p:transition advClick="0" advTm="5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2" presetClass="exit" presetSubtype="9" fill="hold" grpId="1" nodeType="after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6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一、大赛时间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2016</a:t>
            </a:r>
            <a:r>
              <a:rPr lang="zh-CN" altLang="en-US" smtClean="0"/>
              <a:t>年</a:t>
            </a:r>
            <a:r>
              <a:rPr lang="en-US" altLang="zh-CN" smtClean="0"/>
              <a:t>3</a:t>
            </a:r>
            <a:r>
              <a:rPr lang="zh-CN" altLang="en-US" smtClean="0"/>
              <a:t>月～</a:t>
            </a:r>
            <a:r>
              <a:rPr lang="en-US" altLang="zh-CN" smtClean="0"/>
              <a:t>6</a:t>
            </a:r>
            <a:r>
              <a:rPr lang="zh-CN" altLang="en-US" smtClean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7548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5000">
        <p:cut/>
      </p:transition>
    </mc:Choice>
    <mc:Fallback xmlns="">
      <p:transition advClick="0" advTm="5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二、大赛主题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1596000" y="2529000"/>
            <a:ext cx="9000000" cy="1800000"/>
          </a:xfrm>
        </p:spPr>
        <p:txBody>
          <a:bodyPr>
            <a:prstTxWarp prst="textDeflate">
              <a:avLst/>
            </a:prstTxWarp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zh-CN" altLang="en-US" b="1" dirty="0" smtClean="0">
                <a:ln/>
                <a:solidFill>
                  <a:schemeClr val="accent4"/>
                </a:solidFill>
              </a:rPr>
              <a:t>创业成就梦想</a:t>
            </a:r>
          </a:p>
        </p:txBody>
      </p:sp>
    </p:spTree>
    <p:extLst>
      <p:ext uri="{BB962C8B-B14F-4D97-AF65-F5344CB8AC3E}">
        <p14:creationId xmlns:p14="http://schemas.microsoft.com/office/powerpoint/2010/main" val="242393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5000">
        <p:cut/>
      </p:transition>
    </mc:Choice>
    <mc:Fallback xmlns="">
      <p:transition advClick="0" advTm="5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三、组织机构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主办单位：北京市发展和改革委员会</a:t>
            </a:r>
          </a:p>
          <a:p>
            <a:pPr lvl="0"/>
            <a:r>
              <a:rPr lang="zh-CN" altLang="en-US" smtClean="0"/>
              <a:t>承办单位：北京节能环保中心</a:t>
            </a:r>
          </a:p>
        </p:txBody>
      </p:sp>
    </p:spTree>
    <p:extLst>
      <p:ext uri="{BB962C8B-B14F-4D97-AF65-F5344CB8AC3E}">
        <p14:creationId xmlns:p14="http://schemas.microsoft.com/office/powerpoint/2010/main" val="56380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5000">
        <p:cut/>
      </p:transition>
    </mc:Choice>
    <mc:Fallback xmlns="">
      <p:transition advClick="0" advTm="5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四、参赛条件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hlinkClick r:id="rId2" action="ppaction://hlinksldjump"/>
              </a:rPr>
              <a:t>（一）初创企业组参赛资格</a:t>
            </a:r>
            <a:endParaRPr lang="en-US" altLang="zh-CN" dirty="0" smtClean="0"/>
          </a:p>
          <a:p>
            <a:r>
              <a:rPr lang="zh-CN" altLang="en-US" dirty="0" smtClean="0">
                <a:hlinkClick r:id="rId3" action="ppaction://hlinksldjump"/>
              </a:rPr>
              <a:t>（二）成长企业组参赛资格</a:t>
            </a:r>
            <a:endParaRPr lang="en-US" altLang="zh-CN" dirty="0" smtClean="0"/>
          </a:p>
          <a:p>
            <a:r>
              <a:rPr lang="zh-CN" altLang="en-US" dirty="0" smtClean="0">
                <a:hlinkClick r:id="rId4" action="ppaction://hlinksldjump"/>
              </a:rPr>
              <a:t>（三）创业团队组参赛资格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49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（一）初创企业组参赛资格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具有高成长性和投资价值的节能环保低碳中小企业；</a:t>
            </a:r>
          </a:p>
          <a:p>
            <a:pPr lvl="0"/>
            <a:r>
              <a:rPr lang="zh-CN" altLang="en-US" smtClean="0"/>
              <a:t>成立时间不超过</a:t>
            </a:r>
            <a:r>
              <a:rPr lang="en-US" altLang="zh-CN" smtClean="0"/>
              <a:t>5</a:t>
            </a:r>
            <a:r>
              <a:rPr lang="zh-CN" altLang="en-US" smtClean="0"/>
              <a:t>年（</a:t>
            </a:r>
            <a:r>
              <a:rPr lang="en-US" altLang="zh-CN" smtClean="0"/>
              <a:t>2011</a:t>
            </a:r>
            <a:r>
              <a:rPr lang="zh-CN" altLang="en-US" smtClean="0"/>
              <a:t>年</a:t>
            </a:r>
            <a:r>
              <a:rPr lang="en-US" altLang="zh-CN" smtClean="0"/>
              <a:t>5</a:t>
            </a:r>
            <a:r>
              <a:rPr lang="zh-CN" altLang="en-US" smtClean="0"/>
              <a:t>月</a:t>
            </a:r>
            <a:r>
              <a:rPr lang="en-US" altLang="zh-CN" smtClean="0"/>
              <a:t>1</a:t>
            </a:r>
            <a:r>
              <a:rPr lang="zh-CN" altLang="en-US" smtClean="0"/>
              <a:t>日以后注册）；</a:t>
            </a:r>
          </a:p>
          <a:p>
            <a:pPr lvl="0"/>
            <a:r>
              <a:rPr lang="zh-CN" altLang="en-US" smtClean="0"/>
              <a:t>年度营业收入不超过</a:t>
            </a:r>
            <a:r>
              <a:rPr lang="en-US" altLang="zh-CN" smtClean="0"/>
              <a:t>3000</a:t>
            </a:r>
            <a:r>
              <a:rPr lang="zh-CN" altLang="en-US" smtClean="0"/>
              <a:t>万元人民币；</a:t>
            </a:r>
          </a:p>
          <a:p>
            <a:pPr lvl="0"/>
            <a:r>
              <a:rPr lang="zh-CN" altLang="en-US" smtClean="0"/>
              <a:t>拥有合法的知识产权，无知识产权纠纷；</a:t>
            </a:r>
          </a:p>
          <a:p>
            <a:pPr lvl="0"/>
            <a:r>
              <a:rPr lang="zh-CN" altLang="en-US" smtClean="0"/>
              <a:t>经营规范，社会信誉良好，无不良记录。</a:t>
            </a:r>
          </a:p>
        </p:txBody>
      </p:sp>
    </p:spTree>
    <p:extLst>
      <p:ext uri="{BB962C8B-B14F-4D97-AF65-F5344CB8AC3E}">
        <p14:creationId xmlns:p14="http://schemas.microsoft.com/office/powerpoint/2010/main" val="376000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（二）成长企业组参赛资格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具有高成长性和投资价值的节能环保低碳中小企业；</a:t>
            </a:r>
          </a:p>
          <a:p>
            <a:pPr lvl="0"/>
            <a:r>
              <a:rPr lang="zh-CN" altLang="en-US" smtClean="0"/>
              <a:t>年度营业收入原则上在</a:t>
            </a:r>
            <a:r>
              <a:rPr lang="en-US" altLang="zh-CN" smtClean="0"/>
              <a:t>3000</a:t>
            </a:r>
            <a:r>
              <a:rPr lang="zh-CN" altLang="en-US" smtClean="0"/>
              <a:t>万元人民币以上，但不超过</a:t>
            </a:r>
            <a:r>
              <a:rPr lang="en-US" altLang="zh-CN" smtClean="0"/>
              <a:t>15000</a:t>
            </a:r>
            <a:r>
              <a:rPr lang="zh-CN" altLang="en-US" smtClean="0"/>
              <a:t>万元人民币；</a:t>
            </a:r>
          </a:p>
          <a:p>
            <a:pPr lvl="0"/>
            <a:r>
              <a:rPr lang="zh-CN" altLang="en-US" smtClean="0"/>
              <a:t>拥有合法的知识产权，无知识产权纠纷；</a:t>
            </a:r>
          </a:p>
          <a:p>
            <a:pPr lvl="0"/>
            <a:r>
              <a:rPr lang="zh-CN" altLang="en-US" smtClean="0"/>
              <a:t>经营规范，社会信誉良好，无不良记录。</a:t>
            </a:r>
          </a:p>
        </p:txBody>
      </p:sp>
    </p:spTree>
    <p:extLst>
      <p:ext uri="{BB962C8B-B14F-4D97-AF65-F5344CB8AC3E}">
        <p14:creationId xmlns:p14="http://schemas.microsoft.com/office/powerpoint/2010/main" val="46225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（三）创业团队组参赛资格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具有创新创业精神的创业团队（如海外留学回国创业人员、进入创业实施阶段的优秀科技团队、大学生创业团队等）；</a:t>
            </a:r>
          </a:p>
          <a:p>
            <a:pPr lvl="0"/>
            <a:r>
              <a:rPr lang="zh-CN" altLang="en-US" smtClean="0"/>
              <a:t>拥有合法的知识产权，无知识产权纠纷；</a:t>
            </a:r>
          </a:p>
          <a:p>
            <a:pPr lvl="0"/>
            <a:r>
              <a:rPr lang="zh-CN" altLang="en-US" smtClean="0"/>
              <a:t>核心团队成员不少于</a:t>
            </a:r>
            <a:r>
              <a:rPr lang="en-US" altLang="zh-CN" smtClean="0"/>
              <a:t>3</a:t>
            </a:r>
            <a:r>
              <a:rPr lang="zh-CN" altLang="en-US" smtClean="0"/>
              <a:t>人。</a:t>
            </a:r>
          </a:p>
        </p:txBody>
      </p:sp>
    </p:spTree>
    <p:extLst>
      <p:ext uri="{BB962C8B-B14F-4D97-AF65-F5344CB8AC3E}">
        <p14:creationId xmlns:p14="http://schemas.microsoft.com/office/powerpoint/2010/main" val="184192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五、大赛流程</a:t>
            </a:r>
          </a:p>
        </p:txBody>
      </p:sp>
      <p:graphicFrame>
        <p:nvGraphicFramePr>
          <p:cNvPr id="8" name="SmartArt 占位符 7"/>
          <p:cNvGraphicFramePr>
            <a:graphicFrameLocks noGrp="1"/>
          </p:cNvGraphicFramePr>
          <p:nvPr>
            <p:ph type="dgm" sz="quarter" idx="13"/>
            <p:extLst>
              <p:ext uri="{D42A27DB-BD31-4B8C-83A1-F6EECF244321}">
                <p14:modId xmlns:p14="http://schemas.microsoft.com/office/powerpoint/2010/main" val="3279101125"/>
              </p:ext>
            </p:extLst>
          </p:nvPr>
        </p:nvGraphicFramePr>
        <p:xfrm>
          <a:off x="838200" y="1903339"/>
          <a:ext cx="10515600" cy="3838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268111"/>
      </p:ext>
    </p:extLst>
  </p:cSld>
  <p:clrMapOvr>
    <a:masterClrMapping/>
  </p:clrMapOvr>
  <p:transition spd="slow" advClick="0" advTm="5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六、奖励政策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/>
          </p:nvPr>
        </p:nvSpPr>
        <p:spPr/>
        <p:txBody>
          <a:bodyPr anchor="b" anchorCtr="0"/>
          <a:lstStyle/>
          <a:p>
            <a:pPr lvl="0"/>
            <a:r>
              <a:rPr lang="zh-CN" altLang="en-US" smtClean="0"/>
              <a:t>大赛按照初创企业组、成长企业组和创业团队组分别设立一、二、三等奖各</a:t>
            </a:r>
            <a:r>
              <a:rPr lang="en-US" altLang="zh-CN" smtClean="0"/>
              <a:t>1</a:t>
            </a:r>
            <a:r>
              <a:rPr lang="zh-CN" altLang="en-US" smtClean="0"/>
              <a:t>名，共</a:t>
            </a:r>
            <a:r>
              <a:rPr lang="en-US" altLang="zh-CN" smtClean="0"/>
              <a:t>9</a:t>
            </a:r>
            <a:r>
              <a:rPr lang="zh-CN" altLang="en-US" smtClean="0"/>
              <a:t>名，分别获得由知名投资机构提供的</a:t>
            </a:r>
            <a:r>
              <a:rPr lang="en-US" altLang="zh-CN" smtClean="0"/>
              <a:t>2</a:t>
            </a:r>
            <a:r>
              <a:rPr lang="zh-CN" altLang="en-US" smtClean="0"/>
              <a:t>万元、</a:t>
            </a:r>
            <a:r>
              <a:rPr lang="en-US" altLang="zh-CN" smtClean="0"/>
              <a:t>1.5</a:t>
            </a:r>
            <a:r>
              <a:rPr lang="zh-CN" altLang="en-US" smtClean="0"/>
              <a:t>万元和</a:t>
            </a:r>
            <a:r>
              <a:rPr lang="en-US" altLang="zh-CN" smtClean="0"/>
              <a:t>1</a:t>
            </a:r>
            <a:r>
              <a:rPr lang="zh-CN" altLang="en-US" smtClean="0"/>
              <a:t>万元现金奖励，并由主办单位颁发奖杯和证书。</a:t>
            </a:r>
          </a:p>
        </p:txBody>
      </p:sp>
    </p:spTree>
    <p:extLst>
      <p:ext uri="{BB962C8B-B14F-4D97-AF65-F5344CB8AC3E}">
        <p14:creationId xmlns:p14="http://schemas.microsoft.com/office/powerpoint/2010/main" val="407144660"/>
      </p:ext>
    </p:extLst>
  </p:cSld>
  <p:clrMapOvr>
    <a:masterClrMapping/>
  </p:clrMapOvr>
  <p:transition spd="slow" advClick="0" advTm="5000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七、支持政策</a:t>
            </a:r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进入大赛复赛项目获得以下政策支持：</a:t>
            </a:r>
          </a:p>
          <a:p>
            <a:pPr lvl="1"/>
            <a:r>
              <a:rPr lang="zh-CN" altLang="en-US" smtClean="0"/>
              <a:t>符合节能环保低碳政策支持要求的，纳入市发展改革委备选项目库，给予优先支持。</a:t>
            </a:r>
          </a:p>
          <a:p>
            <a:pPr lvl="1"/>
            <a:r>
              <a:rPr lang="zh-CN" altLang="en-US" smtClean="0"/>
              <a:t>符合中小企业创业投资引导基金要求的，优先推荐给大赛投资基金和创业投资机构进行支持。</a:t>
            </a:r>
          </a:p>
          <a:p>
            <a:pPr lvl="1"/>
            <a:r>
              <a:rPr lang="zh-CN" altLang="en-US" smtClean="0"/>
              <a:t>大赛合作商业银行给予企业授信支持。</a:t>
            </a:r>
          </a:p>
          <a:p>
            <a:pPr lvl="1"/>
            <a:r>
              <a:rPr lang="zh-CN" altLang="en-US" smtClean="0"/>
              <a:t>提供专场推介，邀请投资机构等进行项目对接和免费培训。</a:t>
            </a:r>
          </a:p>
        </p:txBody>
      </p:sp>
    </p:spTree>
    <p:extLst>
      <p:ext uri="{BB962C8B-B14F-4D97-AF65-F5344CB8AC3E}">
        <p14:creationId xmlns:p14="http://schemas.microsoft.com/office/powerpoint/2010/main" val="3497206515"/>
      </p:ext>
    </p:extLst>
  </p:cSld>
  <p:clrMapOvr>
    <a:masterClrMapping/>
  </p:clrMapOvr>
  <p:transition spd="slow" advClick="0" advTm="5000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dirty="0" smtClean="0"/>
              <a:t>联 系 人： </a:t>
            </a:r>
          </a:p>
          <a:p>
            <a:pPr lvl="1"/>
            <a:r>
              <a:rPr lang="zh-CN" altLang="en-US" dirty="0" smtClean="0"/>
              <a:t>竺东明 </a:t>
            </a:r>
            <a:r>
              <a:rPr lang="en-US" altLang="zh-CN" dirty="0" smtClean="0"/>
              <a:t>/</a:t>
            </a:r>
            <a:r>
              <a:rPr lang="zh-CN" altLang="en-US" dirty="0" smtClean="0"/>
              <a:t>左存英</a:t>
            </a:r>
            <a:r>
              <a:rPr lang="en-US" altLang="zh-CN" dirty="0" smtClean="0"/>
              <a:t>/</a:t>
            </a:r>
            <a:r>
              <a:rPr lang="zh-CN" altLang="en-US" dirty="0" smtClean="0"/>
              <a:t>闫卫新</a:t>
            </a:r>
            <a:r>
              <a:rPr lang="en-US" altLang="zh-CN" dirty="0" smtClean="0"/>
              <a:t>/</a:t>
            </a:r>
            <a:r>
              <a:rPr lang="zh-CN" altLang="en-US" dirty="0" smtClean="0"/>
              <a:t>王江辉</a:t>
            </a:r>
          </a:p>
          <a:p>
            <a:pPr lvl="0"/>
            <a:r>
              <a:rPr lang="zh-CN" altLang="en-US" dirty="0" smtClean="0"/>
              <a:t>联系电话（传真）：</a:t>
            </a:r>
          </a:p>
          <a:p>
            <a:pPr lvl="1"/>
            <a:r>
              <a:rPr lang="en-US" altLang="zh-CN" dirty="0" smtClean="0"/>
              <a:t>64435265/64435328/52052616/52052680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2280012"/>
      </p:ext>
    </p:extLst>
  </p:cSld>
  <p:clrMapOvr>
    <a:masterClrMapping/>
  </p:clrMapOvr>
  <p:transition spd="slow" advClick="0" advTm="5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环境保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5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暗香扑面1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暗香扑面1" id="{E6318B9C-4476-4623-B8B2-E1D6EC1F925B}" vid="{15977026-3D2E-4896-AA7D-D50C0760463D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681</Words>
  <Application>Microsoft Office PowerPoint</Application>
  <PresentationFormat>宽屏</PresentationFormat>
  <Paragraphs>53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等线</vt:lpstr>
      <vt:lpstr>黑体</vt:lpstr>
      <vt:lpstr>宋体</vt:lpstr>
      <vt:lpstr>微软雅黑</vt:lpstr>
      <vt:lpstr>Arial</vt:lpstr>
      <vt:lpstr>Calibri</vt:lpstr>
      <vt:lpstr>Franklin Gothic Book</vt:lpstr>
      <vt:lpstr>Times New Roman</vt:lpstr>
      <vt:lpstr>Wingdings 2</vt:lpstr>
      <vt:lpstr>环境保护</vt:lpstr>
      <vt:lpstr>暗香扑面1</vt:lpstr>
      <vt:lpstr>北京市节能环保低碳创业大赛（第二季）</vt:lpstr>
      <vt:lpstr>一、大赛时间</vt:lpstr>
      <vt:lpstr>二、大赛主题</vt:lpstr>
      <vt:lpstr>三、组织机构</vt:lpstr>
      <vt:lpstr>四、参赛条件</vt:lpstr>
      <vt:lpstr>（一）初创企业组参赛资格</vt:lpstr>
      <vt:lpstr>（二）成长企业组参赛资格</vt:lpstr>
      <vt:lpstr>（三）创业团队组参赛资格</vt:lpstr>
      <vt:lpstr>五、大赛流程</vt:lpstr>
      <vt:lpstr>六、奖励政策</vt:lpstr>
      <vt:lpstr>七、支持政策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北京市节能环保低碳创业大赛（第二季）</dc:title>
  <dc:creator>吉燕</dc:creator>
  <cp:lastModifiedBy>Windows 用户11</cp:lastModifiedBy>
  <cp:revision>10</cp:revision>
  <dcterms:created xsi:type="dcterms:W3CDTF">2020-08-31T05:40:45Z</dcterms:created>
  <dcterms:modified xsi:type="dcterms:W3CDTF">2021-10-11T07:40:07Z</dcterms:modified>
</cp:coreProperties>
</file>