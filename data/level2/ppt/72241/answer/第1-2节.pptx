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318" autoAdjust="0"/>
  </p:normalViewPr>
  <p:slideViewPr>
    <p:cSldViewPr>
      <p:cViewPr varScale="1">
        <p:scale>
          <a:sx n="69" d="100"/>
          <a:sy n="69" d="100"/>
        </p:scale>
        <p:origin x="84" y="2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326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BF139-90DC-4FF0-8412-8BDB98E10959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545D3-5722-49E9-BAD8-9634C33E78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89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固态</a:t>
            </a:r>
            <a:r>
              <a:rPr lang="zh-CN" altLang="en-US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像石头、钢铁等具有一定的形状和体积，不能流动</a:t>
            </a:r>
          </a:p>
          <a:p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液态</a:t>
            </a:r>
            <a:r>
              <a:rPr lang="zh-CN" altLang="en-US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像酒精、煤油等具有流动性，没有固定的形状</a:t>
            </a:r>
          </a:p>
          <a:p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气态</a:t>
            </a:r>
            <a:r>
              <a:rPr lang="zh-CN" altLang="en-US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像空气等具有流动性，没有固定的形状和体积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545D3-5722-49E9-BAD8-9634C33E78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617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927765"/>
            <a:ext cx="6858000" cy="153569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90309"/>
            <a:ext cx="6858000" cy="602673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777BD-52F3-477E-9E7F-18E6FB0F1A13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43001" y="5527962"/>
            <a:ext cx="6857999" cy="536400"/>
          </a:xfrm>
          <a:prstGeom prst="rect">
            <a:avLst/>
          </a:prstGeom>
          <a:blipFill dpi="0" rotWithShape="1">
            <a:blip r:embed="rId3"/>
            <a:srcRect/>
            <a:stretch>
              <a:fillRect t="-2000"/>
            </a:stretch>
          </a:blipFill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indent="0" algn="ctr" defTabSz="91440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None/>
              <a:defRPr sz="1800" baseline="0">
                <a:solidFill>
                  <a:schemeClr val="accent3"/>
                </a:solidFill>
                <a:effectLst/>
                <a:latin typeface="+mj-lt"/>
                <a:ea typeface="+mj-ea"/>
              </a:defRPr>
            </a:lvl1pPr>
            <a:lvl2pPr indent="0" algn="ctr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2000">
                <a:latin typeface="+mn-lt"/>
                <a:ea typeface="+mn-ea"/>
              </a:defRPr>
            </a:lvl2pPr>
            <a:lvl3pPr indent="0" algn="ctr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800">
                <a:latin typeface="+mn-lt"/>
                <a:ea typeface="+mn-ea"/>
              </a:defRPr>
            </a:lvl3pPr>
            <a:lvl4pPr indent="0" algn="ctr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4pPr>
            <a:lvl5pPr indent="0" algn="ctr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>
                <a:latin typeface="+mn-lt"/>
                <a:ea typeface="+mn-ea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752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671F0-BC2A-495F-AEDA-9B0C15324B2C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7224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388920" y="623075"/>
            <a:ext cx="2407227" cy="5026063"/>
            <a:chOff x="2921000" y="904098"/>
            <a:chExt cx="2387600" cy="3738813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3668184" y="904098"/>
              <a:ext cx="1640416" cy="1839369"/>
            </a:xfrm>
            <a:prstGeom prst="line">
              <a:avLst/>
            </a:prstGeom>
            <a:noFill/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2921000" y="1883836"/>
              <a:ext cx="2387600" cy="2759075"/>
            </a:xfrm>
            <a:prstGeom prst="line">
              <a:avLst/>
            </a:prstGeom>
            <a:noFill/>
            <a:ln w="635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 flipH="1">
              <a:off x="3210984" y="2904598"/>
              <a:ext cx="1066800" cy="1155700"/>
            </a:xfrm>
            <a:prstGeom prst="line">
              <a:avLst/>
            </a:prstGeom>
            <a:noFill/>
            <a:ln w="63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230" y="2132856"/>
            <a:ext cx="5367845" cy="1330036"/>
          </a:xfrm>
        </p:spPr>
        <p:txBody>
          <a:bodyPr anchor="ctr" anchorCtr="0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26F5-F818-4B4D-A1AD-820125F784E6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483768" y="3674770"/>
            <a:ext cx="6120680" cy="238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95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4001"/>
            <a:ext cx="3886200" cy="465296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4001"/>
            <a:ext cx="3886200" cy="465296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E4B8-560D-4B8A-B69A-3D659E685E66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6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14935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3544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3544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4229-EA4F-4283-8EB0-E31D67AC0F9C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0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2222777" y="1210397"/>
            <a:ext cx="4698446" cy="4437206"/>
            <a:chOff x="2481952" y="2226154"/>
            <a:chExt cx="4471298" cy="3167016"/>
          </a:xfrm>
        </p:grpSpPr>
        <p:sp>
          <p:nvSpPr>
            <p:cNvPr id="18" name="矩形 17"/>
            <p:cNvSpPr/>
            <p:nvPr/>
          </p:nvSpPr>
          <p:spPr>
            <a:xfrm rot="225092">
              <a:off x="2564502" y="3297717"/>
              <a:ext cx="4332288" cy="72548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 rot="21197296">
              <a:off x="3059802" y="2357917"/>
              <a:ext cx="3341688" cy="7239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rot="225092">
              <a:off x="2481952" y="3196117"/>
              <a:ext cx="4333875" cy="72390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dirty="0">
                <a:solidFill>
                  <a:schemeClr val="bg1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rot="21197296">
              <a:off x="2972490" y="2226154"/>
              <a:ext cx="3343275" cy="725488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>
              <a:outerShdw blurRad="25400" dist="127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800" dirty="0">
                <a:solidFill>
                  <a:srgbClr val="FFFFFF"/>
                </a:solidFill>
                <a:cs typeface="Verdana" pitchFamily="34" charset="0"/>
              </a:endParaRPr>
            </a:p>
          </p:txBody>
        </p:sp>
        <p:sp>
          <p:nvSpPr>
            <p:cNvPr id="22" name="KSO_CT2"/>
            <p:cNvSpPr txBox="1"/>
            <p:nvPr/>
          </p:nvSpPr>
          <p:spPr>
            <a:xfrm rot="240000">
              <a:off x="2482452" y="3194929"/>
              <a:ext cx="4334400" cy="723600"/>
            </a:xfrm>
            <a:prstGeom prst="rect">
              <a:avLst/>
            </a:prstGeom>
            <a:noFill/>
          </p:spPr>
          <p:txBody>
            <a:bodyPr vert="horz" lIns="0" tIns="0" rIns="0" bIns="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110000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accent3">
                    <a:lumMod val="75000"/>
                  </a:schemeClr>
                </a:buClr>
                <a:buSzPct val="70000"/>
                <a:buFont typeface="Wingdings 2" pitchFamily="18" charset="2"/>
                <a:buNone/>
                <a:defRPr sz="4400" kern="1200" baseline="0">
                  <a:solidFill>
                    <a:schemeClr val="bg1"/>
                  </a:solidFill>
                  <a:effectLst/>
                  <a:latin typeface="+mj-lt"/>
                  <a:ea typeface="+mj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accent2">
                    <a:lumMod val="60000"/>
                    <a:lumOff val="40000"/>
                  </a:schemeClr>
                </a:buClr>
                <a:buFont typeface="幼圆" pitchFamily="49" charset="-122"/>
                <a:buNone/>
                <a:defRPr sz="2000" kern="1200" baseline="0">
                  <a:solidFill>
                    <a:srgbClr val="7D7D7D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 smtClean="0"/>
            </a:p>
          </p:txBody>
        </p:sp>
        <p:sp>
          <p:nvSpPr>
            <p:cNvPr id="23" name="KSO_BT1"/>
            <p:cNvSpPr txBox="1"/>
            <p:nvPr/>
          </p:nvSpPr>
          <p:spPr>
            <a:xfrm rot="21180000">
              <a:off x="2972052" y="2226529"/>
              <a:ext cx="3344400" cy="727200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00" b="1" i="0" kern="1200" baseline="0">
                  <a:solidFill>
                    <a:schemeClr val="bg1"/>
                  </a:solidFill>
                  <a:effectLst/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Aft>
                  <a:spcPts val="0"/>
                </a:spcAft>
              </a:pPr>
              <a:endParaRPr lang="en-US" dirty="0"/>
            </a:p>
          </p:txBody>
        </p:sp>
        <p:sp>
          <p:nvSpPr>
            <p:cNvPr id="12" name="矩形 11"/>
            <p:cNvSpPr/>
            <p:nvPr>
              <p:custDataLst>
                <p:tags r:id="rId1"/>
              </p:custDataLst>
            </p:nvPr>
          </p:nvSpPr>
          <p:spPr>
            <a:xfrm rot="518391">
              <a:off x="2716213" y="4799445"/>
              <a:ext cx="3343275" cy="59372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2"/>
              </p:custDataLst>
            </p:nvPr>
          </p:nvSpPr>
          <p:spPr>
            <a:xfrm rot="21396991">
              <a:off x="3603625" y="4362883"/>
              <a:ext cx="3349625" cy="59372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3"/>
              </p:custDataLst>
            </p:nvPr>
          </p:nvSpPr>
          <p:spPr>
            <a:xfrm rot="21396991">
              <a:off x="3521075" y="4261283"/>
              <a:ext cx="3349625" cy="59372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>
              <a:outerShdw blurRad="25400" dist="12700" dir="189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 rot="518391">
              <a:off x="2652713" y="4728008"/>
              <a:ext cx="3344862" cy="592137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>
              <a:outerShdw blurRad="25400" dist="12700" dir="16200000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>
                <a:solidFill>
                  <a:srgbClr val="FFFFFF"/>
                </a:solidFill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7864-380A-4631-85CE-CA1D49D8EF26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21184738">
            <a:off x="2733682" y="1195279"/>
            <a:ext cx="3560069" cy="1033039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8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F891-3C0D-4740-A1B0-059B1EBC6D1A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9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472357" y="171983"/>
            <a:ext cx="3430646" cy="2357864"/>
            <a:chOff x="487713" y="115795"/>
            <a:chExt cx="5303739" cy="2733937"/>
          </a:xfrm>
        </p:grpSpPr>
        <p:sp>
          <p:nvSpPr>
            <p:cNvPr id="25" name="矩形 24"/>
            <p:cNvSpPr/>
            <p:nvPr/>
          </p:nvSpPr>
          <p:spPr>
            <a:xfrm>
              <a:off x="2889434" y="942412"/>
              <a:ext cx="603200" cy="633032"/>
            </a:xfrm>
            <a:prstGeom prst="rect">
              <a:avLst/>
            </a:prstGeom>
            <a:solidFill>
              <a:schemeClr val="accent2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2077434" y="1416358"/>
              <a:ext cx="694344" cy="762291"/>
            </a:xfrm>
            <a:prstGeom prst="rect">
              <a:avLst/>
            </a:prstGeom>
            <a:solidFill>
              <a:schemeClr val="accent3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327600" y="284088"/>
              <a:ext cx="238133" cy="248573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55000" lnSpcReduction="20000"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3376992" y="1667084"/>
              <a:ext cx="1143429" cy="11826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4710994" y="1229595"/>
              <a:ext cx="1080458" cy="10837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1823891" y="367382"/>
              <a:ext cx="947887" cy="8998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487713" y="115795"/>
              <a:ext cx="176819" cy="184570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685525" y="2920072"/>
            <a:ext cx="1164561" cy="3771673"/>
            <a:chOff x="7503588" y="3086327"/>
            <a:chExt cx="1552748" cy="3771673"/>
          </a:xfrm>
        </p:grpSpPr>
        <p:sp>
          <p:nvSpPr>
            <p:cNvPr id="21" name="矩形 20"/>
            <p:cNvSpPr/>
            <p:nvPr/>
          </p:nvSpPr>
          <p:spPr>
            <a:xfrm>
              <a:off x="7503588" y="4103818"/>
              <a:ext cx="792117" cy="775546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7612959" y="5525652"/>
              <a:ext cx="611488" cy="639660"/>
            </a:xfrm>
            <a:prstGeom prst="rect">
              <a:avLst/>
            </a:prstGeom>
            <a:solidFill>
              <a:schemeClr val="accent4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7612959" y="6218340"/>
              <a:ext cx="611488" cy="63966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8295705" y="6218340"/>
              <a:ext cx="611488" cy="639660"/>
            </a:xfrm>
            <a:prstGeom prst="rect">
              <a:avLst/>
            </a:prstGeom>
            <a:solidFill>
              <a:schemeClr val="accent3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8661106" y="5223030"/>
              <a:ext cx="395230" cy="43187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7844080" y="3086327"/>
              <a:ext cx="238134" cy="248572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62500" lnSpcReduction="20000"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029" y="2529847"/>
            <a:ext cx="3943957" cy="1573971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26985" y="1694081"/>
            <a:ext cx="3353800" cy="4538227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029" y="4174411"/>
            <a:ext cx="3721079" cy="212848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99B8B042-B549-4D18-932B-657949F57F6B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07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3790" y="365125"/>
            <a:ext cx="105156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7512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B1D8-5196-4FAD-A065-C259EB0BA22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073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</p:spPr>
        <p:txBody>
          <a:bodyPr/>
          <a:lstStyle/>
          <a:p>
            <a:fld id="{D5BEB1D8-5196-4FAD-A065-C259EB0BA22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</p:spPr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内容占位符 7"/>
          <p:cNvSpPr>
            <a:spLocks noGrp="1"/>
          </p:cNvSpPr>
          <p:nvPr>
            <p:ph sz="quarter" idx="13"/>
          </p:nvPr>
        </p:nvSpPr>
        <p:spPr>
          <a:xfrm>
            <a:off x="628651" y="571504"/>
            <a:ext cx="7886701" cy="56499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21255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D5BEB1D8-5196-4FAD-A065-C259EB0BA22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4551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1675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B1D8-5196-4FAD-A065-C259EB0BA22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29031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28650" y="365126"/>
            <a:ext cx="7886700" cy="945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28650" y="1508761"/>
            <a:ext cx="7886700" cy="466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EB1D8-5196-4FAD-A065-C259EB0BA22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5AB0D-EE29-44E2-81B6-22CC682E6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879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914400" rtl="0" eaLnBrk="1" latinLnBrk="0" hangingPunct="1">
        <a:lnSpc>
          <a:spcPct val="90000"/>
        </a:lnSpc>
        <a:spcBef>
          <a:spcPts val="1000"/>
        </a:spcBef>
        <a:buClr>
          <a:schemeClr val="accent3">
            <a:lumMod val="75000"/>
          </a:schemeClr>
        </a:buClr>
        <a:buFont typeface="Wingdings" pitchFamily="2" charset="2"/>
        <a:buChar char="¤"/>
        <a:defRPr sz="2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800100" indent="-342900" algn="just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just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just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just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第一章  物态及其变化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第三小组 小曾 小张</a:t>
            </a:r>
            <a:endParaRPr lang="en-US" altLang="zh-CN" dirty="0"/>
          </a:p>
          <a:p>
            <a:r>
              <a:rPr lang="en-US" altLang="zh-CN" dirty="0"/>
              <a:t>2020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611640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>
              <a:buNone/>
            </a:pPr>
            <a:r>
              <a:rPr lang="zh-CN" altLang="en-US" sz="3600" dirty="0"/>
              <a:t>一、物态变化 、温度</a:t>
            </a:r>
            <a:endParaRPr lang="en-US" altLang="zh-CN" sz="3600" dirty="0"/>
          </a:p>
          <a:p>
            <a:pPr marL="400050" lvl="1" indent="0">
              <a:buNone/>
            </a:pPr>
            <a:r>
              <a:rPr lang="zh-CN" altLang="en-US" sz="3600" dirty="0"/>
              <a:t>二、熔化和凝固</a:t>
            </a:r>
            <a:endParaRPr lang="en-US" altLang="zh-CN" sz="3600" dirty="0"/>
          </a:p>
          <a:p>
            <a:pPr marL="400050" lvl="1" indent="0">
              <a:buNone/>
            </a:pPr>
            <a:r>
              <a:rPr lang="zh-CN" altLang="en-US" sz="3600" dirty="0"/>
              <a:t>三、汽化和液化</a:t>
            </a:r>
            <a:endParaRPr lang="en-US" altLang="zh-CN" sz="3600" dirty="0"/>
          </a:p>
          <a:p>
            <a:pPr marL="400050" lvl="1" indent="0">
              <a:buNone/>
            </a:pPr>
            <a:r>
              <a:rPr lang="zh-CN" altLang="en-US" sz="3600" dirty="0"/>
              <a:t>四、升华和凝华</a:t>
            </a:r>
            <a:endParaRPr lang="en-US" altLang="zh-CN" sz="3600" dirty="0"/>
          </a:p>
          <a:p>
            <a:pPr marL="400050" lvl="1" indent="0">
              <a:buNone/>
            </a:pPr>
            <a:r>
              <a:rPr lang="zh-CN" altLang="en-US" sz="3600" dirty="0"/>
              <a:t>五、生活和技术中的物态变化</a:t>
            </a:r>
          </a:p>
        </p:txBody>
      </p:sp>
      <p:pic>
        <p:nvPicPr>
          <p:cNvPr id="4" name="Picture 2" descr="C:\Program Files (x86)\Microsoft Office\MEDIA\CAGCAT10\j0240695.wmf">
            <a:extLst>
              <a:ext uri="{FF2B5EF4-FFF2-40B4-BE49-F238E27FC236}">
                <a16:creationId xmlns:a16="http://schemas.microsoft.com/office/drawing/2014/main" id="{D34288D2-8CE5-4837-9A8A-DBEDC97E2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" y="0"/>
            <a:ext cx="2592288" cy="207564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45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一、物态变化、温度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9632" y="1700808"/>
            <a:ext cx="6707088" cy="3456384"/>
          </a:xfrm>
        </p:spPr>
        <p:txBody>
          <a:bodyPr/>
          <a:lstStyle/>
          <a:p>
            <a:r>
              <a:rPr lang="zh-CN" altLang="en-US" dirty="0"/>
              <a:t>知识点一  物态及其变化</a:t>
            </a:r>
            <a:endParaRPr lang="en-US" altLang="zh-CN" dirty="0"/>
          </a:p>
          <a:p>
            <a:pPr lvl="1"/>
            <a:r>
              <a:rPr lang="zh-CN" altLang="en-US" dirty="0"/>
              <a:t>物质的状态</a:t>
            </a:r>
            <a:endParaRPr lang="en-US" altLang="zh-CN" dirty="0"/>
          </a:p>
          <a:p>
            <a:pPr lvl="1"/>
            <a:r>
              <a:rPr lang="zh-CN" altLang="en-US" dirty="0"/>
              <a:t>物态变化</a:t>
            </a:r>
            <a:endParaRPr lang="en-US" altLang="zh-CN" dirty="0"/>
          </a:p>
          <a:p>
            <a:pPr lvl="1"/>
            <a:r>
              <a:rPr lang="zh-CN" altLang="en-US" dirty="0"/>
              <a:t>物态变化的原因</a:t>
            </a:r>
            <a:endParaRPr lang="en-US" altLang="zh-CN" dirty="0"/>
          </a:p>
          <a:p>
            <a:r>
              <a:rPr lang="zh-CN" altLang="en-US" dirty="0"/>
              <a:t>知识点二  温度</a:t>
            </a:r>
            <a:endParaRPr lang="en-US" altLang="zh-CN" dirty="0"/>
          </a:p>
          <a:p>
            <a:r>
              <a:rPr lang="zh-CN" altLang="en-US" dirty="0"/>
              <a:t>知识点三  温度计</a:t>
            </a:r>
            <a:endParaRPr lang="en-US" altLang="zh-CN" dirty="0"/>
          </a:p>
        </p:txBody>
      </p:sp>
      <p:pic>
        <p:nvPicPr>
          <p:cNvPr id="3075" name="Picture 3" descr="C:\Program Files (x86)\Microsoft Office\MEDIA\CAGCAT10\j0293828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522304"/>
            <a:ext cx="2176723" cy="183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49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二、熔化和凝固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9380" y="1700808"/>
            <a:ext cx="7446513" cy="4133056"/>
          </a:xfrm>
        </p:spPr>
        <p:txBody>
          <a:bodyPr/>
          <a:lstStyle/>
          <a:p>
            <a:r>
              <a:rPr lang="zh-CN" altLang="en-US" dirty="0"/>
              <a:t>知识点一  熔化和凝固的概念</a:t>
            </a:r>
            <a:endParaRPr lang="en-US" altLang="zh-CN" dirty="0"/>
          </a:p>
          <a:p>
            <a:r>
              <a:rPr lang="zh-CN" altLang="en-US" dirty="0"/>
              <a:t>知识点二  熔化的条件及特点</a:t>
            </a:r>
            <a:endParaRPr lang="en-US" altLang="zh-CN" dirty="0"/>
          </a:p>
          <a:p>
            <a:pPr lvl="1"/>
            <a:r>
              <a:rPr lang="zh-CN" altLang="en-US" dirty="0"/>
              <a:t>熔点</a:t>
            </a:r>
            <a:endParaRPr lang="en-US" altLang="zh-CN" dirty="0"/>
          </a:p>
          <a:p>
            <a:pPr lvl="1"/>
            <a:r>
              <a:rPr lang="zh-CN" altLang="en-US" dirty="0"/>
              <a:t>晶体与非晶体的熔化</a:t>
            </a:r>
            <a:endParaRPr lang="en-US" altLang="zh-CN" dirty="0"/>
          </a:p>
          <a:p>
            <a:r>
              <a:rPr lang="zh-CN" altLang="en-US" dirty="0"/>
              <a:t>知识点三  凝固的条件及特点</a:t>
            </a:r>
            <a:endParaRPr lang="en-US" altLang="zh-CN" dirty="0"/>
          </a:p>
          <a:p>
            <a:pPr lvl="1"/>
            <a:r>
              <a:rPr lang="zh-CN" altLang="en-US" dirty="0"/>
              <a:t>同种晶体的凝固过程与熔化过程相反</a:t>
            </a:r>
            <a:endParaRPr lang="en-US" altLang="zh-CN" dirty="0"/>
          </a:p>
          <a:p>
            <a:pPr lvl="1"/>
            <a:r>
              <a:rPr lang="zh-CN" altLang="en-US" dirty="0"/>
              <a:t>晶体与非晶体的凝固</a:t>
            </a:r>
          </a:p>
        </p:txBody>
      </p:sp>
    </p:spTree>
    <p:extLst>
      <p:ext uri="{BB962C8B-B14F-4D97-AF65-F5344CB8AC3E}">
        <p14:creationId xmlns:p14="http://schemas.microsoft.com/office/powerpoint/2010/main" val="14175914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4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4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47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198_27*i*0"/>
  <p:tag name="KSO_WM_TEMPLATE_CATEGORY" val="custom"/>
  <p:tag name="KSO_WM_TEMPLATE_INDEX" val="19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198_27*i*1"/>
  <p:tag name="KSO_WM_TEMPLATE_CATEGORY" val="custom"/>
  <p:tag name="KSO_WM_TEMPLATE_INDEX" val="19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198_27*i*2"/>
  <p:tag name="KSO_WM_TEMPLATE_CATEGORY" val="custom"/>
  <p:tag name="KSO_WM_TEMPLATE_INDEX" val="19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198_27*i*3"/>
  <p:tag name="KSO_WM_TEMPLATE_CATEGORY" val="custom"/>
  <p:tag name="KSO_WM_TEMPLATE_INDEX" val="198"/>
</p:tagLst>
</file>

<file path=ppt/theme/theme1.xml><?xml version="1.0" encoding="utf-8"?>
<a:theme xmlns:a="http://schemas.openxmlformats.org/drawingml/2006/main" name="五彩缤纷">
  <a:themeElements>
    <a:clrScheme name="160198.198">
      <a:dk1>
        <a:srgbClr val="3D3F41"/>
      </a:dk1>
      <a:lt1>
        <a:srgbClr val="FFFFFF"/>
      </a:lt1>
      <a:dk2>
        <a:srgbClr val="454749"/>
      </a:dk2>
      <a:lt2>
        <a:srgbClr val="FFFFFF"/>
      </a:lt2>
      <a:accent1>
        <a:srgbClr val="307EAE"/>
      </a:accent1>
      <a:accent2>
        <a:srgbClr val="25B7EC"/>
      </a:accent2>
      <a:accent3>
        <a:srgbClr val="5DBFAD"/>
      </a:accent3>
      <a:accent4>
        <a:srgbClr val="A6A081"/>
      </a:accent4>
      <a:accent5>
        <a:srgbClr val="7479AB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五彩缤纷</Template>
  <TotalTime>1096</TotalTime>
  <Words>169</Words>
  <Application>Microsoft Office PowerPoint</Application>
  <PresentationFormat>全屏显示(4:3)</PresentationFormat>
  <Paragraphs>28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黑体</vt:lpstr>
      <vt:lpstr>华文楷体</vt:lpstr>
      <vt:lpstr>宋体</vt:lpstr>
      <vt:lpstr>Arial</vt:lpstr>
      <vt:lpstr>Calibri</vt:lpstr>
      <vt:lpstr>Verdana</vt:lpstr>
      <vt:lpstr>Wingdings</vt:lpstr>
      <vt:lpstr>Wingdings 2</vt:lpstr>
      <vt:lpstr>五彩缤纷</vt:lpstr>
      <vt:lpstr>第一章  物态及其变化</vt:lpstr>
      <vt:lpstr>本章主要内容</vt:lpstr>
      <vt:lpstr>一、物态变化、温度</vt:lpstr>
      <vt:lpstr>二、熔化和凝固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物态及其变化</dc:title>
  <dc:creator>jiyan</dc:creator>
  <cp:lastModifiedBy>Windows 用户11</cp:lastModifiedBy>
  <cp:revision>34</cp:revision>
  <dcterms:created xsi:type="dcterms:W3CDTF">2013-09-13T02:40:08Z</dcterms:created>
  <dcterms:modified xsi:type="dcterms:W3CDTF">2021-04-10T01:17:46Z</dcterms:modified>
</cp:coreProperties>
</file>