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3" r:id="rId2"/>
  </p:sldMasterIdLst>
  <p:notesMasterIdLst>
    <p:notesMasterId r:id="rId13"/>
  </p:notesMasterIdLst>
  <p:sldIdLst>
    <p:sldId id="256" r:id="rId3"/>
    <p:sldId id="257" r:id="rId4"/>
    <p:sldId id="258" r:id="rId5"/>
    <p:sldId id="264" r:id="rId6"/>
    <p:sldId id="259" r:id="rId7"/>
    <p:sldId id="260" r:id="rId8"/>
    <p:sldId id="261" r:id="rId9"/>
    <p:sldId id="265" r:id="rId10"/>
    <p:sldId id="262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86910" autoAdjust="0"/>
  </p:normalViewPr>
  <p:slideViewPr>
    <p:cSldViewPr snapToGrid="0">
      <p:cViewPr varScale="1">
        <p:scale>
          <a:sx n="53" d="100"/>
          <a:sy n="53" d="100"/>
        </p:scale>
        <p:origin x="7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5EF16F-3BAA-46A7-88C5-12009103D308}" type="doc">
      <dgm:prSet loTypeId="urn:microsoft.com/office/officeart/2005/8/layout/cycle7" loCatId="cycle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A910ADB1-0AA6-4F73-9638-039F770AE219}">
      <dgm:prSet phldrT="[文本]"/>
      <dgm:spPr/>
      <dgm:t>
        <a:bodyPr/>
        <a:lstStyle/>
        <a:p>
          <a:r>
            <a:rPr lang="zh-CN" altLang="en-US" dirty="0" smtClean="0"/>
            <a:t>固态</a:t>
          </a:r>
          <a:endParaRPr lang="zh-CN" altLang="en-US" dirty="0"/>
        </a:p>
      </dgm:t>
    </dgm:pt>
    <dgm:pt modelId="{E5C0B907-0AE4-4FFE-9E0D-489D133FDFB5}" type="parTrans" cxnId="{91C65985-7AEC-4205-89EF-8CF3744DAAA7}">
      <dgm:prSet/>
      <dgm:spPr/>
      <dgm:t>
        <a:bodyPr/>
        <a:lstStyle/>
        <a:p>
          <a:endParaRPr lang="zh-CN" altLang="en-US"/>
        </a:p>
      </dgm:t>
    </dgm:pt>
    <dgm:pt modelId="{B7223D99-5AC1-49B9-A359-F6EA064808DC}" type="sibTrans" cxnId="{91C65985-7AEC-4205-89EF-8CF3744DAAA7}">
      <dgm:prSet/>
      <dgm:spPr/>
      <dgm:t>
        <a:bodyPr/>
        <a:lstStyle/>
        <a:p>
          <a:endParaRPr lang="zh-CN" altLang="en-US"/>
        </a:p>
      </dgm:t>
    </dgm:pt>
    <dgm:pt modelId="{A4718D94-BB37-4C60-82A8-A9967576EC59}">
      <dgm:prSet/>
      <dgm:spPr/>
      <dgm:t>
        <a:bodyPr/>
        <a:lstStyle/>
        <a:p>
          <a:r>
            <a:rPr lang="zh-CN" altLang="en-US" dirty="0" smtClean="0"/>
            <a:t>液态</a:t>
          </a:r>
          <a:endParaRPr lang="zh-CN" altLang="en-US" dirty="0"/>
        </a:p>
      </dgm:t>
    </dgm:pt>
    <dgm:pt modelId="{2C76F5A8-4EE6-4180-BCB3-5A901201F449}" type="parTrans" cxnId="{0C6AB60D-6ACB-4D8F-862E-B290B3977100}">
      <dgm:prSet/>
      <dgm:spPr/>
      <dgm:t>
        <a:bodyPr/>
        <a:lstStyle/>
        <a:p>
          <a:endParaRPr lang="zh-CN" altLang="en-US"/>
        </a:p>
      </dgm:t>
    </dgm:pt>
    <dgm:pt modelId="{0F58C56D-6CB3-43C7-A604-D8A5495F2018}" type="sibTrans" cxnId="{0C6AB60D-6ACB-4D8F-862E-B290B3977100}">
      <dgm:prSet/>
      <dgm:spPr/>
      <dgm:t>
        <a:bodyPr/>
        <a:lstStyle/>
        <a:p>
          <a:endParaRPr lang="zh-CN" altLang="en-US"/>
        </a:p>
      </dgm:t>
    </dgm:pt>
    <dgm:pt modelId="{60141BDD-8876-497D-A868-24F5A8C14EE0}">
      <dgm:prSet/>
      <dgm:spPr/>
      <dgm:t>
        <a:bodyPr/>
        <a:lstStyle/>
        <a:p>
          <a:r>
            <a:rPr lang="zh-CN" altLang="en-US" dirty="0" smtClean="0"/>
            <a:t>气态</a:t>
          </a:r>
          <a:endParaRPr lang="zh-CN" altLang="en-US" dirty="0"/>
        </a:p>
      </dgm:t>
    </dgm:pt>
    <dgm:pt modelId="{31483F6F-D8E3-4D3E-BC6A-23BCD234F544}" type="parTrans" cxnId="{52EDE986-5D9A-4AC8-884E-5EB41B3E3279}">
      <dgm:prSet/>
      <dgm:spPr/>
      <dgm:t>
        <a:bodyPr/>
        <a:lstStyle/>
        <a:p>
          <a:endParaRPr lang="zh-CN" altLang="en-US"/>
        </a:p>
      </dgm:t>
    </dgm:pt>
    <dgm:pt modelId="{34ED53BC-147C-409D-8BA3-D0C4FF757909}" type="sibTrans" cxnId="{52EDE986-5D9A-4AC8-884E-5EB41B3E3279}">
      <dgm:prSet/>
      <dgm:spPr/>
      <dgm:t>
        <a:bodyPr/>
        <a:lstStyle/>
        <a:p>
          <a:endParaRPr lang="zh-CN" altLang="en-US"/>
        </a:p>
      </dgm:t>
    </dgm:pt>
    <dgm:pt modelId="{2A2FFCA7-0BC2-4B75-B3B5-F03C5C6AB8BD}">
      <dgm:prSet phldrT="[文本]"/>
      <dgm:spPr/>
      <dgm:t>
        <a:bodyPr/>
        <a:lstStyle/>
        <a:p>
          <a:r>
            <a:rPr lang="zh-CN" altLang="en-US" smtClean="0"/>
            <a:t>像</a:t>
          </a:r>
          <a:r>
            <a:rPr lang="zh-CN" altLang="en-US" dirty="0" smtClean="0"/>
            <a:t>石头、钢铁等具有一定的形状和体积，不能流动</a:t>
          </a:r>
          <a:endParaRPr lang="zh-CN" altLang="en-US" dirty="0"/>
        </a:p>
      </dgm:t>
    </dgm:pt>
    <dgm:pt modelId="{8DD82DFB-5837-44DD-9F35-5A56370896AB}" type="parTrans" cxnId="{AE7E7A0C-2639-403B-9B3E-4973735FF74A}">
      <dgm:prSet/>
      <dgm:spPr/>
      <dgm:t>
        <a:bodyPr/>
        <a:lstStyle/>
        <a:p>
          <a:endParaRPr lang="zh-CN" altLang="en-US"/>
        </a:p>
      </dgm:t>
    </dgm:pt>
    <dgm:pt modelId="{D5116754-62A4-408A-8791-E2AEF463A006}" type="sibTrans" cxnId="{AE7E7A0C-2639-403B-9B3E-4973735FF74A}">
      <dgm:prSet/>
      <dgm:spPr/>
      <dgm:t>
        <a:bodyPr/>
        <a:lstStyle/>
        <a:p>
          <a:endParaRPr lang="zh-CN" altLang="en-US"/>
        </a:p>
      </dgm:t>
    </dgm:pt>
    <dgm:pt modelId="{A81FA660-6022-4940-986D-0DED32860783}">
      <dgm:prSet/>
      <dgm:spPr/>
      <dgm:t>
        <a:bodyPr/>
        <a:lstStyle/>
        <a:p>
          <a:r>
            <a:rPr lang="zh-CN" altLang="en-US" smtClean="0"/>
            <a:t>像</a:t>
          </a:r>
          <a:r>
            <a:rPr lang="zh-CN" altLang="en-US" dirty="0" smtClean="0"/>
            <a:t>酒精、煤油等具有流动性，没有固定的形状</a:t>
          </a:r>
          <a:endParaRPr lang="zh-CN" altLang="en-US" dirty="0"/>
        </a:p>
      </dgm:t>
    </dgm:pt>
    <dgm:pt modelId="{06A254B6-5530-4956-BA23-054E482DCF01}" type="parTrans" cxnId="{3EF6DBF4-76D8-4D82-8413-4AFD2359DABA}">
      <dgm:prSet/>
      <dgm:spPr/>
      <dgm:t>
        <a:bodyPr/>
        <a:lstStyle/>
        <a:p>
          <a:endParaRPr lang="zh-CN" altLang="en-US"/>
        </a:p>
      </dgm:t>
    </dgm:pt>
    <dgm:pt modelId="{85561034-F53D-4758-828B-02FB95FCA654}" type="sibTrans" cxnId="{3EF6DBF4-76D8-4D82-8413-4AFD2359DABA}">
      <dgm:prSet/>
      <dgm:spPr/>
      <dgm:t>
        <a:bodyPr/>
        <a:lstStyle/>
        <a:p>
          <a:endParaRPr lang="zh-CN" altLang="en-US"/>
        </a:p>
      </dgm:t>
    </dgm:pt>
    <dgm:pt modelId="{D10D679A-4C4B-44DF-A008-84FE5F0A1422}">
      <dgm:prSet/>
      <dgm:spPr/>
      <dgm:t>
        <a:bodyPr/>
        <a:lstStyle/>
        <a:p>
          <a:r>
            <a:rPr lang="zh-CN" altLang="en-US" dirty="0" smtClean="0"/>
            <a:t>像空气等具有流动性，没有固定的形状和体积</a:t>
          </a:r>
          <a:endParaRPr lang="zh-CN" altLang="en-US" dirty="0"/>
        </a:p>
      </dgm:t>
    </dgm:pt>
    <dgm:pt modelId="{E7947CA9-FF0B-4638-B4E8-262D7B5CA572}" type="parTrans" cxnId="{D1E49DC1-D9EF-4F10-B662-CF72835619BE}">
      <dgm:prSet/>
      <dgm:spPr/>
      <dgm:t>
        <a:bodyPr/>
        <a:lstStyle/>
        <a:p>
          <a:endParaRPr lang="zh-CN" altLang="en-US"/>
        </a:p>
      </dgm:t>
    </dgm:pt>
    <dgm:pt modelId="{3B362348-6215-4A20-B28E-7FDC5037640D}" type="sibTrans" cxnId="{D1E49DC1-D9EF-4F10-B662-CF72835619BE}">
      <dgm:prSet/>
      <dgm:spPr/>
      <dgm:t>
        <a:bodyPr/>
        <a:lstStyle/>
        <a:p>
          <a:endParaRPr lang="zh-CN" altLang="en-US"/>
        </a:p>
      </dgm:t>
    </dgm:pt>
    <dgm:pt modelId="{F2CBB1A7-0D18-46ED-A07C-A190305E4605}" type="pres">
      <dgm:prSet presAssocID="{625EF16F-3BAA-46A7-88C5-12009103D308}" presName="Name0" presStyleCnt="0">
        <dgm:presLayoutVars>
          <dgm:dir/>
          <dgm:resizeHandles val="exact"/>
        </dgm:presLayoutVars>
      </dgm:prSet>
      <dgm:spPr/>
    </dgm:pt>
    <dgm:pt modelId="{05B4B1FC-F3B9-418C-A25A-B047B7EDBA35}" type="pres">
      <dgm:prSet presAssocID="{A910ADB1-0AA6-4F73-9638-039F770AE219}" presName="node" presStyleLbl="node1" presStyleIdx="0" presStyleCnt="3">
        <dgm:presLayoutVars>
          <dgm:bulletEnabled val="1"/>
        </dgm:presLayoutVars>
      </dgm:prSet>
      <dgm:spPr>
        <a:prstGeom prst="snip2DiagRect">
          <a:avLst/>
        </a:prstGeom>
      </dgm:spPr>
      <dgm:t>
        <a:bodyPr/>
        <a:lstStyle/>
        <a:p>
          <a:endParaRPr lang="zh-CN" altLang="en-US"/>
        </a:p>
      </dgm:t>
    </dgm:pt>
    <dgm:pt modelId="{9B4EE759-AE1C-4669-9DC1-A811D406E251}" type="pres">
      <dgm:prSet presAssocID="{B7223D99-5AC1-49B9-A359-F6EA064808DC}" presName="sibTrans" presStyleLbl="sibTrans2D1" presStyleIdx="0" presStyleCnt="3"/>
      <dgm:spPr/>
    </dgm:pt>
    <dgm:pt modelId="{7D6C7FE6-15F4-4928-B0AB-4F568BBCB24E}" type="pres">
      <dgm:prSet presAssocID="{B7223D99-5AC1-49B9-A359-F6EA064808DC}" presName="connectorText" presStyleLbl="sibTrans2D1" presStyleIdx="0" presStyleCnt="3"/>
      <dgm:spPr/>
    </dgm:pt>
    <dgm:pt modelId="{C50073BC-F65E-4022-9963-EB01883CE2DF}" type="pres">
      <dgm:prSet presAssocID="{A4718D94-BB37-4C60-82A8-A9967576EC59}" presName="node" presStyleLbl="node1" presStyleIdx="1" presStyleCnt="3">
        <dgm:presLayoutVars>
          <dgm:bulletEnabled val="1"/>
        </dgm:presLayoutVars>
      </dgm:prSet>
      <dgm:spPr>
        <a:prstGeom prst="teardrop">
          <a:avLst/>
        </a:prstGeom>
      </dgm:spPr>
    </dgm:pt>
    <dgm:pt modelId="{89E680E9-A390-4C9F-B9B6-8147E35836E1}" type="pres">
      <dgm:prSet presAssocID="{0F58C56D-6CB3-43C7-A604-D8A5495F2018}" presName="sibTrans" presStyleLbl="sibTrans2D1" presStyleIdx="1" presStyleCnt="3"/>
      <dgm:spPr/>
    </dgm:pt>
    <dgm:pt modelId="{7FA37D36-B6E3-41F3-833C-A3A00A469C81}" type="pres">
      <dgm:prSet presAssocID="{0F58C56D-6CB3-43C7-A604-D8A5495F2018}" presName="connectorText" presStyleLbl="sibTrans2D1" presStyleIdx="1" presStyleCnt="3"/>
      <dgm:spPr/>
    </dgm:pt>
    <dgm:pt modelId="{BD5A4AFC-719A-45E6-B50E-9AD56548709D}" type="pres">
      <dgm:prSet presAssocID="{60141BDD-8876-497D-A868-24F5A8C14EE0}" presName="node" presStyleLbl="node1" presStyleIdx="2" presStyleCnt="3">
        <dgm:presLayoutVars>
          <dgm:bulletEnabled val="1"/>
        </dgm:presLayoutVars>
      </dgm:prSet>
      <dgm:spPr>
        <a:prstGeom prst="cloud">
          <a:avLst/>
        </a:prstGeom>
      </dgm:spPr>
    </dgm:pt>
    <dgm:pt modelId="{FE96247F-B553-4472-8064-A10B03AD678D}" type="pres">
      <dgm:prSet presAssocID="{34ED53BC-147C-409D-8BA3-D0C4FF757909}" presName="sibTrans" presStyleLbl="sibTrans2D1" presStyleIdx="2" presStyleCnt="3"/>
      <dgm:spPr/>
    </dgm:pt>
    <dgm:pt modelId="{280E83CE-F84A-48B8-BB4D-1DDC207C8919}" type="pres">
      <dgm:prSet presAssocID="{34ED53BC-147C-409D-8BA3-D0C4FF757909}" presName="connectorText" presStyleLbl="sibTrans2D1" presStyleIdx="2" presStyleCnt="3"/>
      <dgm:spPr/>
    </dgm:pt>
  </dgm:ptLst>
  <dgm:cxnLst>
    <dgm:cxn modelId="{7ACDB591-57AC-4F84-A707-CEE94D15C944}" type="presOf" srcId="{60141BDD-8876-497D-A868-24F5A8C14EE0}" destId="{BD5A4AFC-719A-45E6-B50E-9AD56548709D}" srcOrd="0" destOrd="0" presId="urn:microsoft.com/office/officeart/2005/8/layout/cycle7"/>
    <dgm:cxn modelId="{ABDCA86E-EF62-4CA9-9ED1-CCC0F5471332}" type="presOf" srcId="{D10D679A-4C4B-44DF-A008-84FE5F0A1422}" destId="{BD5A4AFC-719A-45E6-B50E-9AD56548709D}" srcOrd="0" destOrd="1" presId="urn:microsoft.com/office/officeart/2005/8/layout/cycle7"/>
    <dgm:cxn modelId="{AE7E7A0C-2639-403B-9B3E-4973735FF74A}" srcId="{A910ADB1-0AA6-4F73-9638-039F770AE219}" destId="{2A2FFCA7-0BC2-4B75-B3B5-F03C5C6AB8BD}" srcOrd="0" destOrd="0" parTransId="{8DD82DFB-5837-44DD-9F35-5A56370896AB}" sibTransId="{D5116754-62A4-408A-8791-E2AEF463A006}"/>
    <dgm:cxn modelId="{B36D38D8-1FF5-42EA-B182-F971BBAAC417}" type="presOf" srcId="{A910ADB1-0AA6-4F73-9638-039F770AE219}" destId="{05B4B1FC-F3B9-418C-A25A-B047B7EDBA35}" srcOrd="0" destOrd="0" presId="urn:microsoft.com/office/officeart/2005/8/layout/cycle7"/>
    <dgm:cxn modelId="{45EFE5C0-97E8-419E-9D3E-A5FA7CF8A7BF}" type="presOf" srcId="{B7223D99-5AC1-49B9-A359-F6EA064808DC}" destId="{7D6C7FE6-15F4-4928-B0AB-4F568BBCB24E}" srcOrd="1" destOrd="0" presId="urn:microsoft.com/office/officeart/2005/8/layout/cycle7"/>
    <dgm:cxn modelId="{3EF6DBF4-76D8-4D82-8413-4AFD2359DABA}" srcId="{A4718D94-BB37-4C60-82A8-A9967576EC59}" destId="{A81FA660-6022-4940-986D-0DED32860783}" srcOrd="0" destOrd="0" parTransId="{06A254B6-5530-4956-BA23-054E482DCF01}" sibTransId="{85561034-F53D-4758-828B-02FB95FCA654}"/>
    <dgm:cxn modelId="{D1E49DC1-D9EF-4F10-B662-CF72835619BE}" srcId="{60141BDD-8876-497D-A868-24F5A8C14EE0}" destId="{D10D679A-4C4B-44DF-A008-84FE5F0A1422}" srcOrd="0" destOrd="0" parTransId="{E7947CA9-FF0B-4638-B4E8-262D7B5CA572}" sibTransId="{3B362348-6215-4A20-B28E-7FDC5037640D}"/>
    <dgm:cxn modelId="{52EDE986-5D9A-4AC8-884E-5EB41B3E3279}" srcId="{625EF16F-3BAA-46A7-88C5-12009103D308}" destId="{60141BDD-8876-497D-A868-24F5A8C14EE0}" srcOrd="2" destOrd="0" parTransId="{31483F6F-D8E3-4D3E-BC6A-23BCD234F544}" sibTransId="{34ED53BC-147C-409D-8BA3-D0C4FF757909}"/>
    <dgm:cxn modelId="{4FE387B8-3DE9-4106-8B06-2D7641ACDEF1}" type="presOf" srcId="{0F58C56D-6CB3-43C7-A604-D8A5495F2018}" destId="{7FA37D36-B6E3-41F3-833C-A3A00A469C81}" srcOrd="1" destOrd="0" presId="urn:microsoft.com/office/officeart/2005/8/layout/cycle7"/>
    <dgm:cxn modelId="{0C6AB60D-6ACB-4D8F-862E-B290B3977100}" srcId="{625EF16F-3BAA-46A7-88C5-12009103D308}" destId="{A4718D94-BB37-4C60-82A8-A9967576EC59}" srcOrd="1" destOrd="0" parTransId="{2C76F5A8-4EE6-4180-BCB3-5A901201F449}" sibTransId="{0F58C56D-6CB3-43C7-A604-D8A5495F2018}"/>
    <dgm:cxn modelId="{F780C721-86A2-4D89-9F0E-63F1D8AE801E}" type="presOf" srcId="{2A2FFCA7-0BC2-4B75-B3B5-F03C5C6AB8BD}" destId="{05B4B1FC-F3B9-418C-A25A-B047B7EDBA35}" srcOrd="0" destOrd="1" presId="urn:microsoft.com/office/officeart/2005/8/layout/cycle7"/>
    <dgm:cxn modelId="{9F80DE15-BE30-4F0B-B17C-61FE4F54A631}" type="presOf" srcId="{625EF16F-3BAA-46A7-88C5-12009103D308}" destId="{F2CBB1A7-0D18-46ED-A07C-A190305E4605}" srcOrd="0" destOrd="0" presId="urn:microsoft.com/office/officeart/2005/8/layout/cycle7"/>
    <dgm:cxn modelId="{AA932750-3E84-4D57-8426-970E54A876BB}" type="presOf" srcId="{34ED53BC-147C-409D-8BA3-D0C4FF757909}" destId="{FE96247F-B553-4472-8064-A10B03AD678D}" srcOrd="0" destOrd="0" presId="urn:microsoft.com/office/officeart/2005/8/layout/cycle7"/>
    <dgm:cxn modelId="{0ABCEDA6-4B8A-4633-99CE-407370F925F9}" type="presOf" srcId="{34ED53BC-147C-409D-8BA3-D0C4FF757909}" destId="{280E83CE-F84A-48B8-BB4D-1DDC207C8919}" srcOrd="1" destOrd="0" presId="urn:microsoft.com/office/officeart/2005/8/layout/cycle7"/>
    <dgm:cxn modelId="{BB2B5CE5-EF21-4438-9424-A052C2F2B760}" type="presOf" srcId="{0F58C56D-6CB3-43C7-A604-D8A5495F2018}" destId="{89E680E9-A390-4C9F-B9B6-8147E35836E1}" srcOrd="0" destOrd="0" presId="urn:microsoft.com/office/officeart/2005/8/layout/cycle7"/>
    <dgm:cxn modelId="{91C65985-7AEC-4205-89EF-8CF3744DAAA7}" srcId="{625EF16F-3BAA-46A7-88C5-12009103D308}" destId="{A910ADB1-0AA6-4F73-9638-039F770AE219}" srcOrd="0" destOrd="0" parTransId="{E5C0B907-0AE4-4FFE-9E0D-489D133FDFB5}" sibTransId="{B7223D99-5AC1-49B9-A359-F6EA064808DC}"/>
    <dgm:cxn modelId="{88546644-18E7-4A99-8CCD-A133F27074D0}" type="presOf" srcId="{B7223D99-5AC1-49B9-A359-F6EA064808DC}" destId="{9B4EE759-AE1C-4669-9DC1-A811D406E251}" srcOrd="0" destOrd="0" presId="urn:microsoft.com/office/officeart/2005/8/layout/cycle7"/>
    <dgm:cxn modelId="{B22DAC1B-17CF-41C8-A919-566D56C1DAD7}" type="presOf" srcId="{A4718D94-BB37-4C60-82A8-A9967576EC59}" destId="{C50073BC-F65E-4022-9963-EB01883CE2DF}" srcOrd="0" destOrd="0" presId="urn:microsoft.com/office/officeart/2005/8/layout/cycle7"/>
    <dgm:cxn modelId="{426CA1FD-8F13-440A-AD16-4D181CF0A996}" type="presOf" srcId="{A81FA660-6022-4940-986D-0DED32860783}" destId="{C50073BC-F65E-4022-9963-EB01883CE2DF}" srcOrd="0" destOrd="1" presId="urn:microsoft.com/office/officeart/2005/8/layout/cycle7"/>
    <dgm:cxn modelId="{39AFC452-3F23-468A-BCF7-464F23A67B84}" type="presParOf" srcId="{F2CBB1A7-0D18-46ED-A07C-A190305E4605}" destId="{05B4B1FC-F3B9-418C-A25A-B047B7EDBA35}" srcOrd="0" destOrd="0" presId="urn:microsoft.com/office/officeart/2005/8/layout/cycle7"/>
    <dgm:cxn modelId="{9E744571-5C6B-4CF2-9AB7-630AD3DD2848}" type="presParOf" srcId="{F2CBB1A7-0D18-46ED-A07C-A190305E4605}" destId="{9B4EE759-AE1C-4669-9DC1-A811D406E251}" srcOrd="1" destOrd="0" presId="urn:microsoft.com/office/officeart/2005/8/layout/cycle7"/>
    <dgm:cxn modelId="{3DDBBF28-F290-4EF1-AAEB-52B2D1A92AAF}" type="presParOf" srcId="{9B4EE759-AE1C-4669-9DC1-A811D406E251}" destId="{7D6C7FE6-15F4-4928-B0AB-4F568BBCB24E}" srcOrd="0" destOrd="0" presId="urn:microsoft.com/office/officeart/2005/8/layout/cycle7"/>
    <dgm:cxn modelId="{4ED19F74-11A2-4C98-8C54-893D3F79935A}" type="presParOf" srcId="{F2CBB1A7-0D18-46ED-A07C-A190305E4605}" destId="{C50073BC-F65E-4022-9963-EB01883CE2DF}" srcOrd="2" destOrd="0" presId="urn:microsoft.com/office/officeart/2005/8/layout/cycle7"/>
    <dgm:cxn modelId="{1FF51864-5D3B-4733-A65F-933B59292087}" type="presParOf" srcId="{F2CBB1A7-0D18-46ED-A07C-A190305E4605}" destId="{89E680E9-A390-4C9F-B9B6-8147E35836E1}" srcOrd="3" destOrd="0" presId="urn:microsoft.com/office/officeart/2005/8/layout/cycle7"/>
    <dgm:cxn modelId="{74412E23-CF21-44FB-9778-7950FCAE9000}" type="presParOf" srcId="{89E680E9-A390-4C9F-B9B6-8147E35836E1}" destId="{7FA37D36-B6E3-41F3-833C-A3A00A469C81}" srcOrd="0" destOrd="0" presId="urn:microsoft.com/office/officeart/2005/8/layout/cycle7"/>
    <dgm:cxn modelId="{A3021804-7268-4F30-9871-F4D39DCB6C7E}" type="presParOf" srcId="{F2CBB1A7-0D18-46ED-A07C-A190305E4605}" destId="{BD5A4AFC-719A-45E6-B50E-9AD56548709D}" srcOrd="4" destOrd="0" presId="urn:microsoft.com/office/officeart/2005/8/layout/cycle7"/>
    <dgm:cxn modelId="{5CA63F43-B12D-428A-8928-9EB638567F3C}" type="presParOf" srcId="{F2CBB1A7-0D18-46ED-A07C-A190305E4605}" destId="{FE96247F-B553-4472-8064-A10B03AD678D}" srcOrd="5" destOrd="0" presId="urn:microsoft.com/office/officeart/2005/8/layout/cycle7"/>
    <dgm:cxn modelId="{BD60193C-7123-4C20-B698-3F1347D655AE}" type="presParOf" srcId="{FE96247F-B553-4472-8064-A10B03AD678D}" destId="{280E83CE-F84A-48B8-BB4D-1DDC207C8919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4B1FC-F3B9-418C-A25A-B047B7EDBA35}">
      <dsp:nvSpPr>
        <dsp:cNvPr id="0" name=""/>
        <dsp:cNvSpPr/>
      </dsp:nvSpPr>
      <dsp:spPr>
        <a:xfrm>
          <a:off x="4048608" y="1127"/>
          <a:ext cx="2418382" cy="1209191"/>
        </a:xfrm>
        <a:prstGeom prst="snip2Diag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固态</a:t>
          </a:r>
          <a:endParaRPr lang="zh-CN" altLang="en-US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100" kern="1200" smtClean="0"/>
            <a:t>像</a:t>
          </a:r>
          <a:r>
            <a:rPr lang="zh-CN" altLang="en-US" sz="1100" kern="1200" dirty="0" smtClean="0"/>
            <a:t>石头、钢铁等具有一定的形状和体积，不能流动</a:t>
          </a:r>
          <a:endParaRPr lang="zh-CN" altLang="en-US" sz="1100" kern="1200" dirty="0"/>
        </a:p>
      </dsp:txBody>
      <dsp:txXfrm>
        <a:off x="4149376" y="101895"/>
        <a:ext cx="2216846" cy="1007655"/>
      </dsp:txXfrm>
    </dsp:sp>
    <dsp:sp modelId="{9B4EE759-AE1C-4669-9DC1-A811D406E251}">
      <dsp:nvSpPr>
        <dsp:cNvPr id="0" name=""/>
        <dsp:cNvSpPr/>
      </dsp:nvSpPr>
      <dsp:spPr>
        <a:xfrm rot="3600000">
          <a:off x="5626315" y="2122810"/>
          <a:ext cx="1259094" cy="423216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/>
        </a:p>
      </dsp:txBody>
      <dsp:txXfrm>
        <a:off x="5753280" y="2207453"/>
        <a:ext cx="1005164" cy="253930"/>
      </dsp:txXfrm>
    </dsp:sp>
    <dsp:sp modelId="{C50073BC-F65E-4022-9963-EB01883CE2DF}">
      <dsp:nvSpPr>
        <dsp:cNvPr id="0" name=""/>
        <dsp:cNvSpPr/>
      </dsp:nvSpPr>
      <dsp:spPr>
        <a:xfrm>
          <a:off x="6044734" y="3458518"/>
          <a:ext cx="2418382" cy="1209191"/>
        </a:xfrm>
        <a:prstGeom prst="teardrop">
          <a:avLst/>
        </a:prstGeom>
        <a:gradFill rotWithShape="0">
          <a:gsLst>
            <a:gs pos="0">
              <a:schemeClr val="accent5">
                <a:hueOff val="-5681104"/>
                <a:satOff val="37668"/>
                <a:lumOff val="-31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681104"/>
                <a:satOff val="37668"/>
                <a:lumOff val="-31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681104"/>
                <a:satOff val="37668"/>
                <a:lumOff val="-31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液态</a:t>
          </a:r>
          <a:endParaRPr lang="zh-CN" altLang="en-US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100" kern="1200" smtClean="0"/>
            <a:t>像</a:t>
          </a:r>
          <a:r>
            <a:rPr lang="zh-CN" altLang="en-US" sz="1100" kern="1200" dirty="0" smtClean="0"/>
            <a:t>酒精、煤油等具有流动性，没有固定的形状</a:t>
          </a:r>
          <a:endParaRPr lang="zh-CN" altLang="en-US" sz="1100" kern="1200" dirty="0"/>
        </a:p>
      </dsp:txBody>
      <dsp:txXfrm>
        <a:off x="6398898" y="3635600"/>
        <a:ext cx="1710054" cy="855027"/>
      </dsp:txXfrm>
    </dsp:sp>
    <dsp:sp modelId="{89E680E9-A390-4C9F-B9B6-8147E35836E1}">
      <dsp:nvSpPr>
        <dsp:cNvPr id="0" name=""/>
        <dsp:cNvSpPr/>
      </dsp:nvSpPr>
      <dsp:spPr>
        <a:xfrm rot="10800000">
          <a:off x="4628252" y="3851505"/>
          <a:ext cx="1259094" cy="423216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5681104"/>
                <a:satOff val="37668"/>
                <a:lumOff val="-31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681104"/>
                <a:satOff val="37668"/>
                <a:lumOff val="-31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681104"/>
                <a:satOff val="37668"/>
                <a:lumOff val="-31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/>
        </a:p>
      </dsp:txBody>
      <dsp:txXfrm rot="10800000">
        <a:off x="4755217" y="3936148"/>
        <a:ext cx="1005164" cy="253930"/>
      </dsp:txXfrm>
    </dsp:sp>
    <dsp:sp modelId="{BD5A4AFC-719A-45E6-B50E-9AD56548709D}">
      <dsp:nvSpPr>
        <dsp:cNvPr id="0" name=""/>
        <dsp:cNvSpPr/>
      </dsp:nvSpPr>
      <dsp:spPr>
        <a:xfrm>
          <a:off x="2052483" y="3458518"/>
          <a:ext cx="2418382" cy="1209191"/>
        </a:xfrm>
        <a:prstGeom prst="cloud">
          <a:avLst/>
        </a:prstGeom>
        <a:gradFill rotWithShape="0">
          <a:gsLst>
            <a:gs pos="0">
              <a:schemeClr val="accent5">
                <a:hueOff val="-11362209"/>
                <a:satOff val="75337"/>
                <a:lumOff val="-62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362209"/>
                <a:satOff val="75337"/>
                <a:lumOff val="-62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362209"/>
                <a:satOff val="75337"/>
                <a:lumOff val="-62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气态</a:t>
          </a:r>
          <a:endParaRPr lang="zh-CN" altLang="en-US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100" kern="1200" dirty="0" smtClean="0"/>
            <a:t>像空气等具有流动性，没有固定的形状和体积</a:t>
          </a:r>
          <a:endParaRPr lang="zh-CN" altLang="en-US" sz="1100" kern="1200" dirty="0"/>
        </a:p>
      </dsp:txBody>
      <dsp:txXfrm>
        <a:off x="2385794" y="3641128"/>
        <a:ext cx="1579786" cy="787934"/>
      </dsp:txXfrm>
    </dsp:sp>
    <dsp:sp modelId="{FE96247F-B553-4472-8064-A10B03AD678D}">
      <dsp:nvSpPr>
        <dsp:cNvPr id="0" name=""/>
        <dsp:cNvSpPr/>
      </dsp:nvSpPr>
      <dsp:spPr>
        <a:xfrm rot="18000000">
          <a:off x="3630189" y="2122810"/>
          <a:ext cx="1259094" cy="423216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11362209"/>
                <a:satOff val="75337"/>
                <a:lumOff val="-62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362209"/>
                <a:satOff val="75337"/>
                <a:lumOff val="-62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362209"/>
                <a:satOff val="75337"/>
                <a:lumOff val="-62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/>
        </a:p>
      </dsp:txBody>
      <dsp:txXfrm>
        <a:off x="3757154" y="2207453"/>
        <a:ext cx="1005164" cy="253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77442-E8BA-470E-A487-2F2B8DB4295E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F80CD-F282-4A7E-BE18-4B2B3CA69C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3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rgbClr val="FF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D545D3-5722-49E9-BAD8-9634C33E784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370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927765"/>
            <a:ext cx="9144000" cy="153569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90310"/>
            <a:ext cx="9144000" cy="602673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0A42-56CF-4540-86F2-40EC763115B2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24002" y="5527962"/>
            <a:ext cx="9143999" cy="536400"/>
          </a:xfrm>
          <a:prstGeom prst="rect">
            <a:avLst/>
          </a:prstGeom>
          <a:blipFill dpi="0" rotWithShape="1">
            <a:blip r:embed="rId3"/>
            <a:srcRect/>
            <a:stretch>
              <a:fillRect t="-2000"/>
            </a:stretch>
          </a:blipFill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indent="0" algn="ctr" defTabSz="91440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None/>
              <a:defRPr sz="1800" baseline="0">
                <a:solidFill>
                  <a:schemeClr val="accent3"/>
                </a:solidFill>
                <a:effectLst/>
                <a:latin typeface="+mj-lt"/>
                <a:ea typeface="+mj-ea"/>
              </a:defRPr>
            </a:lvl1pPr>
            <a:lvl2pPr indent="0" algn="ctr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2000">
                <a:latin typeface="+mn-lt"/>
                <a:ea typeface="+mn-ea"/>
              </a:defRPr>
            </a:lvl2pPr>
            <a:lvl3pPr indent="0" algn="ctr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800">
                <a:latin typeface="+mn-lt"/>
                <a:ea typeface="+mn-ea"/>
              </a:defRPr>
            </a:lvl3pPr>
            <a:lvl4pPr indent="0" algn="ctr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>
                <a:latin typeface="+mn-lt"/>
                <a:ea typeface="+mn-ea"/>
              </a:defRPr>
            </a:lvl4pPr>
            <a:lvl5pPr indent="0" algn="ctr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>
                <a:latin typeface="+mn-lt"/>
                <a:ea typeface="+mn-ea"/>
              </a:defRPr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>
                <a:latin typeface="+mn-lt"/>
                <a:ea typeface="+mn-ea"/>
              </a:defRPr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>
                <a:latin typeface="+mn-lt"/>
                <a:ea typeface="+mn-ea"/>
              </a:defRPr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>
                <a:latin typeface="+mn-lt"/>
                <a:ea typeface="+mn-ea"/>
              </a:defRPr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BFAD">
                  <a:lumMod val="75000"/>
                </a:srgbClr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DBFAD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653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1pPr>
            <a:lvl2pPr marL="800100" indent="-342900">
              <a:buClr>
                <a:srgbClr val="0070C0"/>
              </a:buClr>
              <a:buFont typeface="Wingdings" panose="05000000000000000000" pitchFamily="2" charset="2"/>
              <a:buChar char="Ø"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93BA2-6342-45FC-8D93-89F85C7A6468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9643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851894" y="623076"/>
            <a:ext cx="3209636" cy="5026063"/>
            <a:chOff x="2921000" y="904098"/>
            <a:chExt cx="2387600" cy="3738813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3668184" y="904098"/>
              <a:ext cx="1640416" cy="1839369"/>
            </a:xfrm>
            <a:prstGeom prst="line">
              <a:avLst/>
            </a:prstGeom>
            <a:noFill/>
            <a:ln w="63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2921000" y="1883836"/>
              <a:ext cx="2387600" cy="2759075"/>
            </a:xfrm>
            <a:prstGeom prst="line">
              <a:avLst/>
            </a:prstGeom>
            <a:noFill/>
            <a:ln w="63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9" name="直接连接符 8"/>
            <p:cNvCxnSpPr/>
            <p:nvPr/>
          </p:nvCxnSpPr>
          <p:spPr>
            <a:xfrm flipH="1">
              <a:off x="3210984" y="2904598"/>
              <a:ext cx="1066800" cy="1155700"/>
            </a:xfrm>
            <a:prstGeom prst="line">
              <a:avLst/>
            </a:prstGeom>
            <a:noFill/>
            <a:ln w="6350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</a:ln>
            <a:effectLst/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5641" y="2132856"/>
            <a:ext cx="7157127" cy="1330036"/>
          </a:xfrm>
        </p:spPr>
        <p:txBody>
          <a:bodyPr anchor="ctr" anchorCtr="0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F21D5-324E-466A-BEA8-4DB567F281D9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3311691" y="3674770"/>
            <a:ext cx="8160907" cy="2382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301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24002"/>
            <a:ext cx="5181600" cy="465296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24002"/>
            <a:ext cx="5181600" cy="465296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4EDB-0EFA-4D18-B30B-1CE07D05823D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71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14935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3544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3544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6165-81FD-4492-8BBF-EF36C24210E0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011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2963703" y="1210397"/>
            <a:ext cx="6264595" cy="4437206"/>
            <a:chOff x="2481952" y="2226154"/>
            <a:chExt cx="4471298" cy="3167016"/>
          </a:xfrm>
        </p:grpSpPr>
        <p:sp>
          <p:nvSpPr>
            <p:cNvPr id="18" name="矩形 17"/>
            <p:cNvSpPr/>
            <p:nvPr/>
          </p:nvSpPr>
          <p:spPr>
            <a:xfrm rot="225092">
              <a:off x="2564502" y="3297717"/>
              <a:ext cx="4332288" cy="72548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 rot="21197296">
              <a:off x="3059802" y="2357917"/>
              <a:ext cx="3341688" cy="7239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rot="225092">
              <a:off x="2481952" y="3196117"/>
              <a:ext cx="4333875" cy="72390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rot="21197296">
              <a:off x="2972490" y="2226154"/>
              <a:ext cx="3343275" cy="725488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>
              <a:outerShdw blurRad="25400" dist="127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Verdana" pitchFamily="34" charset="0"/>
              </a:endParaRPr>
            </a:p>
          </p:txBody>
        </p:sp>
        <p:sp>
          <p:nvSpPr>
            <p:cNvPr id="22" name="KSO_CT2"/>
            <p:cNvSpPr txBox="1"/>
            <p:nvPr/>
          </p:nvSpPr>
          <p:spPr>
            <a:xfrm rot="240000">
              <a:off x="2482452" y="3194929"/>
              <a:ext cx="4334400" cy="723600"/>
            </a:xfrm>
            <a:prstGeom prst="rect">
              <a:avLst/>
            </a:prstGeom>
            <a:noFill/>
          </p:spPr>
          <p:txBody>
            <a:bodyPr vert="horz" lIns="0" tIns="0" rIns="0" bIns="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110000"/>
                </a:lnSpc>
                <a:spcBef>
                  <a:spcPts val="1800"/>
                </a:spcBef>
                <a:spcAft>
                  <a:spcPts val="0"/>
                </a:spcAft>
                <a:buClr>
                  <a:schemeClr val="accent3">
                    <a:lumMod val="75000"/>
                  </a:schemeClr>
                </a:buClr>
                <a:buSzPct val="70000"/>
                <a:buFont typeface="Wingdings 2" pitchFamily="18" charset="2"/>
                <a:buNone/>
                <a:defRPr sz="4400" kern="1200" baseline="0">
                  <a:solidFill>
                    <a:schemeClr val="bg1"/>
                  </a:solidFill>
                  <a:effectLst/>
                  <a:latin typeface="+mj-lt"/>
                  <a:ea typeface="+mj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>
                    <a:lumMod val="60000"/>
                    <a:lumOff val="40000"/>
                  </a:schemeClr>
                </a:buClr>
                <a:buFont typeface="幼圆" pitchFamily="49" charset="-122"/>
                <a:buNone/>
                <a:defRPr sz="2000" kern="1200" baseline="0">
                  <a:solidFill>
                    <a:srgbClr val="7D7D7D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5DBFAD">
                    <a:lumMod val="75000"/>
                  </a:srgbClr>
                </a:buClr>
                <a:buSzPct val="70000"/>
                <a:buFont typeface="Wingdings 2" pitchFamily="18" charset="2"/>
                <a:buNone/>
                <a:tabLst/>
                <a:defRPr/>
              </a:pPr>
              <a:endPara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3" name="KSO_BT1"/>
            <p:cNvSpPr txBox="1"/>
            <p:nvPr/>
          </p:nvSpPr>
          <p:spPr>
            <a:xfrm rot="21180000">
              <a:off x="2972052" y="2226529"/>
              <a:ext cx="3344400" cy="727200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800" b="1" i="0" kern="1200" baseline="0">
                  <a:solidFill>
                    <a:schemeClr val="bg1"/>
                  </a:solidFill>
                  <a:effectLst/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"/>
              </p:custDataLst>
            </p:nvPr>
          </p:nvSpPr>
          <p:spPr>
            <a:xfrm rot="518391">
              <a:off x="2716213" y="4799445"/>
              <a:ext cx="3343275" cy="59372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2"/>
              </p:custDataLst>
            </p:nvPr>
          </p:nvSpPr>
          <p:spPr>
            <a:xfrm rot="21396991">
              <a:off x="3603625" y="4362883"/>
              <a:ext cx="3349625" cy="59372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3"/>
              </p:custDataLst>
            </p:nvPr>
          </p:nvSpPr>
          <p:spPr>
            <a:xfrm rot="21396991">
              <a:off x="3521075" y="4261283"/>
              <a:ext cx="3349625" cy="593725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>
              <a:outerShdw blurRad="25400" dist="12700" dir="189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4"/>
              </p:custDataLst>
            </p:nvPr>
          </p:nvSpPr>
          <p:spPr>
            <a:xfrm rot="518391">
              <a:off x="2652713" y="4728008"/>
              <a:ext cx="3344862" cy="592137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>
              <a:outerShdw blurRad="25400" dist="12700" dir="16200000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AE35-E04C-4DC7-A580-89FA06B53C89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21184738">
            <a:off x="3644910" y="1195280"/>
            <a:ext cx="4746759" cy="1033039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7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5CFB-6D36-4289-A138-2B9C48B9361E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94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629809" y="171983"/>
            <a:ext cx="4574195" cy="2357864"/>
            <a:chOff x="487713" y="115795"/>
            <a:chExt cx="5303739" cy="2733937"/>
          </a:xfrm>
        </p:grpSpPr>
        <p:sp>
          <p:nvSpPr>
            <p:cNvPr id="25" name="矩形 24"/>
            <p:cNvSpPr/>
            <p:nvPr/>
          </p:nvSpPr>
          <p:spPr>
            <a:xfrm>
              <a:off x="2889434" y="942412"/>
              <a:ext cx="603200" cy="633032"/>
            </a:xfrm>
            <a:prstGeom prst="rect">
              <a:avLst/>
            </a:prstGeom>
            <a:solidFill>
              <a:schemeClr val="accent2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2077434" y="1416358"/>
              <a:ext cx="694344" cy="762291"/>
            </a:xfrm>
            <a:prstGeom prst="rect">
              <a:avLst/>
            </a:prstGeom>
            <a:solidFill>
              <a:schemeClr val="accent3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27600" y="284088"/>
              <a:ext cx="238133" cy="248573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55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376992" y="1667084"/>
              <a:ext cx="1143429" cy="118264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710994" y="1229595"/>
              <a:ext cx="1080458" cy="108377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823891" y="367382"/>
              <a:ext cx="947887" cy="899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487713" y="115795"/>
              <a:ext cx="176819" cy="184570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25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0247367" y="2920073"/>
            <a:ext cx="1552748" cy="3771673"/>
            <a:chOff x="7503588" y="3086327"/>
            <a:chExt cx="1552748" cy="3771673"/>
          </a:xfrm>
        </p:grpSpPr>
        <p:sp>
          <p:nvSpPr>
            <p:cNvPr id="21" name="矩形 20"/>
            <p:cNvSpPr/>
            <p:nvPr/>
          </p:nvSpPr>
          <p:spPr>
            <a:xfrm>
              <a:off x="7503588" y="4103818"/>
              <a:ext cx="792117" cy="775546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612959" y="5525652"/>
              <a:ext cx="611488" cy="639660"/>
            </a:xfrm>
            <a:prstGeom prst="rect">
              <a:avLst/>
            </a:prstGeom>
            <a:solidFill>
              <a:schemeClr val="accent4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612959" y="6218340"/>
              <a:ext cx="611488" cy="639660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8295705" y="6218340"/>
              <a:ext cx="611488" cy="639660"/>
            </a:xfrm>
            <a:prstGeom prst="rect">
              <a:avLst/>
            </a:prstGeom>
            <a:solidFill>
              <a:schemeClr val="accent3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8661106" y="5223030"/>
              <a:ext cx="395230" cy="43187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7844080" y="3086327"/>
              <a:ext cx="238134" cy="248572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62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373" y="2529848"/>
            <a:ext cx="5258609" cy="1573971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35980" y="1694082"/>
            <a:ext cx="4471733" cy="4538227"/>
          </a:xfrm>
        </p:spPr>
        <p:txBody>
          <a:bodyPr anchor="t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373" y="4174412"/>
            <a:ext cx="4961439" cy="212848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F3B3D25-EC39-4B1B-BE6D-2B387D61CAAE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788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51720" y="365125"/>
            <a:ext cx="140208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90016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29371-83C9-40D9-AA8E-3B0710BDC281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84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/>
          <a:lstStyle/>
          <a:p>
            <a:fld id="{59A7831A-F976-470D-BA11-256A41CED906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/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/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9" name="内容占位符 7"/>
          <p:cNvSpPr>
            <a:spLocks noGrp="1"/>
          </p:cNvSpPr>
          <p:nvPr>
            <p:ph sz="quarter" idx="13"/>
          </p:nvPr>
        </p:nvSpPr>
        <p:spPr>
          <a:xfrm>
            <a:off x="838202" y="571505"/>
            <a:ext cx="10515601" cy="56499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80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2845B30-BAB4-4C9C-AF3A-2FF33C9F3049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94551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373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38008-1977-46BD-A27F-D74A9A10617A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950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2" y="1380070"/>
            <a:ext cx="8574623" cy="261619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8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2021-6D30-470C-A9F0-C8C1F4B56EB9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3" y="5883277"/>
            <a:ext cx="4324044" cy="365125"/>
          </a:xfrm>
        </p:spPr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826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5FDF-C9EF-4D26-8F5F-654EDB432A49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8" y="5867133"/>
            <a:ext cx="551167" cy="365125"/>
          </a:xfrm>
        </p:spPr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9480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80" y="2666999"/>
            <a:ext cx="8930747" cy="2110382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9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1793-BEB8-4721-8E31-92B6FBF71F95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204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2"/>
            <a:ext cx="10018713" cy="17525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4" y="2667001"/>
            <a:ext cx="4895055" cy="312420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49BA-9FBD-4A5F-BBB8-4C6401547769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473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9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D31B-558B-4EB5-B5AC-8531E2F2AD2D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610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F3C1-03C0-46F7-82A9-F91FD9E830E9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902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049A-6631-4EB8-9FC8-8B3A6349DD51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2483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4" y="685801"/>
            <a:ext cx="6240991" cy="510540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3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C1C2-7390-4D5C-ABB1-89F77DD21C4F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916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5" y="1752599"/>
            <a:ext cx="5426159" cy="13716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5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5" y="3124199"/>
            <a:ext cx="542615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B136-952E-4233-9475-27AA59254C6B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3777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B9F8-019F-4940-8345-606B6F3AC2E2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1242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4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3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0E8B7-8502-4554-BB1A-52D351238B2E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2782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3" y="685801"/>
            <a:ext cx="8990012" cy="27431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3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14B6-DDCA-4D86-AD3D-0E022571A822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4386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116DF-E36E-46AB-AB64-5016995D15D8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3661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3" y="685801"/>
            <a:ext cx="8990012" cy="27431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4" y="3886200"/>
            <a:ext cx="10018711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1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16FDD-A178-4121-A0A3-CB4B9EF48ADE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9663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2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3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0A75-752C-4043-BCD8-45C4E7B7B152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0961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8BA1-0F6B-49B1-B987-7E7BBA0C2C6D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8622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7" y="685800"/>
            <a:ext cx="1770369" cy="5105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3" y="685800"/>
            <a:ext cx="8019743" cy="51054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5276E-D737-4C34-A1E6-9E365B528A8D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6596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838200" y="365127"/>
            <a:ext cx="10515600" cy="945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838200" y="1508762"/>
            <a:ext cx="10515600" cy="466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CF309-CD72-4F8F-BEDC-9CDB24544E80}" type="datetime1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2021/4/10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09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just" defTabSz="914400" rtl="0" eaLnBrk="1" latinLnBrk="0" hangingPunct="1">
        <a:lnSpc>
          <a:spcPct val="90000"/>
        </a:lnSpc>
        <a:spcBef>
          <a:spcPts val="1000"/>
        </a:spcBef>
        <a:buClr>
          <a:schemeClr val="accent3">
            <a:lumMod val="75000"/>
          </a:schemeClr>
        </a:buClr>
        <a:buFont typeface="Wingdings" pitchFamily="2" charset="2"/>
        <a:buChar char="¤"/>
        <a:defRPr sz="24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800100" indent="-342900" algn="just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just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just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just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2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3" y="685802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2667001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7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D5BE4A-990B-44B2-97B4-0865AA409C61}" type="datetime1">
              <a:rPr lang="zh-CN" altLang="en-US" smtClean="0">
                <a:solidFill>
                  <a:prstClr val="black"/>
                </a:solidFill>
              </a:rPr>
              <a:t>2021/4/10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81" y="5883277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8" y="5883277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89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image" Target="../media/image6.wmf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第一章  物态及其变化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第三小组 小曾 小张</a:t>
            </a:r>
            <a:endParaRPr lang="en-US" altLang="zh-CN" dirty="0"/>
          </a:p>
          <a:p>
            <a:r>
              <a:rPr lang="en-US" altLang="zh-CN" dirty="0"/>
              <a:t>2020</a:t>
            </a:r>
            <a:r>
              <a:rPr lang="zh-CN" altLang="en-US" dirty="0"/>
              <a:t>年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4230708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00050" lvl="1"/>
            <a:r>
              <a:rPr lang="zh-CN" altLang="en-US" sz="3600" dirty="0">
                <a:hlinkClick r:id="rId2" action="ppaction://hlinksldjump"/>
              </a:rPr>
              <a:t>一、物态变化 、温度</a:t>
            </a:r>
            <a:endParaRPr lang="en-US" altLang="zh-CN" sz="3600" dirty="0"/>
          </a:p>
          <a:p>
            <a:pPr marL="400050" lvl="1"/>
            <a:r>
              <a:rPr lang="zh-CN" altLang="en-US" sz="3600" dirty="0">
                <a:hlinkClick r:id="rId3" action="ppaction://hlinksldjump"/>
              </a:rPr>
              <a:t>二、熔化和凝固</a:t>
            </a:r>
            <a:endParaRPr lang="en-US" altLang="zh-CN" sz="3600" dirty="0"/>
          </a:p>
          <a:p>
            <a:pPr marL="400050" lvl="1"/>
            <a:r>
              <a:rPr lang="zh-CN" altLang="en-US" sz="3600" dirty="0">
                <a:hlinkClick r:id="rId4" action="ppaction://hlinksldjump"/>
              </a:rPr>
              <a:t>三、汽化和液化</a:t>
            </a:r>
            <a:endParaRPr lang="en-US" altLang="zh-CN" sz="3600" dirty="0"/>
          </a:p>
          <a:p>
            <a:pPr marL="400050" lvl="1"/>
            <a:r>
              <a:rPr lang="zh-CN" altLang="en-US" sz="3600" dirty="0">
                <a:hlinkClick r:id="rId5" action="ppaction://hlinksldjump"/>
              </a:rPr>
              <a:t>四、升华和凝华</a:t>
            </a:r>
            <a:endParaRPr lang="en-US" altLang="zh-CN" sz="3600" dirty="0"/>
          </a:p>
          <a:p>
            <a:pPr marL="400050" lvl="1"/>
            <a:r>
              <a:rPr lang="zh-CN" altLang="en-US" sz="3600" dirty="0">
                <a:hlinkClick r:id="rId6" action="ppaction://hlinksldjump"/>
              </a:rPr>
              <a:t>五、生活和技术中的物态变化</a:t>
            </a:r>
            <a:endParaRPr lang="zh-CN" altLang="en-US" sz="3600" dirty="0"/>
          </a:p>
        </p:txBody>
      </p:sp>
      <p:pic>
        <p:nvPicPr>
          <p:cNvPr id="4" name="Picture 2" descr="C:\Program Files (x86)\Microsoft Office\MEDIA\CAGCAT10\j0240695.wmf">
            <a:extLst>
              <a:ext uri="{FF2B5EF4-FFF2-40B4-BE49-F238E27FC236}">
                <a16:creationId xmlns:a16="http://schemas.microsoft.com/office/drawing/2014/main" id="{D34288D2-8CE5-4837-9A8A-DBEDC97E2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954" y="0"/>
            <a:ext cx="2592288" cy="207564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2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995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3000">
        <p:cut/>
      </p:transition>
    </mc:Choice>
    <mc:Fallback>
      <p:transition advTm="3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一、物态变化、温度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3632" y="1700808"/>
            <a:ext cx="6707088" cy="3456384"/>
          </a:xfrm>
        </p:spPr>
        <p:txBody>
          <a:bodyPr/>
          <a:lstStyle/>
          <a:p>
            <a:r>
              <a:rPr lang="zh-CN" altLang="en-US" dirty="0"/>
              <a:t>知识点一  物态及其变化</a:t>
            </a:r>
            <a:endParaRPr lang="en-US" altLang="zh-CN" dirty="0"/>
          </a:p>
          <a:p>
            <a:pPr lvl="1"/>
            <a:r>
              <a:rPr lang="zh-CN" altLang="en-US" dirty="0"/>
              <a:t>物质的状态</a:t>
            </a:r>
            <a:endParaRPr lang="en-US" altLang="zh-CN" dirty="0"/>
          </a:p>
          <a:p>
            <a:pPr lvl="1"/>
            <a:r>
              <a:rPr lang="zh-CN" altLang="en-US" dirty="0"/>
              <a:t>物态变化</a:t>
            </a:r>
            <a:endParaRPr lang="en-US" altLang="zh-CN" dirty="0"/>
          </a:p>
          <a:p>
            <a:pPr lvl="1"/>
            <a:r>
              <a:rPr lang="zh-CN" altLang="en-US" dirty="0"/>
              <a:t>物态变化的原因</a:t>
            </a:r>
            <a:endParaRPr lang="en-US" altLang="zh-CN" dirty="0"/>
          </a:p>
          <a:p>
            <a:r>
              <a:rPr lang="zh-CN" altLang="en-US" dirty="0"/>
              <a:t>知识点二  温度</a:t>
            </a:r>
            <a:endParaRPr lang="en-US" altLang="zh-CN" dirty="0"/>
          </a:p>
          <a:p>
            <a:r>
              <a:rPr lang="zh-CN" altLang="en-US" dirty="0"/>
              <a:t>知识点三  温度计</a:t>
            </a:r>
            <a:endParaRPr lang="en-US" altLang="zh-CN" dirty="0"/>
          </a:p>
        </p:txBody>
      </p:sp>
      <p:pic>
        <p:nvPicPr>
          <p:cNvPr id="3075" name="Picture 3" descr="C:\Program Files (x86)\Microsoft Office\MEDIA\CAGCAT10\j0293828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01" y="4522305"/>
            <a:ext cx="2176723" cy="183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3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06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3000">
        <p:cut/>
      </p:transition>
    </mc:Choice>
    <mc:Fallback>
      <p:transition advTm="3000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物质的状态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332710"/>
              </p:ext>
            </p:extLst>
          </p:nvPr>
        </p:nvGraphicFramePr>
        <p:xfrm>
          <a:off x="838200" y="1508125"/>
          <a:ext cx="10515600" cy="4668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4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821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3000">
        <p:cut/>
      </p:transition>
    </mc:Choice>
    <mc:Fallback>
      <p:transition advTm="300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5B4B1FC-F3B9-418C-A25A-B047B7EDBA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4">
                                            <p:graphicEl>
                                              <a:dgm id="{05B4B1FC-F3B9-418C-A25A-B047B7EDBA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4">
                                            <p:graphicEl>
                                              <a:dgm id="{05B4B1FC-F3B9-418C-A25A-B047B7EDBA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B4EE759-AE1C-4669-9DC1-A811D406E2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4">
                                            <p:graphicEl>
                                              <a:dgm id="{9B4EE759-AE1C-4669-9DC1-A811D406E2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4">
                                            <p:graphicEl>
                                              <a:dgm id="{9B4EE759-AE1C-4669-9DC1-A811D406E2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0073BC-F65E-4022-9963-EB01883CE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4">
                                            <p:graphicEl>
                                              <a:dgm id="{C50073BC-F65E-4022-9963-EB01883CE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4">
                                            <p:graphicEl>
                                              <a:dgm id="{C50073BC-F65E-4022-9963-EB01883CE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0"/>
                            </p:stCondLst>
                            <p:childTnLst>
                              <p:par>
                                <p:cTn id="2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E680E9-A390-4C9F-B9B6-8147E35836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0" fill="hold"/>
                                        <p:tgtEl>
                                          <p:spTgt spid="4">
                                            <p:graphicEl>
                                              <a:dgm id="{89E680E9-A390-4C9F-B9B6-8147E35836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4">
                                            <p:graphicEl>
                                              <a:dgm id="{89E680E9-A390-4C9F-B9B6-8147E35836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2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D5A4AFC-719A-45E6-B50E-9AD5654870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0" fill="hold"/>
                                        <p:tgtEl>
                                          <p:spTgt spid="4">
                                            <p:graphicEl>
                                              <a:dgm id="{BD5A4AFC-719A-45E6-B50E-9AD5654870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0" fill="hold"/>
                                        <p:tgtEl>
                                          <p:spTgt spid="4">
                                            <p:graphicEl>
                                              <a:dgm id="{BD5A4AFC-719A-45E6-B50E-9AD5654870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0"/>
                            </p:stCondLst>
                            <p:childTnLst>
                              <p:par>
                                <p:cTn id="3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E96247F-B553-4472-8064-A10B03AD67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FE96247F-B553-4472-8064-A10B03AD67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graphicEl>
                                              <a:dgm id="{FE96247F-B553-4472-8064-A10B03AD67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二、熔化和凝固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3381" y="1700808"/>
            <a:ext cx="7446513" cy="4133056"/>
          </a:xfrm>
        </p:spPr>
        <p:txBody>
          <a:bodyPr/>
          <a:lstStyle/>
          <a:p>
            <a:r>
              <a:rPr lang="zh-CN" altLang="en-US" dirty="0"/>
              <a:t>知识点一  熔化和凝固的概念</a:t>
            </a:r>
            <a:endParaRPr lang="en-US" altLang="zh-CN" dirty="0"/>
          </a:p>
          <a:p>
            <a:r>
              <a:rPr lang="zh-CN" altLang="en-US" dirty="0"/>
              <a:t>知识点二  熔化的条件及特点</a:t>
            </a:r>
            <a:endParaRPr lang="en-US" altLang="zh-CN" dirty="0"/>
          </a:p>
          <a:p>
            <a:pPr lvl="1"/>
            <a:r>
              <a:rPr lang="zh-CN" altLang="en-US" dirty="0"/>
              <a:t>熔点</a:t>
            </a:r>
            <a:endParaRPr lang="en-US" altLang="zh-CN" dirty="0"/>
          </a:p>
          <a:p>
            <a:pPr lvl="1"/>
            <a:r>
              <a:rPr lang="zh-CN" altLang="en-US" dirty="0"/>
              <a:t>晶体与非晶体的熔化</a:t>
            </a:r>
            <a:endParaRPr lang="en-US" altLang="zh-CN" dirty="0"/>
          </a:p>
          <a:p>
            <a:r>
              <a:rPr lang="zh-CN" altLang="en-US" dirty="0"/>
              <a:t>知识点三  凝固的条件及特点</a:t>
            </a:r>
            <a:endParaRPr lang="en-US" altLang="zh-CN" dirty="0"/>
          </a:p>
          <a:p>
            <a:pPr lvl="1"/>
            <a:r>
              <a:rPr lang="zh-CN" altLang="en-US" dirty="0"/>
              <a:t>同种晶体的凝固过程与熔化过程相反</a:t>
            </a:r>
            <a:endParaRPr lang="en-US" altLang="zh-CN" dirty="0"/>
          </a:p>
          <a:p>
            <a:pPr lvl="1"/>
            <a:r>
              <a:rPr lang="zh-CN" altLang="en-US" dirty="0"/>
              <a:t>晶体与非晶体的凝固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t>第一章物态及其变化</a:t>
            </a:r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F615AB0D-EE29-44E2-81B6-22CC682E601B}" type="slidenum">
              <a:rPr lang="zh-CN" altLang="en-US" smtClean="0">
                <a:solidFill>
                  <a:srgbClr val="3D3F41">
                    <a:tint val="75000"/>
                  </a:srgbClr>
                </a:solidFill>
              </a:rPr>
              <a:pPr/>
              <a:t>5</a:t>
            </a:fld>
            <a:endParaRPr lang="zh-CN" altLang="en-US">
              <a:solidFill>
                <a:srgbClr val="3D3F4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008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3000">
        <p:cut/>
      </p:transition>
    </mc:Choice>
    <mc:Fallback>
      <p:transition advTm="3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三、汽化和液化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知识点一  汽化</a:t>
            </a:r>
            <a:endParaRPr lang="en-US" altLang="zh-CN" dirty="0"/>
          </a:p>
          <a:p>
            <a:pPr lvl="1"/>
            <a:r>
              <a:rPr lang="zh-CN" altLang="en-US" dirty="0"/>
              <a:t>物质从液态变为气态叫汽化</a:t>
            </a:r>
            <a:endParaRPr lang="en-US" altLang="zh-CN" dirty="0"/>
          </a:p>
          <a:p>
            <a:r>
              <a:rPr lang="zh-CN" altLang="en-US" dirty="0"/>
              <a:t>知识点二  汽化的方式</a:t>
            </a:r>
            <a:endParaRPr lang="en-US" altLang="zh-CN" dirty="0"/>
          </a:p>
          <a:p>
            <a:pPr lvl="1"/>
            <a:r>
              <a:rPr lang="zh-CN" altLang="en-US" dirty="0"/>
              <a:t>蒸发：在任何温度下都能发生</a:t>
            </a:r>
            <a:r>
              <a:rPr lang="en-US" altLang="zh-CN" dirty="0"/>
              <a:t>,</a:t>
            </a:r>
            <a:r>
              <a:rPr lang="zh-CN" altLang="en-US" dirty="0"/>
              <a:t>且只在液体表面发生的缓慢的汽化现象</a:t>
            </a:r>
            <a:endParaRPr lang="en-US" altLang="zh-CN" dirty="0"/>
          </a:p>
          <a:p>
            <a:pPr lvl="1"/>
            <a:r>
              <a:rPr lang="zh-CN" altLang="en-US" dirty="0"/>
              <a:t>沸腾：在一定温度下</a:t>
            </a:r>
            <a:r>
              <a:rPr lang="en-US" altLang="zh-CN" dirty="0"/>
              <a:t>(</a:t>
            </a:r>
            <a:r>
              <a:rPr lang="zh-CN" altLang="en-US" dirty="0"/>
              <a:t>沸点</a:t>
            </a:r>
            <a:r>
              <a:rPr lang="en-US" altLang="zh-CN" dirty="0"/>
              <a:t>),</a:t>
            </a:r>
            <a:r>
              <a:rPr lang="zh-CN" altLang="en-US" dirty="0"/>
              <a:t>在液体表面和内部同时发生的剧烈的汽化现象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115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三、汽化和液化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628801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/>
              <a:t>知识点三  液化</a:t>
            </a:r>
            <a:endParaRPr lang="en-US" altLang="zh-CN" dirty="0"/>
          </a:p>
          <a:p>
            <a:pPr lvl="1"/>
            <a:r>
              <a:rPr lang="zh-CN" altLang="en-US" dirty="0"/>
              <a:t>物质从气态变为液态叫液化</a:t>
            </a:r>
            <a:endParaRPr lang="en-US" altLang="zh-CN" dirty="0"/>
          </a:p>
          <a:p>
            <a:r>
              <a:rPr lang="zh-CN" altLang="en-US" dirty="0"/>
              <a:t>知识点四  液化的方法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降低温度</a:t>
            </a:r>
            <a:r>
              <a:rPr lang="en-US" altLang="zh-CN" dirty="0"/>
              <a:t>;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压缩体积</a:t>
            </a:r>
            <a:r>
              <a:rPr lang="en-US" altLang="zh-CN" dirty="0"/>
              <a:t>(</a:t>
            </a:r>
            <a:r>
              <a:rPr lang="zh-CN" altLang="en-US" dirty="0"/>
              <a:t>增大压强</a:t>
            </a:r>
            <a:r>
              <a:rPr lang="en-US" altLang="zh-CN" dirty="0"/>
              <a:t>,</a:t>
            </a:r>
            <a:r>
              <a:rPr lang="zh-CN" altLang="en-US" dirty="0"/>
              <a:t>提高沸点</a:t>
            </a:r>
            <a:r>
              <a:rPr lang="en-US" altLang="zh-CN" dirty="0"/>
              <a:t>)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876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蒸发和沸腾的异同点</a:t>
            </a:r>
            <a:endParaRPr lang="zh-CN" altLang="en-US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965210"/>
              </p:ext>
            </p:extLst>
          </p:nvPr>
        </p:nvGraphicFramePr>
        <p:xfrm>
          <a:off x="1682495" y="1956818"/>
          <a:ext cx="9509762" cy="4352541"/>
        </p:xfrm>
        <a:graphic>
          <a:graphicData uri="http://schemas.openxmlformats.org/drawingml/2006/table">
            <a:tbl>
              <a:tblPr firstRow="1" firstCol="1" bandRow="1"/>
              <a:tblGrid>
                <a:gridCol w="1461887">
                  <a:extLst>
                    <a:ext uri="{9D8B030D-6E8A-4147-A177-3AD203B41FA5}">
                      <a16:colId xmlns:a16="http://schemas.microsoft.com/office/drawing/2014/main" val="3806802542"/>
                    </a:ext>
                  </a:extLst>
                </a:gridCol>
                <a:gridCol w="2788831">
                  <a:extLst>
                    <a:ext uri="{9D8B030D-6E8A-4147-A177-3AD203B41FA5}">
                      <a16:colId xmlns:a16="http://schemas.microsoft.com/office/drawing/2014/main" val="1074600900"/>
                    </a:ext>
                  </a:extLst>
                </a:gridCol>
                <a:gridCol w="2788831">
                  <a:extLst>
                    <a:ext uri="{9D8B030D-6E8A-4147-A177-3AD203B41FA5}">
                      <a16:colId xmlns:a16="http://schemas.microsoft.com/office/drawing/2014/main" val="2645958545"/>
                    </a:ext>
                  </a:extLst>
                </a:gridCol>
                <a:gridCol w="2470213">
                  <a:extLst>
                    <a:ext uri="{9D8B030D-6E8A-4147-A177-3AD203B41FA5}">
                      <a16:colId xmlns:a16="http://schemas.microsoft.com/office/drawing/2014/main" val="1649419905"/>
                    </a:ext>
                  </a:extLst>
                </a:gridCol>
              </a:tblGrid>
              <a:tr h="614383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>
                        <a:solidFill>
                          <a:srgbClr val="5F497A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蒸发</a:t>
                      </a:r>
                      <a:endParaRPr lang="zh-CN" sz="1400" kern="100">
                        <a:solidFill>
                          <a:srgbClr val="5F497A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沸腾</a:t>
                      </a:r>
                      <a:endParaRPr lang="zh-CN" sz="1400" kern="100">
                        <a:solidFill>
                          <a:srgbClr val="5F497A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090958"/>
                  </a:ext>
                </a:extLst>
              </a:tr>
              <a:tr h="1037269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相同点</a:t>
                      </a:r>
                      <a:endParaRPr lang="zh-CN" sz="1400" kern="100">
                        <a:solidFill>
                          <a:srgbClr val="5F497A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都是从液态变成气态，都要吸热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386039"/>
                  </a:ext>
                </a:extLst>
              </a:tr>
              <a:tr h="569168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不同点</a:t>
                      </a:r>
                      <a:endParaRPr lang="zh-CN" sz="1400" kern="100">
                        <a:solidFill>
                          <a:srgbClr val="5F497A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发生部位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只在液体表面进行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液体内部和表面同时发生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6535842"/>
                  </a:ext>
                </a:extLst>
              </a:tr>
              <a:tr h="5585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剧烈程度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D8E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缓慢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D8E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剧烈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007733"/>
                  </a:ext>
                </a:extLst>
              </a:tr>
              <a:tr h="5678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温度条件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在任何温度下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在一定温度下（沸点）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879028"/>
                  </a:ext>
                </a:extLst>
              </a:tr>
              <a:tr h="10053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影响因素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8E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蒸发快慢与液体的温度高低、液体表面积的大小和液体表面上方空气流动的快慢有关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8E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5F497A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液体沸点的高低与其表面大气压的大小有关。压强越大、沸点越高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368106"/>
                  </a:ext>
                </a:extLst>
              </a:tr>
            </a:tbl>
          </a:graphicData>
        </a:graphic>
      </p:graphicFrame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844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四、升华和凝华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eaVert" anchor="ctr" anchorCtr="0">
            <a:normAutofit/>
          </a:bodyPr>
          <a:lstStyle/>
          <a:p>
            <a:r>
              <a:rPr lang="zh-CN" altLang="en-US" dirty="0"/>
              <a:t>知识点一  升华</a:t>
            </a:r>
            <a:endParaRPr lang="en-US" altLang="zh-CN" dirty="0"/>
          </a:p>
          <a:p>
            <a:r>
              <a:rPr lang="zh-CN" altLang="en-US" dirty="0"/>
              <a:t>知识点二  凝华</a:t>
            </a:r>
            <a:endParaRPr lang="en-US" altLang="zh-CN" dirty="0"/>
          </a:p>
          <a:p>
            <a:r>
              <a:rPr lang="zh-CN" altLang="en-US" dirty="0"/>
              <a:t>知识点三  升华吸热、凝华放热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1A5437-3D98-4204-A968-D14A7C5E8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blipFill>
            <a:blip r:embed="rId2"/>
            <a:stretch>
              <a:fillRect/>
            </a:stretch>
          </a:blipFill>
          <a:effectLst>
            <a:reflection blurRad="6350" stA="50000" endA="300" endPos="55000" dir="5400000" sy="-100000" algn="bl" rotWithShape="0"/>
            <a:softEdge rad="127000"/>
          </a:effectLst>
        </p:spPr>
        <p:txBody>
          <a:bodyPr vert="horz" lIns="91440" tIns="252000" rIns="91440" bIns="45720" rtlCol="0" anchor="t">
            <a:normAutofit/>
          </a:bodyPr>
          <a:lstStyle/>
          <a:p>
            <a:r>
              <a:rPr lang="zh-CN" altLang="en-US" sz="2000" dirty="0"/>
              <a:t>物质从固态直接变为气态叫升华</a:t>
            </a:r>
            <a:r>
              <a:rPr lang="en-US" altLang="zh-CN" sz="2000" dirty="0"/>
              <a:t>;</a:t>
            </a:r>
            <a:r>
              <a:rPr lang="zh-CN" altLang="en-US" sz="2000" dirty="0"/>
              <a:t>物质从气态直接变为固态叫凝华</a:t>
            </a:r>
            <a:r>
              <a:rPr lang="en-US" altLang="zh-CN" sz="2000" dirty="0"/>
              <a:t>,</a:t>
            </a:r>
            <a:r>
              <a:rPr lang="zh-CN" altLang="en-US" sz="2000" dirty="0"/>
              <a:t>升华吸热</a:t>
            </a:r>
            <a:r>
              <a:rPr lang="en-US" altLang="zh-CN" sz="2000" dirty="0"/>
              <a:t>,</a:t>
            </a:r>
            <a:r>
              <a:rPr lang="zh-CN" altLang="en-US" sz="2000" dirty="0"/>
              <a:t>凝华放热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859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五、生活和技术中的物态变化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知识点一  自然界中的水循环</a:t>
            </a:r>
            <a:endParaRPr lang="en-US" altLang="zh-CN" dirty="0"/>
          </a:p>
          <a:p>
            <a:pPr lvl="1"/>
            <a:r>
              <a:rPr lang="zh-CN" altLang="en-US" dirty="0"/>
              <a:t>自然界中的云、雨、雪、雾、霜等现象</a:t>
            </a:r>
            <a:endParaRPr lang="en-US" altLang="zh-CN" dirty="0"/>
          </a:p>
          <a:p>
            <a:pPr lvl="1"/>
            <a:r>
              <a:rPr lang="zh-CN" altLang="en-US" dirty="0"/>
              <a:t>江河湖海、土壤、植物中的水汽化（蒸发）</a:t>
            </a:r>
            <a:endParaRPr lang="en-US" altLang="zh-CN" dirty="0"/>
          </a:p>
          <a:p>
            <a:r>
              <a:rPr lang="zh-CN" altLang="en-US" dirty="0"/>
              <a:t>知识点二  高压锅和电冰箱</a:t>
            </a:r>
            <a:endParaRPr lang="en-US" altLang="zh-CN" dirty="0"/>
          </a:p>
          <a:p>
            <a:r>
              <a:rPr lang="zh-CN" altLang="en-US" dirty="0"/>
              <a:t>知识点三  航天技术中的物态变化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第一章物态及其变化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696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604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604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6047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198_27*i*0"/>
  <p:tag name="KSO_WM_TEMPLATE_CATEGORY" val="custom"/>
  <p:tag name="KSO_WM_TEMPLATE_INDEX" val="19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198_27*i*1"/>
  <p:tag name="KSO_WM_TEMPLATE_CATEGORY" val="custom"/>
  <p:tag name="KSO_WM_TEMPLATE_INDEX" val="19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198_27*i*2"/>
  <p:tag name="KSO_WM_TEMPLATE_CATEGORY" val="custom"/>
  <p:tag name="KSO_WM_TEMPLATE_INDEX" val="19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198_27*i*3"/>
  <p:tag name="KSO_WM_TEMPLATE_CATEGORY" val="custom"/>
  <p:tag name="KSO_WM_TEMPLATE_INDEX" val="198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五彩缤纷">
  <a:themeElements>
    <a:clrScheme name="160198.198">
      <a:dk1>
        <a:srgbClr val="3D3F41"/>
      </a:dk1>
      <a:lt1>
        <a:srgbClr val="FFFFFF"/>
      </a:lt1>
      <a:dk2>
        <a:srgbClr val="454749"/>
      </a:dk2>
      <a:lt2>
        <a:srgbClr val="FFFFFF"/>
      </a:lt2>
      <a:accent1>
        <a:srgbClr val="307EAE"/>
      </a:accent1>
      <a:accent2>
        <a:srgbClr val="25B7EC"/>
      </a:accent2>
      <a:accent3>
        <a:srgbClr val="5DBFAD"/>
      </a:accent3>
      <a:accent4>
        <a:srgbClr val="A6A081"/>
      </a:accent4>
      <a:accent5>
        <a:srgbClr val="7479AB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视差">
  <a:themeElements>
    <a:clrScheme name="视差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视差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视差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视差" id="{39EE0330-3E9D-4B77-983D-418A5416D797}" vid="{1D097C1B-8F3D-4EF6-A95D-9B8D32CE9D2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512</Words>
  <Application>Microsoft Office PowerPoint</Application>
  <PresentationFormat>宽屏</PresentationFormat>
  <Paragraphs>92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等线</vt:lpstr>
      <vt:lpstr>黑体</vt:lpstr>
      <vt:lpstr>华文楷体</vt:lpstr>
      <vt:lpstr>宋体</vt:lpstr>
      <vt:lpstr>Arial</vt:lpstr>
      <vt:lpstr>Calibri</vt:lpstr>
      <vt:lpstr>Corbel</vt:lpstr>
      <vt:lpstr>Times New Roman</vt:lpstr>
      <vt:lpstr>Verdana</vt:lpstr>
      <vt:lpstr>Wingdings</vt:lpstr>
      <vt:lpstr>Wingdings 2</vt:lpstr>
      <vt:lpstr>五彩缤纷</vt:lpstr>
      <vt:lpstr>视差</vt:lpstr>
      <vt:lpstr>第一章  物态及其变化</vt:lpstr>
      <vt:lpstr>本章主要内容</vt:lpstr>
      <vt:lpstr>一、物态变化、温度</vt:lpstr>
      <vt:lpstr>物质的状态</vt:lpstr>
      <vt:lpstr>二、熔化和凝固</vt:lpstr>
      <vt:lpstr>三、汽化和液化</vt:lpstr>
      <vt:lpstr>三、汽化和液化</vt:lpstr>
      <vt:lpstr>蒸发和沸腾的异同点</vt:lpstr>
      <vt:lpstr>四、升华和凝华</vt:lpstr>
      <vt:lpstr>五、生活和技术中的物态变化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吉燕</dc:creator>
  <cp:lastModifiedBy>Windows 用户11</cp:lastModifiedBy>
  <cp:revision>10</cp:revision>
  <dcterms:created xsi:type="dcterms:W3CDTF">2020-06-16T09:52:11Z</dcterms:created>
  <dcterms:modified xsi:type="dcterms:W3CDTF">2021-04-10T02:38:40Z</dcterms:modified>
</cp:coreProperties>
</file>