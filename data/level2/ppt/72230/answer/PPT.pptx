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7E2"/>
    <a:srgbClr val="DEE7F6"/>
    <a:srgbClr val="F2E7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8" autoAdjust="0"/>
    <p:restoredTop sz="80708" autoAdjust="0"/>
  </p:normalViewPr>
  <p:slideViewPr>
    <p:cSldViewPr snapToGrid="0">
      <p:cViewPr varScale="1">
        <p:scale>
          <a:sx n="49" d="100"/>
          <a:sy n="49" d="100"/>
        </p:scale>
        <p:origin x="48" y="948"/>
      </p:cViewPr>
      <p:guideLst>
        <p:guide orient="horz" pos="2160"/>
        <p:guide pos="3840"/>
      </p:guideLst>
    </p:cSldViewPr>
  </p:slideViewPr>
  <p:notesTextViewPr>
    <p:cViewPr>
      <p:scale>
        <a:sx n="1" d="1"/>
        <a:sy n="1" d="1"/>
      </p:scale>
      <p:origin x="0" y="0"/>
    </p:cViewPr>
  </p:notesTextViewPr>
  <p:sorterViewPr>
    <p:cViewPr>
      <p:scale>
        <a:sx n="75" d="100"/>
        <a:sy n="75" d="100"/>
      </p:scale>
      <p:origin x="0" y="-697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033904-1627-4A01-963B-7FF5B0FAD86D}" type="doc">
      <dgm:prSet loTypeId="urn:microsoft.com/office/officeart/2005/8/layout/hProcess9" loCatId="process" qsTypeId="urn:microsoft.com/office/officeart/2005/8/quickstyle/simple3" qsCatId="simple" csTypeId="urn:microsoft.com/office/officeart/2005/8/colors/accent1_2" csCatId="accent1" phldr="1"/>
      <dgm:spPr/>
      <dgm:t>
        <a:bodyPr/>
        <a:lstStyle/>
        <a:p>
          <a:endParaRPr lang="zh-CN" altLang="en-US"/>
        </a:p>
      </dgm:t>
    </dgm:pt>
    <dgm:pt modelId="{6F4A0BB0-4B93-44B4-859E-7655B4D48595}">
      <dgm:prSet/>
      <dgm:spPr/>
      <dgm:t>
        <a:bodyPr/>
        <a:lstStyle/>
        <a:p>
          <a:pPr rtl="0"/>
          <a:r>
            <a:rPr lang="zh-CN" dirty="0" smtClean="0"/>
            <a:t>請假者填寫請假申請表</a:t>
          </a:r>
          <a:endParaRPr lang="zh-CN" dirty="0"/>
        </a:p>
      </dgm:t>
    </dgm:pt>
    <dgm:pt modelId="{E4D2A77B-A8BF-4224-9664-1486512547E4}" type="parTrans" cxnId="{C1B11CBE-A069-4FA6-A8B4-583D50E20EEB}">
      <dgm:prSet/>
      <dgm:spPr/>
      <dgm:t>
        <a:bodyPr/>
        <a:lstStyle/>
        <a:p>
          <a:endParaRPr lang="zh-CN" altLang="en-US"/>
        </a:p>
      </dgm:t>
    </dgm:pt>
    <dgm:pt modelId="{5F6F57A5-5F90-4495-B440-4BDA14613A1F}" type="sibTrans" cxnId="{C1B11CBE-A069-4FA6-A8B4-583D50E20EEB}">
      <dgm:prSet/>
      <dgm:spPr/>
      <dgm:t>
        <a:bodyPr/>
        <a:lstStyle/>
        <a:p>
          <a:endParaRPr lang="zh-CN" altLang="en-US"/>
        </a:p>
      </dgm:t>
    </dgm:pt>
    <dgm:pt modelId="{CA0B6385-2D49-4D25-8C26-CCC11A9CD717}">
      <dgm:prSet/>
      <dgm:spPr/>
      <dgm:t>
        <a:bodyPr/>
        <a:lstStyle/>
        <a:p>
          <a:pPr rtl="0"/>
          <a:r>
            <a:rPr lang="zh-CN" dirty="0" smtClean="0"/>
            <a:t>部門主管審批</a:t>
          </a:r>
          <a:endParaRPr lang="zh-CN" dirty="0"/>
        </a:p>
      </dgm:t>
    </dgm:pt>
    <dgm:pt modelId="{9A3698A4-37B1-4E92-A145-C06DECC46CC9}" type="parTrans" cxnId="{D18CA685-FC7A-43F3-A50F-06E05BAB5127}">
      <dgm:prSet/>
      <dgm:spPr/>
      <dgm:t>
        <a:bodyPr/>
        <a:lstStyle/>
        <a:p>
          <a:endParaRPr lang="zh-CN" altLang="en-US"/>
        </a:p>
      </dgm:t>
    </dgm:pt>
    <dgm:pt modelId="{3593F294-6181-49AC-B846-5AB9A5A0C781}" type="sibTrans" cxnId="{D18CA685-FC7A-43F3-A50F-06E05BAB5127}">
      <dgm:prSet/>
      <dgm:spPr/>
      <dgm:t>
        <a:bodyPr/>
        <a:lstStyle/>
        <a:p>
          <a:endParaRPr lang="zh-CN" altLang="en-US"/>
        </a:p>
      </dgm:t>
    </dgm:pt>
    <dgm:pt modelId="{AEC81445-4BD8-4477-82CE-2C5AA7E28275}">
      <dgm:prSet/>
      <dgm:spPr/>
      <dgm:t>
        <a:bodyPr/>
        <a:lstStyle/>
        <a:p>
          <a:pPr rtl="0"/>
          <a:r>
            <a:rPr lang="zh-CN" dirty="0" smtClean="0"/>
            <a:t>總經理助理審批</a:t>
          </a:r>
          <a:endParaRPr lang="zh-CN" dirty="0"/>
        </a:p>
      </dgm:t>
    </dgm:pt>
    <dgm:pt modelId="{0975DA47-52FA-4EB2-8357-26B9EC4ABA93}" type="parTrans" cxnId="{F1B9E24B-367B-4CE5-A917-E20A41D9B5DF}">
      <dgm:prSet/>
      <dgm:spPr/>
      <dgm:t>
        <a:bodyPr/>
        <a:lstStyle/>
        <a:p>
          <a:endParaRPr lang="zh-CN" altLang="en-US"/>
        </a:p>
      </dgm:t>
    </dgm:pt>
    <dgm:pt modelId="{5BE2B2F0-BA49-4072-A448-F8B4EC733F9D}" type="sibTrans" cxnId="{F1B9E24B-367B-4CE5-A917-E20A41D9B5DF}">
      <dgm:prSet/>
      <dgm:spPr/>
      <dgm:t>
        <a:bodyPr/>
        <a:lstStyle/>
        <a:p>
          <a:endParaRPr lang="zh-CN" altLang="en-US"/>
        </a:p>
      </dgm:t>
    </dgm:pt>
    <dgm:pt modelId="{39CF209B-C2D1-4A58-AC36-5413D727477B}">
      <dgm:prSet/>
      <dgm:spPr/>
      <dgm:t>
        <a:bodyPr/>
        <a:lstStyle/>
        <a:p>
          <a:pPr rtl="0"/>
          <a:r>
            <a:rPr lang="zh-CN" dirty="0" smtClean="0"/>
            <a:t>人事部審批</a:t>
          </a:r>
          <a:endParaRPr lang="zh-CN" dirty="0"/>
        </a:p>
      </dgm:t>
    </dgm:pt>
    <dgm:pt modelId="{E2766E24-4424-454E-BEB5-C2DEEC336545}" type="parTrans" cxnId="{D6545520-1B37-4064-8419-DE9DD0D13572}">
      <dgm:prSet/>
      <dgm:spPr/>
      <dgm:t>
        <a:bodyPr/>
        <a:lstStyle/>
        <a:p>
          <a:endParaRPr lang="zh-CN" altLang="en-US"/>
        </a:p>
      </dgm:t>
    </dgm:pt>
    <dgm:pt modelId="{9266ED0E-3BAF-4550-A925-D28C9B04DCCC}" type="sibTrans" cxnId="{D6545520-1B37-4064-8419-DE9DD0D13572}">
      <dgm:prSet/>
      <dgm:spPr/>
      <dgm:t>
        <a:bodyPr/>
        <a:lstStyle/>
        <a:p>
          <a:endParaRPr lang="zh-CN" altLang="en-US"/>
        </a:p>
      </dgm:t>
    </dgm:pt>
    <dgm:pt modelId="{B2CD300F-D6CA-4F0D-AF7D-1A943DAED24E}">
      <dgm:prSet/>
      <dgm:spPr/>
      <dgm:t>
        <a:bodyPr/>
        <a:lstStyle/>
        <a:p>
          <a:pPr rtl="0"/>
          <a:r>
            <a:rPr lang="zh-CN" dirty="0" smtClean="0"/>
            <a:t>請假者休息</a:t>
          </a:r>
          <a:endParaRPr lang="zh-CN" dirty="0"/>
        </a:p>
      </dgm:t>
    </dgm:pt>
    <dgm:pt modelId="{BAD91D1D-382E-47CE-B9FF-73F2FBDD005E}" type="parTrans" cxnId="{D60D4097-73FC-445B-9F90-5813D0B95CA3}">
      <dgm:prSet/>
      <dgm:spPr/>
      <dgm:t>
        <a:bodyPr/>
        <a:lstStyle/>
        <a:p>
          <a:endParaRPr lang="zh-CN" altLang="en-US"/>
        </a:p>
      </dgm:t>
    </dgm:pt>
    <dgm:pt modelId="{ED475690-B1CB-4A55-9C9A-F9202FBA2087}" type="sibTrans" cxnId="{D60D4097-73FC-445B-9F90-5813D0B95CA3}">
      <dgm:prSet/>
      <dgm:spPr/>
      <dgm:t>
        <a:bodyPr/>
        <a:lstStyle/>
        <a:p>
          <a:endParaRPr lang="zh-CN" altLang="en-US"/>
        </a:p>
      </dgm:t>
    </dgm:pt>
    <dgm:pt modelId="{2CD15222-5B0F-446A-A47C-C05EDC99F89A}" type="pres">
      <dgm:prSet presAssocID="{2B033904-1627-4A01-963B-7FF5B0FAD86D}" presName="CompostProcess" presStyleCnt="0">
        <dgm:presLayoutVars>
          <dgm:dir/>
          <dgm:resizeHandles val="exact"/>
        </dgm:presLayoutVars>
      </dgm:prSet>
      <dgm:spPr/>
      <dgm:t>
        <a:bodyPr/>
        <a:lstStyle/>
        <a:p>
          <a:endParaRPr lang="zh-CN" altLang="en-US"/>
        </a:p>
      </dgm:t>
    </dgm:pt>
    <dgm:pt modelId="{34E1C760-303A-4476-9AB6-D0E97F6C112D}" type="pres">
      <dgm:prSet presAssocID="{2B033904-1627-4A01-963B-7FF5B0FAD86D}" presName="arrow" presStyleLbl="bgShp" presStyleIdx="0" presStyleCnt="1"/>
      <dgm:spPr/>
    </dgm:pt>
    <dgm:pt modelId="{56992B18-2508-4464-B678-9C37984E7115}" type="pres">
      <dgm:prSet presAssocID="{2B033904-1627-4A01-963B-7FF5B0FAD86D}" presName="linearProcess" presStyleCnt="0"/>
      <dgm:spPr/>
    </dgm:pt>
    <dgm:pt modelId="{45DB30B1-F2BA-4FE3-994C-721A12577ED8}" type="pres">
      <dgm:prSet presAssocID="{6F4A0BB0-4B93-44B4-859E-7655B4D48595}" presName="textNode" presStyleLbl="node1" presStyleIdx="0" presStyleCnt="5">
        <dgm:presLayoutVars>
          <dgm:bulletEnabled val="1"/>
        </dgm:presLayoutVars>
      </dgm:prSet>
      <dgm:spPr/>
      <dgm:t>
        <a:bodyPr/>
        <a:lstStyle/>
        <a:p>
          <a:endParaRPr lang="zh-CN" altLang="en-US"/>
        </a:p>
      </dgm:t>
    </dgm:pt>
    <dgm:pt modelId="{578B8DDF-9E50-49E5-AF8D-93681DD439F2}" type="pres">
      <dgm:prSet presAssocID="{5F6F57A5-5F90-4495-B440-4BDA14613A1F}" presName="sibTrans" presStyleCnt="0"/>
      <dgm:spPr/>
    </dgm:pt>
    <dgm:pt modelId="{A3DE9B83-835C-44FC-B84D-B78FEE5D6E6C}" type="pres">
      <dgm:prSet presAssocID="{CA0B6385-2D49-4D25-8C26-CCC11A9CD717}" presName="textNode" presStyleLbl="node1" presStyleIdx="1" presStyleCnt="5">
        <dgm:presLayoutVars>
          <dgm:bulletEnabled val="1"/>
        </dgm:presLayoutVars>
      </dgm:prSet>
      <dgm:spPr/>
      <dgm:t>
        <a:bodyPr/>
        <a:lstStyle/>
        <a:p>
          <a:endParaRPr lang="zh-CN" altLang="en-US"/>
        </a:p>
      </dgm:t>
    </dgm:pt>
    <dgm:pt modelId="{1C85940D-642E-48DC-8510-155608775083}" type="pres">
      <dgm:prSet presAssocID="{3593F294-6181-49AC-B846-5AB9A5A0C781}" presName="sibTrans" presStyleCnt="0"/>
      <dgm:spPr/>
    </dgm:pt>
    <dgm:pt modelId="{212EC7BA-17A0-40B2-B417-B6BEF9F9DB05}" type="pres">
      <dgm:prSet presAssocID="{AEC81445-4BD8-4477-82CE-2C5AA7E28275}" presName="textNode" presStyleLbl="node1" presStyleIdx="2" presStyleCnt="5">
        <dgm:presLayoutVars>
          <dgm:bulletEnabled val="1"/>
        </dgm:presLayoutVars>
      </dgm:prSet>
      <dgm:spPr/>
      <dgm:t>
        <a:bodyPr/>
        <a:lstStyle/>
        <a:p>
          <a:endParaRPr lang="zh-CN" altLang="en-US"/>
        </a:p>
      </dgm:t>
    </dgm:pt>
    <dgm:pt modelId="{01B4822B-A813-4CEE-BFA0-9AA24C28A83A}" type="pres">
      <dgm:prSet presAssocID="{5BE2B2F0-BA49-4072-A448-F8B4EC733F9D}" presName="sibTrans" presStyleCnt="0"/>
      <dgm:spPr/>
    </dgm:pt>
    <dgm:pt modelId="{C14389BE-5E29-49DA-AC0F-EA9771AA486A}" type="pres">
      <dgm:prSet presAssocID="{39CF209B-C2D1-4A58-AC36-5413D727477B}" presName="textNode" presStyleLbl="node1" presStyleIdx="3" presStyleCnt="5">
        <dgm:presLayoutVars>
          <dgm:bulletEnabled val="1"/>
        </dgm:presLayoutVars>
      </dgm:prSet>
      <dgm:spPr/>
      <dgm:t>
        <a:bodyPr/>
        <a:lstStyle/>
        <a:p>
          <a:endParaRPr lang="zh-CN" altLang="en-US"/>
        </a:p>
      </dgm:t>
    </dgm:pt>
    <dgm:pt modelId="{C0BBA75A-CD6D-49C1-A825-1C76DB458976}" type="pres">
      <dgm:prSet presAssocID="{9266ED0E-3BAF-4550-A925-D28C9B04DCCC}" presName="sibTrans" presStyleCnt="0"/>
      <dgm:spPr/>
    </dgm:pt>
    <dgm:pt modelId="{55B057FC-C432-4F10-A8EB-9D5B8C3E9026}" type="pres">
      <dgm:prSet presAssocID="{B2CD300F-D6CA-4F0D-AF7D-1A943DAED24E}" presName="textNode" presStyleLbl="node1" presStyleIdx="4" presStyleCnt="5">
        <dgm:presLayoutVars>
          <dgm:bulletEnabled val="1"/>
        </dgm:presLayoutVars>
      </dgm:prSet>
      <dgm:spPr/>
      <dgm:t>
        <a:bodyPr/>
        <a:lstStyle/>
        <a:p>
          <a:endParaRPr lang="zh-CN" altLang="en-US"/>
        </a:p>
      </dgm:t>
    </dgm:pt>
  </dgm:ptLst>
  <dgm:cxnLst>
    <dgm:cxn modelId="{F60A29D3-34F7-4875-9FAC-85F475E23AB6}" type="presOf" srcId="{B2CD300F-D6CA-4F0D-AF7D-1A943DAED24E}" destId="{55B057FC-C432-4F10-A8EB-9D5B8C3E9026}" srcOrd="0" destOrd="0" presId="urn:microsoft.com/office/officeart/2005/8/layout/hProcess9"/>
    <dgm:cxn modelId="{D18CA685-FC7A-43F3-A50F-06E05BAB5127}" srcId="{2B033904-1627-4A01-963B-7FF5B0FAD86D}" destId="{CA0B6385-2D49-4D25-8C26-CCC11A9CD717}" srcOrd="1" destOrd="0" parTransId="{9A3698A4-37B1-4E92-A145-C06DECC46CC9}" sibTransId="{3593F294-6181-49AC-B846-5AB9A5A0C781}"/>
    <dgm:cxn modelId="{0CDEC4B8-42B2-47E7-9B58-13917ED464E1}" type="presOf" srcId="{AEC81445-4BD8-4477-82CE-2C5AA7E28275}" destId="{212EC7BA-17A0-40B2-B417-B6BEF9F9DB05}" srcOrd="0" destOrd="0" presId="urn:microsoft.com/office/officeart/2005/8/layout/hProcess9"/>
    <dgm:cxn modelId="{F1B9E24B-367B-4CE5-A917-E20A41D9B5DF}" srcId="{2B033904-1627-4A01-963B-7FF5B0FAD86D}" destId="{AEC81445-4BD8-4477-82CE-2C5AA7E28275}" srcOrd="2" destOrd="0" parTransId="{0975DA47-52FA-4EB2-8357-26B9EC4ABA93}" sibTransId="{5BE2B2F0-BA49-4072-A448-F8B4EC733F9D}"/>
    <dgm:cxn modelId="{C1B11CBE-A069-4FA6-A8B4-583D50E20EEB}" srcId="{2B033904-1627-4A01-963B-7FF5B0FAD86D}" destId="{6F4A0BB0-4B93-44B4-859E-7655B4D48595}" srcOrd="0" destOrd="0" parTransId="{E4D2A77B-A8BF-4224-9664-1486512547E4}" sibTransId="{5F6F57A5-5F90-4495-B440-4BDA14613A1F}"/>
    <dgm:cxn modelId="{0B90102E-26AB-4079-88B3-49899725AECC}" type="presOf" srcId="{39CF209B-C2D1-4A58-AC36-5413D727477B}" destId="{C14389BE-5E29-49DA-AC0F-EA9771AA486A}" srcOrd="0" destOrd="0" presId="urn:microsoft.com/office/officeart/2005/8/layout/hProcess9"/>
    <dgm:cxn modelId="{A0134FBC-5DB3-4404-83B6-1914F5480E81}" type="presOf" srcId="{2B033904-1627-4A01-963B-7FF5B0FAD86D}" destId="{2CD15222-5B0F-446A-A47C-C05EDC99F89A}" srcOrd="0" destOrd="0" presId="urn:microsoft.com/office/officeart/2005/8/layout/hProcess9"/>
    <dgm:cxn modelId="{D6545520-1B37-4064-8419-DE9DD0D13572}" srcId="{2B033904-1627-4A01-963B-7FF5B0FAD86D}" destId="{39CF209B-C2D1-4A58-AC36-5413D727477B}" srcOrd="3" destOrd="0" parTransId="{E2766E24-4424-454E-BEB5-C2DEEC336545}" sibTransId="{9266ED0E-3BAF-4550-A925-D28C9B04DCCC}"/>
    <dgm:cxn modelId="{D4FBEFB1-6A2B-4549-952C-1AE43AA988D4}" type="presOf" srcId="{CA0B6385-2D49-4D25-8C26-CCC11A9CD717}" destId="{A3DE9B83-835C-44FC-B84D-B78FEE5D6E6C}" srcOrd="0" destOrd="0" presId="urn:microsoft.com/office/officeart/2005/8/layout/hProcess9"/>
    <dgm:cxn modelId="{E1882B30-CFC7-4BCC-8F13-BC65DEE2AF5A}" type="presOf" srcId="{6F4A0BB0-4B93-44B4-859E-7655B4D48595}" destId="{45DB30B1-F2BA-4FE3-994C-721A12577ED8}" srcOrd="0" destOrd="0" presId="urn:microsoft.com/office/officeart/2005/8/layout/hProcess9"/>
    <dgm:cxn modelId="{D60D4097-73FC-445B-9F90-5813D0B95CA3}" srcId="{2B033904-1627-4A01-963B-7FF5B0FAD86D}" destId="{B2CD300F-D6CA-4F0D-AF7D-1A943DAED24E}" srcOrd="4" destOrd="0" parTransId="{BAD91D1D-382E-47CE-B9FF-73F2FBDD005E}" sibTransId="{ED475690-B1CB-4A55-9C9A-F9202FBA2087}"/>
    <dgm:cxn modelId="{7E01ECCD-89B7-4F19-BE22-B1F0719DF1C7}" type="presParOf" srcId="{2CD15222-5B0F-446A-A47C-C05EDC99F89A}" destId="{34E1C760-303A-4476-9AB6-D0E97F6C112D}" srcOrd="0" destOrd="0" presId="urn:microsoft.com/office/officeart/2005/8/layout/hProcess9"/>
    <dgm:cxn modelId="{A9D14390-8652-4633-9DFC-1041E49499FD}" type="presParOf" srcId="{2CD15222-5B0F-446A-A47C-C05EDC99F89A}" destId="{56992B18-2508-4464-B678-9C37984E7115}" srcOrd="1" destOrd="0" presId="urn:microsoft.com/office/officeart/2005/8/layout/hProcess9"/>
    <dgm:cxn modelId="{849D40CD-1C13-4B90-8104-DEE2027579AF}" type="presParOf" srcId="{56992B18-2508-4464-B678-9C37984E7115}" destId="{45DB30B1-F2BA-4FE3-994C-721A12577ED8}" srcOrd="0" destOrd="0" presId="urn:microsoft.com/office/officeart/2005/8/layout/hProcess9"/>
    <dgm:cxn modelId="{C5050D77-2AEA-432E-8254-B34D35BD712B}" type="presParOf" srcId="{56992B18-2508-4464-B678-9C37984E7115}" destId="{578B8DDF-9E50-49E5-AF8D-93681DD439F2}" srcOrd="1" destOrd="0" presId="urn:microsoft.com/office/officeart/2005/8/layout/hProcess9"/>
    <dgm:cxn modelId="{1039C153-6227-4842-B426-A4F67FBA6786}" type="presParOf" srcId="{56992B18-2508-4464-B678-9C37984E7115}" destId="{A3DE9B83-835C-44FC-B84D-B78FEE5D6E6C}" srcOrd="2" destOrd="0" presId="urn:microsoft.com/office/officeart/2005/8/layout/hProcess9"/>
    <dgm:cxn modelId="{CD275785-2BB3-4763-8D36-C2FE9665CA13}" type="presParOf" srcId="{56992B18-2508-4464-B678-9C37984E7115}" destId="{1C85940D-642E-48DC-8510-155608775083}" srcOrd="3" destOrd="0" presId="urn:microsoft.com/office/officeart/2005/8/layout/hProcess9"/>
    <dgm:cxn modelId="{40518871-98A6-40E8-963C-C6A7C57AE0E4}" type="presParOf" srcId="{56992B18-2508-4464-B678-9C37984E7115}" destId="{212EC7BA-17A0-40B2-B417-B6BEF9F9DB05}" srcOrd="4" destOrd="0" presId="urn:microsoft.com/office/officeart/2005/8/layout/hProcess9"/>
    <dgm:cxn modelId="{65D23573-F6DB-4AF8-9AC0-AEF46F8FDCB2}" type="presParOf" srcId="{56992B18-2508-4464-B678-9C37984E7115}" destId="{01B4822B-A813-4CEE-BFA0-9AA24C28A83A}" srcOrd="5" destOrd="0" presId="urn:microsoft.com/office/officeart/2005/8/layout/hProcess9"/>
    <dgm:cxn modelId="{4D6A0D59-015D-4586-B6AB-D2C82C71DC1B}" type="presParOf" srcId="{56992B18-2508-4464-B678-9C37984E7115}" destId="{C14389BE-5E29-49DA-AC0F-EA9771AA486A}" srcOrd="6" destOrd="0" presId="urn:microsoft.com/office/officeart/2005/8/layout/hProcess9"/>
    <dgm:cxn modelId="{3AA66E2B-B70A-4D5E-B45F-D60F60DD4A58}" type="presParOf" srcId="{56992B18-2508-4464-B678-9C37984E7115}" destId="{C0BBA75A-CD6D-49C1-A825-1C76DB458976}" srcOrd="7" destOrd="0" presId="urn:microsoft.com/office/officeart/2005/8/layout/hProcess9"/>
    <dgm:cxn modelId="{91673AAF-D1B7-4D2A-B001-9FDF3FFFCD64}" type="presParOf" srcId="{56992B18-2508-4464-B678-9C37984E7115}" destId="{55B057FC-C432-4F10-A8EB-9D5B8C3E9026}"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C760-303A-4476-9AB6-D0E97F6C112D}">
      <dsp:nvSpPr>
        <dsp:cNvPr id="0" name=""/>
        <dsp:cNvSpPr/>
      </dsp:nvSpPr>
      <dsp:spPr>
        <a:xfrm>
          <a:off x="811048" y="0"/>
          <a:ext cx="9191884" cy="147710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45DB30B1-F2BA-4FE3-994C-721A12577ED8}">
      <dsp:nvSpPr>
        <dsp:cNvPr id="0" name=""/>
        <dsp:cNvSpPr/>
      </dsp:nvSpPr>
      <dsp:spPr>
        <a:xfrm>
          <a:off x="297" y="443132"/>
          <a:ext cx="2062669" cy="59084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zh-CN" sz="1400" kern="1200" dirty="0" smtClean="0"/>
            <a:t>請假者填寫請假申請表</a:t>
          </a:r>
          <a:endParaRPr lang="zh-CN" sz="1400" kern="1200" dirty="0"/>
        </a:p>
      </dsp:txBody>
      <dsp:txXfrm>
        <a:off x="29140" y="471975"/>
        <a:ext cx="2004983" cy="533156"/>
      </dsp:txXfrm>
    </dsp:sp>
    <dsp:sp modelId="{A3DE9B83-835C-44FC-B84D-B78FEE5D6E6C}">
      <dsp:nvSpPr>
        <dsp:cNvPr id="0" name=""/>
        <dsp:cNvSpPr/>
      </dsp:nvSpPr>
      <dsp:spPr>
        <a:xfrm>
          <a:off x="2187976" y="443132"/>
          <a:ext cx="2062669" cy="59084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zh-CN" sz="1400" kern="1200" dirty="0" smtClean="0"/>
            <a:t>部門主管審批</a:t>
          </a:r>
          <a:endParaRPr lang="zh-CN" sz="1400" kern="1200" dirty="0"/>
        </a:p>
      </dsp:txBody>
      <dsp:txXfrm>
        <a:off x="2216819" y="471975"/>
        <a:ext cx="2004983" cy="533156"/>
      </dsp:txXfrm>
    </dsp:sp>
    <dsp:sp modelId="{212EC7BA-17A0-40B2-B417-B6BEF9F9DB05}">
      <dsp:nvSpPr>
        <dsp:cNvPr id="0" name=""/>
        <dsp:cNvSpPr/>
      </dsp:nvSpPr>
      <dsp:spPr>
        <a:xfrm>
          <a:off x="4375656" y="443132"/>
          <a:ext cx="2062669" cy="59084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zh-CN" sz="1400" kern="1200" dirty="0" smtClean="0"/>
            <a:t>總經理助理審批</a:t>
          </a:r>
          <a:endParaRPr lang="zh-CN" sz="1400" kern="1200" dirty="0"/>
        </a:p>
      </dsp:txBody>
      <dsp:txXfrm>
        <a:off x="4404499" y="471975"/>
        <a:ext cx="2004983" cy="533156"/>
      </dsp:txXfrm>
    </dsp:sp>
    <dsp:sp modelId="{C14389BE-5E29-49DA-AC0F-EA9771AA486A}">
      <dsp:nvSpPr>
        <dsp:cNvPr id="0" name=""/>
        <dsp:cNvSpPr/>
      </dsp:nvSpPr>
      <dsp:spPr>
        <a:xfrm>
          <a:off x="6563335" y="443132"/>
          <a:ext cx="2062669" cy="59084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zh-CN" sz="1400" kern="1200" dirty="0" smtClean="0"/>
            <a:t>人事部審批</a:t>
          </a:r>
          <a:endParaRPr lang="zh-CN" sz="1400" kern="1200" dirty="0"/>
        </a:p>
      </dsp:txBody>
      <dsp:txXfrm>
        <a:off x="6592178" y="471975"/>
        <a:ext cx="2004983" cy="533156"/>
      </dsp:txXfrm>
    </dsp:sp>
    <dsp:sp modelId="{55B057FC-C432-4F10-A8EB-9D5B8C3E9026}">
      <dsp:nvSpPr>
        <dsp:cNvPr id="0" name=""/>
        <dsp:cNvSpPr/>
      </dsp:nvSpPr>
      <dsp:spPr>
        <a:xfrm>
          <a:off x="8751015" y="443132"/>
          <a:ext cx="2062669" cy="59084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zh-CN" sz="1400" kern="1200" dirty="0" smtClean="0"/>
            <a:t>請假者休息</a:t>
          </a:r>
          <a:endParaRPr lang="zh-CN" sz="1400" kern="1200" dirty="0"/>
        </a:p>
      </dsp:txBody>
      <dsp:txXfrm>
        <a:off x="8779858" y="471975"/>
        <a:ext cx="2004983" cy="53315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28.34646" units="1/cm"/>
          <inkml:channelProperty channel="Y" name="resolution" value="28.30189" units="1/cm"/>
          <inkml:channelProperty channel="T" name="resolution" value="1" units="1/dev"/>
        </inkml:channelProperties>
      </inkml:inkSource>
      <inkml:timestamp xml:id="ts0" timeString="2022-03-31T03:44:30.8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6585 11289 0,'-23'0'125,"-24"0"-109,0 0-16,-24-47 15,-47 23-15,-46-23 16,23 23-16,47 24 16,-47-47-16,-48 47 15,95 0-15,-70 0 16,46 0-16,48 0 15,-1 0-15,0 0 16,24 0-16,-23 0 16,-1 0-16,24 0 15,-23 0-15,-1 0 16,1 0-16,-1 0 15,-47 0-15,118 0 16,-94 0-16,-23 0 31,46 0-31,1 0 16,-1-47-16,24 47 15,-24 0-15,24 0 16,-23 0-16,-24 0 16,0 0-16,0 0 15,47 0-15,-71 0 16,24 0-16,47 0 15,-24 0-15,24 0 16,0 0-16,24 0 16,-24 0-16,0 0 15,0 0-15,-24 24 16,24-24-16,-47 23 15,23 24 1,-46-23-16,46-24 16,48 0-16,-24 0 15,0 23-15,-24-23 16,1 24-16,46-24 15,1 0 1,-24 24-16,47-1 16,-24-23-1,0 0-15,-23 47 16,0-23-16,47-24 15,0 23-15,-47 1 16,24-1-16,-1 1 16,24-1-16,-47 1 15,47-24-15,-47 47 16,47 0-16,0-47 15,0 47-15,-47 0 16,47-24 0,-23 24-16,23 24 15,-24-71-15,24 23 16,0 25-16,0-25 15,0 24-15,0 0 16,0 0-16,0 0 16,0 0-16,0 0 15,0-23-15,0 23 16,0-24-16,0 1 15,0 70-15,0-94 16,0 23-16,0 48 16,0-47-1,71 46-15,-1 24 16,-23-47-16,94 0 15,24 24-15,47 23 16,-48 0-16,25-24 16,-25 1-16,24 0 15,-47-24-15,-23 0 16,-47 0-16,23-24 15,-47 24-15,-24-47 16,71 47-16,-70-47 16,23 0-16,0 0 15,94 47-15,-94-23 16,71 23-16,-48-24 15,24 1 1,-23-24-16,-24 23 16,0-23-16,47 0 15,-24 47-15,1-47 16,-24 0-16,-23 0 15,23 0-15,-47 0 16,23 0 31,1 0-47,-1 0 15,1 0-15,23 0 16,0 0-16,0 0 16,23 0-16,1 0 15,23 0-15,-23 24 16,-24 0-16,0-24 15,94 0-15,-94 0 16,70 0-16,-70 0 16,47 0-16,-46 0 15,22 0-15,-46 0 16,46 0-16,1 0 15,23 0-15,-71 0 16,95 0-16,-95 0 16,95 0-16,-47 0 15,23 23-15,70-23 16,-117 24-16,94-24 15,-23 23-15,0-23 16,-48 47-16,24-47 16,24 24-1,-24-24-15,23 0 16,1 47-16,0-47 15,-24 0-15,47 47 16,-94-47-16,47 0 16,47 0-16,-94 0 15,0 0-15,0 0 16,24 0-16,-24 0 15,47 0-15,-47 0 16,23 0-16,1 0 16,-24 0-16,0 0 15,47 0-15,-47 0 16,47 0-16,-47 0 15,0 0 1,-23 0-16,23-24 16,-24 24-16,48 0 15,0-23 1,-1-1-16,1 1 15,-1-24-15,-23 47 16,24-47-16,-71 47 16,70-24-1,-23-23-15,24 23 16,-24-23-16,-24 24 15,48-24-15,-71 47 16,47-24-16,-47 24 16,47-47-16,-23 0 15,-1 0-15,48 0 16,-71 0-16,47 24 15,-24-24-15,1-24 16,-1 24-16,-23 24 16,0-1-16,24-47 15,-24 48-15,0-48 16,0 1-1,0 23 1,0 23-16,0 1 16,0-1-16,0-23 15,0 24-15,0-1 16,0-23-16,0 0 15,-24 0-15,24 0 16,-23 23-16,-24-23 16,23 0-1,1 0-15,-1 24 16,-70-24-16,71 23 15,-48-23-15,24 24 16,-24-24-16,24 0 16,-23 23-16,46 1 15,-70-24-15,24 0 16,46 23-16,-70-23 15,24 47-15,46-47 16,-47 23-16,-23 1 16,71 23-16,-24-24 15,-24 24-15,24-23 16,47 23-16,-47-24 15,-23-23-15,46 47 16,-23 0-16,-23-47 16,-1 24-16,47 23 15,-46-24-15,-48 1 16,95-24-16,-24 47 15,23 0-15,-23 0 16,0 0-16,-23-47 16,23 47-1,-24-24-15,0 24 16,24 0-16,-23-23 15,-1-1-15,48 24 16,-48 0-16,24 0 16,0-47-16,24 47 15,-24 0-15,0 0 16,0 0-16,23 0 15,1 0-15,-25 0 16,1-47-16,0 47 16,24 0-1,-1 0-15,-23 0 16,47 0-16,-23 0 15,-1 0-15,1 0 16,-24 0-16,23 0 16,-23 0-16,24 0 15,-1 0-15,1 0 16,-1 0-16,-23 0 15,0 0-15,0 0 16,23 0-16,-46 0 16,70 0-1,-24 0-15,1 0 16,-1 0-1,-23 0 1,24 0 0,-1 0-16,1 0 15,-1 0-15,1 0 16,-1 0-1,24 0 95,-23 0-64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3DE56C-121A-4DE0-920B-9A99D8C642BE}" type="datetimeFigureOut">
              <a:rPr lang="zh-CN" altLang="en-US" smtClean="0"/>
              <a:t>2022/3/31</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F387FF-7A09-437D-98A8-66FF2233CB10}" type="slidenum">
              <a:rPr lang="zh-CN" altLang="en-US" smtClean="0"/>
              <a:t>‹#›</a:t>
            </a:fld>
            <a:endParaRPr lang="zh-CN" altLang="en-US" dirty="0"/>
          </a:p>
        </p:txBody>
      </p:sp>
    </p:spTree>
    <p:extLst>
      <p:ext uri="{BB962C8B-B14F-4D97-AF65-F5344CB8AC3E}">
        <p14:creationId xmlns:p14="http://schemas.microsoft.com/office/powerpoint/2010/main" val="2342048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F387FF-7A09-437D-98A8-66FF2233CB10}" type="slidenum">
              <a:rPr lang="zh-CN" altLang="en-US" smtClean="0"/>
              <a:t>1</a:t>
            </a:fld>
            <a:endParaRPr lang="zh-CN" altLang="en-US" dirty="0"/>
          </a:p>
        </p:txBody>
      </p:sp>
    </p:spTree>
    <p:extLst>
      <p:ext uri="{BB962C8B-B14F-4D97-AF65-F5344CB8AC3E}">
        <p14:creationId xmlns:p14="http://schemas.microsoft.com/office/powerpoint/2010/main" val="3310420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F387FF-7A09-437D-98A8-66FF2233CB10}" type="slidenum">
              <a:rPr lang="zh-CN" altLang="en-US" smtClean="0"/>
              <a:t>3</a:t>
            </a:fld>
            <a:endParaRPr lang="zh-CN" altLang="en-US" dirty="0"/>
          </a:p>
        </p:txBody>
      </p:sp>
    </p:spTree>
    <p:extLst>
      <p:ext uri="{BB962C8B-B14F-4D97-AF65-F5344CB8AC3E}">
        <p14:creationId xmlns:p14="http://schemas.microsoft.com/office/powerpoint/2010/main" val="433611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F387FF-7A09-437D-98A8-66FF2233CB10}" type="slidenum">
              <a:rPr lang="zh-CN" altLang="en-US" smtClean="0"/>
              <a:t>9</a:t>
            </a:fld>
            <a:endParaRPr lang="zh-CN" altLang="en-US" dirty="0"/>
          </a:p>
        </p:txBody>
      </p:sp>
    </p:spTree>
    <p:extLst>
      <p:ext uri="{BB962C8B-B14F-4D97-AF65-F5344CB8AC3E}">
        <p14:creationId xmlns:p14="http://schemas.microsoft.com/office/powerpoint/2010/main" val="3509185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F387FF-7A09-437D-98A8-66FF2233CB10}" type="slidenum">
              <a:rPr lang="zh-CN" altLang="en-US" smtClean="0"/>
              <a:t>16</a:t>
            </a:fld>
            <a:endParaRPr lang="zh-CN" altLang="en-US" dirty="0"/>
          </a:p>
        </p:txBody>
      </p:sp>
    </p:spTree>
    <p:extLst>
      <p:ext uri="{BB962C8B-B14F-4D97-AF65-F5344CB8AC3E}">
        <p14:creationId xmlns:p14="http://schemas.microsoft.com/office/powerpoint/2010/main" val="3578070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167118930"/>
      </p:ext>
    </p:extLst>
  </p:cSld>
  <p:clrMapOvr>
    <a:masterClrMapping/>
  </p:clrMapOvr>
  <p:transition spd="slow" advTm="5000">
    <p:push/>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首页和尾页">
    <p:spTree>
      <p:nvGrpSpPr>
        <p:cNvPr id="1" name=""/>
        <p:cNvGrpSpPr/>
        <p:nvPr/>
      </p:nvGrpSpPr>
      <p:grpSpPr>
        <a:xfrm>
          <a:off x="0" y="0"/>
          <a:ext cx="0" cy="0"/>
          <a:chOff x="0" y="0"/>
          <a:chExt cx="0" cy="0"/>
        </a:xfrm>
      </p:grpSpPr>
      <p:sp>
        <p:nvSpPr>
          <p:cNvPr id="7" name="矩形 6"/>
          <p:cNvSpPr/>
          <p:nvPr userDrawn="1"/>
        </p:nvSpPr>
        <p:spPr>
          <a:xfrm>
            <a:off x="1" y="326201"/>
            <a:ext cx="220755" cy="392378"/>
          </a:xfrm>
          <a:prstGeom prst="rect">
            <a:avLst/>
          </a:prstGeom>
          <a:solidFill>
            <a:srgbClr val="0073B2"/>
          </a:solidFill>
          <a:ln>
            <a:solidFill>
              <a:srgbClr val="0073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defTabSz="914400"/>
            <a:endParaRPr lang="zh-CN" altLang="en-US" sz="180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5310" y="1088245"/>
            <a:ext cx="4349369" cy="5376777"/>
          </a:xfrm>
          <a:prstGeom prst="rect">
            <a:avLst/>
          </a:prstGeom>
        </p:spPr>
      </p:pic>
      <p:cxnSp>
        <p:nvCxnSpPr>
          <p:cNvPr id="8" name="肘形连接符 7"/>
          <p:cNvCxnSpPr/>
          <p:nvPr userDrawn="1"/>
        </p:nvCxnSpPr>
        <p:spPr>
          <a:xfrm>
            <a:off x="217517" y="573314"/>
            <a:ext cx="11971244" cy="5922383"/>
          </a:xfrm>
          <a:prstGeom prst="bentConnector3">
            <a:avLst>
              <a:gd name="adj1" fmla="val 21719"/>
            </a:avLst>
          </a:prstGeom>
          <a:ln>
            <a:solidFill>
              <a:srgbClr val="0073B2"/>
            </a:solidFill>
          </a:ln>
        </p:spPr>
        <p:style>
          <a:lnRef idx="2">
            <a:schemeClr val="accent1">
              <a:shade val="50000"/>
            </a:schemeClr>
          </a:lnRef>
          <a:fillRef idx="1">
            <a:schemeClr val="accent1"/>
          </a:fillRef>
          <a:effectRef idx="0">
            <a:schemeClr val="accent1"/>
          </a:effectRef>
          <a:fontRef idx="minor">
            <a:schemeClr val="lt1"/>
          </a:fontRef>
        </p:style>
      </p:cxnSp>
      <p:sp>
        <p:nvSpPr>
          <p:cNvPr id="10" name="等腰三角形 9"/>
          <p:cNvSpPr/>
          <p:nvPr userDrawn="1"/>
        </p:nvSpPr>
        <p:spPr>
          <a:xfrm rot="1844125">
            <a:off x="7837976" y="756549"/>
            <a:ext cx="965790" cy="905010"/>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dirty="0"/>
          </a:p>
        </p:txBody>
      </p:sp>
      <p:sp>
        <p:nvSpPr>
          <p:cNvPr id="11" name="等腰三角形 10"/>
          <p:cNvSpPr/>
          <p:nvPr userDrawn="1"/>
        </p:nvSpPr>
        <p:spPr>
          <a:xfrm rot="1844125">
            <a:off x="9271135" y="1"/>
            <a:ext cx="965790" cy="905010"/>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12" name="等腰三角形 11"/>
          <p:cNvSpPr/>
          <p:nvPr userDrawn="1"/>
        </p:nvSpPr>
        <p:spPr>
          <a:xfrm rot="1844125">
            <a:off x="10331150" y="1"/>
            <a:ext cx="965790" cy="905010"/>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13" name="等腰三角形 12"/>
          <p:cNvSpPr/>
          <p:nvPr userDrawn="1"/>
        </p:nvSpPr>
        <p:spPr>
          <a:xfrm rot="1844125">
            <a:off x="11182190" y="197038"/>
            <a:ext cx="965790" cy="905010"/>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14" name="等腰三角形 13"/>
          <p:cNvSpPr/>
          <p:nvPr userDrawn="1"/>
        </p:nvSpPr>
        <p:spPr>
          <a:xfrm rot="1844125">
            <a:off x="9855210" y="1246292"/>
            <a:ext cx="789402" cy="739722"/>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15" name="等腰三角形 14"/>
          <p:cNvSpPr/>
          <p:nvPr userDrawn="1"/>
        </p:nvSpPr>
        <p:spPr>
          <a:xfrm rot="1844125">
            <a:off x="11069569" y="1975751"/>
            <a:ext cx="631327" cy="591596"/>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16" name="等腰三角形 15"/>
          <p:cNvSpPr/>
          <p:nvPr userDrawn="1"/>
        </p:nvSpPr>
        <p:spPr>
          <a:xfrm rot="1844125">
            <a:off x="11187200" y="2013226"/>
            <a:ext cx="1438314" cy="1347798"/>
          </a:xfrm>
          <a:prstGeom prst="triangle">
            <a:avLst/>
          </a:prstGeom>
          <a:solidFill>
            <a:srgbClr val="C7DBDD"/>
          </a:solidFill>
          <a:ln>
            <a:solidFill>
              <a:srgbClr val="C7D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20" name="矩形 19"/>
          <p:cNvSpPr/>
          <p:nvPr userDrawn="1"/>
        </p:nvSpPr>
        <p:spPr>
          <a:xfrm>
            <a:off x="11018755" y="5894124"/>
            <a:ext cx="1170006" cy="550649"/>
          </a:xfrm>
          <a:prstGeom prst="rect">
            <a:avLst/>
          </a:prstGeom>
          <a:solidFill>
            <a:srgbClr val="0073B2"/>
          </a:solidFill>
          <a:ln>
            <a:solidFill>
              <a:srgbClr val="0073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21" name="椭圆 20"/>
          <p:cNvSpPr/>
          <p:nvPr userDrawn="1"/>
        </p:nvSpPr>
        <p:spPr>
          <a:xfrm>
            <a:off x="11186932" y="5985876"/>
            <a:ext cx="354208" cy="385023"/>
          </a:xfrm>
          <a:prstGeom prst="ellipse">
            <a:avLst/>
          </a:prstGeom>
          <a:pattFill prst="ltDnDiag">
            <a:fgClr>
              <a:schemeClr val="accent1"/>
            </a:fgClr>
            <a:bgClr>
              <a:schemeClr val="tx2">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22" name="椭圆 21"/>
          <p:cNvSpPr/>
          <p:nvPr userDrawn="1"/>
        </p:nvSpPr>
        <p:spPr>
          <a:xfrm>
            <a:off x="11454813" y="5894124"/>
            <a:ext cx="216179" cy="234986"/>
          </a:xfrm>
          <a:prstGeom prst="ellipse">
            <a:avLst/>
          </a:prstGeom>
          <a:pattFill prst="ltDnDiag">
            <a:fgClr>
              <a:schemeClr val="accent1"/>
            </a:fgClr>
            <a:bgClr>
              <a:schemeClr val="tx2">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23" name="椭圆 22"/>
          <p:cNvSpPr/>
          <p:nvPr userDrawn="1"/>
        </p:nvSpPr>
        <p:spPr>
          <a:xfrm>
            <a:off x="11853372" y="6209631"/>
            <a:ext cx="202201" cy="219792"/>
          </a:xfrm>
          <a:prstGeom prst="ellipse">
            <a:avLst/>
          </a:prstGeom>
          <a:pattFill prst="ltDnDiag">
            <a:fgClr>
              <a:schemeClr val="accent1"/>
            </a:fgClr>
            <a:bgClr>
              <a:schemeClr val="tx2">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972272967"/>
      </p:ext>
    </p:extLst>
  </p:cSld>
  <p:clrMapOvr>
    <a:masterClrMapping/>
  </p:clrMapOvr>
  <p:transition spd="slow" advTm="5000">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矩形 7"/>
          <p:cNvSpPr/>
          <p:nvPr userDrawn="1"/>
        </p:nvSpPr>
        <p:spPr>
          <a:xfrm>
            <a:off x="-1" y="-11875"/>
            <a:ext cx="12192001" cy="1144003"/>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3" name="内容占位符 2"/>
          <p:cNvSpPr>
            <a:spLocks noGrp="1"/>
          </p:cNvSpPr>
          <p:nvPr>
            <p:ph idx="1"/>
          </p:nvPr>
        </p:nvSpPr>
        <p:spPr/>
        <p:txBody>
          <a:bodyPr>
            <a:normAutofit/>
          </a:bodyPr>
          <a:lstStyle>
            <a:lvl1pPr>
              <a:defRPr sz="2400">
                <a:latin typeface="微软雅黑" panose="020B0503020204020204" pitchFamily="34" charset="-122"/>
                <a:ea typeface="微软雅黑" panose="020B0503020204020204" pitchFamily="34" charset="-122"/>
              </a:defRPr>
            </a:lvl1pPr>
            <a:lvl2pPr>
              <a:defRPr sz="20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566017" y="-101600"/>
            <a:ext cx="10515600" cy="1325563"/>
          </a:xfr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B02FEE-4A3C-491E-B806-B83654B4B1A9}" type="slidenum">
              <a:rPr lang="zh-CN" altLang="en-US" smtClean="0"/>
              <a:t>‹#›</a:t>
            </a:fld>
            <a:endParaRPr lang="zh-CN" altLang="en-US" dirty="0"/>
          </a:p>
        </p:txBody>
      </p:sp>
      <p:sp>
        <p:nvSpPr>
          <p:cNvPr id="10" name="等腰三角形 1"/>
          <p:cNvSpPr/>
          <p:nvPr userDrawn="1"/>
        </p:nvSpPr>
        <p:spPr bwMode="hidden">
          <a:xfrm>
            <a:off x="1572637" y="2570773"/>
            <a:ext cx="6387920" cy="4622739"/>
          </a:xfrm>
          <a:custGeom>
            <a:avLst/>
            <a:gdLst/>
            <a:ahLst/>
            <a:cxnLst/>
            <a:rect l="l" t="t" r="r" b="b"/>
            <a:pathLst>
              <a:path w="2754963" h="3482350">
                <a:moveTo>
                  <a:pt x="1919671" y="1800200"/>
                </a:moveTo>
                <a:lnTo>
                  <a:pt x="2337317" y="1080120"/>
                </a:lnTo>
                <a:lnTo>
                  <a:pt x="2754963" y="1800200"/>
                </a:lnTo>
                <a:close/>
                <a:moveTo>
                  <a:pt x="1770813" y="3237241"/>
                </a:moveTo>
                <a:lnTo>
                  <a:pt x="2144886" y="2592288"/>
                </a:lnTo>
                <a:lnTo>
                  <a:pt x="1915137" y="2592288"/>
                </a:lnTo>
                <a:lnTo>
                  <a:pt x="2332783" y="1872208"/>
                </a:lnTo>
                <a:lnTo>
                  <a:pt x="2750429" y="2592288"/>
                </a:lnTo>
                <a:lnTo>
                  <a:pt x="2232033" y="2592288"/>
                </a:lnTo>
                <a:lnTo>
                  <a:pt x="2606105" y="3237241"/>
                </a:lnTo>
                <a:close/>
                <a:moveTo>
                  <a:pt x="1353167" y="720080"/>
                </a:moveTo>
                <a:lnTo>
                  <a:pt x="1770813" y="0"/>
                </a:lnTo>
                <a:lnTo>
                  <a:pt x="2188459" y="720080"/>
                </a:lnTo>
                <a:close/>
                <a:moveTo>
                  <a:pt x="1155756" y="2098708"/>
                </a:moveTo>
                <a:lnTo>
                  <a:pt x="1502025" y="1501692"/>
                </a:lnTo>
                <a:lnTo>
                  <a:pt x="1848294" y="2098708"/>
                </a:lnTo>
                <a:close/>
                <a:moveTo>
                  <a:pt x="0" y="3482350"/>
                </a:moveTo>
                <a:lnTo>
                  <a:pt x="604283" y="2440482"/>
                </a:lnTo>
                <a:lnTo>
                  <a:pt x="808372" y="2792359"/>
                </a:lnTo>
                <a:lnTo>
                  <a:pt x="1005461" y="2452550"/>
                </a:lnTo>
                <a:lnTo>
                  <a:pt x="1300603" y="2961416"/>
                </a:lnTo>
                <a:lnTo>
                  <a:pt x="906425" y="2961416"/>
                </a:lnTo>
                <a:lnTo>
                  <a:pt x="1208566" y="3482350"/>
                </a:lnTo>
                <a:close/>
              </a:path>
            </a:pathLst>
          </a:custGeom>
          <a:solidFill>
            <a:srgbClr val="0073B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9" name="矩形 8"/>
          <p:cNvSpPr/>
          <p:nvPr userDrawn="1"/>
        </p:nvSpPr>
        <p:spPr>
          <a:xfrm>
            <a:off x="-1" y="6721475"/>
            <a:ext cx="12192001" cy="136524"/>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45877" y="0"/>
            <a:ext cx="646123" cy="646123"/>
          </a:xfrm>
          <a:prstGeom prst="rect">
            <a:avLst/>
          </a:prstGeom>
        </p:spPr>
      </p:pic>
    </p:spTree>
    <p:extLst>
      <p:ext uri="{BB962C8B-B14F-4D97-AF65-F5344CB8AC3E}">
        <p14:creationId xmlns:p14="http://schemas.microsoft.com/office/powerpoint/2010/main" val="2723488854"/>
      </p:ext>
    </p:extLst>
  </p:cSld>
  <p:clrMapOvr>
    <a:masterClrMapping/>
  </p:clrMapOvr>
  <p:transition spd="slow" advTm="5000">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1365527023"/>
      </p:ext>
    </p:extLst>
  </p:cSld>
  <p:clrMapOvr>
    <a:masterClrMapping/>
  </p:clrMapOvr>
  <p:transition spd="slow" advTm="5000">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3578385915"/>
      </p:ext>
    </p:extLst>
  </p:cSld>
  <p:clrMapOvr>
    <a:masterClrMapping/>
  </p:clrMapOvr>
  <p:transition spd="slow" advTm="5000">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411386094"/>
      </p:ext>
    </p:extLst>
  </p:cSld>
  <p:clrMapOvr>
    <a:masterClrMapping/>
  </p:clrMapOvr>
  <p:transition spd="slow" advTm="5000">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2788936421"/>
      </p:ext>
    </p:extLst>
  </p:cSld>
  <p:clrMapOvr>
    <a:masterClrMapping/>
  </p:clrMapOvr>
  <p:transition spd="slow" advTm="5000">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1852227884"/>
      </p:ext>
    </p:extLst>
  </p:cSld>
  <p:clrMapOvr>
    <a:masterClrMapping/>
  </p:clrMapOvr>
  <p:transition spd="slow" advTm="5000">
    <p:push/>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3498866919"/>
      </p:ext>
    </p:extLst>
  </p:cSld>
  <p:clrMapOvr>
    <a:masterClrMapping/>
  </p:clrMapOvr>
  <p:transition spd="slow" advTm="5000">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3038458145"/>
      </p:ext>
    </p:extLst>
  </p:cSld>
  <p:clrMapOvr>
    <a:masterClrMapping/>
  </p:clrMapOvr>
  <p:transition spd="slow" advTm="5000">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1663081398"/>
      </p:ext>
    </p:extLst>
  </p:cSld>
  <p:clrMapOvr>
    <a:masterClrMapping/>
  </p:clrMapOvr>
  <p:transition spd="slow" advTm="5000">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350363779"/>
      </p:ext>
    </p:extLst>
  </p:cSld>
  <p:clrMapOvr>
    <a:masterClrMapping/>
  </p:clrMapOvr>
  <p:transition spd="slow" advTm="5000">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8514D0-9122-4BD4-ACD4-E7FA0D6645FE}" type="datetimeFigureOut">
              <a:rPr lang="zh-CN" altLang="en-US" smtClean="0"/>
              <a:t>2022/3/31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B02FEE-4A3C-491E-B806-B83654B4B1A9}" type="slidenum">
              <a:rPr lang="zh-CN" altLang="en-US" smtClean="0"/>
              <a:t>‹#›</a:t>
            </a:fld>
            <a:endParaRPr lang="zh-CN" altLang="en-US" dirty="0"/>
          </a:p>
        </p:txBody>
      </p:sp>
    </p:spTree>
    <p:extLst>
      <p:ext uri="{BB962C8B-B14F-4D97-AF65-F5344CB8AC3E}">
        <p14:creationId xmlns:p14="http://schemas.microsoft.com/office/powerpoint/2010/main" val="26432698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slow" advTm="5000">
    <p:push/>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diagramLayout" Target="../diagrams/layout1.xml"/><Relationship Id="rId7" Type="http://schemas.openxmlformats.org/officeDocument/2006/relationships/customXml" Target="../ink/ink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029200" y="2008912"/>
            <a:ext cx="5951250" cy="2585323"/>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lnSpc>
                <a:spcPct val="150000"/>
              </a:lnSpc>
            </a:pPr>
            <a:r>
              <a:rPr lang="zh-CN" altLang="en-US" sz="5400" b="1" dirty="0" smtClean="0">
                <a:solidFill>
                  <a:srgbClr val="0073B2"/>
                </a:solidFill>
                <a:latin typeface="方正姚体" pitchFamily="2" charset="-122"/>
                <a:ea typeface="方正姚体" pitchFamily="2" charset="-122"/>
              </a:rPr>
              <a:t>新員工入職培訓之公司規章制度篇</a:t>
            </a:r>
            <a:endParaRPr lang="zh-CN" altLang="en-US" sz="5400" b="1" dirty="0">
              <a:solidFill>
                <a:srgbClr val="0073B2"/>
              </a:solidFill>
              <a:latin typeface="方正姚体" pitchFamily="2" charset="-122"/>
              <a:ea typeface="方正姚体" pitchFamily="2" charset="-122"/>
            </a:endParaRPr>
          </a:p>
        </p:txBody>
      </p:sp>
    </p:spTree>
    <p:extLst>
      <p:ext uri="{BB962C8B-B14F-4D97-AF65-F5344CB8AC3E}">
        <p14:creationId xmlns:p14="http://schemas.microsoft.com/office/powerpoint/2010/main" val="2974630369"/>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12191999" cy="6858000"/>
          </a:xfrm>
          <a:prstGeom prst="rect">
            <a:avLst/>
          </a:prstGeom>
          <a:solidFill>
            <a:srgbClr val="0073B2"/>
          </a:solidFill>
          <a:ln w="9525">
            <a:solidFill>
              <a:srgbClr val="0073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pic>
        <p:nvPicPr>
          <p:cNvPr id="3" name="图片 2"/>
          <p:cNvPicPr>
            <a:picLocks noChangeAspect="1"/>
          </p:cNvPicPr>
          <p:nvPr/>
        </p:nvPicPr>
        <p:blipFill>
          <a:blip r:embed="rId2">
            <a:lum bright="70000" contrast="-70000"/>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4388992" y="1269402"/>
            <a:ext cx="7803007" cy="4836239"/>
          </a:xfrm>
          <a:prstGeom prst="rect">
            <a:avLst/>
          </a:prstGeom>
          <a:noFill/>
          <a:ln>
            <a:noFill/>
          </a:ln>
        </p:spPr>
      </p:pic>
      <p:sp>
        <p:nvSpPr>
          <p:cNvPr id="4" name="椭圆 5"/>
          <p:cNvSpPr/>
          <p:nvPr/>
        </p:nvSpPr>
        <p:spPr>
          <a:xfrm>
            <a:off x="10358849" y="3687521"/>
            <a:ext cx="474102" cy="561750"/>
          </a:xfrm>
          <a:custGeom>
            <a:avLst/>
            <a:gdLst/>
            <a:ahLst/>
            <a:cxnLst/>
            <a:rect l="l" t="t" r="r" b="b"/>
            <a:pathLst>
              <a:path w="370280" h="446871">
                <a:moveTo>
                  <a:pt x="185140" y="77128"/>
                </a:moveTo>
                <a:cubicBezTo>
                  <a:pt x="125487" y="77128"/>
                  <a:pt x="77128" y="125487"/>
                  <a:pt x="77128" y="185140"/>
                </a:cubicBezTo>
                <a:cubicBezTo>
                  <a:pt x="77128" y="244793"/>
                  <a:pt x="125487" y="293152"/>
                  <a:pt x="185140" y="293152"/>
                </a:cubicBezTo>
                <a:cubicBezTo>
                  <a:pt x="244793" y="293152"/>
                  <a:pt x="293152" y="244793"/>
                  <a:pt x="293152" y="185140"/>
                </a:cubicBezTo>
                <a:cubicBezTo>
                  <a:pt x="293152" y="125487"/>
                  <a:pt x="244793" y="77128"/>
                  <a:pt x="185140" y="77128"/>
                </a:cubicBezTo>
                <a:close/>
                <a:moveTo>
                  <a:pt x="190162" y="68"/>
                </a:moveTo>
                <a:cubicBezTo>
                  <a:pt x="237526" y="1353"/>
                  <a:pt x="284400" y="20707"/>
                  <a:pt x="319557" y="57825"/>
                </a:cubicBezTo>
                <a:cubicBezTo>
                  <a:pt x="389871" y="132062"/>
                  <a:pt x="386691" y="249243"/>
                  <a:pt x="312455" y="319557"/>
                </a:cubicBezTo>
                <a:lnTo>
                  <a:pt x="178038" y="446871"/>
                </a:lnTo>
                <a:lnTo>
                  <a:pt x="50723" y="312455"/>
                </a:lnTo>
                <a:cubicBezTo>
                  <a:pt x="-19591" y="238219"/>
                  <a:pt x="-16411" y="121038"/>
                  <a:pt x="57825" y="50723"/>
                </a:cubicBezTo>
                <a:cubicBezTo>
                  <a:pt x="94943" y="15566"/>
                  <a:pt x="142798" y="-1217"/>
                  <a:pt x="190162" y="68"/>
                </a:cubicBezTo>
                <a:close/>
              </a:path>
            </a:pathLst>
          </a:custGeom>
          <a:solidFill>
            <a:srgbClr val="F5C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p>
        </p:txBody>
      </p:sp>
      <p:sp>
        <p:nvSpPr>
          <p:cNvPr id="5" name="矩形 4"/>
          <p:cNvSpPr/>
          <p:nvPr/>
        </p:nvSpPr>
        <p:spPr>
          <a:xfrm>
            <a:off x="423134" y="1157435"/>
            <a:ext cx="5805544" cy="2523768"/>
          </a:xfrm>
          <a:prstGeom prst="rect">
            <a:avLst/>
          </a:prstGeom>
        </p:spPr>
        <p:txBody>
          <a:bodyPr wrap="square">
            <a:spAutoFit/>
          </a:bodyPr>
          <a:lstStyle/>
          <a:p>
            <a:pPr>
              <a:spcBef>
                <a:spcPts val="1200"/>
              </a:spcBef>
              <a:spcAft>
                <a:spcPts val="1200"/>
              </a:spcAft>
            </a:pPr>
            <a:r>
              <a:rPr lang="zh-CN" altLang="en-US" sz="28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沒有</a:t>
            </a:r>
            <a:r>
              <a:rPr lang="zh-CN" altLang="en-US" sz="5400" b="1" dirty="0" smtClean="0">
                <a:ln w="12700">
                  <a:solidFill>
                    <a:schemeClr val="accent1"/>
                  </a:solidFill>
                  <a:prstDash val="solid"/>
                </a:ln>
                <a:solidFill>
                  <a:schemeClr val="bg1"/>
                </a:solidFill>
                <a:effectLst>
                  <a:outerShdw dist="38100" dir="2640000" algn="bl" rotWithShape="0">
                    <a:schemeClr val="accent1"/>
                  </a:outerShdw>
                </a:effectLst>
                <a:latin typeface="方正姚体" pitchFamily="2" charset="-122"/>
                <a:ea typeface="方正姚体" pitchFamily="2" charset="-122"/>
              </a:rPr>
              <a:t>規矩</a:t>
            </a:r>
            <a:r>
              <a:rPr lang="zh-CN" altLang="en-US" sz="28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a:t>
            </a:r>
            <a:r>
              <a:rPr lang="zh-CN" altLang="en-US" sz="2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不</a:t>
            </a:r>
            <a:r>
              <a:rPr lang="zh-CN" altLang="en-US" sz="28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成</a:t>
            </a:r>
            <a:r>
              <a:rPr lang="zh-CN" altLang="en-US" sz="5400" b="1" dirty="0" smtClean="0">
                <a:ln w="12700">
                  <a:solidFill>
                    <a:schemeClr val="accent1"/>
                  </a:solidFill>
                  <a:prstDash val="solid"/>
                </a:ln>
                <a:solidFill>
                  <a:schemeClr val="bg1"/>
                </a:solidFill>
                <a:effectLst>
                  <a:outerShdw dist="38100" dir="2640000" algn="bl" rotWithShape="0">
                    <a:schemeClr val="accent1"/>
                  </a:outerShdw>
                </a:effectLst>
                <a:latin typeface="方正姚体" pitchFamily="2" charset="-122"/>
                <a:ea typeface="方正姚体" pitchFamily="2" charset="-122"/>
              </a:rPr>
              <a:t>方圓</a:t>
            </a:r>
            <a: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
            </a:r>
            <a:b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br>
            <a: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rPr>
              <a:t>               </a:t>
            </a:r>
            <a:endParaRPr lang="en-US" altLang="zh-CN"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方正姚体" pitchFamily="2" charset="-122"/>
              <a:ea typeface="方正姚体" pitchFamily="2" charset="-122"/>
            </a:endParaRPr>
          </a:p>
          <a:p>
            <a:pPr algn="r">
              <a:spcBef>
                <a:spcPts val="1200"/>
              </a:spcBef>
              <a:spcAft>
                <a:spcPts val="1200"/>
              </a:spcAft>
            </a:pPr>
            <a:r>
              <a:rPr lang="en-US" altLang="zh-CN" sz="3600" b="1" dirty="0">
                <a:ln w="9525">
                  <a:solidFill>
                    <a:schemeClr val="bg1"/>
                  </a:solidFill>
                  <a:prstDash val="solid"/>
                </a:ln>
                <a:effectLst>
                  <a:outerShdw blurRad="12700" dist="38100" dir="2700000" algn="tl" rotWithShape="0">
                    <a:schemeClr val="bg1">
                      <a:lumMod val="50000"/>
                    </a:schemeClr>
                  </a:outerShdw>
                </a:effectLst>
                <a:latin typeface="方正姚体" pitchFamily="2" charset="-122"/>
                <a:ea typeface="方正姚体" pitchFamily="2" charset="-122"/>
              </a:rPr>
              <a:t>    </a:t>
            </a:r>
            <a:r>
              <a:rPr lang="en-US" altLang="zh-CN" sz="3600" b="1" dirty="0" smtClean="0">
                <a:ln w="9525">
                  <a:solidFill>
                    <a:schemeClr val="bg1"/>
                  </a:solidFill>
                  <a:prstDash val="solid"/>
                </a:ln>
                <a:effectLst>
                  <a:outerShdw blurRad="12700" dist="38100" dir="2700000" algn="tl" rotWithShape="0">
                    <a:schemeClr val="bg1">
                      <a:lumMod val="50000"/>
                    </a:schemeClr>
                  </a:outerShdw>
                </a:effectLst>
                <a:latin typeface="方正姚体" pitchFamily="2" charset="-122"/>
                <a:ea typeface="方正姚体" pitchFamily="2" charset="-122"/>
              </a:rPr>
              <a:t>——</a:t>
            </a:r>
            <a:r>
              <a:rPr lang="zh-CN" altLang="en-US" sz="3600" b="1" dirty="0" smtClean="0">
                <a:ln w="9525">
                  <a:solidFill>
                    <a:schemeClr val="bg1"/>
                  </a:solidFill>
                  <a:prstDash val="solid"/>
                </a:ln>
                <a:effectLst>
                  <a:outerShdw blurRad="12700" dist="38100" dir="2700000" algn="tl" rotWithShape="0">
                    <a:schemeClr val="bg1">
                      <a:lumMod val="50000"/>
                    </a:schemeClr>
                  </a:outerShdw>
                </a:effectLst>
                <a:latin typeface="方正姚体" pitchFamily="2" charset="-122"/>
                <a:ea typeface="方正姚体" pitchFamily="2" charset="-122"/>
              </a:rPr>
              <a:t>行政規章制度宣講</a:t>
            </a:r>
            <a:endParaRPr lang="zh-CN" altLang="en-US" sz="3600" b="1" dirty="0">
              <a:ln w="9525">
                <a:solidFill>
                  <a:schemeClr val="bg1"/>
                </a:solidFill>
                <a:prstDash val="solid"/>
              </a:ln>
              <a:effectLst>
                <a:outerShdw blurRad="12700" dist="38100" dir="2700000" algn="tl" rotWithShape="0">
                  <a:schemeClr val="bg1">
                    <a:lumMod val="50000"/>
                  </a:schemeClr>
                </a:outerShdw>
              </a:effectLst>
              <a:latin typeface="方正姚体" pitchFamily="2" charset="-122"/>
              <a:ea typeface="方正姚体" pitchFamily="2" charset="-122"/>
            </a:endParaRPr>
          </a:p>
        </p:txBody>
      </p:sp>
    </p:spTree>
    <p:extLst>
      <p:ext uri="{BB962C8B-B14F-4D97-AF65-F5344CB8AC3E}">
        <p14:creationId xmlns:p14="http://schemas.microsoft.com/office/powerpoint/2010/main" val="350841345"/>
      </p:ext>
    </p:extLst>
  </p:cSld>
  <p:clrMapOvr>
    <a:masterClrMapping/>
  </p:clrMapOvr>
  <p:transition spd="slow" advTm="500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childTnLst>
                          </p:cTn>
                        </p:par>
                        <p:par>
                          <p:cTn id="18" fill="hold">
                            <p:stCondLst>
                              <p:cond delay="500"/>
                            </p:stCondLst>
                            <p:childTnLst>
                              <p:par>
                                <p:cTn id="19" presetID="19" presetClass="emph" presetSubtype="0" repeatCount="indefinite" fill="hold" grpId="1" nodeType="afterEffect">
                                  <p:stCondLst>
                                    <p:cond delay="0"/>
                                  </p:stCondLst>
                                  <p:childTnLst>
                                    <p:animClr clrSpc="rgb" dir="cw">
                                      <p:cBhvr override="childStyle">
                                        <p:cTn id="20" dur="2000" fill="hold"/>
                                        <p:tgtEl>
                                          <p:spTgt spid="4"/>
                                        </p:tgtEl>
                                        <p:attrNameLst>
                                          <p:attrName>style.color</p:attrName>
                                        </p:attrNameLst>
                                      </p:cBhvr>
                                      <p:to>
                                        <a:schemeClr val="accent2"/>
                                      </p:to>
                                    </p:animClr>
                                    <p:animClr clrSpc="rgb" dir="cw">
                                      <p:cBhvr>
                                        <p:cTn id="21" dur="2000" fill="hold"/>
                                        <p:tgtEl>
                                          <p:spTgt spid="4"/>
                                        </p:tgtEl>
                                        <p:attrNameLst>
                                          <p:attrName>fillcolor</p:attrName>
                                        </p:attrNameLst>
                                      </p:cBhvr>
                                      <p:to>
                                        <a:schemeClr val="accent2"/>
                                      </p:to>
                                    </p:animClr>
                                    <p:set>
                                      <p:cBhvr>
                                        <p:cTn id="22" dur="2000" fill="hold"/>
                                        <p:tgtEl>
                                          <p:spTgt spid="4"/>
                                        </p:tgtEl>
                                        <p:attrNameLst>
                                          <p:attrName>fill.type</p:attrName>
                                        </p:attrNameLst>
                                      </p:cBhvr>
                                      <p:to>
                                        <p:strVal val="solid"/>
                                      </p:to>
                                    </p:set>
                                    <p:set>
                                      <p:cBhvr>
                                        <p:cTn id="23" dur="2000" fill="hold"/>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078557" y="349891"/>
            <a:ext cx="10034886" cy="770084"/>
          </a:xfrm>
          <a:prstGeom prst="rect">
            <a:avLst/>
          </a:prstGeom>
          <a:noFill/>
          <a:ln>
            <a:noFill/>
          </a:ln>
          <a:effectLst>
            <a:prstShdw prst="shdw12">
              <a:srgbClr val="808080"/>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Lst>
        </p:spPr>
        <p:txBody>
          <a:bodyPr wrap="square" lIns="92075" tIns="46038" rIns="92075" bIns="46038">
            <a:spAutoFit/>
          </a:bodyPr>
          <a:lstStyle>
            <a:defPPr>
              <a:defRPr lang="zh-CN"/>
            </a:defPPr>
            <a:lvl1pPr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9pPr>
          </a:lstStyle>
          <a:p>
            <a:pPr>
              <a:spcBef>
                <a:spcPct val="50000"/>
              </a:spcBef>
              <a:buClrTx/>
            </a:pPr>
            <a:r>
              <a:rPr kumimoji="1" lang="zh-CN" altLang="en-US" sz="4400" b="1" dirty="0" smtClean="0">
                <a:solidFill>
                  <a:schemeClr val="hlink"/>
                </a:solidFill>
                <a:latin typeface="黑体" pitchFamily="49" charset="-122"/>
                <a:ea typeface="黑体" pitchFamily="49" charset="-122"/>
              </a:rPr>
              <a:t>提及制度，很多人出現最多的心理活動</a:t>
            </a:r>
            <a:endParaRPr kumimoji="1" lang="zh-CN" altLang="en-US" sz="4400" b="1" dirty="0">
              <a:solidFill>
                <a:schemeClr val="hlink"/>
              </a:solidFill>
              <a:latin typeface="黑体" pitchFamily="49" charset="-122"/>
              <a:ea typeface="黑体" pitchFamily="49" charset="-122"/>
            </a:endParaRPr>
          </a:p>
        </p:txBody>
      </p:sp>
      <p:sp>
        <p:nvSpPr>
          <p:cNvPr id="11" name="Text Box 5"/>
          <p:cNvSpPr txBox="1">
            <a:spLocks noChangeArrowheads="1"/>
          </p:cNvSpPr>
          <p:nvPr/>
        </p:nvSpPr>
        <p:spPr bwMode="auto">
          <a:xfrm>
            <a:off x="1875521" y="4865952"/>
            <a:ext cx="6263852" cy="1483670"/>
          </a:xfrm>
          <a:prstGeom prst="wedgeRoundRectCallou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defPPr>
              <a:defRPr lang="zh-CN"/>
            </a:defPPr>
            <a:lvl1pPr fontAlgn="base">
              <a:spcBef>
                <a:spcPct val="50000"/>
              </a:spcBef>
              <a:spcAft>
                <a:spcPct val="0"/>
              </a:spcAft>
              <a:buClrTx/>
              <a:defRPr kumimoji="1" sz="2700">
                <a:latin typeface="微软雅黑" pitchFamily="34" charset="-122"/>
                <a:ea typeface="微软雅黑" pitchFamily="34" charset="-122"/>
              </a:defRPr>
            </a:lvl1pPr>
            <a:lvl2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2pPr>
            <a:lvl3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3pPr>
            <a:lvl4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4pPr>
            <a:lvl5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5pPr>
            <a:lvl6pPr>
              <a:defRPr sz="3100">
                <a:latin typeface="Arial" panose="020B0604020202020204" pitchFamily="34" charset="0"/>
                <a:ea typeface="宋体" panose="02010600030101010101" pitchFamily="2" charset="-122"/>
              </a:defRPr>
            </a:lvl6pPr>
            <a:lvl7pPr>
              <a:defRPr sz="3100">
                <a:latin typeface="Arial" panose="020B0604020202020204" pitchFamily="34" charset="0"/>
                <a:ea typeface="宋体" panose="02010600030101010101" pitchFamily="2" charset="-122"/>
              </a:defRPr>
            </a:lvl7pPr>
            <a:lvl8pPr>
              <a:defRPr sz="3100">
                <a:latin typeface="Arial" panose="020B0604020202020204" pitchFamily="34" charset="0"/>
                <a:ea typeface="宋体" panose="02010600030101010101" pitchFamily="2" charset="-122"/>
              </a:defRPr>
            </a:lvl8pPr>
            <a:lvl9pPr>
              <a:defRPr sz="3100">
                <a:latin typeface="Arial" panose="020B0604020202020204" pitchFamily="34" charset="0"/>
                <a:ea typeface="宋体" panose="02010600030101010101" pitchFamily="2" charset="-122"/>
              </a:defRPr>
            </a:lvl9pPr>
          </a:lstStyle>
          <a:p>
            <a:r>
              <a:rPr lang="zh-CN" altLang="en-US" dirty="0" smtClean="0">
                <a:latin typeface="幼圆" pitchFamily="49" charset="-122"/>
                <a:ea typeface="幼圆" pitchFamily="49" charset="-122"/>
              </a:rPr>
              <a:t>或者認爲我是人事專員，只要做好人事部的工作就行，其他與我無關，等等的情况會出現</a:t>
            </a:r>
            <a:endParaRPr lang="zh-CN" altLang="en-US" dirty="0">
              <a:latin typeface="幼圆" pitchFamily="49" charset="-122"/>
              <a:ea typeface="幼圆" pitchFamily="49" charset="-122"/>
            </a:endParaRPr>
          </a:p>
        </p:txBody>
      </p:sp>
      <p:sp>
        <p:nvSpPr>
          <p:cNvPr id="9" name="Text Box 8"/>
          <p:cNvSpPr txBox="1">
            <a:spLocks noChangeArrowheads="1"/>
          </p:cNvSpPr>
          <p:nvPr/>
        </p:nvSpPr>
        <p:spPr bwMode="auto">
          <a:xfrm>
            <a:off x="6995317" y="2301465"/>
            <a:ext cx="4902406" cy="2392726"/>
          </a:xfrm>
          <a:prstGeom prst="cloudCallou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defPPr>
              <a:defRPr lang="zh-CN"/>
            </a:defPPr>
            <a:lvl1pPr fontAlgn="base">
              <a:spcBef>
                <a:spcPct val="50000"/>
              </a:spcBef>
              <a:spcAft>
                <a:spcPct val="0"/>
              </a:spcAft>
              <a:buClrTx/>
              <a:defRPr kumimoji="1" sz="2700">
                <a:latin typeface="微软雅黑" pitchFamily="34" charset="-122"/>
                <a:ea typeface="微软雅黑" pitchFamily="34" charset="-122"/>
              </a:defRPr>
            </a:lvl1pPr>
            <a:lvl2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2pPr>
            <a:lvl3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3pPr>
            <a:lvl4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4pPr>
            <a:lvl5pPr fontAlgn="base">
              <a:spcBef>
                <a:spcPct val="20000"/>
              </a:spcBef>
              <a:spcAft>
                <a:spcPct val="0"/>
              </a:spcAft>
              <a:buClr>
                <a:srgbClr val="FF0000"/>
              </a:buClr>
              <a:defRPr sz="3100">
                <a:latin typeface="Arial" panose="020B0604020202020204" pitchFamily="34" charset="0"/>
                <a:ea typeface="宋体" panose="02010600030101010101" pitchFamily="2" charset="-122"/>
              </a:defRPr>
            </a:lvl5pPr>
            <a:lvl6pPr>
              <a:defRPr sz="3100">
                <a:latin typeface="Arial" panose="020B0604020202020204" pitchFamily="34" charset="0"/>
                <a:ea typeface="宋体" panose="02010600030101010101" pitchFamily="2" charset="-122"/>
              </a:defRPr>
            </a:lvl6pPr>
            <a:lvl7pPr>
              <a:defRPr sz="3100">
                <a:latin typeface="Arial" panose="020B0604020202020204" pitchFamily="34" charset="0"/>
                <a:ea typeface="宋体" panose="02010600030101010101" pitchFamily="2" charset="-122"/>
              </a:defRPr>
            </a:lvl7pPr>
            <a:lvl8pPr>
              <a:defRPr sz="3100">
                <a:latin typeface="Arial" panose="020B0604020202020204" pitchFamily="34" charset="0"/>
                <a:ea typeface="宋体" panose="02010600030101010101" pitchFamily="2" charset="-122"/>
              </a:defRPr>
            </a:lvl8pPr>
            <a:lvl9pPr>
              <a:defRPr sz="3100">
                <a:latin typeface="Arial" panose="020B0604020202020204" pitchFamily="34" charset="0"/>
                <a:ea typeface="宋体" panose="02010600030101010101" pitchFamily="2" charset="-122"/>
              </a:defRPr>
            </a:lvl9pPr>
          </a:lstStyle>
          <a:p>
            <a:r>
              <a:rPr lang="zh-CN" altLang="en-US" sz="2400" dirty="0" smtClean="0">
                <a:latin typeface="幼圆" pitchFamily="49" charset="-122"/>
                <a:ea typeface="幼圆" pitchFamily="49" charset="-122"/>
              </a:rPr>
              <a:t>我是做銷售的呀，只要業績好，公司就會承認我的能力，無須在乎其他細緻末節。</a:t>
            </a:r>
            <a:endParaRPr lang="zh-CN" altLang="en-US" sz="2400" dirty="0">
              <a:latin typeface="幼圆" pitchFamily="49" charset="-122"/>
              <a:ea typeface="幼圆" pitchFamily="49" charset="-122"/>
            </a:endParaRPr>
          </a:p>
        </p:txBody>
      </p:sp>
      <p:sp>
        <p:nvSpPr>
          <p:cNvPr id="7" name="Text Box 14"/>
          <p:cNvSpPr txBox="1">
            <a:spLocks noChangeArrowheads="1"/>
          </p:cNvSpPr>
          <p:nvPr/>
        </p:nvSpPr>
        <p:spPr bwMode="auto">
          <a:xfrm>
            <a:off x="1185500" y="1613155"/>
            <a:ext cx="6263852" cy="2210307"/>
          </a:xfrm>
          <a:prstGeom prst="wedgeEllipseCallou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defPPr>
              <a:defRPr lang="zh-CN"/>
            </a:defPPr>
            <a:lvl1pPr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Clr>
                <a:srgbClr val="FF0000"/>
              </a:buClr>
              <a:defRPr sz="31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100" kern="1200">
                <a:solidFill>
                  <a:schemeClr val="tx1"/>
                </a:solidFill>
                <a:latin typeface="Arial" panose="020B0604020202020204" pitchFamily="34" charset="0"/>
                <a:ea typeface="宋体" panose="02010600030101010101" pitchFamily="2" charset="-122"/>
                <a:cs typeface="+mn-cs"/>
              </a:defRPr>
            </a:lvl9pPr>
          </a:lstStyle>
          <a:p>
            <a:pPr>
              <a:spcBef>
                <a:spcPct val="50000"/>
              </a:spcBef>
              <a:buClrTx/>
            </a:pPr>
            <a:r>
              <a:rPr kumimoji="1" lang="zh-CN" altLang="en-US" sz="2400" dirty="0" smtClean="0">
                <a:latin typeface="幼圆" pitchFamily="49" charset="-122"/>
                <a:ea typeface="幼圆" pitchFamily="49" charset="-122"/>
              </a:rPr>
              <a:t>就覺得制度就是條條框框，不允許做這個，不允許做那個，太不自由了！然後大家會出現類似以下的想法：</a:t>
            </a:r>
            <a:endParaRPr kumimoji="1" lang="zh-CN" altLang="en-US" sz="2400" dirty="0">
              <a:latin typeface="幼圆" pitchFamily="49" charset="-122"/>
              <a:ea typeface="幼圆" pitchFamily="49" charset="-122"/>
            </a:endParaRPr>
          </a:p>
        </p:txBody>
      </p:sp>
    </p:spTree>
    <p:extLst>
      <p:ext uri="{BB962C8B-B14F-4D97-AF65-F5344CB8AC3E}">
        <p14:creationId xmlns:p14="http://schemas.microsoft.com/office/powerpoint/2010/main" val="987436810"/>
      </p:ext>
    </p:extLst>
  </p:cSld>
  <p:clrMapOvr>
    <a:masterClrMapping/>
  </p:clrMapOvr>
  <p:transition spd="slow" advTm="5000">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企業的制度是什麽？</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smtClean="0"/>
              <a:t>企業管理制度是實現企業目標的有力措施和手段，企業要發展，必定離不開這些制度來規範我們朝著同一個方向行走。這也是提升自我和提升公司的必然途徑。</a:t>
            </a:r>
            <a:endParaRPr lang="en-US" altLang="zh-CN" dirty="0"/>
          </a:p>
          <a:p>
            <a:pPr>
              <a:lnSpc>
                <a:spcPct val="150000"/>
              </a:lnSpc>
            </a:pPr>
            <a:endParaRPr lang="zh-CN" altLang="en-US" dirty="0"/>
          </a:p>
          <a:p>
            <a:pPr>
              <a:lnSpc>
                <a:spcPct val="150000"/>
              </a:lnSpc>
            </a:pPr>
            <a:r>
              <a:rPr lang="zh-CN" altLang="en-US" dirty="0" smtClean="0">
                <a:solidFill>
                  <a:srgbClr val="FF0000"/>
                </a:solidFill>
              </a:rPr>
              <a:t>企業制度好比是國家的交通法規，大家必須嚴格遵守，才能保證道路的暢通與安全。</a:t>
            </a:r>
          </a:p>
          <a:p>
            <a:pPr>
              <a:lnSpc>
                <a:spcPct val="150000"/>
              </a:lnSpc>
            </a:pPr>
            <a:endParaRPr lang="zh-CN" altLang="en-US" dirty="0"/>
          </a:p>
        </p:txBody>
      </p:sp>
    </p:spTree>
    <p:extLst>
      <p:ext uri="{BB962C8B-B14F-4D97-AF65-F5344CB8AC3E}">
        <p14:creationId xmlns:p14="http://schemas.microsoft.com/office/powerpoint/2010/main" val="1782837527"/>
      </p:ext>
    </p:extLst>
  </p:cSld>
  <p:clrMapOvr>
    <a:masterClrMapping/>
  </p:clrMapOvr>
  <p:transition spd="slow" advTm="5000">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本次宣講將是爲了：</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smtClean="0"/>
              <a:t>大家都是有社會經驗的人，應該知道每個公司的行政制度都是大同小异，無外乎是細節上的差异，既有了有些公司能將制度編成一本書、有些企業會將制度編成册、而有些企業却只能在</a:t>
            </a:r>
            <a:r>
              <a:rPr lang="en-US" altLang="zh-CN" dirty="0" smtClean="0"/>
              <a:t>A4</a:t>
            </a:r>
            <a:r>
              <a:rPr lang="zh-CN" altLang="en-US" dirty="0" smtClean="0"/>
              <a:t>大小下容納。所以說每個公司有著不同的制度文化。</a:t>
            </a:r>
          </a:p>
          <a:p>
            <a:pPr marL="230400" indent="0">
              <a:lnSpc>
                <a:spcPct val="150000"/>
              </a:lnSpc>
              <a:buNone/>
            </a:pPr>
            <a:r>
              <a:rPr lang="en-US" altLang="zh-CN" dirty="0" smtClean="0"/>
              <a:t>——</a:t>
            </a:r>
            <a:r>
              <a:rPr lang="zh-CN" altLang="en-US" dirty="0" smtClean="0"/>
              <a:t>幫助你瞭解公司的文化和管理風格；</a:t>
            </a:r>
          </a:p>
          <a:p>
            <a:pPr marL="230400" indent="0">
              <a:lnSpc>
                <a:spcPct val="150000"/>
              </a:lnSpc>
              <a:buNone/>
            </a:pPr>
            <a:r>
              <a:rPr lang="en-US" altLang="zh-CN" dirty="0" smtClean="0"/>
              <a:t>——</a:t>
            </a:r>
            <a:r>
              <a:rPr lang="zh-CN" altLang="en-US" dirty="0" smtClean="0"/>
              <a:t>幫助你更快地進入角色，儘快地與公司融爲一體；</a:t>
            </a:r>
          </a:p>
          <a:p>
            <a:pPr marL="230400" indent="0">
              <a:lnSpc>
                <a:spcPct val="150000"/>
              </a:lnSpc>
              <a:buNone/>
            </a:pPr>
            <a:r>
              <a:rPr lang="en-US" altLang="zh-CN" dirty="0" smtClean="0"/>
              <a:t>——</a:t>
            </a:r>
            <a:r>
              <a:rPr lang="zh-CN" altLang="en-US" dirty="0" smtClean="0"/>
              <a:t>掌握規章制度這個工具，幫助大家更高效地開展自己的工作。</a:t>
            </a:r>
          </a:p>
          <a:p>
            <a:pPr>
              <a:lnSpc>
                <a:spcPct val="150000"/>
              </a:lnSpc>
            </a:pPr>
            <a:endParaRPr lang="zh-CN" altLang="en-US" dirty="0"/>
          </a:p>
        </p:txBody>
      </p:sp>
    </p:spTree>
    <p:extLst>
      <p:ext uri="{BB962C8B-B14F-4D97-AF65-F5344CB8AC3E}">
        <p14:creationId xmlns:p14="http://schemas.microsoft.com/office/powerpoint/2010/main" val="1031921193"/>
      </p:ext>
    </p:extLst>
  </p:cSld>
  <p:clrMapOvr>
    <a:masterClrMapping/>
  </p:clrMapOvr>
  <p:transition spd="slow" advTm="5000">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考勤紀律</a:t>
            </a:r>
            <a:endParaRPr lang="zh-CN" altLang="en-US" dirty="0"/>
          </a:p>
        </p:txBody>
      </p:sp>
      <p:sp>
        <p:nvSpPr>
          <p:cNvPr id="3" name="内容占位符 2"/>
          <p:cNvSpPr>
            <a:spLocks noGrp="1"/>
          </p:cNvSpPr>
          <p:nvPr>
            <p:ph idx="1"/>
          </p:nvPr>
        </p:nvSpPr>
        <p:spPr>
          <a:xfrm>
            <a:off x="838200" y="1825625"/>
            <a:ext cx="10515600" cy="3289300"/>
          </a:xfrm>
        </p:spPr>
        <p:txBody>
          <a:bodyPr/>
          <a:lstStyle/>
          <a:p>
            <a:pPr marL="457200" indent="-457200">
              <a:lnSpc>
                <a:spcPct val="150000"/>
              </a:lnSpc>
              <a:buFont typeface="+mj-lt"/>
              <a:buAutoNum type="arabicPeriod"/>
            </a:pPr>
            <a:r>
              <a:rPr lang="zh-CN" altLang="en-US" sz="2000" dirty="0" smtClean="0"/>
              <a:t>嚴格按照考勤時間按時上下班（</a:t>
            </a:r>
            <a:r>
              <a:rPr lang="zh-CN" altLang="en-US" sz="2000" dirty="0"/>
              <a:t>早</a:t>
            </a:r>
            <a:r>
              <a:rPr lang="en-US" altLang="zh-CN" sz="2000" dirty="0" smtClean="0"/>
              <a:t>8:15-</a:t>
            </a:r>
            <a:r>
              <a:rPr lang="zh-CN" altLang="en-US" sz="2000" dirty="0" smtClean="0"/>
              <a:t>晚</a:t>
            </a:r>
            <a:r>
              <a:rPr lang="en-US" altLang="zh-CN" sz="2000" dirty="0"/>
              <a:t>17</a:t>
            </a:r>
            <a:r>
              <a:rPr lang="zh-CN" altLang="en-US" sz="2000" dirty="0"/>
              <a:t>：</a:t>
            </a:r>
            <a:r>
              <a:rPr lang="en-US" altLang="zh-CN" sz="2000" dirty="0"/>
              <a:t>15</a:t>
            </a:r>
            <a:r>
              <a:rPr lang="zh-CN" altLang="en-US" sz="2000" dirty="0"/>
              <a:t>）</a:t>
            </a:r>
            <a:endParaRPr lang="en-US" altLang="zh-CN" sz="2000" dirty="0"/>
          </a:p>
          <a:p>
            <a:pPr marL="457200" indent="-457200">
              <a:lnSpc>
                <a:spcPct val="150000"/>
              </a:lnSpc>
              <a:buFont typeface="+mj-lt"/>
              <a:buAutoNum type="arabicPeriod"/>
            </a:pPr>
            <a:r>
              <a:rPr lang="zh-CN" altLang="en-US" sz="2000" dirty="0" smtClean="0"/>
              <a:t>嚴遵請假流程：請事假需提前兩天申請。若因急事未能提前者，需在請假當天給部門主管電話或短信經得允許方可准假，且在休假完回公司後需立即補上申請。</a:t>
            </a:r>
          </a:p>
          <a:p>
            <a:pPr marL="457200" indent="-457200">
              <a:lnSpc>
                <a:spcPct val="150000"/>
              </a:lnSpc>
              <a:buFont typeface="+mj-lt"/>
              <a:buAutoNum type="arabicPeriod"/>
            </a:pPr>
            <a:r>
              <a:rPr lang="zh-CN" altLang="en-US" sz="2000" dirty="0" smtClean="0"/>
              <a:t>病假、事假最小請假單位爲</a:t>
            </a:r>
            <a:r>
              <a:rPr lang="en-US" altLang="zh-CN" sz="2000" dirty="0" smtClean="0"/>
              <a:t>1</a:t>
            </a:r>
            <a:r>
              <a:rPr lang="zh-CN" altLang="en-US" sz="2000" dirty="0" smtClean="0"/>
              <a:t>小時，當月實際請假時間不足</a:t>
            </a:r>
            <a:r>
              <a:rPr lang="en-US" altLang="zh-CN" sz="2000" dirty="0" smtClean="0"/>
              <a:t>1</a:t>
            </a:r>
            <a:r>
              <a:rPr lang="zh-CN" altLang="en-US" sz="2000" dirty="0" smtClean="0"/>
              <a:t>小時的按</a:t>
            </a:r>
            <a:r>
              <a:rPr lang="en-US" altLang="zh-CN" sz="2000" dirty="0" smtClean="0"/>
              <a:t>1</a:t>
            </a:r>
            <a:r>
              <a:rPr lang="zh-CN" altLang="en-US" sz="2000" dirty="0" smtClean="0"/>
              <a:t>小時計算。 </a:t>
            </a:r>
          </a:p>
          <a:p>
            <a:pPr>
              <a:lnSpc>
                <a:spcPct val="150000"/>
              </a:lnSpc>
            </a:pPr>
            <a:r>
              <a:rPr lang="zh-CN" altLang="en-US" sz="3600" b="1" dirty="0" smtClean="0">
                <a:solidFill>
                  <a:srgbClr val="C00000"/>
                </a:solidFill>
                <a:effectLst>
                  <a:outerShdw blurRad="38100" dist="38100" dir="2700000" algn="tl">
                    <a:srgbClr val="000000">
                      <a:alpha val="43137"/>
                    </a:srgbClr>
                  </a:outerShdw>
                </a:effectLst>
              </a:rPr>
              <a:t>請假流程</a:t>
            </a:r>
            <a:r>
              <a:rPr lang="zh-CN" altLang="en-US" sz="3600" b="1" dirty="0">
                <a:solidFill>
                  <a:srgbClr val="C00000"/>
                </a:solidFill>
                <a:effectLst>
                  <a:outerShdw blurRad="38100" dist="38100" dir="2700000" algn="tl">
                    <a:srgbClr val="000000">
                      <a:alpha val="43137"/>
                    </a:srgbClr>
                  </a:outerShdw>
                </a:effectLst>
              </a:rPr>
              <a:t>：</a:t>
            </a:r>
          </a:p>
          <a:p>
            <a:endParaRPr lang="zh-CN" altLang="en-US" dirty="0"/>
          </a:p>
        </p:txBody>
      </p:sp>
      <p:graphicFrame>
        <p:nvGraphicFramePr>
          <p:cNvPr id="4" name="图示 3"/>
          <p:cNvGraphicFramePr/>
          <p:nvPr>
            <p:extLst>
              <p:ext uri="{D42A27DB-BD31-4B8C-83A1-F6EECF244321}">
                <p14:modId xmlns:p14="http://schemas.microsoft.com/office/powerpoint/2010/main" val="195106416"/>
              </p:ext>
            </p:extLst>
          </p:nvPr>
        </p:nvGraphicFramePr>
        <p:xfrm>
          <a:off x="917575" y="4923693"/>
          <a:ext cx="10813982" cy="1477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7" name="墨迹 6"/>
              <p14:cNvContentPartPr/>
              <p14:nvPr/>
            </p14:nvContentPartPr>
            <p14:xfrm>
              <a:off x="541800" y="3979080"/>
              <a:ext cx="3260160" cy="1067400"/>
            </p14:xfrm>
          </p:contentPart>
        </mc:Choice>
        <mc:Fallback xmlns="">
          <p:pic>
            <p:nvPicPr>
              <p:cNvPr id="7" name="墨迹 6"/>
              <p:cNvPicPr/>
              <p:nvPr/>
            </p:nvPicPr>
            <p:blipFill>
              <a:blip r:embed="rId8"/>
              <a:stretch>
                <a:fillRect/>
              </a:stretch>
            </p:blipFill>
            <p:spPr>
              <a:xfrm>
                <a:off x="525960" y="3915720"/>
                <a:ext cx="3291840" cy="1194120"/>
              </a:xfrm>
              <a:prstGeom prst="rect">
                <a:avLst/>
              </a:prstGeom>
            </p:spPr>
          </p:pic>
        </mc:Fallback>
      </mc:AlternateContent>
    </p:spTree>
    <p:extLst>
      <p:ext uri="{BB962C8B-B14F-4D97-AF65-F5344CB8AC3E}">
        <p14:creationId xmlns:p14="http://schemas.microsoft.com/office/powerpoint/2010/main" val="3919338581"/>
      </p:ext>
    </p:extLst>
  </p:cSld>
  <p:clrMapOvr>
    <a:masterClrMapping/>
  </p:clrMapOvr>
  <p:transition spd="slow" advTm="500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graphicEl>
                                              <a:dgm id="{45DB30B1-F2BA-4FE3-994C-721A12577ED8}"/>
                                            </p:graphicEl>
                                          </p:spTgt>
                                        </p:tgtEl>
                                        <p:attrNameLst>
                                          <p:attrName>style.visibility</p:attrName>
                                        </p:attrNameLst>
                                      </p:cBhvr>
                                      <p:to>
                                        <p:strVal val="visible"/>
                                      </p:to>
                                    </p:set>
                                    <p:animEffect transition="in" filter="circle(in)">
                                      <p:cBhvr>
                                        <p:cTn id="7" dur="2000"/>
                                        <p:tgtEl>
                                          <p:spTgt spid="4">
                                            <p:graphicEl>
                                              <a:dgm id="{45DB30B1-F2BA-4FE3-994C-721A12577ED8}"/>
                                            </p:graphicEl>
                                          </p:spTgt>
                                        </p:tgtEl>
                                      </p:cBhvr>
                                    </p:animEffect>
                                  </p:childTnLst>
                                </p:cTn>
                              </p:par>
                            </p:childTnLst>
                          </p:cTn>
                        </p:par>
                        <p:par>
                          <p:cTn id="8" fill="hold">
                            <p:stCondLst>
                              <p:cond delay="2000"/>
                            </p:stCondLst>
                            <p:childTnLst>
                              <p:par>
                                <p:cTn id="9" presetID="6" presetClass="entr" presetSubtype="16" fill="hold" grpId="0" nodeType="afterEffect">
                                  <p:stCondLst>
                                    <p:cond delay="0"/>
                                  </p:stCondLst>
                                  <p:childTnLst>
                                    <p:set>
                                      <p:cBhvr>
                                        <p:cTn id="10" dur="1" fill="hold">
                                          <p:stCondLst>
                                            <p:cond delay="0"/>
                                          </p:stCondLst>
                                        </p:cTn>
                                        <p:tgtEl>
                                          <p:spTgt spid="4">
                                            <p:graphicEl>
                                              <a:dgm id="{A3DE9B83-835C-44FC-B84D-B78FEE5D6E6C}"/>
                                            </p:graphicEl>
                                          </p:spTgt>
                                        </p:tgtEl>
                                        <p:attrNameLst>
                                          <p:attrName>style.visibility</p:attrName>
                                        </p:attrNameLst>
                                      </p:cBhvr>
                                      <p:to>
                                        <p:strVal val="visible"/>
                                      </p:to>
                                    </p:set>
                                    <p:animEffect transition="in" filter="circle(in)">
                                      <p:cBhvr>
                                        <p:cTn id="11" dur="2000"/>
                                        <p:tgtEl>
                                          <p:spTgt spid="4">
                                            <p:graphicEl>
                                              <a:dgm id="{A3DE9B83-835C-44FC-B84D-B78FEE5D6E6C}"/>
                                            </p:graphicEl>
                                          </p:spTgt>
                                        </p:tgtEl>
                                      </p:cBhvr>
                                    </p:animEffect>
                                  </p:childTnLst>
                                </p:cTn>
                              </p:par>
                            </p:childTnLst>
                          </p:cTn>
                        </p:par>
                        <p:par>
                          <p:cTn id="12" fill="hold">
                            <p:stCondLst>
                              <p:cond delay="4000"/>
                            </p:stCondLst>
                            <p:childTnLst>
                              <p:par>
                                <p:cTn id="13" presetID="6" presetClass="entr" presetSubtype="16" fill="hold" grpId="0" nodeType="afterEffect">
                                  <p:stCondLst>
                                    <p:cond delay="0"/>
                                  </p:stCondLst>
                                  <p:childTnLst>
                                    <p:set>
                                      <p:cBhvr>
                                        <p:cTn id="14" dur="1" fill="hold">
                                          <p:stCondLst>
                                            <p:cond delay="0"/>
                                          </p:stCondLst>
                                        </p:cTn>
                                        <p:tgtEl>
                                          <p:spTgt spid="4">
                                            <p:graphicEl>
                                              <a:dgm id="{212EC7BA-17A0-40B2-B417-B6BEF9F9DB05}"/>
                                            </p:graphicEl>
                                          </p:spTgt>
                                        </p:tgtEl>
                                        <p:attrNameLst>
                                          <p:attrName>style.visibility</p:attrName>
                                        </p:attrNameLst>
                                      </p:cBhvr>
                                      <p:to>
                                        <p:strVal val="visible"/>
                                      </p:to>
                                    </p:set>
                                    <p:animEffect transition="in" filter="circle(in)">
                                      <p:cBhvr>
                                        <p:cTn id="15" dur="2000"/>
                                        <p:tgtEl>
                                          <p:spTgt spid="4">
                                            <p:graphicEl>
                                              <a:dgm id="{212EC7BA-17A0-40B2-B417-B6BEF9F9DB05}"/>
                                            </p:graphicEl>
                                          </p:spTgt>
                                        </p:tgtEl>
                                      </p:cBhvr>
                                    </p:animEffect>
                                  </p:childTnLst>
                                </p:cTn>
                              </p:par>
                            </p:childTnLst>
                          </p:cTn>
                        </p:par>
                        <p:par>
                          <p:cTn id="16" fill="hold">
                            <p:stCondLst>
                              <p:cond delay="6000"/>
                            </p:stCondLst>
                            <p:childTnLst>
                              <p:par>
                                <p:cTn id="17" presetID="6" presetClass="entr" presetSubtype="16" fill="hold" grpId="0" nodeType="afterEffect">
                                  <p:stCondLst>
                                    <p:cond delay="0"/>
                                  </p:stCondLst>
                                  <p:childTnLst>
                                    <p:set>
                                      <p:cBhvr>
                                        <p:cTn id="18" dur="1" fill="hold">
                                          <p:stCondLst>
                                            <p:cond delay="0"/>
                                          </p:stCondLst>
                                        </p:cTn>
                                        <p:tgtEl>
                                          <p:spTgt spid="4">
                                            <p:graphicEl>
                                              <a:dgm id="{C14389BE-5E29-49DA-AC0F-EA9771AA486A}"/>
                                            </p:graphicEl>
                                          </p:spTgt>
                                        </p:tgtEl>
                                        <p:attrNameLst>
                                          <p:attrName>style.visibility</p:attrName>
                                        </p:attrNameLst>
                                      </p:cBhvr>
                                      <p:to>
                                        <p:strVal val="visible"/>
                                      </p:to>
                                    </p:set>
                                    <p:animEffect transition="in" filter="circle(in)">
                                      <p:cBhvr>
                                        <p:cTn id="19" dur="2000"/>
                                        <p:tgtEl>
                                          <p:spTgt spid="4">
                                            <p:graphicEl>
                                              <a:dgm id="{C14389BE-5E29-49DA-AC0F-EA9771AA486A}"/>
                                            </p:graphicEl>
                                          </p:spTgt>
                                        </p:tgtEl>
                                      </p:cBhvr>
                                    </p:animEffect>
                                  </p:childTnLst>
                                </p:cTn>
                              </p:par>
                            </p:childTnLst>
                          </p:cTn>
                        </p:par>
                        <p:par>
                          <p:cTn id="20" fill="hold">
                            <p:stCondLst>
                              <p:cond delay="8000"/>
                            </p:stCondLst>
                            <p:childTnLst>
                              <p:par>
                                <p:cTn id="21" presetID="6" presetClass="entr" presetSubtype="16" fill="hold" grpId="0" nodeType="afterEffect">
                                  <p:stCondLst>
                                    <p:cond delay="0"/>
                                  </p:stCondLst>
                                  <p:childTnLst>
                                    <p:set>
                                      <p:cBhvr>
                                        <p:cTn id="22" dur="1" fill="hold">
                                          <p:stCondLst>
                                            <p:cond delay="0"/>
                                          </p:stCondLst>
                                        </p:cTn>
                                        <p:tgtEl>
                                          <p:spTgt spid="4">
                                            <p:graphicEl>
                                              <a:dgm id="{55B057FC-C432-4F10-A8EB-9D5B8C3E9026}"/>
                                            </p:graphicEl>
                                          </p:spTgt>
                                        </p:tgtEl>
                                        <p:attrNameLst>
                                          <p:attrName>style.visibility</p:attrName>
                                        </p:attrNameLst>
                                      </p:cBhvr>
                                      <p:to>
                                        <p:strVal val="visible"/>
                                      </p:to>
                                    </p:set>
                                    <p:animEffect transition="in" filter="circle(in)">
                                      <p:cBhvr>
                                        <p:cTn id="23" dur="2000"/>
                                        <p:tgtEl>
                                          <p:spTgt spid="4">
                                            <p:graphicEl>
                                              <a:dgm id="{55B057FC-C432-4F10-A8EB-9D5B8C3E902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考勤紀律</a:t>
            </a:r>
            <a:endParaRPr lang="zh-CN" altLang="en-US" dirty="0"/>
          </a:p>
        </p:txBody>
      </p:sp>
      <p:sp>
        <p:nvSpPr>
          <p:cNvPr id="3" name="内容占位符 2"/>
          <p:cNvSpPr>
            <a:spLocks noGrp="1"/>
          </p:cNvSpPr>
          <p:nvPr>
            <p:ph idx="1"/>
          </p:nvPr>
        </p:nvSpPr>
        <p:spPr>
          <a:xfrm>
            <a:off x="838200" y="1543050"/>
            <a:ext cx="10515600" cy="4633913"/>
          </a:xfrm>
        </p:spPr>
        <p:txBody>
          <a:bodyPr>
            <a:normAutofit lnSpcReduction="10000"/>
          </a:bodyPr>
          <a:lstStyle/>
          <a:p>
            <a:pPr>
              <a:lnSpc>
                <a:spcPct val="160000"/>
              </a:lnSpc>
            </a:pPr>
            <a:r>
              <a:rPr lang="zh-CN" altLang="en-US" dirty="0" smtClean="0"/>
              <a:t>嚴禁出現遲到、早退、睡崗、離崗、曠工等异常紀律發生，違者扣除</a:t>
            </a:r>
          </a:p>
          <a:p>
            <a:pPr marL="457200" indent="-457200">
              <a:lnSpc>
                <a:spcPct val="160000"/>
              </a:lnSpc>
              <a:buFont typeface="+mj-lt"/>
              <a:buAutoNum type="arabicPeriod"/>
            </a:pPr>
            <a:r>
              <a:rPr lang="zh-CN" altLang="en-US" dirty="0" smtClean="0"/>
              <a:t>遲到</a:t>
            </a:r>
            <a:endParaRPr lang="zh-CN" altLang="en-US" dirty="0"/>
          </a:p>
          <a:p>
            <a:pPr marL="914400" lvl="1" indent="-457200">
              <a:lnSpc>
                <a:spcPct val="160000"/>
              </a:lnSpc>
              <a:buFont typeface="+mj-lt"/>
              <a:buAutoNum type="alphaLcParenR"/>
            </a:pPr>
            <a:r>
              <a:rPr lang="zh-CN" altLang="en-US" dirty="0" smtClean="0"/>
              <a:t>晚于規定時間上班（含參加公司會議、活動等）的記爲“遲到”；</a:t>
            </a:r>
          </a:p>
          <a:p>
            <a:pPr marL="914400" lvl="1" indent="-457200">
              <a:lnSpc>
                <a:spcPct val="160000"/>
              </a:lnSpc>
              <a:buFont typeface="+mj-lt"/>
              <a:buAutoNum type="alphaLcParenR"/>
            </a:pPr>
            <a:r>
              <a:rPr lang="zh-CN" altLang="en-US" dirty="0" smtClean="0"/>
              <a:t>遲到者</a:t>
            </a:r>
            <a:r>
              <a:rPr lang="zh-CN" altLang="en-US" dirty="0"/>
              <a:t>扣除</a:t>
            </a:r>
            <a:r>
              <a:rPr lang="en-US" altLang="zh-CN" dirty="0"/>
              <a:t>50</a:t>
            </a:r>
            <a:r>
              <a:rPr lang="zh-CN" altLang="en-US" dirty="0"/>
              <a:t>元</a:t>
            </a:r>
            <a:r>
              <a:rPr lang="en-US" altLang="zh-CN" dirty="0" smtClean="0"/>
              <a:t>/</a:t>
            </a:r>
            <a:r>
              <a:rPr lang="zh-CN" altLang="en-US" dirty="0" smtClean="0"/>
              <a:t>次。超過</a:t>
            </a:r>
            <a:r>
              <a:rPr lang="en-US" altLang="zh-CN" dirty="0" smtClean="0"/>
              <a:t>1</a:t>
            </a:r>
            <a:r>
              <a:rPr lang="zh-CN" altLang="en-US" dirty="0" smtClean="0"/>
              <a:t>小時的，以</a:t>
            </a:r>
            <a:r>
              <a:rPr lang="en-US" altLang="zh-CN" dirty="0" smtClean="0"/>
              <a:t>50</a:t>
            </a:r>
            <a:r>
              <a:rPr lang="zh-CN" altLang="en-US" dirty="0"/>
              <a:t>元</a:t>
            </a:r>
            <a:r>
              <a:rPr lang="en-US" altLang="zh-CN" dirty="0" smtClean="0"/>
              <a:t>/</a:t>
            </a:r>
            <a:r>
              <a:rPr lang="zh-CN" altLang="en-US" dirty="0" smtClean="0"/>
              <a:t>次爲基準，扣除額翻倍，以此類推。</a:t>
            </a:r>
          </a:p>
          <a:p>
            <a:pPr marL="457200" indent="-457200">
              <a:lnSpc>
                <a:spcPct val="160000"/>
              </a:lnSpc>
              <a:buFont typeface="+mj-lt"/>
              <a:buAutoNum type="arabicPeriod"/>
            </a:pPr>
            <a:r>
              <a:rPr lang="zh-CN" altLang="en-US" dirty="0" smtClean="0"/>
              <a:t>早退</a:t>
            </a:r>
            <a:endParaRPr lang="zh-CN" altLang="en-US" dirty="0"/>
          </a:p>
          <a:p>
            <a:pPr marL="914400" lvl="1" indent="-457200">
              <a:lnSpc>
                <a:spcPct val="160000"/>
              </a:lnSpc>
              <a:buFont typeface="+mj-lt"/>
              <a:buAutoNum type="alphaLcParenR"/>
            </a:pPr>
            <a:r>
              <a:rPr lang="zh-CN" altLang="en-US" dirty="0" smtClean="0"/>
              <a:t>早于規定時間下班的（ 含參加公司會議、活動等）記爲早退；</a:t>
            </a:r>
          </a:p>
          <a:p>
            <a:pPr marL="914400" lvl="1" indent="-457200">
              <a:lnSpc>
                <a:spcPct val="160000"/>
              </a:lnSpc>
              <a:buFont typeface="+mj-lt"/>
              <a:buAutoNum type="alphaLcParenR"/>
            </a:pPr>
            <a:r>
              <a:rPr lang="zh-CN" altLang="en-US" dirty="0" smtClean="0"/>
              <a:t>早退</a:t>
            </a:r>
            <a:r>
              <a:rPr lang="zh-CN" altLang="en-US" dirty="0"/>
              <a:t>者扣除</a:t>
            </a:r>
            <a:r>
              <a:rPr lang="en-US" altLang="zh-CN" dirty="0"/>
              <a:t>50</a:t>
            </a:r>
            <a:r>
              <a:rPr lang="zh-CN" altLang="en-US" dirty="0"/>
              <a:t>元</a:t>
            </a:r>
            <a:r>
              <a:rPr lang="en-US" altLang="zh-CN" dirty="0" smtClean="0"/>
              <a:t>/</a:t>
            </a:r>
            <a:r>
              <a:rPr lang="zh-CN" altLang="en-US" dirty="0" smtClean="0"/>
              <a:t>次，超過</a:t>
            </a:r>
            <a:r>
              <a:rPr lang="en-US" altLang="zh-CN" dirty="0" smtClean="0"/>
              <a:t>1</a:t>
            </a:r>
            <a:r>
              <a:rPr lang="zh-CN" altLang="en-US" dirty="0" smtClean="0"/>
              <a:t>小時的除扣除外，以</a:t>
            </a:r>
            <a:r>
              <a:rPr lang="en-US" altLang="zh-CN" dirty="0" smtClean="0"/>
              <a:t>50</a:t>
            </a:r>
            <a:r>
              <a:rPr lang="zh-CN" altLang="en-US" dirty="0"/>
              <a:t>元</a:t>
            </a:r>
            <a:r>
              <a:rPr lang="en-US" altLang="zh-CN" dirty="0" smtClean="0"/>
              <a:t>/</a:t>
            </a:r>
            <a:r>
              <a:rPr lang="zh-CN" altLang="en-US" dirty="0" smtClean="0"/>
              <a:t>次爲基準，扣除額翻倍，以此類推。</a:t>
            </a:r>
            <a:endParaRPr lang="zh-CN" altLang="en-US" dirty="0"/>
          </a:p>
        </p:txBody>
      </p:sp>
    </p:spTree>
    <p:extLst>
      <p:ext uri="{BB962C8B-B14F-4D97-AF65-F5344CB8AC3E}">
        <p14:creationId xmlns:p14="http://schemas.microsoft.com/office/powerpoint/2010/main" val="2053228235"/>
      </p:ext>
    </p:extLst>
  </p:cSld>
  <p:clrMapOvr>
    <a:masterClrMapping/>
  </p:clrMapOvr>
  <p:transition spd="slow" advTm="5000">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838200" y="1552575"/>
            <a:ext cx="10515600" cy="4624388"/>
          </a:xfrm>
        </p:spPr>
        <p:txBody>
          <a:bodyPr>
            <a:noAutofit/>
          </a:bodyPr>
          <a:lstStyle/>
          <a:p>
            <a:pPr marL="457200" indent="-457200">
              <a:lnSpc>
                <a:spcPct val="150000"/>
              </a:lnSpc>
              <a:buFont typeface="+mj-lt"/>
              <a:buAutoNum type="arabicPeriod" startAt="3"/>
            </a:pPr>
            <a:r>
              <a:rPr lang="zh-CN" altLang="en-US" dirty="0" smtClean="0"/>
              <a:t>離崗：無故不在當值崗位、或工作時間回宿舍辦理私事等，視爲脫崗。脫崗者扣除</a:t>
            </a:r>
            <a:r>
              <a:rPr lang="en-US" altLang="zh-CN" dirty="0" smtClean="0"/>
              <a:t>50</a:t>
            </a:r>
            <a:r>
              <a:rPr lang="zh-CN" altLang="en-US" dirty="0"/>
              <a:t>元</a:t>
            </a:r>
            <a:r>
              <a:rPr lang="en-US" altLang="zh-CN" dirty="0"/>
              <a:t>/</a:t>
            </a:r>
            <a:r>
              <a:rPr lang="zh-CN" altLang="en-US" dirty="0"/>
              <a:t>次起。</a:t>
            </a:r>
          </a:p>
          <a:p>
            <a:pPr marL="457200" indent="-457200">
              <a:lnSpc>
                <a:spcPct val="150000"/>
              </a:lnSpc>
              <a:buFont typeface="+mj-lt"/>
              <a:buAutoNum type="arabicPeriod" startAt="3"/>
            </a:pPr>
            <a:r>
              <a:rPr lang="zh-CN" altLang="en-US" dirty="0" smtClean="0"/>
              <a:t>曠工</a:t>
            </a:r>
          </a:p>
          <a:p>
            <a:pPr marL="800100" lvl="1" indent="-342900">
              <a:lnSpc>
                <a:spcPct val="150000"/>
              </a:lnSpc>
              <a:buFont typeface="+mj-lt"/>
              <a:buAutoNum type="alphaLcParenR"/>
            </a:pPr>
            <a:r>
              <a:rPr lang="zh-CN" altLang="en-US" dirty="0" smtClean="0"/>
              <a:t>無故缺勤或未經上級批准（具審批權限的）不上班視爲曠工；</a:t>
            </a:r>
          </a:p>
          <a:p>
            <a:pPr marL="800100" lvl="1" indent="-342900">
              <a:lnSpc>
                <a:spcPct val="150000"/>
              </a:lnSpc>
              <a:buFont typeface="+mj-lt"/>
              <a:buAutoNum type="alphaLcParenR"/>
            </a:pPr>
            <a:r>
              <a:rPr lang="zh-CN" altLang="en-US" dirty="0" smtClean="0"/>
              <a:t>曠工扣</a:t>
            </a:r>
            <a:r>
              <a:rPr lang="zh-CN" altLang="en-US" dirty="0"/>
              <a:t>款 </a:t>
            </a:r>
            <a:r>
              <a:rPr lang="en-US" altLang="zh-CN" dirty="0" smtClean="0"/>
              <a:t>=</a:t>
            </a:r>
            <a:r>
              <a:rPr lang="zh-CN" altLang="en-US" dirty="0" smtClean="0"/>
              <a:t>日工資*</a:t>
            </a:r>
            <a:r>
              <a:rPr lang="en-US" altLang="zh-CN" dirty="0" smtClean="0"/>
              <a:t>3</a:t>
            </a:r>
            <a:r>
              <a:rPr lang="zh-CN" altLang="en-US" dirty="0"/>
              <a:t>；</a:t>
            </a:r>
          </a:p>
          <a:p>
            <a:pPr marL="800100" lvl="1" indent="-342900">
              <a:lnSpc>
                <a:spcPct val="150000"/>
              </a:lnSpc>
              <a:buFont typeface="+mj-lt"/>
              <a:buAutoNum type="alphaLcParenR"/>
            </a:pPr>
            <a:r>
              <a:rPr lang="zh-CN" altLang="en-US" dirty="0" smtClean="0"/>
              <a:t>曠工處罰：曠工是嚴重的違紀行爲。連續曠工</a:t>
            </a:r>
            <a:r>
              <a:rPr lang="en-US" altLang="zh-CN" dirty="0" smtClean="0"/>
              <a:t>3</a:t>
            </a:r>
            <a:r>
              <a:rPr lang="zh-CN" altLang="en-US" dirty="0" smtClean="0"/>
              <a:t>個工作日或當年累計曠工</a:t>
            </a:r>
            <a:r>
              <a:rPr lang="en-US" altLang="zh-CN" dirty="0" smtClean="0"/>
              <a:t>5</a:t>
            </a:r>
            <a:r>
              <a:rPr lang="zh-CN" altLang="en-US" dirty="0" smtClean="0"/>
              <a:t>個工作日者，公司有權對其做出包括解除勞動合同關係在內的處罰决定。</a:t>
            </a:r>
          </a:p>
          <a:p>
            <a:pPr>
              <a:lnSpc>
                <a:spcPct val="150000"/>
              </a:lnSpc>
            </a:pPr>
            <a:r>
              <a:rPr lang="zh-CN" altLang="en-US" sz="2000" dirty="0" smtClean="0"/>
              <a:t>考勤補充說明條：在上班期間因公外出未能及時打指紋者，可在原則上不接受因“忘記打指紋”爲原因作考勤說明條，當月有此情况超過</a:t>
            </a:r>
            <a:r>
              <a:rPr lang="en-US" altLang="zh-CN" sz="2000" dirty="0" smtClean="0"/>
              <a:t>1</a:t>
            </a:r>
            <a:r>
              <a:rPr lang="zh-CN" altLang="en-US" sz="2000" dirty="0"/>
              <a:t>次者，每次扣除</a:t>
            </a:r>
            <a:r>
              <a:rPr lang="en-US" altLang="zh-CN" sz="2000" dirty="0"/>
              <a:t>30</a:t>
            </a:r>
            <a:r>
              <a:rPr lang="zh-CN" altLang="en-US" sz="2000" dirty="0"/>
              <a:t>元；</a:t>
            </a:r>
          </a:p>
          <a:p>
            <a:pPr>
              <a:lnSpc>
                <a:spcPct val="150000"/>
              </a:lnSpc>
            </a:pPr>
            <a:endParaRPr lang="zh-CN" altLang="en-US" dirty="0"/>
          </a:p>
        </p:txBody>
      </p:sp>
    </p:spTree>
    <p:extLst>
      <p:ext uri="{BB962C8B-B14F-4D97-AF65-F5344CB8AC3E}">
        <p14:creationId xmlns:p14="http://schemas.microsoft.com/office/powerpoint/2010/main" val="2292589292"/>
      </p:ext>
    </p:extLst>
  </p:cSld>
  <p:clrMapOvr>
    <a:masterClrMapping/>
  </p:clrMapOvr>
  <p:transition spd="slow" advTm="5000">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38200" y="1428750"/>
            <a:ext cx="10515600" cy="4812761"/>
          </a:xfrm>
        </p:spPr>
        <p:txBody>
          <a:bodyPr>
            <a:noAutofit/>
          </a:bodyPr>
          <a:lstStyle/>
          <a:p>
            <a:pPr marL="457200" indent="-457200" algn="just">
              <a:lnSpc>
                <a:spcPct val="150000"/>
              </a:lnSpc>
              <a:buFont typeface="+mj-lt"/>
              <a:buAutoNum type="arabicPeriod" startAt="5"/>
            </a:pPr>
            <a:r>
              <a:rPr lang="zh-CN" altLang="en-US" dirty="0" smtClean="0"/>
              <a:t>事假請事假的最小單位爲</a:t>
            </a:r>
            <a:r>
              <a:rPr lang="en-US" altLang="zh-CN" dirty="0" smtClean="0"/>
              <a:t>1</a:t>
            </a:r>
            <a:r>
              <a:rPr lang="zh-CN" altLang="en-US" dirty="0" smtClean="0"/>
              <a:t>小時，不足</a:t>
            </a:r>
            <a:r>
              <a:rPr lang="en-US" altLang="zh-CN" dirty="0" smtClean="0"/>
              <a:t>1</a:t>
            </a:r>
            <a:r>
              <a:rPr lang="zh-CN" altLang="en-US" dirty="0" smtClean="0"/>
              <a:t>小時的以</a:t>
            </a:r>
            <a:r>
              <a:rPr lang="en-US" altLang="zh-CN" dirty="0" smtClean="0"/>
              <a:t>1</a:t>
            </a:r>
            <a:r>
              <a:rPr lang="zh-CN" altLang="en-US" dirty="0" smtClean="0"/>
              <a:t>小時。每月事假累計時間少于或等于</a:t>
            </a:r>
            <a:r>
              <a:rPr lang="en-US" altLang="zh-CN" dirty="0" smtClean="0"/>
              <a:t>3</a:t>
            </a:r>
            <a:r>
              <a:rPr lang="zh-CN" altLang="en-US" dirty="0" smtClean="0"/>
              <a:t>小時的不扣工資；大于</a:t>
            </a:r>
            <a:r>
              <a:rPr lang="en-US" altLang="zh-CN" dirty="0" smtClean="0"/>
              <a:t>3</a:t>
            </a:r>
            <a:r>
              <a:rPr lang="zh-CN" altLang="en-US" dirty="0" smtClean="0"/>
              <a:t>小時、少于</a:t>
            </a:r>
            <a:r>
              <a:rPr lang="en-US" altLang="zh-CN" dirty="0" smtClean="0"/>
              <a:t>5</a:t>
            </a:r>
            <a:r>
              <a:rPr lang="zh-CN" altLang="en-US" dirty="0" smtClean="0"/>
              <a:t>小時（含</a:t>
            </a:r>
            <a:r>
              <a:rPr lang="en-US" altLang="zh-CN" dirty="0" smtClean="0"/>
              <a:t>5</a:t>
            </a:r>
            <a:r>
              <a:rPr lang="zh-CN" altLang="en-US" dirty="0" smtClean="0"/>
              <a:t>小時）的，按半天事假從工資中扣款，超過</a:t>
            </a:r>
            <a:r>
              <a:rPr lang="en-US" altLang="zh-CN" dirty="0" smtClean="0"/>
              <a:t>5</a:t>
            </a:r>
            <a:r>
              <a:rPr lang="zh-CN" altLang="en-US" dirty="0" smtClean="0"/>
              <a:t>小時的，按</a:t>
            </a:r>
            <a:r>
              <a:rPr lang="en-US" altLang="zh-CN" dirty="0" smtClean="0"/>
              <a:t>1</a:t>
            </a:r>
            <a:r>
              <a:rPr lang="zh-CN" altLang="en-US" dirty="0" smtClean="0"/>
              <a:t>天計算。</a:t>
            </a:r>
          </a:p>
          <a:p>
            <a:pPr marL="457200" indent="-457200" algn="just">
              <a:lnSpc>
                <a:spcPct val="170000"/>
              </a:lnSpc>
              <a:buFont typeface="+mj-lt"/>
              <a:buAutoNum type="arabicPeriod" startAt="5"/>
            </a:pPr>
            <a:r>
              <a:rPr lang="zh-CN" altLang="en-US" dirty="0" smtClean="0"/>
              <a:t>病假</a:t>
            </a:r>
            <a:endParaRPr lang="zh-CN" altLang="en-US" dirty="0"/>
          </a:p>
          <a:p>
            <a:pPr lvl="1" algn="just">
              <a:lnSpc>
                <a:spcPct val="170000"/>
              </a:lnSpc>
              <a:buFont typeface="+mj-lt"/>
              <a:buAutoNum type="alphaLcParenR"/>
            </a:pPr>
            <a:r>
              <a:rPr lang="zh-CN" altLang="en-US" sz="1400" dirty="0" smtClean="0"/>
              <a:t>申請病假者應向簽批人及考勤員出示醫院的病假證明，在申請中注明具體原因；</a:t>
            </a:r>
          </a:p>
          <a:p>
            <a:pPr lvl="1" algn="just">
              <a:lnSpc>
                <a:spcPct val="170000"/>
              </a:lnSpc>
              <a:buFont typeface="+mj-lt"/>
              <a:buAutoNum type="alphaLcParenR"/>
            </a:pPr>
            <a:r>
              <a:rPr lang="zh-CN" altLang="en-US" sz="1400" dirty="0" smtClean="0"/>
              <a:t>連續病假</a:t>
            </a:r>
            <a:r>
              <a:rPr lang="en-US" altLang="zh-CN" sz="1400" dirty="0"/>
              <a:t>2</a:t>
            </a:r>
            <a:r>
              <a:rPr lang="zh-CN" altLang="en-US" sz="1400" dirty="0"/>
              <a:t>天（含）到</a:t>
            </a:r>
            <a:r>
              <a:rPr lang="en-US" altLang="zh-CN" sz="1400" dirty="0" smtClean="0"/>
              <a:t>15</a:t>
            </a:r>
            <a:r>
              <a:rPr lang="zh-CN" altLang="en-US" sz="1400" dirty="0" smtClean="0"/>
              <a:t>天的需直接上級和行政部簽批，連續病假超過</a:t>
            </a:r>
            <a:r>
              <a:rPr lang="en-US" altLang="zh-CN" sz="1400" dirty="0" smtClean="0"/>
              <a:t>15</a:t>
            </a:r>
            <a:r>
              <a:rPr lang="zh-CN" altLang="en-US" sz="1400" dirty="0" smtClean="0"/>
              <a:t>天的，還需總經理簽批；</a:t>
            </a:r>
          </a:p>
          <a:p>
            <a:pPr lvl="1" algn="just">
              <a:lnSpc>
                <a:spcPct val="170000"/>
              </a:lnSpc>
              <a:buFont typeface="+mj-lt"/>
              <a:buAutoNum type="alphaLcParenR"/>
            </a:pPr>
            <a:r>
              <a:rPr lang="zh-CN" altLang="en-US" sz="1400" dirty="0" smtClean="0"/>
              <a:t>請病假的最小單位爲</a:t>
            </a:r>
            <a:r>
              <a:rPr lang="en-US" altLang="zh-CN" sz="1400" dirty="0" smtClean="0"/>
              <a:t>1</a:t>
            </a:r>
            <a:r>
              <a:rPr lang="zh-CN" altLang="en-US" sz="1400" dirty="0" smtClean="0"/>
              <a:t>小時，當月病假少于或等于</a:t>
            </a:r>
            <a:r>
              <a:rPr lang="en-US" altLang="zh-CN" sz="1400" dirty="0" smtClean="0"/>
              <a:t>1</a:t>
            </a:r>
            <a:r>
              <a:rPr lang="zh-CN" altLang="en-US" sz="1400" dirty="0" smtClean="0"/>
              <a:t>天的不扣工資；</a:t>
            </a:r>
          </a:p>
          <a:p>
            <a:pPr lvl="1" algn="just">
              <a:lnSpc>
                <a:spcPct val="170000"/>
              </a:lnSpc>
              <a:buFont typeface="+mj-lt"/>
              <a:buAutoNum type="alphaLcParenR"/>
            </a:pPr>
            <a:r>
              <a:rPr lang="zh-CN" altLang="en-US" sz="1400" dirty="0" smtClean="0"/>
              <a:t>當月累計病假</a:t>
            </a:r>
            <a:r>
              <a:rPr lang="zh-CN" altLang="en-US" sz="1400" dirty="0"/>
              <a:t>在</a:t>
            </a:r>
            <a:r>
              <a:rPr lang="en-US" altLang="zh-CN" sz="1400" dirty="0"/>
              <a:t>1</a:t>
            </a:r>
            <a:r>
              <a:rPr lang="zh-CN" altLang="en-US" sz="1400" dirty="0"/>
              <a:t>天以上，</a:t>
            </a:r>
            <a:r>
              <a:rPr lang="en-US" altLang="zh-CN" sz="1400" dirty="0"/>
              <a:t>15</a:t>
            </a:r>
            <a:r>
              <a:rPr lang="zh-CN" altLang="en-US" sz="1400" dirty="0"/>
              <a:t>天以下（含</a:t>
            </a:r>
            <a:r>
              <a:rPr lang="en-US" altLang="zh-CN" sz="1400" dirty="0" smtClean="0"/>
              <a:t>15</a:t>
            </a:r>
            <a:r>
              <a:rPr lang="zh-CN" altLang="en-US" sz="1400" dirty="0" smtClean="0"/>
              <a:t>天）的部分：病假扣款＝（個人基本工資</a:t>
            </a:r>
            <a:r>
              <a:rPr lang="en-US" altLang="zh-CN" sz="1400" dirty="0" smtClean="0"/>
              <a:t>+</a:t>
            </a:r>
            <a:r>
              <a:rPr lang="zh-CN" altLang="en-US" sz="1400" dirty="0" smtClean="0"/>
              <a:t>個人崗位工資）</a:t>
            </a:r>
            <a:r>
              <a:rPr lang="en-US" altLang="zh-CN" sz="1400" dirty="0" smtClean="0"/>
              <a:t>/</a:t>
            </a:r>
            <a:r>
              <a:rPr lang="en-US" altLang="zh-CN" sz="1400" dirty="0"/>
              <a:t>26</a:t>
            </a:r>
            <a:r>
              <a:rPr lang="en-US" altLang="zh-CN" sz="1400" dirty="0" smtClean="0"/>
              <a:t>*</a:t>
            </a:r>
            <a:r>
              <a:rPr lang="zh-CN" altLang="en-US" sz="1400" dirty="0" smtClean="0"/>
              <a:t>病假天數*</a:t>
            </a:r>
            <a:r>
              <a:rPr lang="en-US" altLang="zh-CN" sz="1400" dirty="0" smtClean="0"/>
              <a:t>50</a:t>
            </a:r>
            <a:r>
              <a:rPr lang="zh-CN" altLang="en-US" sz="1400" dirty="0"/>
              <a:t>％；</a:t>
            </a:r>
          </a:p>
          <a:p>
            <a:pPr lvl="1" algn="just">
              <a:lnSpc>
                <a:spcPct val="170000"/>
              </a:lnSpc>
              <a:buFont typeface="+mj-lt"/>
              <a:buAutoNum type="alphaLcParenR"/>
            </a:pPr>
            <a:r>
              <a:rPr lang="zh-CN" altLang="en-US" sz="1400" dirty="0" smtClean="0"/>
              <a:t>病假累計在</a:t>
            </a:r>
            <a:r>
              <a:rPr lang="en-US" altLang="zh-CN" sz="1400" dirty="0" smtClean="0"/>
              <a:t>15</a:t>
            </a:r>
            <a:r>
              <a:rPr lang="zh-CN" altLang="en-US" sz="1400" dirty="0"/>
              <a:t>天至</a:t>
            </a:r>
            <a:r>
              <a:rPr lang="en-US" altLang="zh-CN" sz="1400" dirty="0" smtClean="0"/>
              <a:t>3</a:t>
            </a:r>
            <a:r>
              <a:rPr lang="zh-CN" altLang="en-US" sz="1400" dirty="0" smtClean="0"/>
              <a:t>個月（含</a:t>
            </a:r>
            <a:r>
              <a:rPr lang="en-US" altLang="zh-CN" sz="1400" dirty="0" smtClean="0"/>
              <a:t>3</a:t>
            </a:r>
            <a:r>
              <a:rPr lang="zh-CN" altLang="en-US" sz="1400" dirty="0" smtClean="0"/>
              <a:t>個月）的部分：病假扣款＝（個人基本工資</a:t>
            </a:r>
            <a:r>
              <a:rPr lang="en-US" altLang="zh-CN" sz="1400" dirty="0" smtClean="0"/>
              <a:t>+</a:t>
            </a:r>
            <a:r>
              <a:rPr lang="zh-CN" altLang="en-US" sz="1400" dirty="0" smtClean="0"/>
              <a:t>個人崗位工資）</a:t>
            </a:r>
            <a:r>
              <a:rPr lang="en-US" altLang="zh-CN" sz="1400" dirty="0" smtClean="0"/>
              <a:t>/</a:t>
            </a:r>
            <a:r>
              <a:rPr lang="en-US" altLang="zh-CN" sz="1400" dirty="0"/>
              <a:t>26</a:t>
            </a:r>
            <a:r>
              <a:rPr lang="en-US" altLang="zh-CN" sz="1400" dirty="0" smtClean="0"/>
              <a:t>*</a:t>
            </a:r>
            <a:r>
              <a:rPr lang="zh-CN" altLang="en-US" sz="1400" dirty="0" smtClean="0"/>
              <a:t>病假天數*</a:t>
            </a:r>
            <a:r>
              <a:rPr lang="en-US" altLang="zh-CN" sz="1400" dirty="0" smtClean="0"/>
              <a:t>70</a:t>
            </a:r>
            <a:r>
              <a:rPr lang="zh-CN" altLang="en-US" sz="1400" dirty="0"/>
              <a:t>％。</a:t>
            </a:r>
          </a:p>
        </p:txBody>
      </p:sp>
    </p:spTree>
    <p:extLst>
      <p:ext uri="{BB962C8B-B14F-4D97-AF65-F5344CB8AC3E}">
        <p14:creationId xmlns:p14="http://schemas.microsoft.com/office/powerpoint/2010/main" val="2057900839"/>
      </p:ext>
    </p:extLst>
  </p:cSld>
  <p:clrMapOvr>
    <a:masterClrMapping/>
  </p:clrMapOvr>
  <p:transition spd="slow" advTm="5000">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就  餐</a:t>
            </a:r>
          </a:p>
        </p:txBody>
      </p:sp>
      <p:sp>
        <p:nvSpPr>
          <p:cNvPr id="3" name="内容占位符 2"/>
          <p:cNvSpPr>
            <a:spLocks noGrp="1"/>
          </p:cNvSpPr>
          <p:nvPr>
            <p:ph idx="1"/>
          </p:nvPr>
        </p:nvSpPr>
        <p:spPr/>
        <p:txBody>
          <a:bodyPr/>
          <a:lstStyle/>
          <a:p>
            <a:pPr>
              <a:lnSpc>
                <a:spcPct val="150000"/>
              </a:lnSpc>
            </a:pPr>
            <a:r>
              <a:rPr lang="zh-CN" altLang="en-US" dirty="0" smtClean="0"/>
              <a:t>如自己帶飯請在自己辦公桌上用餐，維持公共衛生，不隨地吐痰，亂潑污水，順手清理使用過的食品袋等垃圾，飯後將剩餘飯菜倒在垃圾桶內，不得傾倒在洗手池內，以免造成堵塞影響使用。</a:t>
            </a:r>
            <a:endParaRPr lang="zh-CN" altLang="en-US" dirty="0"/>
          </a:p>
        </p:txBody>
      </p:sp>
    </p:spTree>
    <p:extLst>
      <p:ext uri="{BB962C8B-B14F-4D97-AF65-F5344CB8AC3E}">
        <p14:creationId xmlns:p14="http://schemas.microsoft.com/office/powerpoint/2010/main" val="512599494"/>
      </p:ext>
    </p:extLst>
  </p:cSld>
  <p:clrMapOvr>
    <a:masterClrMapping/>
  </p:clrMapOvr>
  <p:transition spd="slow" advTm="5000">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工作牌</a:t>
            </a:r>
          </a:p>
        </p:txBody>
      </p:sp>
      <p:sp>
        <p:nvSpPr>
          <p:cNvPr id="3" name="内容占位符 2"/>
          <p:cNvSpPr>
            <a:spLocks noGrp="1"/>
          </p:cNvSpPr>
          <p:nvPr>
            <p:ph idx="1"/>
          </p:nvPr>
        </p:nvSpPr>
        <p:spPr/>
        <p:txBody>
          <a:bodyPr>
            <a:normAutofit fontScale="92500"/>
          </a:bodyPr>
          <a:lstStyle/>
          <a:p>
            <a:pPr>
              <a:lnSpc>
                <a:spcPct val="150000"/>
              </a:lnSpc>
            </a:pPr>
            <a:r>
              <a:rPr lang="zh-CN" altLang="en-US" dirty="0" smtClean="0"/>
              <a:t>工作牌是開倜員工的身份標識，更是進出辦公大樓的必要安全憑證。因個人保管不善遺失工作牌，必須立即到前臺文員處報備。員工報到當日內，行政部發放工作牌。</a:t>
            </a:r>
          </a:p>
          <a:p>
            <a:pPr>
              <a:lnSpc>
                <a:spcPct val="150000"/>
              </a:lnSpc>
            </a:pPr>
            <a:r>
              <a:rPr lang="zh-CN" altLang="en-US" dirty="0" smtClean="0"/>
              <a:t>行政部每天會不定時檢查。</a:t>
            </a:r>
          </a:p>
          <a:p>
            <a:pPr>
              <a:lnSpc>
                <a:spcPct val="150000"/>
              </a:lnSpc>
            </a:pPr>
            <a:r>
              <a:rPr lang="zh-CN" altLang="en-US" sz="3000" b="1" dirty="0" smtClean="0">
                <a:solidFill>
                  <a:srgbClr val="0073B2"/>
                </a:solidFill>
              </a:rPr>
              <a:t>佩戴要求時間爲：</a:t>
            </a:r>
          </a:p>
          <a:p>
            <a:pPr marL="914400" lvl="1" indent="-457200">
              <a:lnSpc>
                <a:spcPct val="150000"/>
              </a:lnSpc>
              <a:buFont typeface="+mj-lt"/>
              <a:buAutoNum type="alphaLcParenR"/>
            </a:pPr>
            <a:r>
              <a:rPr lang="zh-CN" altLang="en-US" dirty="0" smtClean="0"/>
              <a:t>日常上班時間</a:t>
            </a:r>
          </a:p>
          <a:p>
            <a:pPr marL="914400" lvl="1" indent="-457200">
              <a:lnSpc>
                <a:spcPct val="150000"/>
              </a:lnSpc>
              <a:buFont typeface="+mj-lt"/>
              <a:buAutoNum type="alphaLcParenR"/>
            </a:pPr>
            <a:r>
              <a:rPr lang="zh-CN" altLang="en-US" dirty="0" smtClean="0"/>
              <a:t>進出大門</a:t>
            </a:r>
            <a:endParaRPr lang="zh-CN" altLang="en-US" dirty="0"/>
          </a:p>
          <a:p>
            <a:pPr marL="914400" lvl="1" indent="-457200">
              <a:lnSpc>
                <a:spcPct val="150000"/>
              </a:lnSpc>
              <a:buFont typeface="+mj-lt"/>
              <a:buAutoNum type="alphaLcParenR"/>
            </a:pPr>
            <a:r>
              <a:rPr lang="zh-CN" altLang="en-US" dirty="0" smtClean="0"/>
              <a:t>公司會議、活動時間</a:t>
            </a:r>
          </a:p>
          <a:p>
            <a:pPr>
              <a:lnSpc>
                <a:spcPct val="150000"/>
              </a:lnSpc>
            </a:pPr>
            <a:endParaRPr lang="zh-CN" altLang="en-US" dirty="0"/>
          </a:p>
        </p:txBody>
      </p:sp>
    </p:spTree>
    <p:extLst>
      <p:ext uri="{BB962C8B-B14F-4D97-AF65-F5344CB8AC3E}">
        <p14:creationId xmlns:p14="http://schemas.microsoft.com/office/powerpoint/2010/main" val="2405909915"/>
      </p:ext>
    </p:extLst>
  </p:cSld>
  <p:clrMapOvr>
    <a:masterClrMapping/>
  </p:clrMapOvr>
  <p:transition spd="slow" advTm="5000">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工作服</a:t>
            </a:r>
          </a:p>
        </p:txBody>
      </p:sp>
      <p:sp>
        <p:nvSpPr>
          <p:cNvPr id="3" name="内容占位符 2"/>
          <p:cNvSpPr>
            <a:spLocks noGrp="1"/>
          </p:cNvSpPr>
          <p:nvPr>
            <p:ph idx="1"/>
          </p:nvPr>
        </p:nvSpPr>
        <p:spPr/>
        <p:txBody>
          <a:bodyPr/>
          <a:lstStyle/>
          <a:p>
            <a:r>
              <a:rPr lang="zh-CN" altLang="en-US" dirty="0" smtClean="0"/>
              <a:t>不接受“洗滌未幹”等原因而未穿工作服的解釋。因“洗滌未幹、未洗滌等原因未著工作服，一律按違規處理。 </a:t>
            </a:r>
          </a:p>
          <a:p>
            <a:r>
              <a:rPr lang="zh-CN" altLang="en-US" dirty="0" smtClean="0"/>
              <a:t>有特殊原因不能著工作服，需到前臺報備，行政部將視實際情况而定。</a:t>
            </a:r>
          </a:p>
          <a:p>
            <a:r>
              <a:rPr lang="zh-CN" altLang="en-US" sz="2800" b="1" dirty="0" smtClean="0">
                <a:solidFill>
                  <a:srgbClr val="0073B2"/>
                </a:solidFill>
              </a:rPr>
              <a:t>著裝要求時間爲：</a:t>
            </a:r>
          </a:p>
          <a:p>
            <a:pPr marL="914400" lvl="1" indent="-457200">
              <a:lnSpc>
                <a:spcPct val="100000"/>
              </a:lnSpc>
              <a:spcBef>
                <a:spcPts val="600"/>
              </a:spcBef>
              <a:spcAft>
                <a:spcPts val="600"/>
              </a:spcAft>
              <a:buFont typeface="+mj-lt"/>
              <a:buAutoNum type="alphaLcParenR"/>
            </a:pPr>
            <a:r>
              <a:rPr lang="zh-CN" altLang="en-US" dirty="0" smtClean="0"/>
              <a:t>每周一至周五上班時間必須著工作服；</a:t>
            </a:r>
          </a:p>
          <a:p>
            <a:pPr marL="914400" lvl="1" indent="-457200">
              <a:lnSpc>
                <a:spcPct val="100000"/>
              </a:lnSpc>
              <a:spcBef>
                <a:spcPts val="600"/>
              </a:spcBef>
              <a:spcAft>
                <a:spcPts val="600"/>
              </a:spcAft>
              <a:buFont typeface="+mj-lt"/>
              <a:buAutoNum type="alphaLcParenR"/>
            </a:pPr>
            <a:r>
              <a:rPr lang="zh-CN" altLang="en-US" dirty="0" smtClean="0"/>
              <a:t>出差員工回到公司必須著裝；</a:t>
            </a:r>
          </a:p>
          <a:p>
            <a:pPr marL="914400" lvl="1" indent="-457200">
              <a:lnSpc>
                <a:spcPct val="100000"/>
              </a:lnSpc>
              <a:spcBef>
                <a:spcPts val="600"/>
              </a:spcBef>
              <a:spcAft>
                <a:spcPts val="600"/>
              </a:spcAft>
              <a:buFont typeface="+mj-lt"/>
              <a:buAutoNum type="alphaLcParenR"/>
            </a:pPr>
            <a:r>
              <a:rPr lang="zh-CN" altLang="en-US" dirty="0" smtClean="0"/>
              <a:t>公司會議、活動期間；</a:t>
            </a:r>
          </a:p>
          <a:p>
            <a:pPr marL="914400" lvl="1" indent="-457200">
              <a:lnSpc>
                <a:spcPct val="100000"/>
              </a:lnSpc>
              <a:spcBef>
                <a:spcPts val="600"/>
              </a:spcBef>
              <a:spcAft>
                <a:spcPts val="600"/>
              </a:spcAft>
              <a:buFont typeface="+mj-lt"/>
              <a:buAutoNum type="alphaLcParenR"/>
            </a:pPr>
            <a:r>
              <a:rPr lang="zh-CN" altLang="en-US" dirty="0" smtClean="0"/>
              <a:t>意義 ：著工作服、配戴工作牌已遠遠不是個人形象的問題，而是影響到公司形象的問題。</a:t>
            </a:r>
            <a:endParaRPr lang="zh-CN" altLang="en-US" dirty="0"/>
          </a:p>
        </p:txBody>
      </p:sp>
    </p:spTree>
    <p:extLst>
      <p:ext uri="{BB962C8B-B14F-4D97-AF65-F5344CB8AC3E}">
        <p14:creationId xmlns:p14="http://schemas.microsoft.com/office/powerpoint/2010/main" val="1155624075"/>
      </p:ext>
    </p:extLst>
  </p:cSld>
  <p:clrMapOvr>
    <a:masterClrMapping/>
  </p:clrMapOvr>
  <p:transition spd="slow" advTm="5000">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制度規範之形象與環境</a:t>
            </a:r>
            <a:endParaRPr lang="zh-CN" altLang="en-US" dirty="0"/>
          </a:p>
        </p:txBody>
      </p:sp>
      <p:sp>
        <p:nvSpPr>
          <p:cNvPr id="3" name="内容占位符 2"/>
          <p:cNvSpPr>
            <a:spLocks noGrp="1"/>
          </p:cNvSpPr>
          <p:nvPr>
            <p:ph idx="1"/>
          </p:nvPr>
        </p:nvSpPr>
        <p:spPr>
          <a:xfrm>
            <a:off x="838200" y="1466850"/>
            <a:ext cx="10515600" cy="4710113"/>
          </a:xfrm>
        </p:spPr>
        <p:txBody>
          <a:bodyPr/>
          <a:lstStyle/>
          <a:p>
            <a:pPr marL="457200" indent="-457200">
              <a:lnSpc>
                <a:spcPct val="150000"/>
              </a:lnSpc>
              <a:buFont typeface="+mj-lt"/>
              <a:buAutoNum type="arabicPeriod"/>
            </a:pPr>
            <a:r>
              <a:rPr lang="zh-CN" altLang="en-US" dirty="0" smtClean="0"/>
              <a:t>嚴禁在公司內吸烟</a:t>
            </a:r>
          </a:p>
          <a:p>
            <a:pPr marL="514350" indent="-514350">
              <a:lnSpc>
                <a:spcPct val="150000"/>
              </a:lnSpc>
              <a:buFont typeface="+mj-lt"/>
              <a:buAutoNum type="arabicPeriod"/>
            </a:pPr>
            <a:r>
              <a:rPr lang="zh-CN" altLang="en-US" dirty="0" smtClean="0"/>
              <a:t>愛護環境，人人有責</a:t>
            </a:r>
          </a:p>
          <a:p>
            <a:pPr marL="914400" lvl="1" indent="-457200">
              <a:lnSpc>
                <a:spcPct val="150000"/>
              </a:lnSpc>
              <a:buFont typeface="+mj-lt"/>
              <a:buAutoNum type="alphaLcParenR"/>
            </a:pPr>
            <a:r>
              <a:rPr lang="zh-CN" altLang="en-US" dirty="0" smtClean="0"/>
              <a:t>室內的花木，不得肆意破壞；</a:t>
            </a:r>
          </a:p>
          <a:p>
            <a:pPr marL="914400" lvl="1" indent="-457200">
              <a:lnSpc>
                <a:spcPct val="150000"/>
              </a:lnSpc>
              <a:buFont typeface="+mj-lt"/>
              <a:buAutoNum type="alphaLcParenR"/>
            </a:pPr>
            <a:r>
              <a:rPr lang="zh-CN" altLang="en-US" dirty="0" smtClean="0"/>
              <a:t>公共區域使用後要維護整理、自己辦公桌要整潔、整齊；</a:t>
            </a:r>
          </a:p>
          <a:p>
            <a:pPr marL="914400" lvl="1" indent="-457200">
              <a:lnSpc>
                <a:spcPct val="150000"/>
              </a:lnSpc>
              <a:buFont typeface="+mj-lt"/>
              <a:buAutoNum type="alphaLcParenR"/>
            </a:pPr>
            <a:r>
              <a:rPr lang="zh-CN" altLang="en-US" dirty="0" smtClean="0"/>
              <a:t>不可在辦公區域內亂扔生活垃圾；</a:t>
            </a:r>
          </a:p>
          <a:p>
            <a:pPr marL="914400" lvl="1" indent="-457200">
              <a:lnSpc>
                <a:spcPct val="150000"/>
              </a:lnSpc>
              <a:buFont typeface="+mj-lt"/>
              <a:buAutoNum type="alphaLcParenR"/>
            </a:pPr>
            <a:r>
              <a:rPr lang="zh-CN" altLang="en-US" dirty="0" smtClean="0"/>
              <a:t>不得將不用的衣服與鞋子等其他物品帶到公司。</a:t>
            </a:r>
          </a:p>
          <a:p>
            <a:pPr>
              <a:lnSpc>
                <a:spcPct val="150000"/>
              </a:lnSpc>
            </a:pPr>
            <a:endParaRPr lang="zh-CN" altLang="en-US" dirty="0"/>
          </a:p>
        </p:txBody>
      </p:sp>
    </p:spTree>
    <p:extLst>
      <p:ext uri="{BB962C8B-B14F-4D97-AF65-F5344CB8AC3E}">
        <p14:creationId xmlns:p14="http://schemas.microsoft.com/office/powerpoint/2010/main" val="1240367800"/>
      </p:ext>
    </p:extLst>
  </p:cSld>
  <p:clrMapOvr>
    <a:masterClrMapping/>
  </p:clrMapOvr>
  <p:transition spd="slow" advTm="5000">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制度規範之資源與安全</a:t>
            </a:r>
            <a:endParaRPr lang="zh-CN" altLang="en-US" dirty="0"/>
          </a:p>
        </p:txBody>
      </p:sp>
      <p:sp>
        <p:nvSpPr>
          <p:cNvPr id="3" name="内容占位符 2"/>
          <p:cNvSpPr>
            <a:spLocks noGrp="1"/>
          </p:cNvSpPr>
          <p:nvPr>
            <p:ph idx="1"/>
          </p:nvPr>
        </p:nvSpPr>
        <p:spPr>
          <a:xfrm>
            <a:off x="838200" y="1514475"/>
            <a:ext cx="10515600" cy="4662488"/>
          </a:xfrm>
        </p:spPr>
        <p:txBody>
          <a:bodyPr>
            <a:normAutofit fontScale="77500" lnSpcReduction="20000"/>
          </a:bodyPr>
          <a:lstStyle/>
          <a:p>
            <a:pPr marL="514350" indent="-514350">
              <a:lnSpc>
                <a:spcPct val="170000"/>
              </a:lnSpc>
              <a:buFont typeface="+mj-lt"/>
              <a:buAutoNum type="arabicPeriod"/>
            </a:pPr>
            <a:r>
              <a:rPr lang="zh-CN" altLang="en-US" sz="3100" dirty="0" smtClean="0"/>
              <a:t>用電、用水</a:t>
            </a:r>
          </a:p>
          <a:p>
            <a:pPr marL="914400" lvl="1" indent="-457200">
              <a:lnSpc>
                <a:spcPct val="170000"/>
              </a:lnSpc>
              <a:buFont typeface="+mj-lt"/>
              <a:buAutoNum type="alphaLcParenR"/>
            </a:pPr>
            <a:r>
              <a:rPr lang="zh-CN" altLang="en-US" dirty="0" smtClean="0"/>
              <a:t>原則：安全、節約、適用；</a:t>
            </a:r>
          </a:p>
          <a:p>
            <a:pPr marL="914400" lvl="1" indent="-457200">
              <a:lnSpc>
                <a:spcPct val="170000"/>
              </a:lnSpc>
              <a:buFont typeface="+mj-lt"/>
              <a:buAutoNum type="alphaLcParenR"/>
            </a:pPr>
            <a:r>
              <a:rPr lang="zh-CN" altLang="en-US" dirty="0" smtClean="0"/>
              <a:t>各類公司資源需定期作檢查；</a:t>
            </a:r>
          </a:p>
          <a:p>
            <a:pPr marL="914400" lvl="1" indent="-457200">
              <a:lnSpc>
                <a:spcPct val="170000"/>
              </a:lnSpc>
              <a:buFont typeface="+mj-lt"/>
              <a:buAutoNum type="alphaLcParenR"/>
            </a:pPr>
            <a:r>
              <a:rPr lang="zh-CN" altLang="en-US" dirty="0" smtClean="0"/>
              <a:t>發現問題及時報備人事部。</a:t>
            </a:r>
          </a:p>
          <a:p>
            <a:pPr marL="514350" indent="-514350">
              <a:lnSpc>
                <a:spcPct val="170000"/>
              </a:lnSpc>
              <a:buFont typeface="+mj-lt"/>
              <a:buAutoNum type="arabicPeriod"/>
            </a:pPr>
            <a:r>
              <a:rPr lang="zh-CN" altLang="en-US" sz="3100" dirty="0" smtClean="0"/>
              <a:t>電腦</a:t>
            </a:r>
            <a:endParaRPr lang="zh-CN" altLang="en-US" sz="3100" dirty="0"/>
          </a:p>
          <a:p>
            <a:pPr marL="914400" lvl="1" indent="-457200">
              <a:lnSpc>
                <a:spcPct val="170000"/>
              </a:lnSpc>
              <a:buFont typeface="+mj-lt"/>
              <a:buAutoNum type="alphaLcParenR"/>
            </a:pPr>
            <a:r>
              <a:rPr lang="zh-CN" altLang="en-US" dirty="0" smtClean="0"/>
              <a:t>離開辦公位，不用電腦達</a:t>
            </a:r>
            <a:r>
              <a:rPr lang="en-US" altLang="zh-CN" dirty="0" smtClean="0"/>
              <a:t>30</a:t>
            </a:r>
            <a:r>
              <a:rPr lang="zh-CN" altLang="en-US" dirty="0" smtClean="0"/>
              <a:t>分鐘以上，必須關閉顯示器，退出系統；</a:t>
            </a:r>
            <a:endParaRPr lang="en-US" altLang="zh-CN" dirty="0"/>
          </a:p>
          <a:p>
            <a:pPr marL="914400" lvl="1" indent="-457200">
              <a:lnSpc>
                <a:spcPct val="170000"/>
              </a:lnSpc>
              <a:buFont typeface="+mj-lt"/>
              <a:buAutoNum type="alphaLcParenR"/>
            </a:pPr>
            <a:r>
              <a:rPr lang="zh-CN" altLang="en-US" dirty="0" smtClean="0"/>
              <a:t>離開達</a:t>
            </a:r>
            <a:r>
              <a:rPr lang="en-US" altLang="zh-CN" dirty="0" smtClean="0"/>
              <a:t>1.5</a:t>
            </a:r>
            <a:r>
              <a:rPr lang="zh-CN" altLang="en-US" dirty="0" smtClean="0"/>
              <a:t>小時以上，必須關閉電腦主機。</a:t>
            </a:r>
          </a:p>
          <a:p>
            <a:pPr marL="514350" indent="-514350">
              <a:lnSpc>
                <a:spcPct val="170000"/>
              </a:lnSpc>
              <a:buFont typeface="+mj-lt"/>
              <a:buAutoNum type="arabicPeriod"/>
            </a:pPr>
            <a:r>
              <a:rPr lang="zh-CN" altLang="en-US" sz="3100" dirty="0" smtClean="0"/>
              <a:t>複印機、打印機、飲水機、碎紙機等</a:t>
            </a:r>
          </a:p>
          <a:p>
            <a:pPr marL="914400" lvl="1" indent="-457200">
              <a:lnSpc>
                <a:spcPct val="170000"/>
              </a:lnSpc>
              <a:buFont typeface="+mj-lt"/>
              <a:buAutoNum type="alphaLcParenR"/>
            </a:pPr>
            <a:r>
              <a:rPr lang="zh-CN" altLang="en-US" dirty="0" smtClean="0"/>
              <a:t>下班時應及時關閉複印機、打印機、飲水機等電器電源如後面的人要繼續使用，則誰用誰關掉。</a:t>
            </a:r>
          </a:p>
          <a:p>
            <a:pPr>
              <a:lnSpc>
                <a:spcPct val="170000"/>
              </a:lnSpc>
            </a:pPr>
            <a:endParaRPr lang="zh-CN" altLang="en-US" dirty="0"/>
          </a:p>
        </p:txBody>
      </p:sp>
    </p:spTree>
    <p:extLst>
      <p:ext uri="{BB962C8B-B14F-4D97-AF65-F5344CB8AC3E}">
        <p14:creationId xmlns:p14="http://schemas.microsoft.com/office/powerpoint/2010/main" val="4173021046"/>
      </p:ext>
    </p:extLst>
  </p:cSld>
  <p:clrMapOvr>
    <a:masterClrMapping/>
  </p:clrMapOvr>
  <p:transition spd="slow" advTm="5000">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員工福利</a:t>
            </a:r>
            <a:endParaRPr lang="zh-CN" altLang="en-US" dirty="0"/>
          </a:p>
        </p:txBody>
      </p:sp>
      <p:sp>
        <p:nvSpPr>
          <p:cNvPr id="3" name="内容占位符 2"/>
          <p:cNvSpPr>
            <a:spLocks noGrp="1"/>
          </p:cNvSpPr>
          <p:nvPr>
            <p:ph idx="1"/>
          </p:nvPr>
        </p:nvSpPr>
        <p:spPr>
          <a:xfrm>
            <a:off x="838200" y="1466850"/>
            <a:ext cx="10515600" cy="4710113"/>
          </a:xfrm>
        </p:spPr>
        <p:txBody>
          <a:bodyPr>
            <a:normAutofit fontScale="92500" lnSpcReduction="10000"/>
          </a:bodyPr>
          <a:lstStyle/>
          <a:p>
            <a:pPr marL="514350" indent="-514350">
              <a:lnSpc>
                <a:spcPct val="150000"/>
              </a:lnSpc>
              <a:buFont typeface="+mj-lt"/>
              <a:buAutoNum type="arabicPeriod"/>
            </a:pPr>
            <a:r>
              <a:rPr lang="zh-CN" altLang="en-US" dirty="0"/>
              <a:t>法定假日</a:t>
            </a:r>
            <a:endParaRPr lang="en-US" altLang="zh-CN" dirty="0"/>
          </a:p>
          <a:p>
            <a:pPr marL="914400" lvl="1" indent="-457200">
              <a:lnSpc>
                <a:spcPct val="150000"/>
              </a:lnSpc>
              <a:buFont typeface="+mj-lt"/>
              <a:buAutoNum type="alphaLcParenR"/>
            </a:pPr>
            <a:r>
              <a:rPr lang="zh-CN" altLang="en-US" dirty="0" smtClean="0"/>
              <a:t>在元旦、春節、勞動節、國慶節等法定假日，公司按照國家休假制度給予假期及其他相應的節日福利；</a:t>
            </a:r>
            <a:endParaRPr lang="en-US" altLang="zh-CN" dirty="0"/>
          </a:p>
          <a:p>
            <a:pPr marL="914400" lvl="1" indent="-457200">
              <a:lnSpc>
                <a:spcPct val="150000"/>
              </a:lnSpc>
              <a:buFont typeface="+mj-lt"/>
              <a:buAutoNum type="alphaLcParenR"/>
            </a:pPr>
            <a:r>
              <a:rPr lang="zh-CN" altLang="en-US" dirty="0" smtClean="0"/>
              <a:t>員工生日當天補助現金</a:t>
            </a:r>
            <a:r>
              <a:rPr lang="en-US" altLang="zh-CN" dirty="0" smtClean="0"/>
              <a:t>200</a:t>
            </a:r>
            <a:r>
              <a:rPr lang="zh-CN" altLang="en-US" dirty="0" smtClean="0"/>
              <a:t>元</a:t>
            </a:r>
            <a:r>
              <a:rPr lang="zh-CN" altLang="en-US" dirty="0"/>
              <a:t>。等等！</a:t>
            </a:r>
          </a:p>
          <a:p>
            <a:pPr marL="457200" indent="-457200">
              <a:lnSpc>
                <a:spcPct val="150000"/>
              </a:lnSpc>
              <a:buFont typeface="+mj-lt"/>
              <a:buAutoNum type="arabicPeriod"/>
            </a:pPr>
            <a:r>
              <a:rPr lang="zh-CN" altLang="en-US" dirty="0" smtClean="0"/>
              <a:t>培訓與發展</a:t>
            </a:r>
            <a:endParaRPr lang="en-US" altLang="zh-CN" dirty="0"/>
          </a:p>
          <a:p>
            <a:pPr marL="914400" lvl="1" indent="-457200">
              <a:lnSpc>
                <a:spcPct val="150000"/>
              </a:lnSpc>
              <a:buFont typeface="+mj-lt"/>
              <a:buAutoNum type="alphaLcParenR"/>
            </a:pPr>
            <a:r>
              <a:rPr lang="zh-CN" altLang="en-US" dirty="0" smtClean="0"/>
              <a:t>在職輔導、公費外派培訓、報刊書籍訂閱等方式，旨在公司發展壯大與員工個人發展和諧雙贏。</a:t>
            </a:r>
          </a:p>
          <a:p>
            <a:pPr>
              <a:lnSpc>
                <a:spcPct val="150000"/>
              </a:lnSpc>
            </a:pPr>
            <a:r>
              <a:rPr lang="zh-CN" altLang="en-US" dirty="0" smtClean="0">
                <a:solidFill>
                  <a:srgbClr val="C00000"/>
                </a:solidFill>
              </a:rPr>
              <a:t>重視員工的福利管理，力求在提供良好的可持續平臺基礎上形成勞資雙方對奮鬥目標的一致認同，實現企業與員工的共同發展</a:t>
            </a:r>
          </a:p>
          <a:p>
            <a:pPr>
              <a:lnSpc>
                <a:spcPct val="150000"/>
              </a:lnSpc>
            </a:pPr>
            <a:endParaRPr lang="zh-CN" altLang="en-US" dirty="0"/>
          </a:p>
        </p:txBody>
      </p:sp>
    </p:spTree>
    <p:extLst>
      <p:ext uri="{BB962C8B-B14F-4D97-AF65-F5344CB8AC3E}">
        <p14:creationId xmlns:p14="http://schemas.microsoft.com/office/powerpoint/2010/main" val="4182994472"/>
      </p:ext>
    </p:extLst>
  </p:cSld>
  <p:clrMapOvr>
    <a:masterClrMapping/>
  </p:clrMapOvr>
  <p:transition spd="slow" advTm="5000">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17906" y="1925622"/>
            <a:ext cx="6669742" cy="3539430"/>
          </a:xfrm>
          <a:prstGeom prst="rect">
            <a:avLst/>
          </a:prstGeom>
        </p:spPr>
        <p:txBody>
          <a:bodyPr wrap="square">
            <a:spAutoFit/>
          </a:bodyPr>
          <a:lstStyle/>
          <a:p>
            <a:pPr>
              <a:lnSpc>
                <a:spcPct val="200000"/>
              </a:lnSpc>
            </a:pPr>
            <a:r>
              <a:rPr lang="zh-CN" altLang="en-US" sz="2800" b="1" dirty="0" smtClean="0">
                <a:solidFill>
                  <a:srgbClr val="0073B2"/>
                </a:solidFill>
                <a:latin typeface="方正姚体" pitchFamily="2" charset="-122"/>
                <a:ea typeface="方正姚体" pitchFamily="2" charset="-122"/>
              </a:rPr>
              <a:t>制度內，你有無限自由</a:t>
            </a:r>
          </a:p>
          <a:p>
            <a:pPr>
              <a:lnSpc>
                <a:spcPct val="200000"/>
              </a:lnSpc>
            </a:pPr>
            <a:r>
              <a:rPr lang="zh-CN" altLang="en-US" sz="2800" b="1" dirty="0" smtClean="0">
                <a:solidFill>
                  <a:srgbClr val="0073B2"/>
                </a:solidFill>
                <a:latin typeface="方正姚体" pitchFamily="2" charset="-122"/>
                <a:ea typeface="方正姚体" pitchFamily="2" charset="-122"/>
              </a:rPr>
              <a:t>相信自己能認真遵守規章制度</a:t>
            </a:r>
          </a:p>
          <a:p>
            <a:pPr>
              <a:lnSpc>
                <a:spcPct val="200000"/>
              </a:lnSpc>
            </a:pPr>
            <a:r>
              <a:rPr lang="zh-CN" altLang="en-US" sz="2800" b="1" dirty="0" smtClean="0">
                <a:solidFill>
                  <a:srgbClr val="0073B2"/>
                </a:solidFill>
                <a:latin typeface="方正姚体" pitchFamily="2" charset="-122"/>
                <a:ea typeface="方正姚体" pitchFamily="2" charset="-122"/>
              </a:rPr>
              <a:t>掌握幷正確使用規章制度，高效開展工作</a:t>
            </a:r>
          </a:p>
          <a:p>
            <a:pPr>
              <a:lnSpc>
                <a:spcPct val="200000"/>
              </a:lnSpc>
            </a:pPr>
            <a:r>
              <a:rPr lang="zh-CN" altLang="en-US" sz="2800" b="1" dirty="0" smtClean="0">
                <a:solidFill>
                  <a:srgbClr val="0073B2"/>
                </a:solidFill>
                <a:latin typeface="方正姚体" pitchFamily="2" charset="-122"/>
                <a:ea typeface="方正姚体" pitchFamily="2" charset="-122"/>
              </a:rPr>
              <a:t>幷用行爲帶動身邊的</a:t>
            </a:r>
            <a:r>
              <a:rPr lang="zh-CN" altLang="en-US" sz="2800" b="1" dirty="0">
                <a:solidFill>
                  <a:srgbClr val="0073B2"/>
                </a:solidFill>
                <a:latin typeface="方正姚体" pitchFamily="2" charset="-122"/>
                <a:ea typeface="方正姚体" pitchFamily="2" charset="-122"/>
              </a:rPr>
              <a:t>人</a:t>
            </a:r>
          </a:p>
        </p:txBody>
      </p:sp>
    </p:spTree>
    <p:extLst>
      <p:ext uri="{BB962C8B-B14F-4D97-AF65-F5344CB8AC3E}">
        <p14:creationId xmlns:p14="http://schemas.microsoft.com/office/powerpoint/2010/main" val="2806943642"/>
      </p:ext>
    </p:extLst>
  </p:cSld>
  <p:clrMapOvr>
    <a:masterClrMapping/>
  </p:clrMapOvr>
  <p:transition spd="slow" advTm="5000">
    <p:push/>
  </p:transition>
</p:sld>
</file>

<file path=ppt/theme/theme1.xml><?xml version="1.0" encoding="utf-8"?>
<a:theme xmlns:a="http://schemas.openxmlformats.org/drawingml/2006/main" name="Office 主题​​">
  <a:themeElements>
    <a:clrScheme name="自定义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578793"/>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TM03457444[[fn=基础]]</Template>
  <TotalTime>411</TotalTime>
  <Words>1824</Words>
  <Application>Microsoft Office PowerPoint</Application>
  <PresentationFormat>宽屏</PresentationFormat>
  <Paragraphs>96</Paragraphs>
  <Slides>16</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等线</vt:lpstr>
      <vt:lpstr>等线 Light</vt:lpstr>
      <vt:lpstr>方正姚体</vt:lpstr>
      <vt:lpstr>黑体</vt:lpstr>
      <vt:lpstr>宋体</vt:lpstr>
      <vt:lpstr>微软雅黑</vt:lpstr>
      <vt:lpstr>幼圆</vt:lpstr>
      <vt:lpstr>Arial</vt:lpstr>
      <vt:lpstr>Calibri</vt:lpstr>
      <vt:lpstr>Office 主题​​</vt:lpstr>
      <vt:lpstr>PowerPoint 演示文稿</vt:lpstr>
      <vt:lpstr>PowerPoint 演示文稿</vt:lpstr>
      <vt:lpstr>PowerPoint 演示文稿</vt:lpstr>
      <vt:lpstr>企業的制度是什麽？</vt:lpstr>
      <vt:lpstr>本次宣講將是爲了：</vt:lpstr>
      <vt:lpstr>考勤紀律</vt:lpstr>
      <vt:lpstr>考勤紀律</vt:lpstr>
      <vt:lpstr>PowerPoint 演示文稿</vt:lpstr>
      <vt:lpstr>PowerPoint 演示文稿</vt:lpstr>
      <vt:lpstr>就  餐</vt:lpstr>
      <vt:lpstr>工作牌</vt:lpstr>
      <vt:lpstr>工作服</vt:lpstr>
      <vt:lpstr>制度規範之形象與環境</vt:lpstr>
      <vt:lpstr>制度規範之資源與安全</vt:lpstr>
      <vt:lpstr>員工福利</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hf</dc:creator>
  <cp:lastModifiedBy>Windows 用户11</cp:lastModifiedBy>
  <cp:revision>52</cp:revision>
  <dcterms:created xsi:type="dcterms:W3CDTF">2016-02-26T06:51:35Z</dcterms:created>
  <dcterms:modified xsi:type="dcterms:W3CDTF">2022-03-31T03:52:17Z</dcterms:modified>
</cp:coreProperties>
</file>