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Default Extension="wav" ContentType="audio/x-wav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notesMasterIdLst>
    <p:notesMasterId r:id="rId12"/>
  </p:notesMasterIdLst>
  <p:sldIdLst>
    <p:sldId id="748" r:id="rId2"/>
    <p:sldId id="730" r:id="rId3"/>
    <p:sldId id="732" r:id="rId4"/>
    <p:sldId id="734" r:id="rId5"/>
    <p:sldId id="731" r:id="rId6"/>
    <p:sldId id="727" r:id="rId7"/>
    <p:sldId id="717" r:id="rId8"/>
    <p:sldId id="750" r:id="rId9"/>
    <p:sldId id="751" r:id="rId10"/>
    <p:sldId id="747" r:id="rId11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935" userDrawn="1">
          <p15:clr>
            <a:srgbClr val="A4A3A4"/>
          </p15:clr>
        </p15:guide>
        <p15:guide id="2" pos="8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919AB3"/>
    <a:srgbClr val="CCFFCC"/>
    <a:srgbClr val="CC9900"/>
    <a:srgbClr val="FFFF00"/>
    <a:srgbClr val="CCCC00"/>
    <a:srgbClr val="FF99CC"/>
    <a:srgbClr val="9933FF"/>
    <a:srgbClr val="99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1203" autoAdjust="0"/>
  </p:normalViewPr>
  <p:slideViewPr>
    <p:cSldViewPr snapToGrid="0">
      <p:cViewPr varScale="1">
        <p:scale>
          <a:sx n="87" d="100"/>
          <a:sy n="87" d="100"/>
        </p:scale>
        <p:origin x="-82" y="-91"/>
      </p:cViewPr>
      <p:guideLst>
        <p:guide orient="horz" pos="935"/>
        <p:guide pos="8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8" d="100"/>
        <a:sy n="68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4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44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744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5744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44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82D09E0-2161-4873-9CC4-5F98DCA279B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996684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C43004-828E-4536-8FE7-96E185F013F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06618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19604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4263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3078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3528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8840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19257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28442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9108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7478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6235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85870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-2277" y="1"/>
            <a:ext cx="12194276" cy="6857999"/>
          </a:xfrm>
          <a:prstGeom prst="rect">
            <a:avLst/>
          </a:prstGeom>
          <a:gradFill flip="none" rotWithShape="1">
            <a:gsLst>
              <a:gs pos="100000">
                <a:srgbClr val="E3EAE3"/>
              </a:gs>
              <a:gs pos="0">
                <a:srgbClr val="E0E7E0"/>
              </a:gs>
              <a:gs pos="50000">
                <a:schemeClr val="bg1"/>
              </a:gs>
            </a:gsLst>
            <a:lin ang="2700000" scaled="1"/>
            <a:tileRect/>
          </a:gradFill>
          <a:ln w="12700">
            <a:noFill/>
          </a:ln>
          <a:effectLst>
            <a:glow rad="57150">
              <a:srgbClr val="AFDC7E">
                <a:alpha val="6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CN" alt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39441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0265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5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 descr="E:\PPT\图片素材\彩色线条2.pn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955608" y="3799310"/>
            <a:ext cx="7224713" cy="785794"/>
          </a:xfrm>
          <a:prstGeom prst="rect">
            <a:avLst/>
          </a:prstGeom>
          <a:noFill/>
          <a:effectLst>
            <a:reflection blurRad="6350" stA="52000" endA="300" endPos="35000" dir="5400000" sy="-100000" algn="bl" rotWithShape="0"/>
          </a:effectLst>
          <a:scene3d>
            <a:camera prst="perspectiveHeroicExtremeLeftFacing"/>
            <a:lightRig rig="threePt" dir="t"/>
          </a:scene3d>
        </p:spPr>
      </p:pic>
      <p:sp>
        <p:nvSpPr>
          <p:cNvPr id="18" name="TextBox 17"/>
          <p:cNvSpPr txBox="1"/>
          <p:nvPr/>
        </p:nvSpPr>
        <p:spPr>
          <a:xfrm>
            <a:off x="5249915" y="3005185"/>
            <a:ext cx="6643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/>
              <a:t>有趣的圆锥</a:t>
            </a:r>
          </a:p>
        </p:txBody>
      </p:sp>
      <p:cxnSp>
        <p:nvCxnSpPr>
          <p:cNvPr id="10" name="直接连接符 9"/>
          <p:cNvCxnSpPr/>
          <p:nvPr/>
        </p:nvCxnSpPr>
        <p:spPr>
          <a:xfrm>
            <a:off x="9154904" y="500439"/>
            <a:ext cx="0" cy="16158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10847100" y="500439"/>
            <a:ext cx="0" cy="16158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5814230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99440" y="1317567"/>
            <a:ext cx="7806088" cy="3609110"/>
          </a:xfrm>
          <a:prstGeom prst="rect">
            <a:avLst/>
          </a:prstGeom>
        </p:spPr>
        <p:txBody>
          <a:bodyPr/>
          <a:lstStyle/>
          <a:p>
            <a:pPr lvl="0" rtl="0">
              <a:buChar char="•"/>
            </a:pPr>
            <a:r>
              <a:rPr lang="zh-CN" dirty="0"/>
              <a:t>知识提要</a:t>
            </a:r>
          </a:p>
          <a:p>
            <a:pPr lvl="1" rtl="0">
              <a:buChar char="•"/>
            </a:pPr>
            <a:r>
              <a:rPr lang="zh-CN" dirty="0"/>
              <a:t>初识圆锥</a:t>
            </a:r>
          </a:p>
          <a:p>
            <a:pPr lvl="1" rtl="0">
              <a:buChar char="•"/>
            </a:pPr>
            <a:r>
              <a:rPr lang="zh-CN" dirty="0"/>
              <a:t>圆锥的组成要素 </a:t>
            </a:r>
          </a:p>
          <a:p>
            <a:pPr lvl="1" rtl="0">
              <a:buChar char="•"/>
            </a:pPr>
            <a:r>
              <a:rPr lang="zh-CN" dirty="0"/>
              <a:t>练习与小结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0" y="784225"/>
            <a:ext cx="10972800" cy="1143000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在日常生活中，你见过哪些圆锥形的</a:t>
            </a:r>
            <a:r>
              <a:rPr lang="zh-CN" altLang="en-US" sz="36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物体</a:t>
            </a:r>
            <a:r>
              <a:rPr lang="en-US" altLang="zh-CN" sz="3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?</a:t>
            </a:r>
            <a:endParaRPr lang="zh-CN" altLang="en-US" sz="36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3596" y="2543010"/>
            <a:ext cx="3454401" cy="283060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675" y="1713711"/>
            <a:ext cx="3979600" cy="264338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710" y="4143580"/>
            <a:ext cx="3738830" cy="2494587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491" name="Text Box 3"/>
          <p:cNvSpPr txBox="1">
            <a:spLocks noChangeArrowheads="1"/>
          </p:cNvSpPr>
          <p:nvPr/>
        </p:nvSpPr>
        <p:spPr bwMode="auto">
          <a:xfrm>
            <a:off x="417513" y="5199064"/>
            <a:ext cx="83169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它们都是圆锥体，简称圆锥。</a:t>
            </a:r>
          </a:p>
        </p:txBody>
      </p:sp>
      <p:graphicFrame>
        <p:nvGraphicFramePr>
          <p:cNvPr id="703492" name="Object 4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3959477245"/>
              </p:ext>
            </p:extLst>
          </p:nvPr>
        </p:nvGraphicFramePr>
        <p:xfrm>
          <a:off x="14286" y="977900"/>
          <a:ext cx="8388350" cy="3973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7" r:id="rId3" imgW="9749880" imgH="4393080" progId="Flash.Movie">
                  <p:embed/>
                </p:oleObj>
              </mc:Choice>
              <mc:Fallback>
                <p:oleObj r:id="rId3" imgW="9749880" imgH="4393080" progId="Flash.Movi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6" y="977900"/>
                        <a:ext cx="8388350" cy="3973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03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03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349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5" name="Text Box 11"/>
          <p:cNvSpPr txBox="1">
            <a:spLocks noChangeArrowheads="1"/>
          </p:cNvSpPr>
          <p:nvPr/>
        </p:nvSpPr>
        <p:spPr bwMode="auto">
          <a:xfrm>
            <a:off x="3867150" y="965201"/>
            <a:ext cx="4464050" cy="369332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回忆圆柱</a:t>
            </a:r>
          </a:p>
        </p:txBody>
      </p:sp>
      <p:sp>
        <p:nvSpPr>
          <p:cNvPr id="700436" name="Text Box 20"/>
          <p:cNvSpPr txBox="1">
            <a:spLocks noChangeArrowheads="1"/>
          </p:cNvSpPr>
          <p:nvPr/>
        </p:nvSpPr>
        <p:spPr bwMode="auto">
          <a:xfrm>
            <a:off x="3867150" y="1900239"/>
            <a:ext cx="5219700" cy="369332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底面是完全相等的两个圆</a:t>
            </a:r>
          </a:p>
        </p:txBody>
      </p:sp>
      <p:sp>
        <p:nvSpPr>
          <p:cNvPr id="700437" name="Text Box 21"/>
          <p:cNvSpPr txBox="1">
            <a:spLocks noChangeArrowheads="1"/>
          </p:cNvSpPr>
          <p:nvPr/>
        </p:nvSpPr>
        <p:spPr bwMode="auto">
          <a:xfrm>
            <a:off x="3867150" y="3700464"/>
            <a:ext cx="4752975" cy="369332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两底之间的距离叫做高</a:t>
            </a:r>
          </a:p>
        </p:txBody>
      </p:sp>
      <p:sp>
        <p:nvSpPr>
          <p:cNvPr id="17435" name="Text Box 24"/>
          <p:cNvSpPr txBox="1">
            <a:spLocks noChangeArrowheads="1"/>
          </p:cNvSpPr>
          <p:nvPr/>
        </p:nvSpPr>
        <p:spPr bwMode="auto">
          <a:xfrm>
            <a:off x="3867150" y="2800351"/>
            <a:ext cx="4411420" cy="369332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圆柱的曲面叫做侧面</a:t>
            </a:r>
          </a:p>
        </p:txBody>
      </p:sp>
      <p:sp>
        <p:nvSpPr>
          <p:cNvPr id="700445" name="Text Box 29"/>
          <p:cNvSpPr txBox="1">
            <a:spLocks noChangeArrowheads="1"/>
          </p:cNvSpPr>
          <p:nvPr/>
        </p:nvSpPr>
        <p:spPr bwMode="auto">
          <a:xfrm>
            <a:off x="3867150" y="4600577"/>
            <a:ext cx="3168650" cy="369332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高有无数条</a:t>
            </a:r>
          </a:p>
        </p:txBody>
      </p:sp>
      <p:sp>
        <p:nvSpPr>
          <p:cNvPr id="700446" name="Text Box 30"/>
          <p:cNvSpPr txBox="1">
            <a:spLocks noChangeArrowheads="1"/>
          </p:cNvSpPr>
          <p:nvPr/>
        </p:nvSpPr>
        <p:spPr bwMode="auto">
          <a:xfrm>
            <a:off x="3867150" y="5500689"/>
            <a:ext cx="2809875" cy="369332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长度都相等</a:t>
            </a:r>
          </a:p>
        </p:txBody>
      </p:sp>
      <p:sp>
        <p:nvSpPr>
          <p:cNvPr id="3" name="流程图: 磁盘 2"/>
          <p:cNvSpPr/>
          <p:nvPr/>
        </p:nvSpPr>
        <p:spPr>
          <a:xfrm>
            <a:off x="886691" y="1819564"/>
            <a:ext cx="2392218" cy="3602182"/>
          </a:xfrm>
          <a:prstGeom prst="flowChartMagneticDisk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22" name="Text Box 2"/>
          <p:cNvSpPr txBox="1">
            <a:spLocks noChangeArrowheads="1"/>
          </p:cNvSpPr>
          <p:nvPr/>
        </p:nvSpPr>
        <p:spPr bwMode="auto">
          <a:xfrm>
            <a:off x="285750" y="1179513"/>
            <a:ext cx="72009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3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圆锥与圆柱的区别？</a:t>
            </a:r>
          </a:p>
        </p:txBody>
      </p:sp>
      <p:sp>
        <p:nvSpPr>
          <p:cNvPr id="4" name="矩形 3"/>
          <p:cNvSpPr/>
          <p:nvPr/>
        </p:nvSpPr>
        <p:spPr>
          <a:xfrm>
            <a:off x="213360" y="1985556"/>
            <a:ext cx="851408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	圆锥	圆柱</a:t>
            </a:r>
          </a:p>
          <a:p>
            <a:r>
              <a:rPr lang="zh-CN" altLang="en-US" dirty="0"/>
              <a:t>底面	只有一个	两个完全一样的圆</a:t>
            </a:r>
          </a:p>
          <a:p>
            <a:r>
              <a:rPr lang="zh-CN" altLang="en-US" dirty="0"/>
              <a:t>高	只有一条	有无数条</a:t>
            </a:r>
          </a:p>
          <a:p>
            <a:r>
              <a:rPr lang="zh-CN" altLang="en-US" dirty="0"/>
              <a:t>侧面	曲面，展开后是扇形	曲面，展开后是矩形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963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22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7303" y="1677702"/>
            <a:ext cx="2859272" cy="3816427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>
            <a:off x="4870313" y="1672321"/>
            <a:ext cx="0" cy="3255832"/>
          </a:xfrm>
          <a:prstGeom prst="line">
            <a:avLst/>
          </a:prstGeom>
          <a:ln w="28575">
            <a:solidFill>
              <a:srgbClr val="FF3300"/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6939" y="1608206"/>
            <a:ext cx="128230" cy="128230"/>
          </a:xfrm>
          <a:prstGeom prst="rect">
            <a:avLst/>
          </a:prstGeom>
        </p:spPr>
      </p:pic>
      <p:sp>
        <p:nvSpPr>
          <p:cNvPr id="9" name="Oval 404"/>
          <p:cNvSpPr>
            <a:spLocks noChangeArrowheads="1"/>
          </p:cNvSpPr>
          <p:nvPr/>
        </p:nvSpPr>
        <p:spPr bwMode="auto">
          <a:xfrm>
            <a:off x="6890784" y="3943618"/>
            <a:ext cx="2161776" cy="2097299"/>
          </a:xfrm>
          <a:prstGeom prst="ellipse">
            <a:avLst/>
          </a:prstGeom>
          <a:solidFill>
            <a:srgbClr val="919AB3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lIns="90000" tIns="46800" rIns="90000" bIns="46800" anchor="ctr"/>
          <a:lstStyle/>
          <a:p>
            <a:pPr algn="ctr">
              <a:defRPr/>
            </a:pPr>
            <a:r>
              <a:rPr lang="zh-CN" altLang="en-US" dirty="0" smtClea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底面是圆形</a:t>
            </a:r>
            <a:endParaRPr lang="zh-CN" altLang="en-US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" name="饼形 2"/>
          <p:cNvSpPr/>
          <p:nvPr/>
        </p:nvSpPr>
        <p:spPr>
          <a:xfrm>
            <a:off x="5256777" y="-869186"/>
            <a:ext cx="4311934" cy="4422012"/>
          </a:xfrm>
          <a:prstGeom prst="pie">
            <a:avLst>
              <a:gd name="adj1" fmla="val 0"/>
              <a:gd name="adj2" fmla="val 6852446"/>
            </a:avLst>
          </a:prstGeom>
          <a:solidFill>
            <a:srgbClr val="919AB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700000" rIns="216000" bIns="648000" rtlCol="0" anchor="b" anchorCtr="0"/>
          <a:lstStyle/>
          <a:p>
            <a:pPr algn="r"/>
            <a:r>
              <a:rPr lang="zh-CN" altLang="en-US" dirty="0" smtClea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侧面是扇形</a:t>
            </a:r>
            <a:endParaRPr lang="zh-CN" altLang="en-US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3410990" y="4928153"/>
            <a:ext cx="2795105" cy="0"/>
          </a:xfrm>
          <a:prstGeom prst="line">
            <a:avLst/>
          </a:prstGeom>
          <a:ln w="28575">
            <a:solidFill>
              <a:srgbClr val="FF3300"/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175490" y="1194689"/>
                <a:ext cx="11212946" cy="35988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  <a:buClr>
                    <a:schemeClr val="accent1"/>
                  </a:buClr>
                </a:pPr>
                <a:r>
                  <a:rPr lang="zh-CN" altLang="en-US" dirty="0"/>
                  <a:t>高</a:t>
                </a:r>
              </a:p>
              <a:p>
                <a:pPr>
                  <a:spcAft>
                    <a:spcPts val="1200"/>
                  </a:spcAft>
                </a:pPr>
                <a:r>
                  <a:rPr lang="zh-CN" altLang="en-US" dirty="0" smtClean="0"/>
                  <a:t>（</a:t>
                </a:r>
                <a:r>
                  <a:rPr lang="en-US" altLang="zh-CN" dirty="0"/>
                  <a:t>l</a:t>
                </a:r>
                <a:r>
                  <a:rPr lang="zh-CN" altLang="en-US" dirty="0"/>
                  <a:t>：母线长，</a:t>
                </a:r>
                <a:r>
                  <a:rPr lang="en-US" altLang="zh-CN" dirty="0"/>
                  <a:t>r</a:t>
                </a:r>
                <a:r>
                  <a:rPr lang="zh-CN" altLang="en-US" dirty="0"/>
                  <a:t>：底面半径）</a:t>
                </a:r>
              </a:p>
              <a:p>
                <a:pPr>
                  <a:spcAft>
                    <a:spcPts val="600"/>
                  </a:spcAft>
                  <a:buClr>
                    <a:schemeClr val="accent1"/>
                  </a:buClr>
                </a:pPr>
                <a:r>
                  <a:rPr lang="zh-CN" altLang="en-US" dirty="0"/>
                  <a:t>底面周长</a:t>
                </a:r>
              </a:p>
              <a:p>
                <a:pPr>
                  <a:spcAft>
                    <a:spcPts val="1200"/>
                  </a:spcAft>
                </a:pPr>
                <a:r>
                  <a:rPr lang="zh-CN" altLang="en-US" dirty="0"/>
                  <a:t>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=2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zh-CN" altLang="en-US" dirty="0"/>
                  <a:t>（</a:t>
                </a:r>
                <a:r>
                  <a:rPr lang="en-US" altLang="zh-CN" dirty="0"/>
                  <a:t>r</a:t>
                </a:r>
                <a:r>
                  <a:rPr lang="zh-CN" altLang="en-US" dirty="0"/>
                  <a:t>：底面半径，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dirty="0"/>
                  <a:t> ：侧面展开图圆心角弧度，</a:t>
                </a:r>
                <a:r>
                  <a:rPr lang="en-US" altLang="zh-CN" dirty="0"/>
                  <a:t>l</a:t>
                </a:r>
                <a:r>
                  <a:rPr lang="zh-CN" altLang="en-US" dirty="0"/>
                  <a:t>：母线长）</a:t>
                </a:r>
                <a:r>
                  <a:rPr lang="en-US" altLang="zh-CN" dirty="0"/>
                  <a:t>		</a:t>
                </a:r>
                <a:endParaRPr lang="zh-CN" altLang="en-US" dirty="0"/>
              </a:p>
              <a:p>
                <a:pPr>
                  <a:spcAft>
                    <a:spcPts val="600"/>
                  </a:spcAft>
                  <a:buClr>
                    <a:schemeClr val="accent1"/>
                  </a:buClr>
                </a:pPr>
                <a:r>
                  <a:rPr lang="zh-CN" altLang="en-US" dirty="0"/>
                  <a:t>表面积</a:t>
                </a:r>
              </a:p>
              <a:p>
                <a:r>
                  <a:rPr lang="zh-CN" altLang="en-US" dirty="0"/>
                  <a:t>圆锥的表面积由侧面积和底面积两部分组成。</a:t>
                </a:r>
                <a:endParaRPr lang="en-US" altLang="zh-CN" dirty="0"/>
              </a:p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𝑟𝑙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𝜋</m:t>
                    </m:r>
                    <m:sSup>
                      <m:sSupPr>
                        <m:ctrlPr>
                          <a:rPr lang="en-US" altLang="zh-CN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/>
                  <a:t>（</a:t>
                </a:r>
                <a:r>
                  <a:rPr lang="en-US" altLang="zh-CN" dirty="0"/>
                  <a:t>r</a:t>
                </a:r>
                <a:r>
                  <a:rPr lang="zh-CN" altLang="en-US" dirty="0"/>
                  <a:t>：底面半径，</a:t>
                </a:r>
                <a:r>
                  <a:rPr lang="en-US" altLang="zh-CN" dirty="0"/>
                  <a:t>l</a:t>
                </a:r>
                <a:r>
                  <a:rPr lang="zh-CN" altLang="en-US" dirty="0"/>
                  <a:t>：圆锥母线）</a:t>
                </a:r>
                <a:endParaRPr lang="en-US" altLang="zh-CN" dirty="0"/>
              </a:p>
              <a:p>
                <a:pPr>
                  <a:spcAft>
                    <a:spcPts val="600"/>
                  </a:spcAft>
                  <a:buClr>
                    <a:schemeClr val="accent1"/>
                  </a:buClr>
                </a:pPr>
                <a:r>
                  <a:rPr lang="zh-CN" altLang="en-US" dirty="0"/>
                  <a:t>体积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zh-CN" dirty="0" err="1"/>
                  <a:t>sh</a:t>
                </a:r>
                <a:r>
                  <a:rPr lang="zh-CN" altLang="en-US" dirty="0"/>
                  <a:t>（其中</a:t>
                </a:r>
                <a:r>
                  <a:rPr lang="en-US" altLang="zh-CN" dirty="0"/>
                  <a:t>s</a:t>
                </a:r>
                <a:r>
                  <a:rPr lang="zh-CN" altLang="en-US" dirty="0"/>
                  <a:t>是圆柱的底面积，</a:t>
                </a:r>
                <a:r>
                  <a:rPr lang="en-US" altLang="zh-CN" dirty="0"/>
                  <a:t>h</a:t>
                </a:r>
                <a:r>
                  <a:rPr lang="zh-CN" altLang="en-US" dirty="0"/>
                  <a:t>是圆柱的高）</a:t>
                </a: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490" y="1194689"/>
                <a:ext cx="11212946" cy="3598870"/>
              </a:xfrm>
              <a:prstGeom prst="rect">
                <a:avLst/>
              </a:prstGeom>
              <a:blipFill>
                <a:blip r:embed="rId2"/>
                <a:stretch>
                  <a:fillRect l="-489" t="-13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7337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95055" y="1745673"/>
            <a:ext cx="4222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圆锥侧面的形状是（）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95054" y="2576946"/>
            <a:ext cx="4222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圆形</a:t>
            </a:r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995053" y="3192088"/>
            <a:ext cx="4222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扇</a:t>
            </a:r>
            <a:r>
              <a:rPr lang="zh-CN" altLang="en-US" dirty="0" smtClean="0"/>
              <a:t>形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845424" y="3807230"/>
            <a:ext cx="4222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椭圆</a:t>
            </a:r>
            <a:r>
              <a:rPr lang="zh-CN" altLang="en-US" dirty="0" smtClean="0"/>
              <a:t>形</a:t>
            </a:r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845424" y="4538750"/>
            <a:ext cx="4222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矩形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96396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836" name="Text Box 12"/>
          <p:cNvSpPr txBox="1">
            <a:spLocks noChangeArrowheads="1"/>
          </p:cNvSpPr>
          <p:nvPr/>
        </p:nvSpPr>
        <p:spPr bwMode="auto">
          <a:xfrm>
            <a:off x="4204953" y="2374563"/>
            <a:ext cx="631526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latin typeface="宋体" panose="02010600030101010101" pitchFamily="2" charset="-122"/>
              </a:rPr>
              <a:t>圆锥的底面是圆面。</a:t>
            </a:r>
          </a:p>
        </p:txBody>
      </p:sp>
      <p:sp>
        <p:nvSpPr>
          <p:cNvPr id="717842" name="Text Box 18"/>
          <p:cNvSpPr txBox="1">
            <a:spLocks noChangeArrowheads="1"/>
          </p:cNvSpPr>
          <p:nvPr/>
        </p:nvSpPr>
        <p:spPr bwMode="auto">
          <a:xfrm>
            <a:off x="4204953" y="2967493"/>
            <a:ext cx="748828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latin typeface="宋体" panose="02010600030101010101" pitchFamily="2" charset="-122"/>
              </a:rPr>
              <a:t>圆锥的顶点与底面圆心的距离是圆锥的高。</a:t>
            </a:r>
          </a:p>
        </p:txBody>
      </p:sp>
      <p:sp>
        <p:nvSpPr>
          <p:cNvPr id="717844" name="Text Box 10"/>
          <p:cNvSpPr txBox="1">
            <a:spLocks noChangeArrowheads="1"/>
          </p:cNvSpPr>
          <p:nvPr/>
        </p:nvSpPr>
        <p:spPr bwMode="auto">
          <a:xfrm>
            <a:off x="4204953" y="3576002"/>
            <a:ext cx="76727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圆锥的侧面是曲面，侧面展开图是一个扇形。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53626" y="1149730"/>
            <a:ext cx="23945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小结</a:t>
            </a: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626" y="1926262"/>
            <a:ext cx="3389312" cy="3822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2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长城画 模板1</Template>
  <TotalTime>15957</TotalTime>
  <Words>160</Words>
  <Application>Microsoft Office PowerPoint</Application>
  <PresentationFormat>自定义</PresentationFormat>
  <Paragraphs>39</Paragraphs>
  <Slides>10</Slides>
  <Notes>1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2" baseType="lpstr">
      <vt:lpstr>12_Office 主题</vt:lpstr>
      <vt:lpstr>Flash.Movie</vt:lpstr>
      <vt:lpstr>PowerPoint 演示文稿</vt:lpstr>
      <vt:lpstr>PowerPoint 演示文稿</vt:lpstr>
      <vt:lpstr>在日常生活中，你见过哪些圆锥形的物体?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>第一PPT模板网-WWW.1PPT.COM</dc:subject>
  <dc:creator>HanMenghua-ST</dc:creator>
  <dc:description>第一PPT模板网-WWW.1PPT.COM</dc:description>
  <cp:lastModifiedBy>51DS</cp:lastModifiedBy>
  <cp:revision>1564</cp:revision>
  <dcterms:created xsi:type="dcterms:W3CDTF">2005-03-24T11:45:55Z</dcterms:created>
  <dcterms:modified xsi:type="dcterms:W3CDTF">2019-06-12T07:31:03Z</dcterms:modified>
</cp:coreProperties>
</file>