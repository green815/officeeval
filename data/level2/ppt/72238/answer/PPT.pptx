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wav" ContentType="audio/x-wav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2"/>
  </p:notesMasterIdLst>
  <p:sldIdLst>
    <p:sldId id="748" r:id="rId2"/>
    <p:sldId id="730" r:id="rId3"/>
    <p:sldId id="732" r:id="rId4"/>
    <p:sldId id="734" r:id="rId5"/>
    <p:sldId id="731" r:id="rId6"/>
    <p:sldId id="727" r:id="rId7"/>
    <p:sldId id="717" r:id="rId8"/>
    <p:sldId id="750" r:id="rId9"/>
    <p:sldId id="751" r:id="rId10"/>
    <p:sldId id="747" r:id="rId11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35" userDrawn="1">
          <p15:clr>
            <a:srgbClr val="A4A3A4"/>
          </p15:clr>
        </p15:guide>
        <p15:guide id="2" pos="8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919AB3"/>
    <a:srgbClr val="CCFFCC"/>
    <a:srgbClr val="CC9900"/>
    <a:srgbClr val="FFFF00"/>
    <a:srgbClr val="CCCC00"/>
    <a:srgbClr val="FF99CC"/>
    <a:srgbClr val="9933FF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1203" autoAdjust="0"/>
  </p:normalViewPr>
  <p:slideViewPr>
    <p:cSldViewPr snapToGrid="0">
      <p:cViewPr varScale="1">
        <p:scale>
          <a:sx n="65" d="100"/>
          <a:sy n="65" d="100"/>
        </p:scale>
        <p:origin x="90" y="450"/>
      </p:cViewPr>
      <p:guideLst>
        <p:guide orient="horz" pos="935"/>
        <p:guide pos="8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8" d="100"/>
        <a:sy n="68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16D701-E76F-477E-915B-53DAAFFB5B2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3ADC3559-408F-4D18-9976-4EC5BDC4E955}">
      <dgm:prSet/>
      <dgm:spPr/>
      <dgm:t>
        <a:bodyPr/>
        <a:lstStyle/>
        <a:p>
          <a:pPr rtl="0"/>
          <a:r>
            <a:rPr lang="zh-CN" smtClean="0">
              <a:solidFill>
                <a:schemeClr val="bg1"/>
              </a:solidFill>
            </a:rPr>
            <a:t>知识提要</a:t>
          </a:r>
          <a:endParaRPr lang="zh-CN">
            <a:solidFill>
              <a:schemeClr val="bg1"/>
            </a:solidFill>
          </a:endParaRPr>
        </a:p>
      </dgm:t>
    </dgm:pt>
    <dgm:pt modelId="{2D3D78A5-61DE-4E4B-892B-524D10BC7341}" type="parTrans" cxnId="{A9757D13-55F0-443A-B470-FA863D088CBC}">
      <dgm:prSet/>
      <dgm:spPr/>
      <dgm:t>
        <a:bodyPr/>
        <a:lstStyle/>
        <a:p>
          <a:endParaRPr lang="zh-CN" altLang="en-US">
            <a:solidFill>
              <a:schemeClr val="bg1"/>
            </a:solidFill>
          </a:endParaRPr>
        </a:p>
      </dgm:t>
    </dgm:pt>
    <dgm:pt modelId="{E737E359-659B-48F4-A390-1FBC33C3E7CD}" type="sibTrans" cxnId="{A9757D13-55F0-443A-B470-FA863D088CBC}">
      <dgm:prSet/>
      <dgm:spPr/>
      <dgm:t>
        <a:bodyPr/>
        <a:lstStyle/>
        <a:p>
          <a:endParaRPr lang="zh-CN" altLang="en-US">
            <a:solidFill>
              <a:schemeClr val="bg1"/>
            </a:solidFill>
          </a:endParaRPr>
        </a:p>
      </dgm:t>
    </dgm:pt>
    <dgm:pt modelId="{C2793253-2066-45B6-94AA-7ADBFA4542C6}">
      <dgm:prSet/>
      <dgm:spPr/>
      <dgm:t>
        <a:bodyPr/>
        <a:lstStyle/>
        <a:p>
          <a:pPr rtl="0"/>
          <a:r>
            <a:rPr lang="zh-CN" smtClean="0">
              <a:solidFill>
                <a:schemeClr val="bg1"/>
              </a:solidFill>
            </a:rPr>
            <a:t>初识圆锥</a:t>
          </a:r>
          <a:endParaRPr lang="zh-CN">
            <a:solidFill>
              <a:schemeClr val="bg1"/>
            </a:solidFill>
          </a:endParaRPr>
        </a:p>
      </dgm:t>
    </dgm:pt>
    <dgm:pt modelId="{1E877265-640E-462F-8788-CC405B843DB4}" type="parTrans" cxnId="{86AF8834-75E2-4D7D-89FC-7F6A1C30ED14}">
      <dgm:prSet/>
      <dgm:spPr/>
      <dgm:t>
        <a:bodyPr/>
        <a:lstStyle/>
        <a:p>
          <a:endParaRPr lang="zh-CN" altLang="en-US">
            <a:solidFill>
              <a:schemeClr val="bg1"/>
            </a:solidFill>
          </a:endParaRPr>
        </a:p>
      </dgm:t>
    </dgm:pt>
    <dgm:pt modelId="{C94B92E1-1811-4A48-9D9D-8900ABCA166D}" type="sibTrans" cxnId="{86AF8834-75E2-4D7D-89FC-7F6A1C30ED14}">
      <dgm:prSet/>
      <dgm:spPr/>
      <dgm:t>
        <a:bodyPr/>
        <a:lstStyle/>
        <a:p>
          <a:endParaRPr lang="zh-CN" altLang="en-US">
            <a:solidFill>
              <a:schemeClr val="bg1"/>
            </a:solidFill>
          </a:endParaRPr>
        </a:p>
      </dgm:t>
    </dgm:pt>
    <dgm:pt modelId="{876F1105-1FAD-44FE-9307-8C230C23F130}">
      <dgm:prSet/>
      <dgm:spPr/>
      <dgm:t>
        <a:bodyPr/>
        <a:lstStyle/>
        <a:p>
          <a:pPr rtl="0"/>
          <a:r>
            <a:rPr lang="zh-CN" smtClean="0">
              <a:solidFill>
                <a:schemeClr val="bg1"/>
              </a:solidFill>
            </a:rPr>
            <a:t>圆锥的组成要素 </a:t>
          </a:r>
          <a:endParaRPr lang="zh-CN">
            <a:solidFill>
              <a:schemeClr val="bg1"/>
            </a:solidFill>
          </a:endParaRPr>
        </a:p>
      </dgm:t>
    </dgm:pt>
    <dgm:pt modelId="{8FC6D89C-A921-4178-9CDA-7FF000D0C628}" type="parTrans" cxnId="{B7CB0CD1-EC59-4DC9-B5A8-03C974803DCE}">
      <dgm:prSet/>
      <dgm:spPr/>
      <dgm:t>
        <a:bodyPr/>
        <a:lstStyle/>
        <a:p>
          <a:endParaRPr lang="zh-CN" altLang="en-US">
            <a:solidFill>
              <a:schemeClr val="bg1"/>
            </a:solidFill>
          </a:endParaRPr>
        </a:p>
      </dgm:t>
    </dgm:pt>
    <dgm:pt modelId="{D0F2ADE0-1411-43B1-8F3D-4C1DB107FD31}" type="sibTrans" cxnId="{B7CB0CD1-EC59-4DC9-B5A8-03C974803DCE}">
      <dgm:prSet/>
      <dgm:spPr/>
      <dgm:t>
        <a:bodyPr/>
        <a:lstStyle/>
        <a:p>
          <a:endParaRPr lang="zh-CN" altLang="en-US">
            <a:solidFill>
              <a:schemeClr val="bg1"/>
            </a:solidFill>
          </a:endParaRPr>
        </a:p>
      </dgm:t>
    </dgm:pt>
    <dgm:pt modelId="{7F97F9ED-3B0A-444E-9FAC-7D46A76C36ED}">
      <dgm:prSet/>
      <dgm:spPr/>
      <dgm:t>
        <a:bodyPr/>
        <a:lstStyle/>
        <a:p>
          <a:pPr rtl="0"/>
          <a:r>
            <a:rPr lang="zh-CN" smtClean="0">
              <a:solidFill>
                <a:schemeClr val="bg1"/>
              </a:solidFill>
            </a:rPr>
            <a:t>练习与小结</a:t>
          </a:r>
          <a:endParaRPr lang="zh-CN">
            <a:solidFill>
              <a:schemeClr val="bg1"/>
            </a:solidFill>
          </a:endParaRPr>
        </a:p>
      </dgm:t>
    </dgm:pt>
    <dgm:pt modelId="{50BB467E-6509-4996-8A6F-169E13EE7A91}" type="parTrans" cxnId="{60FA51B5-EA1A-478E-BB6E-66B611B2AF43}">
      <dgm:prSet/>
      <dgm:spPr/>
      <dgm:t>
        <a:bodyPr/>
        <a:lstStyle/>
        <a:p>
          <a:endParaRPr lang="zh-CN" altLang="en-US">
            <a:solidFill>
              <a:schemeClr val="bg1"/>
            </a:solidFill>
          </a:endParaRPr>
        </a:p>
      </dgm:t>
    </dgm:pt>
    <dgm:pt modelId="{8F2AD389-F921-4F55-8822-D41C61382A1B}" type="sibTrans" cxnId="{60FA51B5-EA1A-478E-BB6E-66B611B2AF43}">
      <dgm:prSet/>
      <dgm:spPr/>
      <dgm:t>
        <a:bodyPr/>
        <a:lstStyle/>
        <a:p>
          <a:endParaRPr lang="zh-CN" altLang="en-US">
            <a:solidFill>
              <a:schemeClr val="bg1"/>
            </a:solidFill>
          </a:endParaRPr>
        </a:p>
      </dgm:t>
    </dgm:pt>
    <dgm:pt modelId="{FD0E70CB-6578-4647-BF94-E0FCC38D1EFB}" type="pres">
      <dgm:prSet presAssocID="{C516D701-E76F-477E-915B-53DAAFFB5B23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zh-CN" altLang="en-US"/>
        </a:p>
      </dgm:t>
    </dgm:pt>
    <dgm:pt modelId="{6D0C1085-7649-4626-A88E-4229D6C14D88}" type="pres">
      <dgm:prSet presAssocID="{3ADC3559-408F-4D18-9976-4EC5BDC4E955}" presName="thickLine" presStyleLbl="alignNode1" presStyleIdx="0" presStyleCnt="1"/>
      <dgm:spPr/>
    </dgm:pt>
    <dgm:pt modelId="{68A13CDA-4B65-4476-B492-62C69354E7C4}" type="pres">
      <dgm:prSet presAssocID="{3ADC3559-408F-4D18-9976-4EC5BDC4E955}" presName="horz1" presStyleCnt="0"/>
      <dgm:spPr/>
    </dgm:pt>
    <dgm:pt modelId="{502D2AD5-0789-411F-9320-A9C8A5210BCD}" type="pres">
      <dgm:prSet presAssocID="{3ADC3559-408F-4D18-9976-4EC5BDC4E955}" presName="tx1" presStyleLbl="revTx" presStyleIdx="0" presStyleCnt="4" custScaleX="187642"/>
      <dgm:spPr/>
      <dgm:t>
        <a:bodyPr/>
        <a:lstStyle/>
        <a:p>
          <a:endParaRPr lang="zh-CN" altLang="en-US"/>
        </a:p>
      </dgm:t>
    </dgm:pt>
    <dgm:pt modelId="{29516780-315B-4865-B715-367892EDE941}" type="pres">
      <dgm:prSet presAssocID="{3ADC3559-408F-4D18-9976-4EC5BDC4E955}" presName="vert1" presStyleCnt="0"/>
      <dgm:spPr/>
    </dgm:pt>
    <dgm:pt modelId="{E8824890-FD99-4553-A494-3E98B585B0A2}" type="pres">
      <dgm:prSet presAssocID="{C2793253-2066-45B6-94AA-7ADBFA4542C6}" presName="vertSpace2a" presStyleCnt="0"/>
      <dgm:spPr/>
    </dgm:pt>
    <dgm:pt modelId="{D897E8B3-34BC-4774-ACBA-746F0C01B25F}" type="pres">
      <dgm:prSet presAssocID="{C2793253-2066-45B6-94AA-7ADBFA4542C6}" presName="horz2" presStyleCnt="0"/>
      <dgm:spPr/>
    </dgm:pt>
    <dgm:pt modelId="{57840DCB-F26B-483D-8338-6FC9480A375E}" type="pres">
      <dgm:prSet presAssocID="{C2793253-2066-45B6-94AA-7ADBFA4542C6}" presName="horzSpace2" presStyleCnt="0"/>
      <dgm:spPr/>
    </dgm:pt>
    <dgm:pt modelId="{3E3F6391-AD67-480E-8B23-B7B035FF9F4E}" type="pres">
      <dgm:prSet presAssocID="{C2793253-2066-45B6-94AA-7ADBFA4542C6}" presName="tx2" presStyleLbl="revTx" presStyleIdx="1" presStyleCnt="4"/>
      <dgm:spPr/>
      <dgm:t>
        <a:bodyPr/>
        <a:lstStyle/>
        <a:p>
          <a:endParaRPr lang="zh-CN" altLang="en-US"/>
        </a:p>
      </dgm:t>
    </dgm:pt>
    <dgm:pt modelId="{B1AE8AEF-1439-4B16-8D0E-9FDBF92337A5}" type="pres">
      <dgm:prSet presAssocID="{C2793253-2066-45B6-94AA-7ADBFA4542C6}" presName="vert2" presStyleCnt="0"/>
      <dgm:spPr/>
    </dgm:pt>
    <dgm:pt modelId="{1ABC676D-7382-4E75-B9D3-3AD84FE3708F}" type="pres">
      <dgm:prSet presAssocID="{C2793253-2066-45B6-94AA-7ADBFA4542C6}" presName="thinLine2b" presStyleLbl="callout" presStyleIdx="0" presStyleCnt="3"/>
      <dgm:spPr/>
    </dgm:pt>
    <dgm:pt modelId="{37E1AEA3-9535-4D5B-975E-BED3E42A6A56}" type="pres">
      <dgm:prSet presAssocID="{C2793253-2066-45B6-94AA-7ADBFA4542C6}" presName="vertSpace2b" presStyleCnt="0"/>
      <dgm:spPr/>
    </dgm:pt>
    <dgm:pt modelId="{7F8F60E1-9ACA-4C87-9239-2B6746196154}" type="pres">
      <dgm:prSet presAssocID="{876F1105-1FAD-44FE-9307-8C230C23F130}" presName="horz2" presStyleCnt="0"/>
      <dgm:spPr/>
    </dgm:pt>
    <dgm:pt modelId="{ECA8545E-73E8-45F7-9B64-16C7D32D6926}" type="pres">
      <dgm:prSet presAssocID="{876F1105-1FAD-44FE-9307-8C230C23F130}" presName="horzSpace2" presStyleCnt="0"/>
      <dgm:spPr/>
    </dgm:pt>
    <dgm:pt modelId="{C6E01B41-8B96-453F-A6A9-3DF6C8AF3585}" type="pres">
      <dgm:prSet presAssocID="{876F1105-1FAD-44FE-9307-8C230C23F130}" presName="tx2" presStyleLbl="revTx" presStyleIdx="2" presStyleCnt="4"/>
      <dgm:spPr/>
      <dgm:t>
        <a:bodyPr/>
        <a:lstStyle/>
        <a:p>
          <a:endParaRPr lang="zh-CN" altLang="en-US"/>
        </a:p>
      </dgm:t>
    </dgm:pt>
    <dgm:pt modelId="{6B3E451D-61D4-4821-B593-1771DD490B5C}" type="pres">
      <dgm:prSet presAssocID="{876F1105-1FAD-44FE-9307-8C230C23F130}" presName="vert2" presStyleCnt="0"/>
      <dgm:spPr/>
    </dgm:pt>
    <dgm:pt modelId="{5F6BE318-20F8-4AC7-9ED9-89AE20AF8C19}" type="pres">
      <dgm:prSet presAssocID="{876F1105-1FAD-44FE-9307-8C230C23F130}" presName="thinLine2b" presStyleLbl="callout" presStyleIdx="1" presStyleCnt="3"/>
      <dgm:spPr/>
    </dgm:pt>
    <dgm:pt modelId="{F9477CCA-83A5-457F-9FD5-E3876C04897D}" type="pres">
      <dgm:prSet presAssocID="{876F1105-1FAD-44FE-9307-8C230C23F130}" presName="vertSpace2b" presStyleCnt="0"/>
      <dgm:spPr/>
    </dgm:pt>
    <dgm:pt modelId="{0854A355-4E6B-473E-A6B9-091F91B27473}" type="pres">
      <dgm:prSet presAssocID="{7F97F9ED-3B0A-444E-9FAC-7D46A76C36ED}" presName="horz2" presStyleCnt="0"/>
      <dgm:spPr/>
    </dgm:pt>
    <dgm:pt modelId="{AC3CA798-D1BC-4D24-87B5-E6C90BD9CC6F}" type="pres">
      <dgm:prSet presAssocID="{7F97F9ED-3B0A-444E-9FAC-7D46A76C36ED}" presName="horzSpace2" presStyleCnt="0"/>
      <dgm:spPr/>
    </dgm:pt>
    <dgm:pt modelId="{792961DE-8647-42ED-9DFA-B13BB1F140D5}" type="pres">
      <dgm:prSet presAssocID="{7F97F9ED-3B0A-444E-9FAC-7D46A76C36ED}" presName="tx2" presStyleLbl="revTx" presStyleIdx="3" presStyleCnt="4"/>
      <dgm:spPr/>
      <dgm:t>
        <a:bodyPr/>
        <a:lstStyle/>
        <a:p>
          <a:endParaRPr lang="zh-CN" altLang="en-US"/>
        </a:p>
      </dgm:t>
    </dgm:pt>
    <dgm:pt modelId="{4C5EB835-ED48-48A0-A2E4-643291C10191}" type="pres">
      <dgm:prSet presAssocID="{7F97F9ED-3B0A-444E-9FAC-7D46A76C36ED}" presName="vert2" presStyleCnt="0"/>
      <dgm:spPr/>
    </dgm:pt>
    <dgm:pt modelId="{EBD7832B-1156-4D8A-9B69-B26C5E9A6AFA}" type="pres">
      <dgm:prSet presAssocID="{7F97F9ED-3B0A-444E-9FAC-7D46A76C36ED}" presName="thinLine2b" presStyleLbl="callout" presStyleIdx="2" presStyleCnt="3"/>
      <dgm:spPr/>
    </dgm:pt>
    <dgm:pt modelId="{FBDDAB48-1690-4E1D-A5D7-1728A1966BB1}" type="pres">
      <dgm:prSet presAssocID="{7F97F9ED-3B0A-444E-9FAC-7D46A76C36ED}" presName="vertSpace2b" presStyleCnt="0"/>
      <dgm:spPr/>
    </dgm:pt>
  </dgm:ptLst>
  <dgm:cxnLst>
    <dgm:cxn modelId="{A9757D13-55F0-443A-B470-FA863D088CBC}" srcId="{C516D701-E76F-477E-915B-53DAAFFB5B23}" destId="{3ADC3559-408F-4D18-9976-4EC5BDC4E955}" srcOrd="0" destOrd="0" parTransId="{2D3D78A5-61DE-4E4B-892B-524D10BC7341}" sibTransId="{E737E359-659B-48F4-A390-1FBC33C3E7CD}"/>
    <dgm:cxn modelId="{B7CB0CD1-EC59-4DC9-B5A8-03C974803DCE}" srcId="{3ADC3559-408F-4D18-9976-4EC5BDC4E955}" destId="{876F1105-1FAD-44FE-9307-8C230C23F130}" srcOrd="1" destOrd="0" parTransId="{8FC6D89C-A921-4178-9CDA-7FF000D0C628}" sibTransId="{D0F2ADE0-1411-43B1-8F3D-4C1DB107FD31}"/>
    <dgm:cxn modelId="{7B58661C-95DF-4B7F-9BB4-EBA2B841DC7A}" type="presOf" srcId="{3ADC3559-408F-4D18-9976-4EC5BDC4E955}" destId="{502D2AD5-0789-411F-9320-A9C8A5210BCD}" srcOrd="0" destOrd="0" presId="urn:microsoft.com/office/officeart/2008/layout/LinedList"/>
    <dgm:cxn modelId="{86AF8834-75E2-4D7D-89FC-7F6A1C30ED14}" srcId="{3ADC3559-408F-4D18-9976-4EC5BDC4E955}" destId="{C2793253-2066-45B6-94AA-7ADBFA4542C6}" srcOrd="0" destOrd="0" parTransId="{1E877265-640E-462F-8788-CC405B843DB4}" sibTransId="{C94B92E1-1811-4A48-9D9D-8900ABCA166D}"/>
    <dgm:cxn modelId="{D603B1DE-CDC1-44F8-9994-BF2C702CA540}" type="presOf" srcId="{7F97F9ED-3B0A-444E-9FAC-7D46A76C36ED}" destId="{792961DE-8647-42ED-9DFA-B13BB1F140D5}" srcOrd="0" destOrd="0" presId="urn:microsoft.com/office/officeart/2008/layout/LinedList"/>
    <dgm:cxn modelId="{EE991B4D-0E7E-4410-9CCC-2164A29E72E6}" type="presOf" srcId="{876F1105-1FAD-44FE-9307-8C230C23F130}" destId="{C6E01B41-8B96-453F-A6A9-3DF6C8AF3585}" srcOrd="0" destOrd="0" presId="urn:microsoft.com/office/officeart/2008/layout/LinedList"/>
    <dgm:cxn modelId="{60FA51B5-EA1A-478E-BB6E-66B611B2AF43}" srcId="{3ADC3559-408F-4D18-9976-4EC5BDC4E955}" destId="{7F97F9ED-3B0A-444E-9FAC-7D46A76C36ED}" srcOrd="2" destOrd="0" parTransId="{50BB467E-6509-4996-8A6F-169E13EE7A91}" sibTransId="{8F2AD389-F921-4F55-8822-D41C61382A1B}"/>
    <dgm:cxn modelId="{57B93FFC-557A-4657-BB55-09D3F129C89D}" type="presOf" srcId="{C2793253-2066-45B6-94AA-7ADBFA4542C6}" destId="{3E3F6391-AD67-480E-8B23-B7B035FF9F4E}" srcOrd="0" destOrd="0" presId="urn:microsoft.com/office/officeart/2008/layout/LinedList"/>
    <dgm:cxn modelId="{81FCD339-EADB-45DB-A422-7BB0034EED5A}" type="presOf" srcId="{C516D701-E76F-477E-915B-53DAAFFB5B23}" destId="{FD0E70CB-6578-4647-BF94-E0FCC38D1EFB}" srcOrd="0" destOrd="0" presId="urn:microsoft.com/office/officeart/2008/layout/LinedList"/>
    <dgm:cxn modelId="{0F610A63-E7FA-4492-9100-2D466A9BC40F}" type="presParOf" srcId="{FD0E70CB-6578-4647-BF94-E0FCC38D1EFB}" destId="{6D0C1085-7649-4626-A88E-4229D6C14D88}" srcOrd="0" destOrd="0" presId="urn:microsoft.com/office/officeart/2008/layout/LinedList"/>
    <dgm:cxn modelId="{41E15646-7647-4037-BCF6-1214872C85CC}" type="presParOf" srcId="{FD0E70CB-6578-4647-BF94-E0FCC38D1EFB}" destId="{68A13CDA-4B65-4476-B492-62C69354E7C4}" srcOrd="1" destOrd="0" presId="urn:microsoft.com/office/officeart/2008/layout/LinedList"/>
    <dgm:cxn modelId="{0A980953-1A08-40E4-896F-38D5738CE745}" type="presParOf" srcId="{68A13CDA-4B65-4476-B492-62C69354E7C4}" destId="{502D2AD5-0789-411F-9320-A9C8A5210BCD}" srcOrd="0" destOrd="0" presId="urn:microsoft.com/office/officeart/2008/layout/LinedList"/>
    <dgm:cxn modelId="{74A28DB8-D94D-4762-8076-69BB3E900ED4}" type="presParOf" srcId="{68A13CDA-4B65-4476-B492-62C69354E7C4}" destId="{29516780-315B-4865-B715-367892EDE941}" srcOrd="1" destOrd="0" presId="urn:microsoft.com/office/officeart/2008/layout/LinedList"/>
    <dgm:cxn modelId="{7292342F-C77C-41AA-AC66-D21EB829120E}" type="presParOf" srcId="{29516780-315B-4865-B715-367892EDE941}" destId="{E8824890-FD99-4553-A494-3E98B585B0A2}" srcOrd="0" destOrd="0" presId="urn:microsoft.com/office/officeart/2008/layout/LinedList"/>
    <dgm:cxn modelId="{C7CA4E54-47BE-4E3A-9FBC-BFC4C11A35C2}" type="presParOf" srcId="{29516780-315B-4865-B715-367892EDE941}" destId="{D897E8B3-34BC-4774-ACBA-746F0C01B25F}" srcOrd="1" destOrd="0" presId="urn:microsoft.com/office/officeart/2008/layout/LinedList"/>
    <dgm:cxn modelId="{F4C1F324-40AE-47DB-A97C-BDBE0E319A74}" type="presParOf" srcId="{D897E8B3-34BC-4774-ACBA-746F0C01B25F}" destId="{57840DCB-F26B-483D-8338-6FC9480A375E}" srcOrd="0" destOrd="0" presId="urn:microsoft.com/office/officeart/2008/layout/LinedList"/>
    <dgm:cxn modelId="{615E7A85-4B49-4CEA-A83B-2EDCB703FD3F}" type="presParOf" srcId="{D897E8B3-34BC-4774-ACBA-746F0C01B25F}" destId="{3E3F6391-AD67-480E-8B23-B7B035FF9F4E}" srcOrd="1" destOrd="0" presId="urn:microsoft.com/office/officeart/2008/layout/LinedList"/>
    <dgm:cxn modelId="{7AEE4A82-89F2-4D44-9E32-8E160FDCCBD6}" type="presParOf" srcId="{D897E8B3-34BC-4774-ACBA-746F0C01B25F}" destId="{B1AE8AEF-1439-4B16-8D0E-9FDBF92337A5}" srcOrd="2" destOrd="0" presId="urn:microsoft.com/office/officeart/2008/layout/LinedList"/>
    <dgm:cxn modelId="{26BED7CF-1A47-46F0-925A-C489392C8360}" type="presParOf" srcId="{29516780-315B-4865-B715-367892EDE941}" destId="{1ABC676D-7382-4E75-B9D3-3AD84FE3708F}" srcOrd="2" destOrd="0" presId="urn:microsoft.com/office/officeart/2008/layout/LinedList"/>
    <dgm:cxn modelId="{5070298E-FD1F-4E75-9C4F-9805EA4D0D9D}" type="presParOf" srcId="{29516780-315B-4865-B715-367892EDE941}" destId="{37E1AEA3-9535-4D5B-975E-BED3E42A6A56}" srcOrd="3" destOrd="0" presId="urn:microsoft.com/office/officeart/2008/layout/LinedList"/>
    <dgm:cxn modelId="{80778731-6313-4E40-A076-9CD7D71D277B}" type="presParOf" srcId="{29516780-315B-4865-B715-367892EDE941}" destId="{7F8F60E1-9ACA-4C87-9239-2B6746196154}" srcOrd="4" destOrd="0" presId="urn:microsoft.com/office/officeart/2008/layout/LinedList"/>
    <dgm:cxn modelId="{19FF8E9E-20BC-4465-B97F-197FC4A04F5C}" type="presParOf" srcId="{7F8F60E1-9ACA-4C87-9239-2B6746196154}" destId="{ECA8545E-73E8-45F7-9B64-16C7D32D6926}" srcOrd="0" destOrd="0" presId="urn:microsoft.com/office/officeart/2008/layout/LinedList"/>
    <dgm:cxn modelId="{8E35A141-AFC7-4B39-9C78-C7783C9CEAAF}" type="presParOf" srcId="{7F8F60E1-9ACA-4C87-9239-2B6746196154}" destId="{C6E01B41-8B96-453F-A6A9-3DF6C8AF3585}" srcOrd="1" destOrd="0" presId="urn:microsoft.com/office/officeart/2008/layout/LinedList"/>
    <dgm:cxn modelId="{79F041BE-6759-451F-A258-6176242B7A6C}" type="presParOf" srcId="{7F8F60E1-9ACA-4C87-9239-2B6746196154}" destId="{6B3E451D-61D4-4821-B593-1771DD490B5C}" srcOrd="2" destOrd="0" presId="urn:microsoft.com/office/officeart/2008/layout/LinedList"/>
    <dgm:cxn modelId="{54E072EB-079E-48E7-BF7C-535B71F7D9E8}" type="presParOf" srcId="{29516780-315B-4865-B715-367892EDE941}" destId="{5F6BE318-20F8-4AC7-9ED9-89AE20AF8C19}" srcOrd="5" destOrd="0" presId="urn:microsoft.com/office/officeart/2008/layout/LinedList"/>
    <dgm:cxn modelId="{D2444CA7-C5D8-4973-9FE4-B44387A6001B}" type="presParOf" srcId="{29516780-315B-4865-B715-367892EDE941}" destId="{F9477CCA-83A5-457F-9FD5-E3876C04897D}" srcOrd="6" destOrd="0" presId="urn:microsoft.com/office/officeart/2008/layout/LinedList"/>
    <dgm:cxn modelId="{C2DC416D-066A-4627-AC87-C23AAA9EE60B}" type="presParOf" srcId="{29516780-315B-4865-B715-367892EDE941}" destId="{0854A355-4E6B-473E-A6B9-091F91B27473}" srcOrd="7" destOrd="0" presId="urn:microsoft.com/office/officeart/2008/layout/LinedList"/>
    <dgm:cxn modelId="{5BAAD991-984C-4D66-8ABE-1706C0969C94}" type="presParOf" srcId="{0854A355-4E6B-473E-A6B9-091F91B27473}" destId="{AC3CA798-D1BC-4D24-87B5-E6C90BD9CC6F}" srcOrd="0" destOrd="0" presId="urn:microsoft.com/office/officeart/2008/layout/LinedList"/>
    <dgm:cxn modelId="{8DF1A502-D5FE-44FF-B115-964E7510EF74}" type="presParOf" srcId="{0854A355-4E6B-473E-A6B9-091F91B27473}" destId="{792961DE-8647-42ED-9DFA-B13BB1F140D5}" srcOrd="1" destOrd="0" presId="urn:microsoft.com/office/officeart/2008/layout/LinedList"/>
    <dgm:cxn modelId="{4AA6A517-1100-409B-8A11-0B5052D75CF8}" type="presParOf" srcId="{0854A355-4E6B-473E-A6B9-091F91B27473}" destId="{4C5EB835-ED48-48A0-A2E4-643291C10191}" srcOrd="2" destOrd="0" presId="urn:microsoft.com/office/officeart/2008/layout/LinedList"/>
    <dgm:cxn modelId="{90F1F00E-E413-45C7-B3B3-690869A2F135}" type="presParOf" srcId="{29516780-315B-4865-B715-367892EDE941}" destId="{EBD7832B-1156-4D8A-9B69-B26C5E9A6AFA}" srcOrd="8" destOrd="0" presId="urn:microsoft.com/office/officeart/2008/layout/LinedList"/>
    <dgm:cxn modelId="{DF279E25-5D8B-4E0F-8826-514BC811F54B}" type="presParOf" srcId="{29516780-315B-4865-B715-367892EDE941}" destId="{FBDDAB48-1690-4E1D-A5D7-1728A1966BB1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0C1085-7649-4626-A88E-4229D6C14D88}">
      <dsp:nvSpPr>
        <dsp:cNvPr id="0" name=""/>
        <dsp:cNvSpPr/>
      </dsp:nvSpPr>
      <dsp:spPr>
        <a:xfrm>
          <a:off x="0" y="0"/>
          <a:ext cx="78060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2D2AD5-0789-411F-9320-A9C8A5210BCD}">
      <dsp:nvSpPr>
        <dsp:cNvPr id="0" name=""/>
        <dsp:cNvSpPr/>
      </dsp:nvSpPr>
      <dsp:spPr>
        <a:xfrm>
          <a:off x="0" y="0"/>
          <a:ext cx="2491791" cy="3609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840" tIns="243840" rIns="243840" bIns="243840" numCol="1" spcCol="1270" anchor="t" anchorCtr="0">
          <a:noAutofit/>
        </a:bodyPr>
        <a:lstStyle/>
        <a:p>
          <a:pPr lvl="0" algn="l" defTabSz="2844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6400" kern="1200" smtClean="0">
              <a:solidFill>
                <a:schemeClr val="bg1"/>
              </a:solidFill>
            </a:rPr>
            <a:t>知识提要</a:t>
          </a:r>
          <a:endParaRPr lang="zh-CN" sz="6400" kern="1200">
            <a:solidFill>
              <a:schemeClr val="bg1"/>
            </a:solidFill>
          </a:endParaRPr>
        </a:p>
      </dsp:txBody>
      <dsp:txXfrm>
        <a:off x="0" y="0"/>
        <a:ext cx="2491791" cy="3609110"/>
      </dsp:txXfrm>
    </dsp:sp>
    <dsp:sp modelId="{3E3F6391-AD67-480E-8B23-B7B035FF9F4E}">
      <dsp:nvSpPr>
        <dsp:cNvPr id="0" name=""/>
        <dsp:cNvSpPr/>
      </dsp:nvSpPr>
      <dsp:spPr>
        <a:xfrm>
          <a:off x="2591387" y="56392"/>
          <a:ext cx="5212202" cy="11278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lvl="0" algn="l" defTabSz="2222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5000" kern="1200" smtClean="0">
              <a:solidFill>
                <a:schemeClr val="bg1"/>
              </a:solidFill>
            </a:rPr>
            <a:t>初识圆锥</a:t>
          </a:r>
          <a:endParaRPr lang="zh-CN" sz="5000" kern="1200">
            <a:solidFill>
              <a:schemeClr val="bg1"/>
            </a:solidFill>
          </a:endParaRPr>
        </a:p>
      </dsp:txBody>
      <dsp:txXfrm>
        <a:off x="2591387" y="56392"/>
        <a:ext cx="5212202" cy="1127846"/>
      </dsp:txXfrm>
    </dsp:sp>
    <dsp:sp modelId="{1ABC676D-7382-4E75-B9D3-3AD84FE3708F}">
      <dsp:nvSpPr>
        <dsp:cNvPr id="0" name=""/>
        <dsp:cNvSpPr/>
      </dsp:nvSpPr>
      <dsp:spPr>
        <a:xfrm>
          <a:off x="2491791" y="1184239"/>
          <a:ext cx="531179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E01B41-8B96-453F-A6A9-3DF6C8AF3585}">
      <dsp:nvSpPr>
        <dsp:cNvPr id="0" name=""/>
        <dsp:cNvSpPr/>
      </dsp:nvSpPr>
      <dsp:spPr>
        <a:xfrm>
          <a:off x="2591387" y="1240631"/>
          <a:ext cx="5212202" cy="11278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lvl="0" algn="l" defTabSz="2222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5000" kern="1200" smtClean="0">
              <a:solidFill>
                <a:schemeClr val="bg1"/>
              </a:solidFill>
            </a:rPr>
            <a:t>圆锥的组成要素 </a:t>
          </a:r>
          <a:endParaRPr lang="zh-CN" sz="5000" kern="1200">
            <a:solidFill>
              <a:schemeClr val="bg1"/>
            </a:solidFill>
          </a:endParaRPr>
        </a:p>
      </dsp:txBody>
      <dsp:txXfrm>
        <a:off x="2591387" y="1240631"/>
        <a:ext cx="5212202" cy="1127846"/>
      </dsp:txXfrm>
    </dsp:sp>
    <dsp:sp modelId="{5F6BE318-20F8-4AC7-9ED9-89AE20AF8C19}">
      <dsp:nvSpPr>
        <dsp:cNvPr id="0" name=""/>
        <dsp:cNvSpPr/>
      </dsp:nvSpPr>
      <dsp:spPr>
        <a:xfrm>
          <a:off x="2491791" y="2368478"/>
          <a:ext cx="531179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2961DE-8647-42ED-9DFA-B13BB1F140D5}">
      <dsp:nvSpPr>
        <dsp:cNvPr id="0" name=""/>
        <dsp:cNvSpPr/>
      </dsp:nvSpPr>
      <dsp:spPr>
        <a:xfrm>
          <a:off x="2591387" y="2424870"/>
          <a:ext cx="5212202" cy="11278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lvl="0" algn="l" defTabSz="2222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5000" kern="1200" smtClean="0">
              <a:solidFill>
                <a:schemeClr val="bg1"/>
              </a:solidFill>
            </a:rPr>
            <a:t>练习与小结</a:t>
          </a:r>
          <a:endParaRPr lang="zh-CN" sz="5000" kern="1200">
            <a:solidFill>
              <a:schemeClr val="bg1"/>
            </a:solidFill>
          </a:endParaRPr>
        </a:p>
      </dsp:txBody>
      <dsp:txXfrm>
        <a:off x="2591387" y="2424870"/>
        <a:ext cx="5212202" cy="1127846"/>
      </dsp:txXfrm>
    </dsp:sp>
    <dsp:sp modelId="{EBD7832B-1156-4D8A-9B69-B26C5E9A6AFA}">
      <dsp:nvSpPr>
        <dsp:cNvPr id="0" name=""/>
        <dsp:cNvSpPr/>
      </dsp:nvSpPr>
      <dsp:spPr>
        <a:xfrm>
          <a:off x="2491791" y="3552717"/>
          <a:ext cx="531179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44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744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5744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44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82D09E0-2161-4873-9CC4-5F98DCA279B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99668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C43004-828E-4536-8FE7-96E185F013F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0661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9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9604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4263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078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528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840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9257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 userDrawn="1"/>
        </p:nvSpPr>
        <p:spPr>
          <a:xfrm>
            <a:off x="0" y="1044000"/>
            <a:ext cx="12192000" cy="5400000"/>
          </a:xfrm>
          <a:prstGeom prst="round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 userDrawn="1"/>
        </p:nvSpPr>
        <p:spPr>
          <a:xfrm>
            <a:off x="203200" y="345440"/>
            <a:ext cx="211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认识立体图形</a:t>
            </a:r>
            <a:endParaRPr lang="zh-CN" altLang="en-US" dirty="0"/>
          </a:p>
        </p:txBody>
      </p:sp>
      <p:sp>
        <p:nvSpPr>
          <p:cNvPr id="4" name="文本框 3">
            <a:hlinkClick r:id="rId2" action="ppaction://hlinksldjump"/>
          </p:cNvPr>
          <p:cNvSpPr txBox="1"/>
          <p:nvPr userDrawn="1"/>
        </p:nvSpPr>
        <p:spPr>
          <a:xfrm>
            <a:off x="3779520" y="38608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初识圆锥</a:t>
            </a:r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5638800" y="387866"/>
            <a:ext cx="71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┊</a:t>
            </a:r>
            <a:endParaRPr lang="zh-CN" altLang="en-US" dirty="0"/>
          </a:p>
        </p:txBody>
      </p:sp>
      <p:sp>
        <p:nvSpPr>
          <p:cNvPr id="6" name="文本框 5">
            <a:hlinkClick r:id="rId3" action="ppaction://hlinksldjump"/>
          </p:cNvPr>
          <p:cNvSpPr txBox="1"/>
          <p:nvPr userDrawn="1"/>
        </p:nvSpPr>
        <p:spPr>
          <a:xfrm>
            <a:off x="6685280" y="367546"/>
            <a:ext cx="211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圆锥的组成要素</a:t>
            </a:r>
            <a:endParaRPr lang="zh-CN" altLang="en-US" dirty="0"/>
          </a:p>
        </p:txBody>
      </p:sp>
      <p:sp>
        <p:nvSpPr>
          <p:cNvPr id="7" name="文本框 6"/>
          <p:cNvSpPr txBox="1"/>
          <p:nvPr userDrawn="1"/>
        </p:nvSpPr>
        <p:spPr>
          <a:xfrm>
            <a:off x="9133840" y="387866"/>
            <a:ext cx="46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┊</a:t>
            </a:r>
            <a:endParaRPr lang="zh-CN" altLang="en-US" dirty="0"/>
          </a:p>
        </p:txBody>
      </p:sp>
      <p:sp>
        <p:nvSpPr>
          <p:cNvPr id="8" name="文本框 7">
            <a:hlinkClick r:id="rId4" action="ppaction://hlinksldjump"/>
          </p:cNvPr>
          <p:cNvSpPr txBox="1"/>
          <p:nvPr userDrawn="1"/>
        </p:nvSpPr>
        <p:spPr>
          <a:xfrm>
            <a:off x="9936480" y="369332"/>
            <a:ext cx="211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练习与总结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28442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108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7478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6235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5870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-2277" y="1"/>
            <a:ext cx="12194276" cy="6857999"/>
          </a:xfrm>
          <a:prstGeom prst="rect">
            <a:avLst/>
          </a:prstGeom>
          <a:gradFill flip="none" rotWithShape="1">
            <a:gsLst>
              <a:gs pos="100000">
                <a:srgbClr val="E3EAE3"/>
              </a:gs>
              <a:gs pos="0">
                <a:srgbClr val="E0E7E0"/>
              </a:gs>
              <a:gs pos="50000">
                <a:schemeClr val="bg1"/>
              </a:gs>
            </a:gsLst>
            <a:lin ang="2700000" scaled="1"/>
            <a:tileRect/>
          </a:gradFill>
          <a:ln w="12700">
            <a:noFill/>
          </a:ln>
          <a:effectLst>
            <a:glow rad="57150">
              <a:srgbClr val="AFDC7E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9441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265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E:\PPT\图片素材\彩色线条2.pn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955608" y="3799310"/>
            <a:ext cx="7224713" cy="785794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  <a:scene3d>
            <a:camera prst="perspectiveHeroicExtremeLeftFacing"/>
            <a:lightRig rig="threePt" dir="t"/>
          </a:scene3d>
        </p:spPr>
      </p:pic>
      <p:sp>
        <p:nvSpPr>
          <p:cNvPr id="18" name="TextBox 17"/>
          <p:cNvSpPr txBox="1"/>
          <p:nvPr/>
        </p:nvSpPr>
        <p:spPr>
          <a:xfrm>
            <a:off x="4539641" y="2476335"/>
            <a:ext cx="4056645" cy="1322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dirty="0">
                <a:ln w="0">
                  <a:solidFill>
                    <a:schemeClr val="accent1"/>
                  </a:solidFill>
                </a:ln>
                <a:solidFill>
                  <a:schemeClr val="accent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有趣</a:t>
            </a:r>
            <a:r>
              <a:rPr lang="zh-CN" altLang="en-US" dirty="0">
                <a:ln w="0">
                  <a:solidFill>
                    <a:schemeClr val="accent1"/>
                  </a:solidFill>
                </a:ln>
                <a:solidFill>
                  <a:schemeClr val="accent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的</a:t>
            </a:r>
            <a:r>
              <a:rPr lang="zh-CN" altLang="en-US" sz="8000" b="1" dirty="0">
                <a:ln w="0">
                  <a:solidFill>
                    <a:schemeClr val="accent1"/>
                  </a:solidFill>
                </a:ln>
                <a:solidFill>
                  <a:schemeClr val="accent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圆锥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9154904" y="500439"/>
            <a:ext cx="0" cy="16158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10847100" y="500439"/>
            <a:ext cx="0" cy="16158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1"/>
          <p:cNvSpPr/>
          <p:nvPr/>
        </p:nvSpPr>
        <p:spPr>
          <a:xfrm>
            <a:off x="1297859" y="250723"/>
            <a:ext cx="1800000" cy="1800000"/>
          </a:xfrm>
          <a:prstGeom prst="ellipse">
            <a:avLst/>
          </a:prstGeom>
          <a:solidFill>
            <a:schemeClr val="tx2">
              <a:lumMod val="25000"/>
            </a:schemeClr>
          </a:solidFill>
          <a:ln>
            <a:noFill/>
          </a:ln>
          <a:scene3d>
            <a:camera prst="orthographicFront">
              <a:rot lat="7200000" lon="10800000" rev="0"/>
            </a:camera>
            <a:lightRig rig="threePt" dir="t"/>
          </a:scene3d>
          <a:sp3d>
            <a:bevelT w="1905000" h="38100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814230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1888321454"/>
              </p:ext>
            </p:extLst>
          </p:nvPr>
        </p:nvGraphicFramePr>
        <p:xfrm>
          <a:off x="599440" y="1317567"/>
          <a:ext cx="7806088" cy="3609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椭圆 4"/>
          <p:cNvSpPr/>
          <p:nvPr/>
        </p:nvSpPr>
        <p:spPr>
          <a:xfrm>
            <a:off x="9070259" y="417567"/>
            <a:ext cx="1800000" cy="1800000"/>
          </a:xfrm>
          <a:prstGeom prst="ellipse">
            <a:avLst/>
          </a:prstGeom>
          <a:solidFill>
            <a:schemeClr val="tx2">
              <a:lumMod val="25000"/>
            </a:schemeClr>
          </a:solidFill>
          <a:ln>
            <a:noFill/>
          </a:ln>
          <a:scene3d>
            <a:camera prst="orthographicFront">
              <a:rot lat="7200000" lon="10800000" rev="0"/>
            </a:camera>
            <a:lightRig rig="threePt" dir="t"/>
          </a:scene3d>
          <a:sp3d>
            <a:bevelT w="1905000" h="38100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466222" y="1156455"/>
            <a:ext cx="10972800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在日常生活中，你见过哪些圆锥形的</a:t>
            </a:r>
            <a:r>
              <a:rPr lang="zh-CN" altLang="en-US" sz="36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物体</a:t>
            </a:r>
            <a:r>
              <a:rPr lang="en-US" altLang="zh-CN" sz="3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?</a:t>
            </a:r>
            <a:endParaRPr lang="zh-CN" altLang="en-US" sz="3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4621" y="2522690"/>
            <a:ext cx="3454401" cy="283060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95" y="2383460"/>
            <a:ext cx="3979600" cy="264338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893" y="2690700"/>
            <a:ext cx="3738830" cy="2494587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491" name="Text Box 3"/>
          <p:cNvSpPr txBox="1">
            <a:spLocks noChangeArrowheads="1"/>
          </p:cNvSpPr>
          <p:nvPr/>
        </p:nvSpPr>
        <p:spPr bwMode="auto">
          <a:xfrm>
            <a:off x="417513" y="5199064"/>
            <a:ext cx="831691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它们都是圆锥体，简称圆锥。</a:t>
            </a:r>
          </a:p>
        </p:txBody>
      </p:sp>
      <p:graphicFrame>
        <p:nvGraphicFramePr>
          <p:cNvPr id="703492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959477245"/>
              </p:ext>
            </p:extLst>
          </p:nvPr>
        </p:nvGraphicFramePr>
        <p:xfrm>
          <a:off x="14286" y="977900"/>
          <a:ext cx="8388350" cy="3973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5" r:id="rId3" imgW="9749880" imgH="4393080" progId="Flash.Movie">
                  <p:embed/>
                </p:oleObj>
              </mc:Choice>
              <mc:Fallback>
                <p:oleObj r:id="rId3" imgW="9749880" imgH="4393080" progId="Flash.Movi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6" y="977900"/>
                        <a:ext cx="8388350" cy="3973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0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0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349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5" name="Text Box 11"/>
          <p:cNvSpPr txBox="1">
            <a:spLocks noChangeArrowheads="1"/>
          </p:cNvSpPr>
          <p:nvPr/>
        </p:nvSpPr>
        <p:spPr bwMode="auto">
          <a:xfrm>
            <a:off x="3867150" y="965201"/>
            <a:ext cx="4464050" cy="3693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回忆圆柱</a:t>
            </a:r>
          </a:p>
        </p:txBody>
      </p:sp>
      <p:sp>
        <p:nvSpPr>
          <p:cNvPr id="700436" name="Text Box 20"/>
          <p:cNvSpPr txBox="1">
            <a:spLocks noChangeArrowheads="1"/>
          </p:cNvSpPr>
          <p:nvPr/>
        </p:nvSpPr>
        <p:spPr bwMode="auto">
          <a:xfrm>
            <a:off x="3867150" y="1900239"/>
            <a:ext cx="5219700" cy="3693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底面是完全相等的两个圆</a:t>
            </a:r>
          </a:p>
        </p:txBody>
      </p:sp>
      <p:sp>
        <p:nvSpPr>
          <p:cNvPr id="700437" name="Text Box 21"/>
          <p:cNvSpPr txBox="1">
            <a:spLocks noChangeArrowheads="1"/>
          </p:cNvSpPr>
          <p:nvPr/>
        </p:nvSpPr>
        <p:spPr bwMode="auto">
          <a:xfrm>
            <a:off x="3867150" y="3700464"/>
            <a:ext cx="4752975" cy="3693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两底之间的距离叫做高</a:t>
            </a:r>
          </a:p>
        </p:txBody>
      </p:sp>
      <p:sp>
        <p:nvSpPr>
          <p:cNvPr id="17435" name="Text Box 24"/>
          <p:cNvSpPr txBox="1">
            <a:spLocks noChangeArrowheads="1"/>
          </p:cNvSpPr>
          <p:nvPr/>
        </p:nvSpPr>
        <p:spPr bwMode="auto">
          <a:xfrm>
            <a:off x="3867150" y="2800351"/>
            <a:ext cx="4411420" cy="3693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圆柱的曲面叫做侧面</a:t>
            </a:r>
          </a:p>
        </p:txBody>
      </p:sp>
      <p:sp>
        <p:nvSpPr>
          <p:cNvPr id="700445" name="Text Box 29"/>
          <p:cNvSpPr txBox="1">
            <a:spLocks noChangeArrowheads="1"/>
          </p:cNvSpPr>
          <p:nvPr/>
        </p:nvSpPr>
        <p:spPr bwMode="auto">
          <a:xfrm>
            <a:off x="3867150" y="4600577"/>
            <a:ext cx="3168650" cy="3693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高有无数条</a:t>
            </a:r>
          </a:p>
        </p:txBody>
      </p:sp>
      <p:sp>
        <p:nvSpPr>
          <p:cNvPr id="700446" name="Text Box 30"/>
          <p:cNvSpPr txBox="1">
            <a:spLocks noChangeArrowheads="1"/>
          </p:cNvSpPr>
          <p:nvPr/>
        </p:nvSpPr>
        <p:spPr bwMode="auto">
          <a:xfrm>
            <a:off x="3867150" y="5500689"/>
            <a:ext cx="2809875" cy="36933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长度都相等</a:t>
            </a:r>
          </a:p>
        </p:txBody>
      </p:sp>
      <p:sp>
        <p:nvSpPr>
          <p:cNvPr id="3" name="流程图: 磁盘 2"/>
          <p:cNvSpPr/>
          <p:nvPr/>
        </p:nvSpPr>
        <p:spPr>
          <a:xfrm>
            <a:off x="886691" y="1819564"/>
            <a:ext cx="2392218" cy="3602182"/>
          </a:xfrm>
          <a:prstGeom prst="flowChartMagneticDisk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22" name="Text Box 2"/>
          <p:cNvSpPr txBox="1">
            <a:spLocks noChangeArrowheads="1"/>
          </p:cNvSpPr>
          <p:nvPr/>
        </p:nvSpPr>
        <p:spPr bwMode="auto">
          <a:xfrm>
            <a:off x="285750" y="1179513"/>
            <a:ext cx="72009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6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圆锥与圆柱的区别？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947482"/>
              </p:ext>
            </p:extLst>
          </p:nvPr>
        </p:nvGraphicFramePr>
        <p:xfrm>
          <a:off x="568962" y="2092959"/>
          <a:ext cx="9022077" cy="2763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06635">
                  <a:extLst>
                    <a:ext uri="{9D8B030D-6E8A-4147-A177-3AD203B41FA5}">
                      <a16:colId xmlns:a16="http://schemas.microsoft.com/office/drawing/2014/main" val="1892323981"/>
                    </a:ext>
                  </a:extLst>
                </a:gridCol>
                <a:gridCol w="3007721">
                  <a:extLst>
                    <a:ext uri="{9D8B030D-6E8A-4147-A177-3AD203B41FA5}">
                      <a16:colId xmlns:a16="http://schemas.microsoft.com/office/drawing/2014/main" val="2372491736"/>
                    </a:ext>
                  </a:extLst>
                </a:gridCol>
                <a:gridCol w="3007721">
                  <a:extLst>
                    <a:ext uri="{9D8B030D-6E8A-4147-A177-3AD203B41FA5}">
                      <a16:colId xmlns:a16="http://schemas.microsoft.com/office/drawing/2014/main" val="3241973789"/>
                    </a:ext>
                  </a:extLst>
                </a:gridCol>
              </a:tblGrid>
              <a:tr h="6908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bg1"/>
                          </a:solidFill>
                          <a:effectLst/>
                        </a:rPr>
                        <a:t>圆锥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bg1"/>
                          </a:solidFill>
                          <a:effectLst/>
                        </a:rPr>
                        <a:t>圆柱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594915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bg1"/>
                          </a:solidFill>
                          <a:effectLst/>
                        </a:rPr>
                        <a:t>底面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bg1"/>
                          </a:solidFill>
                          <a:effectLst/>
                        </a:rPr>
                        <a:t>只有一个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bg1"/>
                          </a:solidFill>
                          <a:effectLst/>
                        </a:rPr>
                        <a:t>两个完全一样的圆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7668674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bg1"/>
                          </a:solidFill>
                          <a:effectLst/>
                        </a:rPr>
                        <a:t>高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bg1"/>
                          </a:solidFill>
                          <a:effectLst/>
                        </a:rPr>
                        <a:t>只有一条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bg1"/>
                          </a:solidFill>
                          <a:effectLst/>
                        </a:rPr>
                        <a:t>有无数条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895294"/>
                  </a:ext>
                </a:extLst>
              </a:tr>
              <a:tr h="6908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bg1"/>
                          </a:solidFill>
                          <a:effectLst/>
                        </a:rPr>
                        <a:t>侧面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bg1"/>
                          </a:solidFill>
                          <a:effectLst/>
                        </a:rPr>
                        <a:t>曲面，展开后是扇形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solidFill>
                            <a:schemeClr val="bg1"/>
                          </a:solidFill>
                          <a:effectLst/>
                        </a:rPr>
                        <a:t>曲面，展开后是矩形</a:t>
                      </a:r>
                      <a:endParaRPr lang="zh-CN" sz="1400" kern="100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742385"/>
                  </a:ext>
                </a:extLst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963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22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303" y="1677702"/>
            <a:ext cx="2859272" cy="3816427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4870313" y="1672321"/>
            <a:ext cx="0" cy="3255832"/>
          </a:xfrm>
          <a:prstGeom prst="line">
            <a:avLst/>
          </a:prstGeom>
          <a:ln w="28575">
            <a:solidFill>
              <a:srgbClr val="FF3300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939" y="1608206"/>
            <a:ext cx="128230" cy="128230"/>
          </a:xfrm>
          <a:prstGeom prst="rect">
            <a:avLst/>
          </a:prstGeom>
        </p:spPr>
      </p:pic>
      <p:sp>
        <p:nvSpPr>
          <p:cNvPr id="9" name="Oval 404"/>
          <p:cNvSpPr>
            <a:spLocks noChangeArrowheads="1"/>
          </p:cNvSpPr>
          <p:nvPr/>
        </p:nvSpPr>
        <p:spPr bwMode="auto">
          <a:xfrm>
            <a:off x="6890784" y="3943618"/>
            <a:ext cx="2161776" cy="2097299"/>
          </a:xfrm>
          <a:prstGeom prst="ellipse">
            <a:avLst/>
          </a:prstGeom>
          <a:solidFill>
            <a:srgbClr val="919AB3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/>
        </p:spPr>
        <p:txBody>
          <a:bodyPr wrap="none" lIns="90000" tIns="46800" rIns="90000" bIns="46800" anchor="ctr"/>
          <a:lstStyle/>
          <a:p>
            <a:pPr algn="ctr">
              <a:defRPr/>
            </a:pPr>
            <a:r>
              <a:rPr lang="zh-CN" altLang="en-US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底面是圆形</a:t>
            </a:r>
            <a:endParaRPr lang="zh-CN" altLang="en-US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" name="饼形 2"/>
          <p:cNvSpPr/>
          <p:nvPr/>
        </p:nvSpPr>
        <p:spPr>
          <a:xfrm>
            <a:off x="5256777" y="-869186"/>
            <a:ext cx="4311934" cy="4422012"/>
          </a:xfrm>
          <a:prstGeom prst="pie">
            <a:avLst>
              <a:gd name="adj1" fmla="val 0"/>
              <a:gd name="adj2" fmla="val 6852446"/>
            </a:avLst>
          </a:prstGeom>
          <a:solidFill>
            <a:srgbClr val="919AB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700000" rIns="216000" bIns="648000" rtlCol="0" anchor="b" anchorCtr="0"/>
          <a:lstStyle/>
          <a:p>
            <a:pPr algn="r"/>
            <a:r>
              <a:rPr lang="zh-CN" altLang="en-US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侧面是扇形</a:t>
            </a:r>
            <a:endParaRPr lang="zh-CN" altLang="en-US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3410990" y="4928153"/>
            <a:ext cx="2795105" cy="0"/>
          </a:xfrm>
          <a:prstGeom prst="line">
            <a:avLst/>
          </a:prstGeom>
          <a:ln w="28575">
            <a:solidFill>
              <a:srgbClr val="FF3300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棱台 4"/>
          <p:cNvSpPr/>
          <p:nvPr/>
        </p:nvSpPr>
        <p:spPr>
          <a:xfrm>
            <a:off x="670560" y="1736436"/>
            <a:ext cx="1666240" cy="945804"/>
          </a:xfrm>
          <a:prstGeom prst="bevel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</a:rPr>
              <a:t>顶点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" name="棱台 9"/>
          <p:cNvSpPr/>
          <p:nvPr/>
        </p:nvSpPr>
        <p:spPr>
          <a:xfrm>
            <a:off x="670560" y="2912821"/>
            <a:ext cx="1666240" cy="945804"/>
          </a:xfrm>
          <a:prstGeom prst="bevel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</a:rPr>
              <a:t>底面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棱台 10"/>
          <p:cNvSpPr/>
          <p:nvPr/>
        </p:nvSpPr>
        <p:spPr>
          <a:xfrm>
            <a:off x="670560" y="4089206"/>
            <a:ext cx="1666240" cy="945804"/>
          </a:xfrm>
          <a:prstGeom prst="bevel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bg1"/>
                </a:solidFill>
              </a:rPr>
              <a:t>侧面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2" name="棱台 11"/>
          <p:cNvSpPr/>
          <p:nvPr/>
        </p:nvSpPr>
        <p:spPr>
          <a:xfrm>
            <a:off x="670560" y="5265591"/>
            <a:ext cx="1666240" cy="945804"/>
          </a:xfrm>
          <a:prstGeom prst="bevel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高</a:t>
            </a:r>
          </a:p>
        </p:txBody>
      </p: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9" grpId="0" animBg="1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75490" y="1194689"/>
                <a:ext cx="11212946" cy="35988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▲"/>
                </a:pPr>
                <a:r>
                  <a:rPr lang="zh-CN" altLang="en-US" dirty="0" smtClean="0"/>
                  <a:t>高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altLang="zh-CN" dirty="0" smtClean="0"/>
                  <a:t>h=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zh-CN" altLang="en-US" dirty="0" smtClean="0"/>
                  <a:t>（</a:t>
                </a:r>
                <a:r>
                  <a:rPr lang="en-US" altLang="zh-CN" dirty="0"/>
                  <a:t>l</a:t>
                </a:r>
                <a:r>
                  <a:rPr lang="zh-CN" altLang="en-US" dirty="0"/>
                  <a:t>：母线长，</a:t>
                </a:r>
                <a:r>
                  <a:rPr lang="en-US" altLang="zh-CN" dirty="0"/>
                  <a:t>r</a:t>
                </a:r>
                <a:r>
                  <a:rPr lang="zh-CN" altLang="en-US" dirty="0"/>
                  <a:t>：底面半径）</a:t>
                </a:r>
              </a:p>
              <a:p>
                <a:pPr marL="342900" indent="-342900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▲"/>
                </a:pPr>
                <a:r>
                  <a:rPr lang="zh-CN" altLang="en-US" dirty="0"/>
                  <a:t>底面周长</a:t>
                </a:r>
              </a:p>
              <a:p>
                <a:pPr>
                  <a:spcAft>
                    <a:spcPts val="1200"/>
                  </a:spcAft>
                </a:pPr>
                <a:r>
                  <a:rPr lang="zh-CN" altLang="en-US" dirty="0"/>
                  <a:t>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en-US" dirty="0"/>
                  <a:t>（</a:t>
                </a:r>
                <a:r>
                  <a:rPr lang="en-US" altLang="zh-CN" dirty="0"/>
                  <a:t>r</a:t>
                </a:r>
                <a:r>
                  <a:rPr lang="zh-CN" altLang="en-US" dirty="0"/>
                  <a:t>：底面半径，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 ：侧面展开图圆心角弧度，</a:t>
                </a:r>
                <a:r>
                  <a:rPr lang="en-US" altLang="zh-CN" dirty="0"/>
                  <a:t>l</a:t>
                </a:r>
                <a:r>
                  <a:rPr lang="zh-CN" altLang="en-US" dirty="0"/>
                  <a:t>：母线长）</a:t>
                </a:r>
                <a:r>
                  <a:rPr lang="en-US" altLang="zh-CN" dirty="0"/>
                  <a:t>		</a:t>
                </a:r>
                <a:endParaRPr lang="zh-CN" altLang="en-US" dirty="0"/>
              </a:p>
              <a:p>
                <a:pPr marL="342900" indent="-342900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▲"/>
                </a:pPr>
                <a:r>
                  <a:rPr lang="zh-CN" altLang="en-US" dirty="0"/>
                  <a:t>表面积</a:t>
                </a:r>
              </a:p>
              <a:p>
                <a:r>
                  <a:rPr lang="zh-CN" altLang="en-US" dirty="0"/>
                  <a:t>圆锥的表面积由侧面积和底面积两部分组成。</a:t>
                </a:r>
                <a:endParaRPr lang="en-US" altLang="zh-CN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𝑟𝑙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（</a:t>
                </a:r>
                <a:r>
                  <a:rPr lang="en-US" altLang="zh-CN" dirty="0"/>
                  <a:t>r</a:t>
                </a:r>
                <a:r>
                  <a:rPr lang="zh-CN" altLang="en-US" dirty="0"/>
                  <a:t>：底面半径，</a:t>
                </a:r>
                <a:r>
                  <a:rPr lang="en-US" altLang="zh-CN" dirty="0"/>
                  <a:t>l</a:t>
                </a:r>
                <a:r>
                  <a:rPr lang="zh-CN" altLang="en-US" dirty="0"/>
                  <a:t>：圆锥母线）</a:t>
                </a:r>
                <a:endParaRPr lang="en-US" altLang="zh-CN" dirty="0"/>
              </a:p>
              <a:p>
                <a:pPr marL="342900" indent="-342900">
                  <a:spcAft>
                    <a:spcPts val="600"/>
                  </a:spcAft>
                  <a:buClr>
                    <a:schemeClr val="accent1"/>
                  </a:buClr>
                  <a:buFont typeface="Arial" panose="020B0604020202020204" pitchFamily="34" charset="0"/>
                  <a:buChar char="▲"/>
                </a:pPr>
                <a:r>
                  <a:rPr lang="zh-CN" altLang="en-US" dirty="0"/>
                  <a:t>体积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dirty="0" err="1"/>
                  <a:t>sh</a:t>
                </a:r>
                <a:r>
                  <a:rPr lang="zh-CN" altLang="en-US" dirty="0"/>
                  <a:t>（其中</a:t>
                </a:r>
                <a:r>
                  <a:rPr lang="en-US" altLang="zh-CN" dirty="0"/>
                  <a:t>s</a:t>
                </a:r>
                <a:r>
                  <a:rPr lang="zh-CN" altLang="en-US" dirty="0"/>
                  <a:t>是圆柱的底面积，</a:t>
                </a:r>
                <a:r>
                  <a:rPr lang="en-US" altLang="zh-CN" dirty="0"/>
                  <a:t>h</a:t>
                </a:r>
                <a:r>
                  <a:rPr lang="zh-CN" altLang="en-US" dirty="0"/>
                  <a:t>是圆柱的高）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90" y="1194689"/>
                <a:ext cx="11212946" cy="3598870"/>
              </a:xfrm>
              <a:prstGeom prst="rect">
                <a:avLst/>
              </a:prstGeom>
              <a:blipFill>
                <a:blip r:embed="rId2"/>
                <a:stretch>
                  <a:fillRect l="-489" t="-13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7337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95055" y="1745673"/>
            <a:ext cx="4222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圆锥侧面的形状是（）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95054" y="2576946"/>
            <a:ext cx="4222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圆形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995053" y="3192088"/>
            <a:ext cx="4222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扇</a:t>
            </a:r>
            <a:r>
              <a:rPr lang="zh-CN" altLang="en-US" dirty="0" smtClean="0"/>
              <a:t>形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845424" y="3807230"/>
            <a:ext cx="4222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椭圆</a:t>
            </a:r>
            <a:r>
              <a:rPr lang="zh-CN" altLang="en-US" dirty="0" smtClean="0"/>
              <a:t>形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845424" y="4538750"/>
            <a:ext cx="4222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矩形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639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36" name="Text Box 12"/>
          <p:cNvSpPr txBox="1">
            <a:spLocks noChangeArrowheads="1"/>
          </p:cNvSpPr>
          <p:nvPr/>
        </p:nvSpPr>
        <p:spPr bwMode="auto">
          <a:xfrm>
            <a:off x="4204953" y="2374563"/>
            <a:ext cx="63152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宋体" panose="02010600030101010101" pitchFamily="2" charset="-122"/>
              </a:rPr>
              <a:t>圆锥的底面是圆面。</a:t>
            </a:r>
          </a:p>
        </p:txBody>
      </p:sp>
      <p:sp>
        <p:nvSpPr>
          <p:cNvPr id="717842" name="Text Box 18"/>
          <p:cNvSpPr txBox="1">
            <a:spLocks noChangeArrowheads="1"/>
          </p:cNvSpPr>
          <p:nvPr/>
        </p:nvSpPr>
        <p:spPr bwMode="auto">
          <a:xfrm>
            <a:off x="4204953" y="2967493"/>
            <a:ext cx="74882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宋体" panose="02010600030101010101" pitchFamily="2" charset="-122"/>
              </a:rPr>
              <a:t>圆锥的顶点与底面圆心的距离是圆锥的高。</a:t>
            </a:r>
          </a:p>
        </p:txBody>
      </p:sp>
      <p:sp>
        <p:nvSpPr>
          <p:cNvPr id="717844" name="Text Box 10"/>
          <p:cNvSpPr txBox="1">
            <a:spLocks noChangeArrowheads="1"/>
          </p:cNvSpPr>
          <p:nvPr/>
        </p:nvSpPr>
        <p:spPr bwMode="auto">
          <a:xfrm>
            <a:off x="4204953" y="3576002"/>
            <a:ext cx="76727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圆锥的侧面是曲面，侧面展开图是一个扇形。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53626" y="1149730"/>
            <a:ext cx="23945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小结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626" y="1926262"/>
            <a:ext cx="3389312" cy="382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2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长城画 模板1</Template>
  <TotalTime>15984</TotalTime>
  <Words>161</Words>
  <Application>Microsoft Office PowerPoint</Application>
  <PresentationFormat>宽屏</PresentationFormat>
  <Paragraphs>51</Paragraphs>
  <Slides>10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等线</vt:lpstr>
      <vt:lpstr>宋体</vt:lpstr>
      <vt:lpstr>微软雅黑 Light</vt:lpstr>
      <vt:lpstr>Arial</vt:lpstr>
      <vt:lpstr>Calibri</vt:lpstr>
      <vt:lpstr>Cambria Math</vt:lpstr>
      <vt:lpstr>Times New Roman</vt:lpstr>
      <vt:lpstr>12_Office 主题</vt:lpstr>
      <vt:lpstr>Flash.Movie</vt:lpstr>
      <vt:lpstr>PowerPoint 演示文稿</vt:lpstr>
      <vt:lpstr>PowerPoint 演示文稿</vt:lpstr>
      <vt:lpstr>在日常生活中，你见过哪些圆锥形的物体?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>第一PPT模板网-WWW.1PPT.COM</dc:subject>
  <dc:creator>HanMenghua-ST</dc:creator>
  <dc:description>第一PPT模板网-WWW.1PPT.COM</dc:description>
  <cp:lastModifiedBy>Windows 用户11</cp:lastModifiedBy>
  <cp:revision>1572</cp:revision>
  <dcterms:created xsi:type="dcterms:W3CDTF">2005-03-24T11:45:55Z</dcterms:created>
  <dcterms:modified xsi:type="dcterms:W3CDTF">2021-08-24T01:32:11Z</dcterms:modified>
</cp:coreProperties>
</file>