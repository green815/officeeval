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9310" autoAdjust="0"/>
  </p:normalViewPr>
  <p:slideViewPr>
    <p:cSldViewPr snapToGrid="0">
      <p:cViewPr varScale="1">
        <p:scale>
          <a:sx n="55" d="100"/>
          <a:sy n="55" d="100"/>
        </p:scale>
        <p:origin x="102" y="6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F886D-4C48-43C1-BE6A-36E13B598392}" type="datetimeFigureOut">
              <a:rPr lang="zh-CN" altLang="en-US" smtClean="0"/>
              <a:t>2020/12/31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0D8BB5-6B2C-4DD7-809C-AAF16F5B9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405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水在食物中扮演着重要角色。它影响着食物的质感，使食物干燥酥脆或湿润绵软。水作为溶剂，维持着酶的活性，使化学反应发生。水也是微生物生长的必要条件，帮助多糖和蛋白质这类大分子移动并相互作用。</a:t>
            </a:r>
          </a:p>
          <a:p>
            <a:r>
              <a:rPr lang="zh-CN" altLang="en-US" smtClean="0"/>
              <a:t>许多食物含水量大于</a:t>
            </a:r>
            <a:r>
              <a:rPr lang="en-US" altLang="zh-CN" smtClean="0"/>
              <a:t>75%</a:t>
            </a:r>
            <a:r>
              <a:rPr lang="zh-CN" altLang="en-US" smtClean="0"/>
              <a:t>，比如肉类、禽类、海鲜、水果和蔬菜。因此水是新鲜食材中含量最丰富的物质。乳制品和新鲜的烘焙类食品也含有较多的水分，大约</a:t>
            </a:r>
            <a:r>
              <a:rPr lang="en-US" altLang="zh-CN" smtClean="0"/>
              <a:t>35%</a:t>
            </a:r>
            <a:r>
              <a:rPr lang="zh-CN" altLang="en-US" smtClean="0"/>
              <a:t>。但水分多的食物遭受细菌、真菌等微生物污染的风险也较高，而意大利面等干燥食物则通常保质期较长。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0D8BB5-6B2C-4DD7-809C-AAF16F5B9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420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食物中的水并不是一样的。大多数食品科学家将水分为三类：自由水（</a:t>
            </a:r>
            <a:r>
              <a:rPr lang="en-US" altLang="zh-CN" smtClean="0"/>
              <a:t>free water</a:t>
            </a:r>
            <a:r>
              <a:rPr lang="zh-CN" altLang="en-US" smtClean="0"/>
              <a:t>）、吸附水（</a:t>
            </a:r>
            <a:r>
              <a:rPr lang="en-US" altLang="zh-CN" smtClean="0"/>
              <a:t>absorbed water</a:t>
            </a:r>
            <a:r>
              <a:rPr lang="zh-CN" altLang="en-US" smtClean="0"/>
              <a:t>）和结合水（</a:t>
            </a:r>
            <a:r>
              <a:rPr lang="en-US" altLang="zh-CN" smtClean="0"/>
              <a:t>bound water</a:t>
            </a:r>
            <a:r>
              <a:rPr lang="zh-CN" altLang="en-US" smtClean="0"/>
              <a:t>）。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0D8BB5-6B2C-4DD7-809C-AAF16F5B9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566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人们通常需要在很多食物中添加防腐剂，以防止酵母和霉菌的生长。</a:t>
            </a:r>
            <a:r>
              <a:rPr lang="en-US" altLang="zh-CN" smtClean="0"/>
              <a:t>pH</a:t>
            </a:r>
            <a:r>
              <a:rPr lang="zh-CN" altLang="en-US" smtClean="0"/>
              <a:t>低于</a:t>
            </a:r>
            <a:r>
              <a:rPr lang="en-US" altLang="zh-CN" smtClean="0"/>
              <a:t>4.6</a:t>
            </a:r>
            <a:r>
              <a:rPr lang="zh-CN" altLang="en-US" smtClean="0"/>
              <a:t>的酸性食物，如番茄酱，可以延缓微生物的生长。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0D8BB5-6B2C-4DD7-809C-AAF16F5B9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993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食物的含水量决定了其中的分子迁移率，尤其是需要水才能移动的蛋白质、多糖等大分子。蛋白质和多糖塑造了食物的结构。如果它们坚硬，食物也会坚硬；它们柔软，食物也会柔软。</a:t>
            </a:r>
          </a:p>
          <a:p>
            <a:r>
              <a:rPr lang="zh-CN" altLang="en-US" smtClean="0"/>
              <a:t>玻璃态转化温度和物质的熔点“异曲同工”</a:t>
            </a:r>
            <a:r>
              <a:rPr lang="en-US" altLang="zh-CN" smtClean="0"/>
              <a:t>——</a:t>
            </a:r>
            <a:r>
              <a:rPr lang="zh-CN" altLang="en-US" smtClean="0"/>
              <a:t>当温度低于玻璃态转化温度时，分子表现出坚硬的玻璃状结构，随着温度升高超过转化温度，分子转变成柔性结构。水活度与玻璃态转化温度呈现稳定的线性关系。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0D8BB5-6B2C-4DD7-809C-AAF16F5B9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412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什么水这样简单的分子（</a:t>
            </a:r>
            <a:r>
              <a:rPr lang="en-US" altLang="zh-CN" smtClean="0"/>
              <a:t>H2O</a:t>
            </a:r>
            <a:r>
              <a:rPr lang="zh-CN" altLang="en-US" smtClean="0"/>
              <a:t>）对食物如此重要呢？这一切要从“氢键”说起。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0D8BB5-6B2C-4DD7-809C-AAF16F5B9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211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0D8BB5-6B2C-4DD7-809C-AAF16F5B9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239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5146-12FC-4EE0-8A08-BAC2D713C6F3}" type="datetimeFigureOut">
              <a:rPr lang="zh-CN" altLang="en-US" smtClean="0"/>
              <a:t>2020/12/31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688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5146-12FC-4EE0-8A08-BAC2D713C6F3}" type="datetimeFigureOut">
              <a:rPr lang="zh-CN" altLang="en-US" smtClean="0"/>
              <a:t>2020/12/31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678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5146-12FC-4EE0-8A08-BAC2D713C6F3}" type="datetimeFigureOut">
              <a:rPr lang="zh-CN" altLang="en-US" smtClean="0"/>
              <a:t>2020/12/31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91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5146-12FC-4EE0-8A08-BAC2D713C6F3}" type="datetimeFigureOut">
              <a:rPr lang="zh-CN" altLang="en-US" smtClean="0"/>
              <a:t>2020/12/31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04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5146-12FC-4EE0-8A08-BAC2D713C6F3}" type="datetimeFigureOut">
              <a:rPr lang="zh-CN" altLang="en-US" smtClean="0"/>
              <a:t>2020/12/31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96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5146-12FC-4EE0-8A08-BAC2D713C6F3}" type="datetimeFigureOut">
              <a:rPr lang="zh-CN" altLang="en-US" smtClean="0"/>
              <a:t>2020/12/31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535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5146-12FC-4EE0-8A08-BAC2D713C6F3}" type="datetimeFigureOut">
              <a:rPr lang="zh-CN" altLang="en-US" smtClean="0"/>
              <a:t>2020/12/31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221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5146-12FC-4EE0-8A08-BAC2D713C6F3}" type="datetimeFigureOut">
              <a:rPr lang="zh-CN" altLang="en-US" smtClean="0"/>
              <a:t>2020/12/31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031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5146-12FC-4EE0-8A08-BAC2D713C6F3}" type="datetimeFigureOut">
              <a:rPr lang="zh-CN" altLang="en-US" smtClean="0"/>
              <a:t>2020/12/31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319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5146-12FC-4EE0-8A08-BAC2D713C6F3}" type="datetimeFigureOut">
              <a:rPr lang="zh-CN" altLang="en-US" smtClean="0"/>
              <a:t>2020/12/31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395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F5146-12FC-4EE0-8A08-BAC2D713C6F3}" type="datetimeFigureOut">
              <a:rPr lang="zh-CN" altLang="en-US" smtClean="0"/>
              <a:t>2020/12/31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79E13-7FAE-4245-BFA7-BF93C439CE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066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F5146-12FC-4EE0-8A08-BAC2D713C6F3}" type="datetimeFigureOut">
              <a:rPr lang="zh-CN" altLang="en-US" smtClean="0"/>
              <a:t>2020/12/31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79E13-7FAE-4245-BFA7-BF93C439CE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969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食物中的水为什么如此</a:t>
            </a:r>
            <a:r>
              <a:rPr lang="zh-CN" altLang="en-US" smtClean="0"/>
              <a:t>奇妙？吃喝</a:t>
            </a:r>
            <a:r>
              <a:rPr lang="zh-CN" altLang="en-US" dirty="0" smtClean="0"/>
              <a:t>的科学 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530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内容提要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579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食物中的</a:t>
            </a:r>
            <a:r>
              <a:rPr lang="en-US" altLang="zh-CN"/>
              <a:t>“</a:t>
            </a:r>
            <a:r>
              <a:rPr lang="zh-CN" altLang="zh-CN"/>
              <a:t>活</a:t>
            </a:r>
            <a:r>
              <a:rPr lang="en-US" altLang="zh-CN"/>
              <a:t>”</a:t>
            </a:r>
            <a:r>
              <a:rPr lang="zh-CN" altLang="zh-CN"/>
              <a:t>水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57087"/>
            <a:ext cx="10515600" cy="4351338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125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食物</a:t>
            </a:r>
            <a:r>
              <a:rPr lang="zh-CN" altLang="zh-CN" smtClean="0"/>
              <a:t>中</a:t>
            </a:r>
            <a:r>
              <a:rPr lang="zh-CN" altLang="en-US" smtClean="0"/>
              <a:t>不同种类的水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自由水是可以从食物中挤出的水，像橙子里榨出的橙汁、酸奶油或酸奶酪中析出的水。</a:t>
            </a:r>
          </a:p>
          <a:p>
            <a:r>
              <a:rPr lang="zh-CN" altLang="en-US" smtClean="0"/>
              <a:t>吸附水是指附着在多糖和蛋白质等分子表面的水。它没那么容易从食物中挤出来。当食品学家提到水合蛋白（如谷蛋白）或水合糖分子（如淀粉）时，通常指的就是吸附水。</a:t>
            </a:r>
          </a:p>
          <a:p>
            <a:r>
              <a:rPr lang="zh-CN" altLang="en-US" smtClean="0"/>
              <a:t>结合水则指固定在晶体中的水分子，如结晶淀粉或食物中的其他成分（有些食品学家习惯只区分自由水和结合水）。重点在于，自由水和吸附水有助于微生物的生长，而结合水则不行。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478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水活度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食品学家用水活度（</a:t>
            </a:r>
            <a:r>
              <a:rPr lang="en-US" altLang="zh-CN" dirty="0" smtClean="0"/>
              <a:t>water activity</a:t>
            </a:r>
            <a:r>
              <a:rPr lang="zh-CN" altLang="en-US" dirty="0" smtClean="0"/>
              <a:t>）来表示食物中自由水和吸附水的含量，这些“活”水对微生物生长、酶活性及化学反应很关键。水活度的数值在</a:t>
            </a:r>
            <a:r>
              <a:rPr lang="en-US" altLang="zh-CN" dirty="0" smtClean="0"/>
              <a:t>0</a:t>
            </a:r>
            <a:r>
              <a:rPr lang="zh-CN" altLang="en-US" dirty="0" smtClean="0"/>
              <a:t>到</a:t>
            </a:r>
            <a:r>
              <a:rPr lang="en-US" altLang="zh-CN" dirty="0" smtClean="0"/>
              <a:t>1</a:t>
            </a:r>
            <a:r>
              <a:rPr lang="zh-CN" altLang="en-US" dirty="0" smtClean="0"/>
              <a:t>之间，代表食物中能够转化成水蒸气的水分。</a:t>
            </a:r>
          </a:p>
          <a:p>
            <a:r>
              <a:rPr lang="zh-CN" altLang="en-US" dirty="0" smtClean="0"/>
              <a:t>水活度低于</a:t>
            </a:r>
            <a:r>
              <a:rPr lang="en-US" altLang="zh-CN" dirty="0" smtClean="0"/>
              <a:t>0.85</a:t>
            </a:r>
            <a:r>
              <a:rPr lang="zh-CN" altLang="en-US" dirty="0" smtClean="0"/>
              <a:t>的食物不容易长细菌，因为这种环境中细菌无法得到足够的水分。</a:t>
            </a:r>
            <a:endParaRPr lang="en-US" altLang="zh-CN" dirty="0" smtClean="0"/>
          </a:p>
          <a:p>
            <a:r>
              <a:rPr lang="zh-CN" altLang="en-US" dirty="0" smtClean="0"/>
              <a:t>水活度低于</a:t>
            </a:r>
            <a:r>
              <a:rPr lang="en-US" altLang="zh-CN" dirty="0" smtClean="0"/>
              <a:t>0.85</a:t>
            </a:r>
            <a:r>
              <a:rPr lang="zh-CN" altLang="en-US" dirty="0" smtClean="0"/>
              <a:t>的酸性食物易于储藏，特别是存放在冰箱中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低</a:t>
            </a:r>
            <a:r>
              <a:rPr lang="en-US" altLang="zh-CN" dirty="0" smtClean="0"/>
              <a:t>pH</a:t>
            </a:r>
            <a:r>
              <a:rPr lang="zh-CN" altLang="en-US" dirty="0" smtClean="0"/>
              <a:t>值、低水活度和低温为抵抗有害病原体提供了三重保障。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803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食物含水量和水活度的关系</a:t>
            </a:r>
            <a:endParaRPr lang="zh-CN" altLang="en-US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2549929"/>
              </p:ext>
            </p:extLst>
          </p:nvPr>
        </p:nvGraphicFramePr>
        <p:xfrm>
          <a:off x="838200" y="1598086"/>
          <a:ext cx="9943038" cy="428185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314346">
                  <a:extLst>
                    <a:ext uri="{9D8B030D-6E8A-4147-A177-3AD203B41FA5}">
                      <a16:colId xmlns:a16="http://schemas.microsoft.com/office/drawing/2014/main" val="1662884311"/>
                    </a:ext>
                  </a:extLst>
                </a:gridCol>
                <a:gridCol w="3314346">
                  <a:extLst>
                    <a:ext uri="{9D8B030D-6E8A-4147-A177-3AD203B41FA5}">
                      <a16:colId xmlns:a16="http://schemas.microsoft.com/office/drawing/2014/main" val="3867613530"/>
                    </a:ext>
                  </a:extLst>
                </a:gridCol>
                <a:gridCol w="3314346">
                  <a:extLst>
                    <a:ext uri="{9D8B030D-6E8A-4147-A177-3AD203B41FA5}">
                      <a16:colId xmlns:a16="http://schemas.microsoft.com/office/drawing/2014/main" val="1333472393"/>
                    </a:ext>
                  </a:extLst>
                </a:gridCol>
              </a:tblGrid>
              <a:tr h="713642">
                <a:tc>
                  <a:txBody>
                    <a:bodyPr/>
                    <a:lstStyle/>
                    <a:p>
                      <a:pPr algn="ctr"/>
                      <a:r>
                        <a:rPr lang="zh-CN" sz="3200">
                          <a:effectLst/>
                        </a:rPr>
                        <a:t>食物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3200">
                          <a:effectLst/>
                        </a:rPr>
                        <a:t>含水量</a:t>
                      </a:r>
                      <a:r>
                        <a:rPr lang="en-US" sz="3200">
                          <a:effectLst/>
                        </a:rPr>
                        <a:t>%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3200">
                          <a:effectLst/>
                        </a:rPr>
                        <a:t>水活度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0" marB="0" anchor="ctr"/>
                </a:tc>
                <a:extLst>
                  <a:ext uri="{0D108BD9-81ED-4DB2-BD59-A6C34878D82A}">
                    <a16:rowId xmlns:a16="http://schemas.microsoft.com/office/drawing/2014/main" val="1159978291"/>
                  </a:ext>
                </a:extLst>
              </a:tr>
              <a:tr h="713642">
                <a:tc>
                  <a:txBody>
                    <a:bodyPr/>
                    <a:lstStyle/>
                    <a:p>
                      <a:pPr algn="ctr"/>
                      <a:r>
                        <a:rPr lang="zh-CN" sz="3200">
                          <a:effectLst/>
                        </a:rPr>
                        <a:t>鲜肉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effectLst/>
                        </a:rPr>
                        <a:t>70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effectLst/>
                        </a:rPr>
                        <a:t>0.98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0" marB="0" anchor="ctr"/>
                </a:tc>
                <a:extLst>
                  <a:ext uri="{0D108BD9-81ED-4DB2-BD59-A6C34878D82A}">
                    <a16:rowId xmlns:a16="http://schemas.microsoft.com/office/drawing/2014/main" val="2380440655"/>
                  </a:ext>
                </a:extLst>
              </a:tr>
              <a:tr h="713642">
                <a:tc>
                  <a:txBody>
                    <a:bodyPr/>
                    <a:lstStyle/>
                    <a:p>
                      <a:pPr algn="ctr"/>
                      <a:r>
                        <a:rPr lang="zh-CN" sz="3200">
                          <a:effectLst/>
                        </a:rPr>
                        <a:t>面包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effectLst/>
                        </a:rPr>
                        <a:t>40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effectLst/>
                        </a:rPr>
                        <a:t>0.95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0" marB="0" anchor="ctr"/>
                </a:tc>
                <a:extLst>
                  <a:ext uri="{0D108BD9-81ED-4DB2-BD59-A6C34878D82A}">
                    <a16:rowId xmlns:a16="http://schemas.microsoft.com/office/drawing/2014/main" val="75030749"/>
                  </a:ext>
                </a:extLst>
              </a:tr>
              <a:tr h="713642">
                <a:tc>
                  <a:txBody>
                    <a:bodyPr/>
                    <a:lstStyle/>
                    <a:p>
                      <a:pPr algn="ctr"/>
                      <a:r>
                        <a:rPr lang="zh-CN" sz="3200">
                          <a:effectLst/>
                        </a:rPr>
                        <a:t>面粉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effectLst/>
                        </a:rPr>
                        <a:t>14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effectLst/>
                        </a:rPr>
                        <a:t>0.7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0" marB="0" anchor="ctr"/>
                </a:tc>
                <a:extLst>
                  <a:ext uri="{0D108BD9-81ED-4DB2-BD59-A6C34878D82A}">
                    <a16:rowId xmlns:a16="http://schemas.microsoft.com/office/drawing/2014/main" val="4054468623"/>
                  </a:ext>
                </a:extLst>
              </a:tr>
              <a:tr h="713642">
                <a:tc>
                  <a:txBody>
                    <a:bodyPr/>
                    <a:lstStyle/>
                    <a:p>
                      <a:pPr algn="ctr"/>
                      <a:r>
                        <a:rPr lang="zh-CN" sz="3200">
                          <a:effectLst/>
                        </a:rPr>
                        <a:t>意大利面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effectLst/>
                        </a:rPr>
                        <a:t>10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effectLst/>
                        </a:rPr>
                        <a:t>0.45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0" marB="0" anchor="ctr"/>
                </a:tc>
                <a:extLst>
                  <a:ext uri="{0D108BD9-81ED-4DB2-BD59-A6C34878D82A}">
                    <a16:rowId xmlns:a16="http://schemas.microsoft.com/office/drawing/2014/main" val="1430789219"/>
                  </a:ext>
                </a:extLst>
              </a:tr>
              <a:tr h="713642">
                <a:tc>
                  <a:txBody>
                    <a:bodyPr/>
                    <a:lstStyle/>
                    <a:p>
                      <a:pPr algn="ctr"/>
                      <a:r>
                        <a:rPr lang="zh-CN" sz="3200">
                          <a:effectLst/>
                        </a:rPr>
                        <a:t>薯片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effectLst/>
                        </a:rPr>
                        <a:t>2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effectLst/>
                        </a:rPr>
                        <a:t>0.1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0" marB="0" anchor="ctr"/>
                </a:tc>
                <a:extLst>
                  <a:ext uri="{0D108BD9-81ED-4DB2-BD59-A6C34878D82A}">
                    <a16:rowId xmlns:a16="http://schemas.microsoft.com/office/drawing/2014/main" val="4025218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2513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水活度也会影响食物的质感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643886" cy="4351338"/>
          </a:xfrm>
        </p:spPr>
        <p:txBody>
          <a:bodyPr/>
          <a:lstStyle/>
          <a:p>
            <a:r>
              <a:rPr lang="zh-CN" altLang="en-US" smtClean="0"/>
              <a:t>水作为一种软化剂，可以降低食物的玻璃态转化温度。含水量低的食物水活度通常较低，而转化温度较高。这种食物在室温下往往坚硬酥脆。当被放在潮湿环境中，食物的含水量与水活度提高，转化温度降低。当它低于室温时，食物就会变得更软更润。这反过来也解释了食物在冰箱中变硬的现象。</a:t>
            </a:r>
          </a:p>
        </p:txBody>
      </p:sp>
    </p:spTree>
    <p:extLst>
      <p:ext uri="{BB962C8B-B14F-4D97-AF65-F5344CB8AC3E}">
        <p14:creationId xmlns:p14="http://schemas.microsoft.com/office/powerpoint/2010/main" val="2730336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氢键的魔力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512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水会影响蛋白质和多糖的性质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含水量低的食物（</a:t>
            </a:r>
            <a:r>
              <a:rPr lang="en-US" altLang="zh-CN" smtClean="0"/>
              <a:t>10%-20%</a:t>
            </a:r>
            <a:r>
              <a:rPr lang="zh-CN" altLang="en-US" smtClean="0"/>
              <a:t>甚至更低）往往硬而脆，含水量高的食物（</a:t>
            </a:r>
            <a:r>
              <a:rPr lang="en-US" altLang="zh-CN" smtClean="0"/>
              <a:t>35%</a:t>
            </a:r>
            <a:r>
              <a:rPr lang="zh-CN" altLang="en-US" smtClean="0"/>
              <a:t>或更高）则软而韧。蛋白质含有氮原子，多糖含有氧原子。这两种原子都是带负电的，可以和水中氢原子形成氢键，于是水分子可以被吸附在蛋白质和多糖的表面。</a:t>
            </a:r>
            <a:endParaRPr lang="en-US" altLang="zh-CN" smtClean="0"/>
          </a:p>
          <a:p>
            <a:r>
              <a:rPr lang="zh-CN" altLang="en-US" smtClean="0"/>
              <a:t>吸附水降低了蛋白质和多糖的玻璃态转化温度，使其在室温或更高温度下更柔韧。干面粉中面筋的主要蛋白</a:t>
            </a:r>
            <a:r>
              <a:rPr lang="en-US" altLang="zh-CN" smtClean="0"/>
              <a:t>——</a:t>
            </a:r>
            <a:r>
              <a:rPr lang="zh-CN" altLang="en-US" smtClean="0"/>
              <a:t>醇溶蛋白和麦谷蛋白</a:t>
            </a:r>
            <a:r>
              <a:rPr lang="en-US" altLang="zh-CN" smtClean="0"/>
              <a:t>——</a:t>
            </a:r>
            <a:r>
              <a:rPr lang="zh-CN" altLang="en-US" smtClean="0"/>
              <a:t>在室温下很坚硬。加了水后，它们变得柔软，能够展开和移动，彼此连接形成面筋。揉面团可以使蛋白质更多移动，使它们充分地形成连接（术语是交联），以形成强力的“面筋网络”。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436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水会影响淀粉的性质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直链淀粉和支链淀粉也是如此。加入的水分子会和淀粉形成氢键。在这种情况下（含水量通常大于</a:t>
            </a:r>
            <a:r>
              <a:rPr lang="en-US" altLang="zh-CN" smtClean="0"/>
              <a:t>35%</a:t>
            </a:r>
            <a:r>
              <a:rPr lang="zh-CN" altLang="en-US" smtClean="0"/>
              <a:t>），淀粉分子的玻璃态转化温度高于室温。它需要吸热达到一定温度，从而能够吸水膨胀。这个温度被称为淀粉的糊化温度。煮意大利面时，面筋与水结合，淀粉颗粒会吸水，面条的玻璃态转化温度降低，变得粘软好味道！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8059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977</Words>
  <Application>Microsoft Office PowerPoint</Application>
  <PresentationFormat>宽屏</PresentationFormat>
  <Paragraphs>51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等线 Light</vt:lpstr>
      <vt:lpstr>宋体</vt:lpstr>
      <vt:lpstr>Arial</vt:lpstr>
      <vt:lpstr>Times New Roman</vt:lpstr>
      <vt:lpstr>Office 主题​​</vt:lpstr>
      <vt:lpstr>食物中的水为什么如此奇妙？吃喝的科学 </vt:lpstr>
      <vt:lpstr>内容提要</vt:lpstr>
      <vt:lpstr>食物中的“活”水</vt:lpstr>
      <vt:lpstr>食物中不同种类的水</vt:lpstr>
      <vt:lpstr>水活度</vt:lpstr>
      <vt:lpstr>食物含水量和水活度的关系</vt:lpstr>
      <vt:lpstr>水活度也会影响食物的质感</vt:lpstr>
      <vt:lpstr>氢键的魔力</vt:lpstr>
      <vt:lpstr>水会影响蛋白质和多糖的性质</vt:lpstr>
      <vt:lpstr>水会影响淀粉的性质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食物中的水为什么如此奇妙？|吃喝的科学 </dc:title>
  <dc:creator>he liang</dc:creator>
  <cp:lastModifiedBy>Windows 用户11</cp:lastModifiedBy>
  <cp:revision>11</cp:revision>
  <dcterms:created xsi:type="dcterms:W3CDTF">2017-07-27T10:23:23Z</dcterms:created>
  <dcterms:modified xsi:type="dcterms:W3CDTF">2020-12-31T02:23:59Z</dcterms:modified>
</cp:coreProperties>
</file>