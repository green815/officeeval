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和目录" id="{3BA71BD3-8DD0-47C8-AB96-281C4295A4DF}">
          <p14:sldIdLst>
            <p14:sldId id="256"/>
            <p14:sldId id="265"/>
          </p14:sldIdLst>
        </p14:section>
        <p14:section name="食物中的“活”水" id="{97DC67AC-6E23-4108-BE15-2C1A784D9444}">
          <p14:sldIdLst>
            <p14:sldId id="257"/>
            <p14:sldId id="258"/>
            <p14:sldId id="259"/>
            <p14:sldId id="260"/>
            <p14:sldId id="261"/>
          </p14:sldIdLst>
        </p14:section>
        <p14:section name="氢键的魔力" id="{17F48E63-72B1-4354-9A41-A82D60CE4E3C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9310" autoAdjust="0"/>
  </p:normalViewPr>
  <p:slideViewPr>
    <p:cSldViewPr snapToGrid="0">
      <p:cViewPr varScale="1">
        <p:scale>
          <a:sx n="91" d="100"/>
          <a:sy n="91" d="100"/>
        </p:scale>
        <p:origin x="10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水活度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zh-CN" altLang="en-US" smtClean="0"/>
                      <a:t>鲜肉</a:t>
                    </a:r>
                    <a:endParaRPr lang="zh-CN" altLang="en-US" dirty="0"/>
                  </a:p>
                </c:rich>
              </c:tx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8B-4453-AD0B-0531C95819B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zh-CN" altLang="en-US" smtClean="0"/>
                      <a:t>面包</a:t>
                    </a:r>
                    <a:endParaRPr lang="zh-CN" altLang="en-US" dirty="0"/>
                  </a:p>
                </c:rich>
              </c:tx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48B-4453-AD0B-0531C95819B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zh-CN" altLang="en-US" smtClean="0"/>
                      <a:t>面粉</a:t>
                    </a:r>
                    <a:endParaRPr lang="zh-CN" altLang="en-US" dirty="0"/>
                  </a:p>
                </c:rich>
              </c:tx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8B-4453-AD0B-0531C95819B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zh-CN" altLang="en-US" smtClean="0"/>
                      <a:t>意大利面</a:t>
                    </a:r>
                    <a:endParaRPr lang="zh-CN" altLang="en-US" dirty="0"/>
                  </a:p>
                </c:rich>
              </c:tx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48B-4453-AD0B-0531C95819B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zh-CN" altLang="en-US" dirty="0" smtClean="0"/>
                      <a:t>薯片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8B-4453-AD0B-0531C95819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Sheet1!$A$2:$A$6</c:f>
              <c:numCache>
                <c:formatCode>General</c:formatCode>
                <c:ptCount val="5"/>
                <c:pt idx="0">
                  <c:v>70</c:v>
                </c:pt>
                <c:pt idx="1">
                  <c:v>40</c:v>
                </c:pt>
                <c:pt idx="2">
                  <c:v>14</c:v>
                </c:pt>
                <c:pt idx="3">
                  <c:v>10</c:v>
                </c:pt>
                <c:pt idx="4">
                  <c:v>2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0.98</c:v>
                </c:pt>
                <c:pt idx="1">
                  <c:v>0.95</c:v>
                </c:pt>
                <c:pt idx="2">
                  <c:v>0.7</c:v>
                </c:pt>
                <c:pt idx="3">
                  <c:v>0.45</c:v>
                </c:pt>
                <c:pt idx="4">
                  <c:v>0.1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48B-4453-AD0B-0531C95819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62830104"/>
        <c:axId val="162830760"/>
      </c:scatterChart>
      <c:valAx>
        <c:axId val="162830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 smtClean="0"/>
                  <a:t>含水量</a:t>
                </a:r>
                <a:r>
                  <a:rPr lang="en-US" altLang="zh-CN" dirty="0" smtClean="0"/>
                  <a:t>%</a:t>
                </a:r>
                <a:endParaRPr lang="zh-CN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2830760"/>
        <c:crosses val="autoZero"/>
        <c:crossBetween val="midCat"/>
      </c:valAx>
      <c:valAx>
        <c:axId val="16283076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 smtClean="0"/>
                  <a:t>水活度</a:t>
                </a:r>
                <a:endParaRPr lang="zh-CN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283010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EE602C-B13E-4507-B070-710714C2723F}" type="doc">
      <dgm:prSet loTypeId="urn:microsoft.com/office/officeart/2005/8/layout/arrow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A214170-30F9-41FA-A134-CAFA3A8CA633}">
      <dgm:prSet phldrT="[文本]"/>
      <dgm:spPr/>
      <dgm:t>
        <a:bodyPr/>
        <a:lstStyle/>
        <a:p>
          <a:r>
            <a:rPr lang="zh-CN" altLang="en-US" dirty="0" smtClean="0"/>
            <a:t>食物中的“活”水</a:t>
          </a:r>
          <a:endParaRPr lang="zh-CN" altLang="en-US" dirty="0"/>
        </a:p>
      </dgm:t>
    </dgm:pt>
    <dgm:pt modelId="{912FC89A-81E6-4426-9B76-3D07F84D1BA8}" type="parTrans" cxnId="{CB734486-9482-41FA-A7CF-A77E84CF7652}">
      <dgm:prSet/>
      <dgm:spPr/>
      <dgm:t>
        <a:bodyPr/>
        <a:lstStyle/>
        <a:p>
          <a:endParaRPr lang="zh-CN" altLang="en-US"/>
        </a:p>
      </dgm:t>
    </dgm:pt>
    <dgm:pt modelId="{218FB00B-B8EE-4DC4-A1F2-CCE91BC16986}" type="sibTrans" cxnId="{CB734486-9482-41FA-A7CF-A77E84CF7652}">
      <dgm:prSet/>
      <dgm:spPr/>
      <dgm:t>
        <a:bodyPr/>
        <a:lstStyle/>
        <a:p>
          <a:endParaRPr lang="zh-CN" altLang="en-US"/>
        </a:p>
      </dgm:t>
    </dgm:pt>
    <dgm:pt modelId="{C18E9E61-1AB9-423E-9FBF-DFEF4902005E}">
      <dgm:prSet phldrT="[文本]"/>
      <dgm:spPr/>
      <dgm:t>
        <a:bodyPr/>
        <a:lstStyle/>
        <a:p>
          <a:r>
            <a:rPr lang="zh-CN" altLang="en-US" dirty="0" smtClean="0"/>
            <a:t>氢键的魔力</a:t>
          </a:r>
          <a:endParaRPr lang="zh-CN" altLang="en-US" dirty="0"/>
        </a:p>
      </dgm:t>
    </dgm:pt>
    <dgm:pt modelId="{D28A4356-C708-4254-9114-DD8729EDC671}" type="parTrans" cxnId="{53159374-7A0C-42A8-A14B-8D6DE3A81C34}">
      <dgm:prSet/>
      <dgm:spPr/>
      <dgm:t>
        <a:bodyPr/>
        <a:lstStyle/>
        <a:p>
          <a:endParaRPr lang="zh-CN" altLang="en-US"/>
        </a:p>
      </dgm:t>
    </dgm:pt>
    <dgm:pt modelId="{0ECC863F-1EBC-4BCB-8D8A-8CAB9FA9F432}" type="sibTrans" cxnId="{53159374-7A0C-42A8-A14B-8D6DE3A81C34}">
      <dgm:prSet/>
      <dgm:spPr/>
      <dgm:t>
        <a:bodyPr/>
        <a:lstStyle/>
        <a:p>
          <a:endParaRPr lang="zh-CN" altLang="en-US"/>
        </a:p>
      </dgm:t>
    </dgm:pt>
    <dgm:pt modelId="{2CF28FA1-3EAB-482D-AC8D-E052F512672A}" type="pres">
      <dgm:prSet presAssocID="{5AEE602C-B13E-4507-B070-710714C2723F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5C58021-6458-4D78-9334-2A7F592DD01B}" type="pres">
      <dgm:prSet presAssocID="{5AEE602C-B13E-4507-B070-710714C2723F}" presName="ribbon" presStyleLbl="node1" presStyleIdx="0" presStyleCnt="1" custScaleY="76546" custLinFactNeighborX="595" custLinFactNeighborY="3985"/>
      <dgm:spPr>
        <a:blipFill rotWithShape="0">
          <a:blip xmlns:r="http://schemas.openxmlformats.org/officeDocument/2006/relationships" r:embed="rId1">
            <a:alphaModFix amt="85000"/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意大利面" title="意大利面"/>
        </a:ext>
      </dgm:extLst>
    </dgm:pt>
    <dgm:pt modelId="{905887AF-0CCD-49DB-9C0F-6E0051119675}" type="pres">
      <dgm:prSet presAssocID="{5AEE602C-B13E-4507-B070-710714C2723F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54CC0EB-842D-405F-9CC1-F22E0C3C84BF}" type="pres">
      <dgm:prSet presAssocID="{5AEE602C-B13E-4507-B070-710714C2723F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431277B-9940-489C-8595-51E8D6BE1D58}" type="presOf" srcId="{DA214170-30F9-41FA-A134-CAFA3A8CA633}" destId="{905887AF-0CCD-49DB-9C0F-6E0051119675}" srcOrd="0" destOrd="0" presId="urn:microsoft.com/office/officeart/2005/8/layout/arrow6"/>
    <dgm:cxn modelId="{FD0460B6-47DD-40E6-9987-89CCF7387B11}" type="presOf" srcId="{C18E9E61-1AB9-423E-9FBF-DFEF4902005E}" destId="{A54CC0EB-842D-405F-9CC1-F22E0C3C84BF}" srcOrd="0" destOrd="0" presId="urn:microsoft.com/office/officeart/2005/8/layout/arrow6"/>
    <dgm:cxn modelId="{53159374-7A0C-42A8-A14B-8D6DE3A81C34}" srcId="{5AEE602C-B13E-4507-B070-710714C2723F}" destId="{C18E9E61-1AB9-423E-9FBF-DFEF4902005E}" srcOrd="1" destOrd="0" parTransId="{D28A4356-C708-4254-9114-DD8729EDC671}" sibTransId="{0ECC863F-1EBC-4BCB-8D8A-8CAB9FA9F432}"/>
    <dgm:cxn modelId="{A95E67C9-5A07-411C-AEEB-4A6CF6E39A5F}" type="presOf" srcId="{5AEE602C-B13E-4507-B070-710714C2723F}" destId="{2CF28FA1-3EAB-482D-AC8D-E052F512672A}" srcOrd="0" destOrd="0" presId="urn:microsoft.com/office/officeart/2005/8/layout/arrow6"/>
    <dgm:cxn modelId="{CB734486-9482-41FA-A7CF-A77E84CF7652}" srcId="{5AEE602C-B13E-4507-B070-710714C2723F}" destId="{DA214170-30F9-41FA-A134-CAFA3A8CA633}" srcOrd="0" destOrd="0" parTransId="{912FC89A-81E6-4426-9B76-3D07F84D1BA8}" sibTransId="{218FB00B-B8EE-4DC4-A1F2-CCE91BC16986}"/>
    <dgm:cxn modelId="{CC0E2DD4-153B-40AB-9CC1-EAD06CD31452}" type="presParOf" srcId="{2CF28FA1-3EAB-482D-AC8D-E052F512672A}" destId="{65C58021-6458-4D78-9334-2A7F592DD01B}" srcOrd="0" destOrd="0" presId="urn:microsoft.com/office/officeart/2005/8/layout/arrow6"/>
    <dgm:cxn modelId="{D734624C-FBBB-4CA3-94EC-723B17E6155A}" type="presParOf" srcId="{2CF28FA1-3EAB-482D-AC8D-E052F512672A}" destId="{905887AF-0CCD-49DB-9C0F-6E0051119675}" srcOrd="1" destOrd="0" presId="urn:microsoft.com/office/officeart/2005/8/layout/arrow6"/>
    <dgm:cxn modelId="{F8E6B5E1-E5B3-4EFB-9148-EE13EE5DE7B5}" type="presParOf" srcId="{2CF28FA1-3EAB-482D-AC8D-E052F512672A}" destId="{A54CC0EB-842D-405F-9CC1-F22E0C3C84BF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58021-6458-4D78-9334-2A7F592DD01B}">
      <dsp:nvSpPr>
        <dsp:cNvPr id="0" name=""/>
        <dsp:cNvSpPr/>
      </dsp:nvSpPr>
      <dsp:spPr>
        <a:xfrm>
          <a:off x="0" y="758040"/>
          <a:ext cx="10972800" cy="3359695"/>
        </a:xfrm>
        <a:prstGeom prst="leftRightRibbon">
          <a:avLst/>
        </a:prstGeom>
        <a:blipFill rotWithShape="0">
          <a:blip xmlns:r="http://schemas.openxmlformats.org/officeDocument/2006/relationships" r:embed="rId1">
            <a:alphaModFix amt="85000"/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887AF-0CCD-49DB-9C0F-6E0051119675}">
      <dsp:nvSpPr>
        <dsp:cNvPr id="0" name=""/>
        <dsp:cNvSpPr/>
      </dsp:nvSpPr>
      <dsp:spPr>
        <a:xfrm>
          <a:off x="1316736" y="836517"/>
          <a:ext cx="3621023" cy="215066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02692" rIns="0" bIns="217170" numCol="1" spcCol="1270" anchor="ctr" anchorCtr="0">
          <a:noAutofit/>
        </a:bodyPr>
        <a:lstStyle/>
        <a:p>
          <a:pPr lvl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700" kern="1200" dirty="0" smtClean="0"/>
            <a:t>食物中的“活”水</a:t>
          </a:r>
          <a:endParaRPr lang="zh-CN" altLang="en-US" sz="5700" kern="1200" dirty="0"/>
        </a:p>
      </dsp:txBody>
      <dsp:txXfrm>
        <a:off x="1316736" y="836517"/>
        <a:ext cx="3621023" cy="2150668"/>
      </dsp:txXfrm>
    </dsp:sp>
    <dsp:sp modelId="{A54CC0EB-842D-405F-9CC1-F22E0C3C84BF}">
      <dsp:nvSpPr>
        <dsp:cNvPr id="0" name=""/>
        <dsp:cNvSpPr/>
      </dsp:nvSpPr>
      <dsp:spPr>
        <a:xfrm>
          <a:off x="5486400" y="1538776"/>
          <a:ext cx="4279392" cy="215066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02692" rIns="0" bIns="217170" numCol="1" spcCol="1270" anchor="ctr" anchorCtr="0">
          <a:noAutofit/>
        </a:bodyPr>
        <a:lstStyle/>
        <a:p>
          <a:pPr lvl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700" kern="1200" dirty="0" smtClean="0"/>
            <a:t>氢键的魔力</a:t>
          </a:r>
          <a:endParaRPr lang="zh-CN" altLang="en-US" sz="5700" kern="1200" dirty="0"/>
        </a:p>
      </dsp:txBody>
      <dsp:txXfrm>
        <a:off x="5486400" y="1538776"/>
        <a:ext cx="4279392" cy="2150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886D-4C48-43C1-BE6A-36E13B598392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D8BB5-6B2C-4DD7-809C-AAF16F5B9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40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20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56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9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412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21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23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3333749"/>
          </a:xfrm>
          <a:prstGeom prst="rect">
            <a:avLst/>
          </a:prstGeom>
          <a:pattFill prst="smGrid">
            <a:fgClr>
              <a:srgbClr val="00B05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3333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0" y="0"/>
            <a:ext cx="12192000" cy="3333749"/>
          </a:xfrm>
          <a:prstGeom prst="rect">
            <a:avLst/>
          </a:prstGeom>
          <a:gradFill>
            <a:gsLst>
              <a:gs pos="1000">
                <a:schemeClr val="bg1">
                  <a:alpha val="57000"/>
                </a:schemeClr>
              </a:gs>
              <a:gs pos="100000">
                <a:srgbClr val="FFFFFF">
                  <a:lumMod val="98000"/>
                  <a:lumOff val="2000"/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1862965"/>
            <a:ext cx="10363200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 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0" y="3332989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  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10C60-958E-4BAB-915C-06A4B23327E6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0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4773-2BF7-45E1-9A98-8648D8CE1A42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260648"/>
            <a:ext cx="10608501" cy="1152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矩形 7"/>
          <p:cNvSpPr/>
          <p:nvPr/>
        </p:nvSpPr>
        <p:spPr>
          <a:xfrm>
            <a:off x="10896533" y="260648"/>
            <a:ext cx="1295467" cy="115212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62137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5711957" cy="6858000"/>
            <a:chOff x="0" y="0"/>
            <a:chExt cx="9144000" cy="2500312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0"/>
              <a:ext cx="9144000" cy="2500312"/>
            </a:xfrm>
            <a:prstGeom prst="rect">
              <a:avLst/>
            </a:prstGeom>
            <a:pattFill prst="smGrid">
              <a:fgClr>
                <a:srgbClr val="00B05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pic>
          <p:nvPicPr>
            <p:cNvPr id="8" name="Picture 2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2500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9144000" cy="2500312"/>
            </a:xfrm>
            <a:prstGeom prst="rect">
              <a:avLst/>
            </a:prstGeom>
            <a:gradFill>
              <a:gsLst>
                <a:gs pos="1000">
                  <a:schemeClr val="bg1">
                    <a:alpha val="57000"/>
                  </a:schemeClr>
                </a:gs>
                <a:gs pos="100000">
                  <a:srgbClr val="FFFFFF">
                    <a:lumMod val="98000"/>
                    <a:lumOff val="2000"/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3980" y="2372883"/>
            <a:ext cx="5422305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4D369-0873-462A-93B4-4F16335678DD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85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60648"/>
            <a:ext cx="10608501" cy="1152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/>
        </p:nvSpPr>
        <p:spPr>
          <a:xfrm>
            <a:off x="10896533" y="260648"/>
            <a:ext cx="1295467" cy="115212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0957-F0A6-408B-B298-F0E8ADA553CA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665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BF00-DE22-4F89-BD7B-077907D0D4D1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7626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954E-0744-4DC7-AF4C-44B1AF5C0961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4398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730E-AE83-4CF9-8C6A-F5613E61D7B3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8372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65253-B927-40C6-B5AF-AF3E206D30F2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68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3A16C-0405-493A-BAA6-B09A4763C64A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21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0E7A8-8E77-4383-8AF6-55E24A4622A4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0AED-36CE-4FB1-874C-7F036EB187E1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87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08E41-375E-4379-95EA-E60F36B4BE76}" type="datetime1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673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79E13-7FAE-4245-BFA7-BF93C439CEC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02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219170" rtl="0" eaLnBrk="1" latinLnBrk="0" hangingPunct="1">
        <a:spcBef>
          <a:spcPct val="0"/>
        </a:spcBef>
        <a:buNone/>
        <a:defRPr sz="5867" b="1" kern="1200" cap="none" spc="50" baseline="0">
          <a:ln w="0"/>
          <a:solidFill>
            <a:schemeClr val="bg2"/>
          </a:solidFill>
          <a:effectLst>
            <a:innerShdw blurRad="63500" dist="50800" dir="13500000">
              <a:srgbClr val="000000">
                <a:alpha val="50000"/>
              </a:srgbClr>
            </a:innerShdw>
          </a:effectLst>
          <a:latin typeface="Arial" panose="020B0604020202020204" pitchFamily="34" charset="0"/>
          <a:ea typeface="方正姚体" panose="02010601030101010101" pitchFamily="2" charset="-122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Tx/>
        <a:buBlip>
          <a:blip r:embed="rId13"/>
        </a:buBlip>
        <a:defRPr sz="2800" kern="1200" baseline="0">
          <a:solidFill>
            <a:schemeClr val="tx1"/>
          </a:solidFill>
          <a:latin typeface="Arial" panose="020B0604020202020204" pitchFamily="34" charset="0"/>
          <a:ea typeface="华文细黑" panose="02010600040101010101" pitchFamily="2" charset="-122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食物中的水为什么如此奇妙？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吃喝的科学 </a:t>
            </a:r>
          </a:p>
        </p:txBody>
      </p:sp>
    </p:spTree>
    <p:extLst>
      <p:ext uri="{BB962C8B-B14F-4D97-AF65-F5344CB8AC3E}">
        <p14:creationId xmlns:p14="http://schemas.microsoft.com/office/powerpoint/2010/main" val="83853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0000"/>
    </mc:Choice>
    <mc:Fallback xmlns="">
      <p:transition advTm="10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内容提要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1</a:t>
            </a:fld>
            <a:endParaRPr lang="zh-CN" altLang="en-US"/>
          </a:p>
        </p:txBody>
      </p:sp>
      <p:graphicFrame>
        <p:nvGraphicFramePr>
          <p:cNvPr id="6" name="内容占位符 5" descr="背景" title="beijing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2195387"/>
              </p:ext>
            </p:extLst>
          </p:nvPr>
        </p:nvGraphicFramePr>
        <p:xfrm>
          <a:off x="723900" y="1830389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4579666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00B050"/>
                </a:solidFill>
              </a:rPr>
              <a:t>食物中的</a:t>
            </a:r>
            <a:r>
              <a:rPr lang="en-US" altLang="zh-CN" dirty="0">
                <a:solidFill>
                  <a:srgbClr val="00B050"/>
                </a:solidFill>
              </a:rPr>
              <a:t>“</a:t>
            </a:r>
            <a:r>
              <a:rPr lang="zh-CN" altLang="zh-CN" dirty="0">
                <a:solidFill>
                  <a:srgbClr val="00B050"/>
                </a:solidFill>
              </a:rPr>
              <a:t>活</a:t>
            </a:r>
            <a:r>
              <a:rPr lang="en-US" altLang="zh-CN" dirty="0">
                <a:solidFill>
                  <a:srgbClr val="00B050"/>
                </a:solidFill>
              </a:rPr>
              <a:t>”</a:t>
            </a:r>
            <a:r>
              <a:rPr lang="zh-CN" altLang="zh-CN" dirty="0">
                <a:solidFill>
                  <a:srgbClr val="00B050"/>
                </a:solidFill>
              </a:rPr>
              <a:t>水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125341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自由水是可以从食物中挤出的水，像橙子里榨出的橙汁、酸奶油或酸奶酪中析出的水。</a:t>
            </a:r>
          </a:p>
          <a:p>
            <a:r>
              <a:rPr lang="zh-CN" altLang="en-US" smtClean="0"/>
              <a:t>吸附水是指附着在多糖和蛋白质等分子表面的水。它没那么容易从食物中挤出来。当食品学家提到水合蛋白（如谷蛋白）或水合糖分子（如淀粉）时，通常指的就是吸附水。</a:t>
            </a:r>
          </a:p>
          <a:p>
            <a:r>
              <a:rPr lang="zh-CN" altLang="en-US" smtClean="0"/>
              <a:t>结合水则指固定在晶体中的水分子，如结晶淀粉或食物中的其他成分（有些食品学家习惯只区分自由水和结合水）。重点在于，自由水和吸附水有助于微生物的生长，而结合水则不行。</a:t>
            </a:r>
          </a:p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食物</a:t>
            </a:r>
            <a:r>
              <a:rPr lang="zh-CN" altLang="zh-CN" smtClean="0"/>
              <a:t>中</a:t>
            </a:r>
            <a:r>
              <a:rPr lang="zh-CN" altLang="en-US" smtClean="0"/>
              <a:t>不同种类的水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478636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水活度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dirty="0" smtClean="0"/>
              <a:t>食品学家用水活度（</a:t>
            </a:r>
            <a:r>
              <a:rPr lang="en-US" altLang="zh-CN" dirty="0" smtClean="0"/>
              <a:t>water activity</a:t>
            </a:r>
            <a:r>
              <a:rPr lang="zh-CN" altLang="en-US" dirty="0" smtClean="0"/>
              <a:t>）来表示食物中自由水和吸附水的含量，这些“活”水对微生物生长、酶活性及化学反应很关键。水活度的数值在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到</a:t>
            </a:r>
            <a:r>
              <a:rPr lang="en-US" altLang="zh-CN" dirty="0" smtClean="0"/>
              <a:t>1</a:t>
            </a:r>
            <a:r>
              <a:rPr lang="zh-CN" altLang="en-US" dirty="0" smtClean="0"/>
              <a:t>之间，代表食物中能够转化成水蒸气的水分。</a:t>
            </a:r>
          </a:p>
          <a:p>
            <a:r>
              <a:rPr lang="zh-CN" altLang="en-US" dirty="0" smtClean="0"/>
              <a:t>水活度低于</a:t>
            </a:r>
            <a:r>
              <a:rPr lang="en-US" altLang="zh-CN" dirty="0" smtClean="0"/>
              <a:t>0.85</a:t>
            </a:r>
            <a:r>
              <a:rPr lang="zh-CN" altLang="en-US" dirty="0" smtClean="0"/>
              <a:t>的食物不容易长细菌，因为这种环境中细菌无法得到足够的水分。</a:t>
            </a:r>
            <a:endParaRPr lang="en-US" altLang="zh-CN" dirty="0" smtClean="0"/>
          </a:p>
          <a:p>
            <a:r>
              <a:rPr lang="zh-CN" altLang="en-US" dirty="0" smtClean="0"/>
              <a:t>水活度低于</a:t>
            </a:r>
            <a:r>
              <a:rPr lang="en-US" altLang="zh-CN" dirty="0" smtClean="0"/>
              <a:t>0.85</a:t>
            </a:r>
            <a:r>
              <a:rPr lang="zh-CN" altLang="en-US" dirty="0" smtClean="0"/>
              <a:t>的酸性食物易于储藏，特别是存放在冰箱中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低</a:t>
            </a:r>
            <a:r>
              <a:rPr lang="en-US" altLang="zh-CN" dirty="0" smtClean="0"/>
              <a:t>pH</a:t>
            </a:r>
            <a:r>
              <a:rPr lang="zh-CN" altLang="en-US" dirty="0" smtClean="0"/>
              <a:t>值、低水活度和低温为抵抗有害病原体提供了三重保障。</a:t>
            </a:r>
          </a:p>
          <a:p>
            <a:endParaRPr lang="zh-CN" altLang="en-US" dirty="0"/>
          </a:p>
        </p:txBody>
      </p:sp>
      <p:pic>
        <p:nvPicPr>
          <p:cNvPr id="5" name="内容占位符 4" descr="冰箱中的食物" title="图片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6197600" y="1852295"/>
            <a:ext cx="5384800" cy="40217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03245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食物含水量和水活度的关系</a:t>
            </a:r>
            <a:endParaRPr lang="zh-CN" altLang="en-US"/>
          </a:p>
        </p:txBody>
      </p:sp>
      <p:graphicFrame>
        <p:nvGraphicFramePr>
          <p:cNvPr id="7" name="内容占位符 6" descr="散点图" title="图表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466821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513770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Chart bld="category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643886" cy="4351338"/>
          </a:xfrm>
        </p:spPr>
        <p:txBody>
          <a:bodyPr>
            <a:normAutofit/>
          </a:bodyPr>
          <a:lstStyle/>
          <a:p>
            <a:r>
              <a:rPr lang="zh-CN" altLang="en-US" smtClean="0"/>
              <a:t>水作为一种软化剂，可以降低食物的玻璃态转化温度。含水量低的食物水活度通常较低，而转化温度较高。这种食物在室温下往往坚硬酥脆。当被放在潮湿环境中，食物的含水量与水活度提高，转化温度降低。当它低于室温时，食物就会变得更软更润。这反过来也解释了食物在冰箱中变硬的现象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水活度也会影响食物的质感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336292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氢键的魔力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512694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含水量低的食物（</a:t>
            </a:r>
            <a:r>
              <a:rPr lang="en-US" altLang="zh-CN" smtClean="0"/>
              <a:t>10%-20%</a:t>
            </a:r>
            <a:r>
              <a:rPr lang="zh-CN" altLang="en-US" smtClean="0"/>
              <a:t>甚至更低）往往硬而脆，含水量高的食物（</a:t>
            </a:r>
            <a:r>
              <a:rPr lang="en-US" altLang="zh-CN" smtClean="0"/>
              <a:t>35%</a:t>
            </a:r>
            <a:r>
              <a:rPr lang="zh-CN" altLang="en-US" smtClean="0"/>
              <a:t>或更高）则软而韧。蛋白质含有氮原子，多糖含有氧原子。这两种原子都是带负电的，可以和水中氢原子形成氢键，于是水分子可以被吸附在蛋白质和多糖的表面。</a:t>
            </a:r>
            <a:endParaRPr lang="en-US" altLang="zh-CN" smtClean="0"/>
          </a:p>
          <a:p>
            <a:r>
              <a:rPr lang="zh-CN" altLang="en-US" smtClean="0"/>
              <a:t>吸附水降低了蛋白质和多糖的玻璃态转化温度，使其在室温或更高温度下更柔韧。干面粉中面筋的主要蛋白</a:t>
            </a:r>
            <a:r>
              <a:rPr lang="en-US" altLang="zh-CN" smtClean="0"/>
              <a:t>——</a:t>
            </a:r>
            <a:r>
              <a:rPr lang="zh-CN" altLang="en-US" smtClean="0"/>
              <a:t>醇溶蛋白和麦谷蛋白</a:t>
            </a:r>
            <a:r>
              <a:rPr lang="en-US" altLang="zh-CN" smtClean="0"/>
              <a:t>——</a:t>
            </a:r>
            <a:r>
              <a:rPr lang="zh-CN" altLang="en-US" smtClean="0"/>
              <a:t>在室温下很坚硬。加了水后，它们变得柔软，能够展开和移动，彼此连接形成面筋。揉面团可以使蛋白质更多移动，使它们充分地形成连接（术语是交联），以形成强力的“面筋网络”。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水会影响蛋白质和多糖的性质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436550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水会影响淀粉的性质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smtClean="0"/>
              <a:t>直链淀粉和支链淀粉也是如此。加入的水分子会和淀粉形成氢键。在这种情况下（含水量通常大于</a:t>
            </a:r>
            <a:r>
              <a:rPr lang="en-US" altLang="zh-CN" smtClean="0"/>
              <a:t>35%</a:t>
            </a:r>
            <a:r>
              <a:rPr lang="zh-CN" altLang="en-US" smtClean="0"/>
              <a:t>），淀粉分子的玻璃态转化温度高于室温。它需要吸热达到一定温度，从而能够吸水膨胀。这个温度被称为淀粉的糊化温度。煮意大利面时，面筋与水结合，淀粉颗粒会吸水，面条的玻璃态转化温度降低，变得粘软好味道！</a:t>
            </a:r>
            <a:endParaRPr lang="zh-CN" altLang="en-US"/>
          </a:p>
        </p:txBody>
      </p:sp>
      <p:pic>
        <p:nvPicPr>
          <p:cNvPr id="5" name="内容占位符 4" descr="揉面" title="图片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 rot="360000">
            <a:off x="6865937" y="2334419"/>
            <a:ext cx="4048125" cy="30575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059124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绿色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绿色</Template>
  <TotalTime>565</TotalTime>
  <Words>659</Words>
  <Application>Microsoft Office PowerPoint</Application>
  <PresentationFormat>宽屏</PresentationFormat>
  <Paragraphs>45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方正姚体</vt:lpstr>
      <vt:lpstr>华文细黑</vt:lpstr>
      <vt:lpstr>宋体</vt:lpstr>
      <vt:lpstr>Arial</vt:lpstr>
      <vt:lpstr>Calibri</vt:lpstr>
      <vt:lpstr>绿色</vt:lpstr>
      <vt:lpstr>食物中的水为什么如此奇妙？</vt:lpstr>
      <vt:lpstr>内容提要</vt:lpstr>
      <vt:lpstr>食物中的“活”水</vt:lpstr>
      <vt:lpstr>食物中不同种类的水</vt:lpstr>
      <vt:lpstr>水活度</vt:lpstr>
      <vt:lpstr>食物含水量和水活度的关系</vt:lpstr>
      <vt:lpstr>水活度也会影响食物的质感</vt:lpstr>
      <vt:lpstr>氢键的魔力</vt:lpstr>
      <vt:lpstr>水会影响蛋白质和多糖的性质</vt:lpstr>
      <vt:lpstr>水会影响淀粉的性质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食物中的水为什么如此奇妙？|吃喝的科学 </dc:title>
  <dc:creator>he liang</dc:creator>
  <cp:lastModifiedBy>Windows 用户11</cp:lastModifiedBy>
  <cp:revision>34</cp:revision>
  <dcterms:created xsi:type="dcterms:W3CDTF">2017-07-27T10:23:23Z</dcterms:created>
  <dcterms:modified xsi:type="dcterms:W3CDTF">2021-01-25T01:36:40Z</dcterms:modified>
</cp:coreProperties>
</file>