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4"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715000" type="screen16x10"/>
  <p:notesSz cx="6858000" cy="9144000"/>
  <p:defaultTextStyle>
    <a:defPPr>
      <a:defRPr lang="zh-CN"/>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ADAD6BC2-6E26-4117-B42C-F41BE8D06D72}">
          <p14:sldIdLst>
            <p14:sldId id="256"/>
            <p14:sldId id="257"/>
          </p14:sldIdLst>
        </p14:section>
        <p14:section name="云计算的概念" id="{52E069AD-2708-48BB-A166-A8B9E22DDAC8}">
          <p14:sldIdLst>
            <p14:sldId id="258"/>
            <p14:sldId id="259"/>
          </p14:sldIdLst>
        </p14:section>
        <p14:section name="云计算的特征" id="{87C1E576-186C-4382-BB4C-23F72137CC8D}">
          <p14:sldIdLst>
            <p14:sldId id="260"/>
            <p14:sldId id="261"/>
            <p14:sldId id="262"/>
            <p14:sldId id="263"/>
            <p14:sldId id="264"/>
            <p14:sldId id="265"/>
            <p14:sldId id="266"/>
            <p14:sldId id="267"/>
            <p14:sldId id="268"/>
          </p14:sldIdLst>
        </p14:section>
        <p14:section name="云计算的服务形式" id="{3BBE3F15-FE09-4A23-91D0-BBAF1D0EC504}">
          <p14:sldIdLst>
            <p14:sldId id="269"/>
            <p14:sldId id="270"/>
            <p14:sldId id="271"/>
            <p14:sldId id="272"/>
          </p14:sldIdLst>
        </p14:section>
        <p14:section name="默认节" id="{2BAE83A6-67F7-414F-80A7-77AA79CC3FD9}">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84"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Iaas</c:v>
                </c:pt>
              </c:strCache>
            </c:strRef>
          </c:tx>
          <c:spPr>
            <a:ln w="28575" cap="rnd">
              <a:solidFill>
                <a:schemeClr val="accent1"/>
              </a:solidFill>
              <a:round/>
            </a:ln>
            <a:effectLst/>
          </c:spPr>
          <c:marker>
            <c:symbol val="circle"/>
            <c:size val="5"/>
            <c:spPr>
              <a:solidFill>
                <a:schemeClr val="bg1"/>
              </a:solidFill>
              <a:ln w="9525">
                <a:solidFill>
                  <a:schemeClr val="accent1"/>
                </a:solidFill>
              </a:ln>
              <a:effectLst/>
            </c:spPr>
          </c:marker>
          <c:dPt>
            <c:idx val="5"/>
            <c:marker>
              <c:symbol val="circle"/>
              <c:size val="5"/>
              <c:spPr>
                <a:solidFill>
                  <a:schemeClr val="bg1"/>
                </a:solidFill>
                <a:ln w="9525">
                  <a:solidFill>
                    <a:schemeClr val="accent1"/>
                  </a:solidFill>
                </a:ln>
                <a:effectLst/>
              </c:spPr>
            </c:marker>
            <c:bubble3D val="0"/>
            <c:spPr>
              <a:ln w="28575" cap="rnd">
                <a:solidFill>
                  <a:schemeClr val="accent1"/>
                </a:solidFill>
                <a:prstDash val="dash"/>
                <a:round/>
              </a:ln>
              <a:effectLst/>
            </c:spPr>
            <c:extLst>
              <c:ext xmlns:c16="http://schemas.microsoft.com/office/drawing/2014/chart" uri="{C3380CC4-5D6E-409C-BE32-E72D297353CC}">
                <c16:uniqueId val="{00000003-F8CC-42D5-9DDE-8992D7A479F5}"/>
              </c:ext>
            </c:extLst>
          </c:dPt>
          <c:dPt>
            <c:idx val="6"/>
            <c:marker>
              <c:symbol val="circle"/>
              <c:size val="5"/>
              <c:spPr>
                <a:solidFill>
                  <a:schemeClr val="bg1"/>
                </a:solidFill>
                <a:ln w="9525">
                  <a:solidFill>
                    <a:schemeClr val="accent1"/>
                  </a:solidFill>
                </a:ln>
                <a:effectLst/>
              </c:spPr>
            </c:marker>
            <c:bubble3D val="0"/>
            <c:spPr>
              <a:ln w="28575" cap="rnd">
                <a:solidFill>
                  <a:schemeClr val="accent1"/>
                </a:solidFill>
                <a:prstDash val="dash"/>
                <a:round/>
              </a:ln>
              <a:effectLst/>
            </c:spPr>
            <c:extLst>
              <c:ext xmlns:c16="http://schemas.microsoft.com/office/drawing/2014/chart" uri="{C3380CC4-5D6E-409C-BE32-E72D297353CC}">
                <c16:uniqueId val="{00000004-F8CC-42D5-9DDE-8992D7A479F5}"/>
              </c:ext>
            </c:extLst>
          </c:dPt>
          <c:cat>
            <c:numRef>
              <c:f>Sheet1!$A$2:$A$8</c:f>
              <c:numCache>
                <c:formatCode>General</c:formatCode>
                <c:ptCount val="7"/>
                <c:pt idx="0">
                  <c:v>2014</c:v>
                </c:pt>
                <c:pt idx="1">
                  <c:v>2015</c:v>
                </c:pt>
                <c:pt idx="2">
                  <c:v>2016</c:v>
                </c:pt>
                <c:pt idx="3">
                  <c:v>2017</c:v>
                </c:pt>
                <c:pt idx="4">
                  <c:v>2018</c:v>
                </c:pt>
                <c:pt idx="5">
                  <c:v>2019</c:v>
                </c:pt>
                <c:pt idx="6">
                  <c:v>2020</c:v>
                </c:pt>
              </c:numCache>
            </c:numRef>
          </c:cat>
          <c:val>
            <c:numRef>
              <c:f>Sheet1!$B$2:$B$8</c:f>
              <c:numCache>
                <c:formatCode>General</c:formatCode>
                <c:ptCount val="7"/>
                <c:pt idx="0">
                  <c:v>7</c:v>
                </c:pt>
                <c:pt idx="1">
                  <c:v>9.6999999999999993</c:v>
                </c:pt>
                <c:pt idx="2">
                  <c:v>12.5</c:v>
                </c:pt>
                <c:pt idx="3">
                  <c:v>15.4</c:v>
                </c:pt>
                <c:pt idx="4">
                  <c:v>18.2</c:v>
                </c:pt>
                <c:pt idx="5">
                  <c:v>21.2</c:v>
                </c:pt>
                <c:pt idx="6">
                  <c:v>24.5</c:v>
                </c:pt>
              </c:numCache>
            </c:numRef>
          </c:val>
          <c:smooth val="0"/>
          <c:extLst>
            <c:ext xmlns:c16="http://schemas.microsoft.com/office/drawing/2014/chart" uri="{C3380CC4-5D6E-409C-BE32-E72D297353CC}">
              <c16:uniqueId val="{00000000-F8CC-42D5-9DDE-8992D7A479F5}"/>
            </c:ext>
          </c:extLst>
        </c:ser>
        <c:ser>
          <c:idx val="1"/>
          <c:order val="1"/>
          <c:tx>
            <c:strRef>
              <c:f>Sheet1!$C$1</c:f>
              <c:strCache>
                <c:ptCount val="1"/>
                <c:pt idx="0">
                  <c:v>SaaS</c:v>
                </c:pt>
              </c:strCache>
            </c:strRef>
          </c:tx>
          <c:spPr>
            <a:ln w="28575" cap="rnd">
              <a:solidFill>
                <a:schemeClr val="accent2"/>
              </a:solidFill>
              <a:round/>
            </a:ln>
            <a:effectLst/>
          </c:spPr>
          <c:marker>
            <c:symbol val="circle"/>
            <c:size val="5"/>
            <c:spPr>
              <a:solidFill>
                <a:schemeClr val="bg1"/>
              </a:solidFill>
              <a:ln w="9525">
                <a:solidFill>
                  <a:schemeClr val="accent2"/>
                </a:solidFill>
              </a:ln>
              <a:effectLst/>
            </c:spPr>
          </c:marker>
          <c:dPt>
            <c:idx val="5"/>
            <c:marker>
              <c:symbol val="circle"/>
              <c:size val="5"/>
              <c:spPr>
                <a:solidFill>
                  <a:schemeClr val="bg1"/>
                </a:solidFill>
                <a:ln w="9525">
                  <a:solidFill>
                    <a:schemeClr val="accent2"/>
                  </a:solidFill>
                </a:ln>
                <a:effectLst/>
              </c:spPr>
            </c:marker>
            <c:bubble3D val="0"/>
            <c:spPr>
              <a:ln w="28575" cap="rnd">
                <a:solidFill>
                  <a:schemeClr val="accent2"/>
                </a:solidFill>
                <a:prstDash val="dash"/>
                <a:round/>
              </a:ln>
              <a:effectLst/>
            </c:spPr>
            <c:extLst>
              <c:ext xmlns:c16="http://schemas.microsoft.com/office/drawing/2014/chart" uri="{C3380CC4-5D6E-409C-BE32-E72D297353CC}">
                <c16:uniqueId val="{00000005-F8CC-42D5-9DDE-8992D7A479F5}"/>
              </c:ext>
            </c:extLst>
          </c:dPt>
          <c:dPt>
            <c:idx val="6"/>
            <c:marker>
              <c:symbol val="circle"/>
              <c:size val="5"/>
              <c:spPr>
                <a:solidFill>
                  <a:schemeClr val="bg1"/>
                </a:solidFill>
                <a:ln w="9525">
                  <a:solidFill>
                    <a:schemeClr val="accent2"/>
                  </a:solidFill>
                </a:ln>
                <a:effectLst/>
              </c:spPr>
            </c:marker>
            <c:bubble3D val="0"/>
            <c:spPr>
              <a:ln w="28575" cap="rnd">
                <a:solidFill>
                  <a:schemeClr val="accent2"/>
                </a:solidFill>
                <a:prstDash val="dash"/>
                <a:round/>
              </a:ln>
              <a:effectLst/>
            </c:spPr>
            <c:extLst>
              <c:ext xmlns:c16="http://schemas.microsoft.com/office/drawing/2014/chart" uri="{C3380CC4-5D6E-409C-BE32-E72D297353CC}">
                <c16:uniqueId val="{00000006-F8CC-42D5-9DDE-8992D7A479F5}"/>
              </c:ext>
            </c:extLst>
          </c:dPt>
          <c:cat>
            <c:numRef>
              <c:f>Sheet1!$A$2:$A$8</c:f>
              <c:numCache>
                <c:formatCode>General</c:formatCode>
                <c:ptCount val="7"/>
                <c:pt idx="0">
                  <c:v>2014</c:v>
                </c:pt>
                <c:pt idx="1">
                  <c:v>2015</c:v>
                </c:pt>
                <c:pt idx="2">
                  <c:v>2016</c:v>
                </c:pt>
                <c:pt idx="3">
                  <c:v>2017</c:v>
                </c:pt>
                <c:pt idx="4">
                  <c:v>2018</c:v>
                </c:pt>
                <c:pt idx="5">
                  <c:v>2019</c:v>
                </c:pt>
                <c:pt idx="6">
                  <c:v>2020</c:v>
                </c:pt>
              </c:numCache>
            </c:numRef>
          </c:cat>
          <c:val>
            <c:numRef>
              <c:f>Sheet1!$C$2:$C$8</c:f>
              <c:numCache>
                <c:formatCode>General</c:formatCode>
                <c:ptCount val="7"/>
                <c:pt idx="0">
                  <c:v>3.1</c:v>
                </c:pt>
                <c:pt idx="1">
                  <c:v>4.0999999999999996</c:v>
                </c:pt>
                <c:pt idx="2">
                  <c:v>5.4</c:v>
                </c:pt>
                <c:pt idx="3">
                  <c:v>6.8</c:v>
                </c:pt>
                <c:pt idx="4">
                  <c:v>8.4</c:v>
                </c:pt>
                <c:pt idx="5">
                  <c:v>10</c:v>
                </c:pt>
                <c:pt idx="6">
                  <c:v>11.6</c:v>
                </c:pt>
              </c:numCache>
            </c:numRef>
          </c:val>
          <c:smooth val="0"/>
          <c:extLst>
            <c:ext xmlns:c16="http://schemas.microsoft.com/office/drawing/2014/chart" uri="{C3380CC4-5D6E-409C-BE32-E72D297353CC}">
              <c16:uniqueId val="{00000001-F8CC-42D5-9DDE-8992D7A479F5}"/>
            </c:ext>
          </c:extLst>
        </c:ser>
        <c:ser>
          <c:idx val="2"/>
          <c:order val="2"/>
          <c:tx>
            <c:strRef>
              <c:f>Sheet1!$D$1</c:f>
              <c:strCache>
                <c:ptCount val="1"/>
                <c:pt idx="0">
                  <c:v>PaaS</c:v>
                </c:pt>
              </c:strCache>
            </c:strRef>
          </c:tx>
          <c:spPr>
            <a:ln w="28575" cap="rnd">
              <a:solidFill>
                <a:schemeClr val="accent3"/>
              </a:solidFill>
              <a:round/>
            </a:ln>
            <a:effectLst/>
          </c:spPr>
          <c:marker>
            <c:symbol val="circle"/>
            <c:size val="5"/>
            <c:spPr>
              <a:solidFill>
                <a:schemeClr val="bg1"/>
              </a:solidFill>
              <a:ln w="9525">
                <a:solidFill>
                  <a:schemeClr val="accent3"/>
                </a:solidFill>
              </a:ln>
              <a:effectLst/>
            </c:spPr>
          </c:marker>
          <c:dPt>
            <c:idx val="5"/>
            <c:marker>
              <c:symbol val="circle"/>
              <c:size val="5"/>
              <c:spPr>
                <a:solidFill>
                  <a:schemeClr val="bg1"/>
                </a:solidFill>
                <a:ln w="9525">
                  <a:solidFill>
                    <a:schemeClr val="accent3"/>
                  </a:solidFill>
                </a:ln>
                <a:effectLst/>
              </c:spPr>
            </c:marker>
            <c:bubble3D val="0"/>
            <c:spPr>
              <a:ln w="28575" cap="rnd">
                <a:solidFill>
                  <a:schemeClr val="accent3"/>
                </a:solidFill>
                <a:prstDash val="dash"/>
                <a:round/>
              </a:ln>
              <a:effectLst/>
            </c:spPr>
            <c:extLst>
              <c:ext xmlns:c16="http://schemas.microsoft.com/office/drawing/2014/chart" uri="{C3380CC4-5D6E-409C-BE32-E72D297353CC}">
                <c16:uniqueId val="{00000007-F8CC-42D5-9DDE-8992D7A479F5}"/>
              </c:ext>
            </c:extLst>
          </c:dPt>
          <c:dPt>
            <c:idx val="6"/>
            <c:marker>
              <c:symbol val="circle"/>
              <c:size val="5"/>
              <c:spPr>
                <a:solidFill>
                  <a:schemeClr val="bg1"/>
                </a:solidFill>
                <a:ln w="9525">
                  <a:solidFill>
                    <a:schemeClr val="accent3"/>
                  </a:solidFill>
                </a:ln>
                <a:effectLst/>
              </c:spPr>
            </c:marker>
            <c:bubble3D val="0"/>
            <c:spPr>
              <a:ln w="28575" cap="rnd">
                <a:solidFill>
                  <a:schemeClr val="accent3"/>
                </a:solidFill>
                <a:prstDash val="dash"/>
                <a:round/>
              </a:ln>
              <a:effectLst/>
            </c:spPr>
            <c:extLst>
              <c:ext xmlns:c16="http://schemas.microsoft.com/office/drawing/2014/chart" uri="{C3380CC4-5D6E-409C-BE32-E72D297353CC}">
                <c16:uniqueId val="{00000008-F8CC-42D5-9DDE-8992D7A479F5}"/>
              </c:ext>
            </c:extLst>
          </c:dPt>
          <c:cat>
            <c:numRef>
              <c:f>Sheet1!$A$2:$A$8</c:f>
              <c:numCache>
                <c:formatCode>General</c:formatCode>
                <c:ptCount val="7"/>
                <c:pt idx="0">
                  <c:v>2014</c:v>
                </c:pt>
                <c:pt idx="1">
                  <c:v>2015</c:v>
                </c:pt>
                <c:pt idx="2">
                  <c:v>2016</c:v>
                </c:pt>
                <c:pt idx="3">
                  <c:v>2017</c:v>
                </c:pt>
                <c:pt idx="4">
                  <c:v>2018</c:v>
                </c:pt>
                <c:pt idx="5">
                  <c:v>2019</c:v>
                </c:pt>
                <c:pt idx="6">
                  <c:v>2020</c:v>
                </c:pt>
              </c:numCache>
            </c:numRef>
          </c:cat>
          <c:val>
            <c:numRef>
              <c:f>Sheet1!$D$2:$D$8</c:f>
              <c:numCache>
                <c:formatCode>General</c:formatCode>
                <c:ptCount val="7"/>
                <c:pt idx="0">
                  <c:v>2.2999999999999998</c:v>
                </c:pt>
                <c:pt idx="1">
                  <c:v>3.1</c:v>
                </c:pt>
                <c:pt idx="2">
                  <c:v>4</c:v>
                </c:pt>
                <c:pt idx="3">
                  <c:v>4.9000000000000004</c:v>
                </c:pt>
                <c:pt idx="4">
                  <c:v>5.9</c:v>
                </c:pt>
                <c:pt idx="5">
                  <c:v>6.9</c:v>
                </c:pt>
                <c:pt idx="6">
                  <c:v>8.1</c:v>
                </c:pt>
              </c:numCache>
            </c:numRef>
          </c:val>
          <c:smooth val="0"/>
          <c:extLst>
            <c:ext xmlns:c16="http://schemas.microsoft.com/office/drawing/2014/chart" uri="{C3380CC4-5D6E-409C-BE32-E72D297353CC}">
              <c16:uniqueId val="{00000002-F8CC-42D5-9DDE-8992D7A479F5}"/>
            </c:ext>
          </c:extLst>
        </c:ser>
        <c:dLbls>
          <c:showLegendKey val="0"/>
          <c:showVal val="0"/>
          <c:showCatName val="0"/>
          <c:showSerName val="0"/>
          <c:showPercent val="0"/>
          <c:showBubbleSize val="0"/>
        </c:dLbls>
        <c:marker val="1"/>
        <c:smooth val="0"/>
        <c:axId val="505072104"/>
        <c:axId val="506706312"/>
      </c:lineChart>
      <c:catAx>
        <c:axId val="5050721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506706312"/>
        <c:crosses val="autoZero"/>
        <c:auto val="1"/>
        <c:lblAlgn val="ctr"/>
        <c:lblOffset val="100"/>
        <c:noMultiLvlLbl val="0"/>
      </c:catAx>
      <c:valAx>
        <c:axId val="506706312"/>
        <c:scaling>
          <c:orientation val="minMax"/>
        </c:scaling>
        <c:delete val="0"/>
        <c:axPos val="l"/>
        <c:numFmt formatCode="General" sourceLinked="1"/>
        <c:majorTickMark val="none"/>
        <c:minorTickMark val="none"/>
        <c:tickLblPos val="nextTo"/>
        <c:spPr>
          <a:noFill/>
          <a:ln>
            <a:solidFill>
              <a:schemeClr val="bg1">
                <a:lumMod val="85000"/>
              </a:schemeClr>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505072104"/>
        <c:crosses val="autoZero"/>
        <c:crossBetween val="midCat"/>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slide" Target="../slides/slide5.xml"/><Relationship Id="rId1" Type="http://schemas.openxmlformats.org/officeDocument/2006/relationships/slide" Target="../slides/slide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BD7733-8E3B-42A2-A6D2-205BC81064E0}"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zh-CN" altLang="en-US"/>
        </a:p>
      </dgm:t>
    </dgm:pt>
    <dgm:pt modelId="{6E38E3D5-F79C-4B38-B4EE-1E4883D847D8}">
      <dgm:prSet/>
      <dgm:spPr/>
      <dgm:t>
        <a:bodyPr/>
        <a:lstStyle/>
        <a:p>
          <a:pPr rtl="0"/>
          <a:r>
            <a:rPr lang="zh-CN" b="0" i="0" baseline="0" smtClean="0"/>
            <a:t>一、云计算的概念 </a:t>
          </a:r>
          <a:endParaRPr lang="zh-CN"/>
        </a:p>
      </dgm:t>
      <dgm:extLst>
        <a:ext uri="{E40237B7-FDA0-4F09-8148-C483321AD2D9}">
          <dgm14:cNvPr xmlns:dgm14="http://schemas.microsoft.com/office/drawing/2010/diagram" id="0" name="">
            <a:hlinkClick xmlns:r="http://schemas.openxmlformats.org/officeDocument/2006/relationships" r:id="rId1" action="ppaction://hlinksldjump"/>
          </dgm14:cNvPr>
        </a:ext>
      </dgm:extLst>
    </dgm:pt>
    <dgm:pt modelId="{B11FE669-4C0E-4E98-9EC7-7A5CC3261B00}" type="parTrans" cxnId="{FAE18724-06D9-4AA1-AF94-905826850F2B}">
      <dgm:prSet/>
      <dgm:spPr/>
      <dgm:t>
        <a:bodyPr/>
        <a:lstStyle/>
        <a:p>
          <a:endParaRPr lang="zh-CN" altLang="en-US"/>
        </a:p>
      </dgm:t>
    </dgm:pt>
    <dgm:pt modelId="{E97ABC7C-2CAE-49D7-B1A6-D75A037DDB3A}" type="sibTrans" cxnId="{FAE18724-06D9-4AA1-AF94-905826850F2B}">
      <dgm:prSet/>
      <dgm:spPr/>
      <dgm:t>
        <a:bodyPr/>
        <a:lstStyle/>
        <a:p>
          <a:endParaRPr lang="zh-CN" altLang="en-US"/>
        </a:p>
      </dgm:t>
    </dgm:pt>
    <dgm:pt modelId="{CCBD4371-B1F4-4212-AF29-2716285B085B}">
      <dgm:prSet/>
      <dgm:spPr/>
      <dgm:t>
        <a:bodyPr/>
        <a:lstStyle/>
        <a:p>
          <a:pPr rtl="0"/>
          <a:r>
            <a:rPr lang="zh-CN" b="0" i="0" baseline="0" smtClean="0"/>
            <a:t>二、云计算的特征</a:t>
          </a:r>
          <a:endParaRPr lang="zh-CN"/>
        </a:p>
      </dgm:t>
      <dgm:extLst>
        <a:ext uri="{E40237B7-FDA0-4F09-8148-C483321AD2D9}">
          <dgm14:cNvPr xmlns:dgm14="http://schemas.microsoft.com/office/drawing/2010/diagram" id="0" name="">
            <a:hlinkClick xmlns:r="http://schemas.openxmlformats.org/officeDocument/2006/relationships" r:id="rId2" action="ppaction://hlinksldjump"/>
          </dgm14:cNvPr>
        </a:ext>
      </dgm:extLst>
    </dgm:pt>
    <dgm:pt modelId="{582B181C-1C9C-46EF-8698-FA3718F16A8F}" type="parTrans" cxnId="{393A8602-A789-427D-992F-21E3602F4C8E}">
      <dgm:prSet/>
      <dgm:spPr/>
      <dgm:t>
        <a:bodyPr/>
        <a:lstStyle/>
        <a:p>
          <a:endParaRPr lang="zh-CN" altLang="en-US"/>
        </a:p>
      </dgm:t>
    </dgm:pt>
    <dgm:pt modelId="{6CE132FE-BBB7-424A-A506-8BA2C71538CE}" type="sibTrans" cxnId="{393A8602-A789-427D-992F-21E3602F4C8E}">
      <dgm:prSet/>
      <dgm:spPr/>
      <dgm:t>
        <a:bodyPr/>
        <a:lstStyle/>
        <a:p>
          <a:endParaRPr lang="zh-CN" altLang="en-US"/>
        </a:p>
      </dgm:t>
    </dgm:pt>
    <dgm:pt modelId="{C9C35F01-5104-43B8-8B43-87ACF08DE01D}">
      <dgm:prSet/>
      <dgm:spPr/>
      <dgm:t>
        <a:bodyPr/>
        <a:lstStyle/>
        <a:p>
          <a:pPr rtl="0"/>
          <a:r>
            <a:rPr lang="zh-CN" b="0" i="0" baseline="0" smtClean="0"/>
            <a:t>三、云计算的服务形式</a:t>
          </a:r>
          <a:endParaRPr lang="zh-CN"/>
        </a:p>
      </dgm:t>
      <dgm:extLst>
        <a:ext uri="{E40237B7-FDA0-4F09-8148-C483321AD2D9}">
          <dgm14:cNvPr xmlns:dgm14="http://schemas.microsoft.com/office/drawing/2010/diagram" id="0" name="">
            <a:hlinkClick xmlns:r="http://schemas.openxmlformats.org/officeDocument/2006/relationships" r:id="rId3" action="ppaction://hlinksldjump"/>
          </dgm14:cNvPr>
        </a:ext>
      </dgm:extLst>
    </dgm:pt>
    <dgm:pt modelId="{70C0654B-8C5F-4B64-A503-EEF261320272}" type="parTrans" cxnId="{9EDAF68E-9269-4413-852B-20A97E4F345F}">
      <dgm:prSet/>
      <dgm:spPr/>
      <dgm:t>
        <a:bodyPr/>
        <a:lstStyle/>
        <a:p>
          <a:endParaRPr lang="zh-CN" altLang="en-US"/>
        </a:p>
      </dgm:t>
    </dgm:pt>
    <dgm:pt modelId="{7D210AB7-5B82-49A8-BCBF-8C29099A7A59}" type="sibTrans" cxnId="{9EDAF68E-9269-4413-852B-20A97E4F345F}">
      <dgm:prSet/>
      <dgm:spPr/>
      <dgm:t>
        <a:bodyPr/>
        <a:lstStyle/>
        <a:p>
          <a:endParaRPr lang="zh-CN" altLang="en-US"/>
        </a:p>
      </dgm:t>
    </dgm:pt>
    <dgm:pt modelId="{0E48CEDA-33B0-41E2-9F47-55B81127766C}" type="pres">
      <dgm:prSet presAssocID="{BABD7733-8E3B-42A2-A6D2-205BC81064E0}" presName="Name0" presStyleCnt="0">
        <dgm:presLayoutVars>
          <dgm:dir/>
          <dgm:resizeHandles val="exact"/>
        </dgm:presLayoutVars>
      </dgm:prSet>
      <dgm:spPr/>
      <dgm:t>
        <a:bodyPr/>
        <a:lstStyle/>
        <a:p>
          <a:endParaRPr lang="zh-CN" altLang="en-US"/>
        </a:p>
      </dgm:t>
    </dgm:pt>
    <dgm:pt modelId="{EBFF162F-FABB-44A3-9075-FE3AB01BD8B2}" type="pres">
      <dgm:prSet presAssocID="{6E38E3D5-F79C-4B38-B4EE-1E4883D847D8}" presName="node" presStyleLbl="node1" presStyleIdx="0" presStyleCnt="3">
        <dgm:presLayoutVars>
          <dgm:bulletEnabled val="1"/>
        </dgm:presLayoutVars>
      </dgm:prSet>
      <dgm:spPr/>
      <dgm:t>
        <a:bodyPr/>
        <a:lstStyle/>
        <a:p>
          <a:endParaRPr lang="zh-CN" altLang="en-US"/>
        </a:p>
      </dgm:t>
    </dgm:pt>
    <dgm:pt modelId="{24199108-B03F-416D-A424-8385C97E994E}" type="pres">
      <dgm:prSet presAssocID="{E97ABC7C-2CAE-49D7-B1A6-D75A037DDB3A}" presName="sibTrans" presStyleCnt="0"/>
      <dgm:spPr/>
    </dgm:pt>
    <dgm:pt modelId="{B5457692-5329-4F1F-A289-F45611E83418}" type="pres">
      <dgm:prSet presAssocID="{CCBD4371-B1F4-4212-AF29-2716285B085B}" presName="node" presStyleLbl="node1" presStyleIdx="1" presStyleCnt="3">
        <dgm:presLayoutVars>
          <dgm:bulletEnabled val="1"/>
        </dgm:presLayoutVars>
      </dgm:prSet>
      <dgm:spPr/>
      <dgm:t>
        <a:bodyPr/>
        <a:lstStyle/>
        <a:p>
          <a:endParaRPr lang="zh-CN" altLang="en-US"/>
        </a:p>
      </dgm:t>
    </dgm:pt>
    <dgm:pt modelId="{C4161E5D-5FF6-479B-B120-28F9CD180691}" type="pres">
      <dgm:prSet presAssocID="{6CE132FE-BBB7-424A-A506-8BA2C71538CE}" presName="sibTrans" presStyleCnt="0"/>
      <dgm:spPr/>
    </dgm:pt>
    <dgm:pt modelId="{DF7424B5-3C83-41B8-B0EA-990A9E43FCAA}" type="pres">
      <dgm:prSet presAssocID="{C9C35F01-5104-43B8-8B43-87ACF08DE01D}" presName="node" presStyleLbl="node1" presStyleIdx="2" presStyleCnt="3">
        <dgm:presLayoutVars>
          <dgm:bulletEnabled val="1"/>
        </dgm:presLayoutVars>
      </dgm:prSet>
      <dgm:spPr/>
      <dgm:t>
        <a:bodyPr/>
        <a:lstStyle/>
        <a:p>
          <a:endParaRPr lang="zh-CN" altLang="en-US"/>
        </a:p>
      </dgm:t>
    </dgm:pt>
  </dgm:ptLst>
  <dgm:cxnLst>
    <dgm:cxn modelId="{52976797-3103-48F0-84A0-C605B703A70D}" type="presOf" srcId="{CCBD4371-B1F4-4212-AF29-2716285B085B}" destId="{B5457692-5329-4F1F-A289-F45611E83418}" srcOrd="0" destOrd="0" presId="urn:microsoft.com/office/officeart/2005/8/layout/hList6"/>
    <dgm:cxn modelId="{393A8602-A789-427D-992F-21E3602F4C8E}" srcId="{BABD7733-8E3B-42A2-A6D2-205BC81064E0}" destId="{CCBD4371-B1F4-4212-AF29-2716285B085B}" srcOrd="1" destOrd="0" parTransId="{582B181C-1C9C-46EF-8698-FA3718F16A8F}" sibTransId="{6CE132FE-BBB7-424A-A506-8BA2C71538CE}"/>
    <dgm:cxn modelId="{FAE18724-06D9-4AA1-AF94-905826850F2B}" srcId="{BABD7733-8E3B-42A2-A6D2-205BC81064E0}" destId="{6E38E3D5-F79C-4B38-B4EE-1E4883D847D8}" srcOrd="0" destOrd="0" parTransId="{B11FE669-4C0E-4E98-9EC7-7A5CC3261B00}" sibTransId="{E97ABC7C-2CAE-49D7-B1A6-D75A037DDB3A}"/>
    <dgm:cxn modelId="{9EDAF68E-9269-4413-852B-20A97E4F345F}" srcId="{BABD7733-8E3B-42A2-A6D2-205BC81064E0}" destId="{C9C35F01-5104-43B8-8B43-87ACF08DE01D}" srcOrd="2" destOrd="0" parTransId="{70C0654B-8C5F-4B64-A503-EEF261320272}" sibTransId="{7D210AB7-5B82-49A8-BCBF-8C29099A7A59}"/>
    <dgm:cxn modelId="{48CDC7F8-0B0F-4B5F-8446-38C184977E28}" type="presOf" srcId="{6E38E3D5-F79C-4B38-B4EE-1E4883D847D8}" destId="{EBFF162F-FABB-44A3-9075-FE3AB01BD8B2}" srcOrd="0" destOrd="0" presId="urn:microsoft.com/office/officeart/2005/8/layout/hList6"/>
    <dgm:cxn modelId="{2E1CAC0D-D35F-4DAC-93D3-D7B5D9F9BED1}" type="presOf" srcId="{BABD7733-8E3B-42A2-A6D2-205BC81064E0}" destId="{0E48CEDA-33B0-41E2-9F47-55B81127766C}" srcOrd="0" destOrd="0" presId="urn:microsoft.com/office/officeart/2005/8/layout/hList6"/>
    <dgm:cxn modelId="{49FC870D-BFAA-4B83-9332-DA84BB78AF0F}" type="presOf" srcId="{C9C35F01-5104-43B8-8B43-87ACF08DE01D}" destId="{DF7424B5-3C83-41B8-B0EA-990A9E43FCAA}" srcOrd="0" destOrd="0" presId="urn:microsoft.com/office/officeart/2005/8/layout/hList6"/>
    <dgm:cxn modelId="{EB218DCC-7875-4C82-9BF1-59DDD19ACB27}" type="presParOf" srcId="{0E48CEDA-33B0-41E2-9F47-55B81127766C}" destId="{EBFF162F-FABB-44A3-9075-FE3AB01BD8B2}" srcOrd="0" destOrd="0" presId="urn:microsoft.com/office/officeart/2005/8/layout/hList6"/>
    <dgm:cxn modelId="{CC2FECBB-8FE9-4899-8D1D-6B31DE817145}" type="presParOf" srcId="{0E48CEDA-33B0-41E2-9F47-55B81127766C}" destId="{24199108-B03F-416D-A424-8385C97E994E}" srcOrd="1" destOrd="0" presId="urn:microsoft.com/office/officeart/2005/8/layout/hList6"/>
    <dgm:cxn modelId="{99BD6279-2C22-4552-BA9D-731FC0D4D873}" type="presParOf" srcId="{0E48CEDA-33B0-41E2-9F47-55B81127766C}" destId="{B5457692-5329-4F1F-A289-F45611E83418}" srcOrd="2" destOrd="0" presId="urn:microsoft.com/office/officeart/2005/8/layout/hList6"/>
    <dgm:cxn modelId="{6D77C83B-A883-4E3D-8DFB-719F1B8CA4A7}" type="presParOf" srcId="{0E48CEDA-33B0-41E2-9F47-55B81127766C}" destId="{C4161E5D-5FF6-479B-B120-28F9CD180691}" srcOrd="3" destOrd="0" presId="urn:microsoft.com/office/officeart/2005/8/layout/hList6"/>
    <dgm:cxn modelId="{312AD332-7345-4DEA-827E-16B52E6BB741}" type="presParOf" srcId="{0E48CEDA-33B0-41E2-9F47-55B81127766C}" destId="{DF7424B5-3C83-41B8-B0EA-990A9E43FCAA}" srcOrd="4"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FF162F-FABB-44A3-9075-FE3AB01BD8B2}">
      <dsp:nvSpPr>
        <dsp:cNvPr id="0" name=""/>
        <dsp:cNvSpPr/>
      </dsp:nvSpPr>
      <dsp:spPr>
        <a:xfrm rot="16200000">
          <a:off x="-506791" y="507695"/>
          <a:ext cx="3365500" cy="2350109"/>
        </a:xfrm>
        <a:prstGeom prst="flowChartManualOperati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0" rIns="231738" bIns="0" numCol="1" spcCol="1270" anchor="ctr" anchorCtr="0">
          <a:noAutofit/>
        </a:bodyPr>
        <a:lstStyle/>
        <a:p>
          <a:pPr lvl="0" algn="ctr" defTabSz="1600200" rtl="0">
            <a:lnSpc>
              <a:spcPct val="90000"/>
            </a:lnSpc>
            <a:spcBef>
              <a:spcPct val="0"/>
            </a:spcBef>
            <a:spcAft>
              <a:spcPct val="35000"/>
            </a:spcAft>
          </a:pPr>
          <a:r>
            <a:rPr lang="zh-CN" sz="3600" b="0" i="0" kern="1200" baseline="0" smtClean="0"/>
            <a:t>一、云计算的概念 </a:t>
          </a:r>
          <a:endParaRPr lang="zh-CN" sz="3600" kern="1200"/>
        </a:p>
      </dsp:txBody>
      <dsp:txXfrm rot="5400000">
        <a:off x="905" y="673099"/>
        <a:ext cx="2350109" cy="2019300"/>
      </dsp:txXfrm>
    </dsp:sp>
    <dsp:sp modelId="{B5457692-5329-4F1F-A289-F45611E83418}">
      <dsp:nvSpPr>
        <dsp:cNvPr id="0" name=""/>
        <dsp:cNvSpPr/>
      </dsp:nvSpPr>
      <dsp:spPr>
        <a:xfrm rot="16200000">
          <a:off x="2019576" y="507695"/>
          <a:ext cx="3365500" cy="2350109"/>
        </a:xfrm>
        <a:prstGeom prst="flowChartManualOperati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0" rIns="231738" bIns="0" numCol="1" spcCol="1270" anchor="ctr" anchorCtr="0">
          <a:noAutofit/>
        </a:bodyPr>
        <a:lstStyle/>
        <a:p>
          <a:pPr lvl="0" algn="ctr" defTabSz="1600200" rtl="0">
            <a:lnSpc>
              <a:spcPct val="90000"/>
            </a:lnSpc>
            <a:spcBef>
              <a:spcPct val="0"/>
            </a:spcBef>
            <a:spcAft>
              <a:spcPct val="35000"/>
            </a:spcAft>
          </a:pPr>
          <a:r>
            <a:rPr lang="zh-CN" sz="3600" b="0" i="0" kern="1200" baseline="0" smtClean="0"/>
            <a:t>二、云计算的特征</a:t>
          </a:r>
          <a:endParaRPr lang="zh-CN" sz="3600" kern="1200"/>
        </a:p>
      </dsp:txBody>
      <dsp:txXfrm rot="5400000">
        <a:off x="2527272" y="673099"/>
        <a:ext cx="2350109" cy="2019300"/>
      </dsp:txXfrm>
    </dsp:sp>
    <dsp:sp modelId="{DF7424B5-3C83-41B8-B0EA-990A9E43FCAA}">
      <dsp:nvSpPr>
        <dsp:cNvPr id="0" name=""/>
        <dsp:cNvSpPr/>
      </dsp:nvSpPr>
      <dsp:spPr>
        <a:xfrm rot="16200000">
          <a:off x="4545944" y="507695"/>
          <a:ext cx="3365500" cy="2350109"/>
        </a:xfrm>
        <a:prstGeom prst="flowChartManualOperati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0" rIns="231738" bIns="0" numCol="1" spcCol="1270" anchor="ctr" anchorCtr="0">
          <a:noAutofit/>
        </a:bodyPr>
        <a:lstStyle/>
        <a:p>
          <a:pPr lvl="0" algn="ctr" defTabSz="1600200" rtl="0">
            <a:lnSpc>
              <a:spcPct val="90000"/>
            </a:lnSpc>
            <a:spcBef>
              <a:spcPct val="0"/>
            </a:spcBef>
            <a:spcAft>
              <a:spcPct val="35000"/>
            </a:spcAft>
          </a:pPr>
          <a:r>
            <a:rPr lang="zh-CN" sz="3600" b="0" i="0" kern="1200" baseline="0" smtClean="0"/>
            <a:t>三、云计算的服务形式</a:t>
          </a:r>
          <a:endParaRPr lang="zh-CN" sz="3600" kern="1200"/>
        </a:p>
      </dsp:txBody>
      <dsp:txXfrm rot="5400000">
        <a:off x="5053640" y="673099"/>
        <a:ext cx="2350109" cy="2019300"/>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E8D295-5D28-43BE-AB22-36496177A63A}" type="datetimeFigureOut">
              <a:rPr lang="zh-CN" altLang="en-US" smtClean="0"/>
              <a:t>2022/4/1</a:t>
            </a:fld>
            <a:endParaRPr lang="zh-CN" altLang="en-US"/>
          </a:p>
        </p:txBody>
      </p:sp>
      <p:sp>
        <p:nvSpPr>
          <p:cNvPr id="4" name="幻灯片图像占位符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F8809B-97F8-4C8B-867D-B9AD65706F4A}" type="slidenum">
              <a:rPr lang="zh-CN" altLang="en-US" smtClean="0"/>
              <a:t>‹#›</a:t>
            </a:fld>
            <a:endParaRPr lang="zh-CN" altLang="en-US"/>
          </a:p>
        </p:txBody>
      </p:sp>
    </p:spTree>
    <p:extLst>
      <p:ext uri="{BB962C8B-B14F-4D97-AF65-F5344CB8AC3E}">
        <p14:creationId xmlns:p14="http://schemas.microsoft.com/office/powerpoint/2010/main" val="3632145800"/>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Rectangle 6"/>
          <p:cNvSpPr>
            <a:spLocks noChangeAspect="1"/>
          </p:cNvSpPr>
          <p:nvPr/>
        </p:nvSpPr>
        <p:spPr>
          <a:xfrm>
            <a:off x="173355" y="203201"/>
            <a:ext cx="8793480" cy="531494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32485" y="735313"/>
            <a:ext cx="7475220" cy="2438400"/>
          </a:xfrm>
        </p:spPr>
        <p:txBody>
          <a:bodyPr anchor="b">
            <a:normAutofit/>
          </a:bodyPr>
          <a:lstStyle>
            <a:lvl1pPr algn="ctr">
              <a:lnSpc>
                <a:spcPct val="85000"/>
              </a:lnSpc>
              <a:defRPr sz="5400" b="1" cap="all" baseline="0">
                <a:solidFill>
                  <a:srgbClr val="FFFFFF"/>
                </a:solid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282148" y="3224696"/>
            <a:ext cx="6575895" cy="1156804"/>
          </a:xfrm>
        </p:spPr>
        <p:txBody>
          <a:bodyPr>
            <a:normAutofit/>
          </a:bodyPr>
          <a:lstStyle>
            <a:lvl1pPr marL="0" indent="0" algn="ctr">
              <a:buNone/>
              <a:defRPr sz="1650">
                <a:solidFill>
                  <a:srgbClr val="FFFFFF"/>
                </a:solidFill>
              </a:defRPr>
            </a:lvl1pPr>
            <a:lvl2pPr marL="342900" indent="0" algn="ctr">
              <a:buNone/>
              <a:defRPr sz="1650"/>
            </a:lvl2pPr>
            <a:lvl3pPr marL="685800" indent="0" algn="ctr">
              <a:buNone/>
              <a:defRPr sz="165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1ED9125D-6344-4AC5-8E9D-E6D4210A5539}" type="datetime1">
              <a:rPr lang="zh-CN" altLang="en-US" smtClean="0"/>
              <a:t>2022/4/1</a:t>
            </a:fld>
            <a:endParaRPr lang="zh-CN" altLang="en-US"/>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zh-CN" alt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45688F7-724B-4DBE-8A7F-BC592E09CD29}" type="slidenum">
              <a:rPr lang="zh-CN" altLang="en-US" smtClean="0"/>
              <a:t>‹#›</a:t>
            </a:fld>
            <a:endParaRPr lang="zh-CN" altLang="en-US"/>
          </a:p>
        </p:txBody>
      </p:sp>
      <p:cxnSp>
        <p:nvCxnSpPr>
          <p:cNvPr id="8" name="Straight Connector 7"/>
          <p:cNvCxnSpPr/>
          <p:nvPr/>
        </p:nvCxnSpPr>
        <p:spPr>
          <a:xfrm>
            <a:off x="1483995" y="3111500"/>
            <a:ext cx="61722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13555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950CFCE7-E08B-4A8D-AB2B-DB520C397420}" type="datetime1">
              <a:rPr lang="zh-CN" altLang="en-US" smtClean="0"/>
              <a:t>2022/4/1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45688F7-724B-4DBE-8A7F-BC592E09CD29}" type="slidenum">
              <a:rPr lang="zh-CN" altLang="en-US" smtClean="0"/>
              <a:t>‹#›</a:t>
            </a:fld>
            <a:endParaRPr lang="zh-CN" altLang="en-US"/>
          </a:p>
        </p:txBody>
      </p:sp>
    </p:spTree>
    <p:extLst>
      <p:ext uri="{BB962C8B-B14F-4D97-AF65-F5344CB8AC3E}">
        <p14:creationId xmlns:p14="http://schemas.microsoft.com/office/powerpoint/2010/main" val="335326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29818" y="977979"/>
            <a:ext cx="7475220" cy="2438400"/>
          </a:xfrm>
        </p:spPr>
        <p:txBody>
          <a:bodyPr anchor="b">
            <a:noAutofit/>
          </a:bodyPr>
          <a:lstStyle>
            <a:lvl1pPr algn="ctr">
              <a:lnSpc>
                <a:spcPct val="85000"/>
              </a:lnSpc>
              <a:defRPr sz="5400" b="0" cap="all" baseline="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282446" y="3462100"/>
            <a:ext cx="6576822" cy="1136505"/>
          </a:xfrm>
        </p:spPr>
        <p:txBody>
          <a:bodyPr anchor="t">
            <a:normAutofit/>
          </a:bodyPr>
          <a:lstStyle>
            <a:lvl1pPr marL="0" indent="0" algn="ctr">
              <a:buNone/>
              <a:defRPr sz="1650">
                <a:solidFill>
                  <a:schemeClr val="accent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EE6B80A7-FC13-460A-9C92-50381B554914}" type="datetime1">
              <a:rPr lang="zh-CN" altLang="en-US" smtClean="0"/>
              <a:t>2022/4/1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45688F7-724B-4DBE-8A7F-BC592E09CD29}" type="slidenum">
              <a:rPr lang="zh-CN" altLang="en-US" smtClean="0"/>
              <a:t>‹#›</a:t>
            </a:fld>
            <a:endParaRPr lang="zh-CN" altLang="en-US"/>
          </a:p>
        </p:txBody>
      </p:sp>
      <p:cxnSp>
        <p:nvCxnSpPr>
          <p:cNvPr id="7" name="Straight Connector 6"/>
          <p:cNvCxnSpPr/>
          <p:nvPr/>
        </p:nvCxnSpPr>
        <p:spPr>
          <a:xfrm>
            <a:off x="1485900" y="3350340"/>
            <a:ext cx="61722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1503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57250" y="1714499"/>
            <a:ext cx="3566160" cy="335280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700709" y="1714500"/>
            <a:ext cx="3566160" cy="335280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3ECABEAB-7AF4-4CE1-AD7D-FD5F4226F569}" type="datetime1">
              <a:rPr lang="zh-CN" altLang="en-US" smtClean="0"/>
              <a:t>2022/4/1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45688F7-724B-4DBE-8A7F-BC592E09CD29}" type="slidenum">
              <a:rPr lang="zh-CN" altLang="en-US" smtClean="0"/>
              <a:t>‹#›</a:t>
            </a:fld>
            <a:endParaRPr lang="zh-CN" altLang="en-US"/>
          </a:p>
        </p:txBody>
      </p:sp>
    </p:spTree>
    <p:extLst>
      <p:ext uri="{BB962C8B-B14F-4D97-AF65-F5344CB8AC3E}">
        <p14:creationId xmlns:p14="http://schemas.microsoft.com/office/powerpoint/2010/main" val="21260036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57250" y="1667926"/>
            <a:ext cx="3566160" cy="64770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4" name="Content Placeholder 3"/>
          <p:cNvSpPr>
            <a:spLocks noGrp="1"/>
          </p:cNvSpPr>
          <p:nvPr>
            <p:ph sz="half" idx="2"/>
          </p:nvPr>
        </p:nvSpPr>
        <p:spPr>
          <a:xfrm>
            <a:off x="857250" y="2267903"/>
            <a:ext cx="3566160" cy="281940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701880" y="1665860"/>
            <a:ext cx="3566160" cy="64770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6" name="Content Placeholder 5"/>
          <p:cNvSpPr>
            <a:spLocks noGrp="1"/>
          </p:cNvSpPr>
          <p:nvPr>
            <p:ph sz="quarter" idx="4"/>
          </p:nvPr>
        </p:nvSpPr>
        <p:spPr>
          <a:xfrm>
            <a:off x="4701880" y="2266102"/>
            <a:ext cx="3566160" cy="281940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91E770D1-4A29-4DEF-8A2B-A58448831E7D}" type="datetime1">
              <a:rPr lang="zh-CN" altLang="en-US" smtClean="0"/>
              <a:t>2022/4/1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45688F7-724B-4DBE-8A7F-BC592E09CD29}" type="slidenum">
              <a:rPr lang="zh-CN" altLang="en-US" smtClean="0"/>
              <a:t>‹#›</a:t>
            </a:fld>
            <a:endParaRPr lang="zh-CN" altLang="en-US"/>
          </a:p>
        </p:txBody>
      </p:sp>
    </p:spTree>
    <p:extLst>
      <p:ext uri="{BB962C8B-B14F-4D97-AF65-F5344CB8AC3E}">
        <p14:creationId xmlns:p14="http://schemas.microsoft.com/office/powerpoint/2010/main" val="36626346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60E15A28-84F5-41B5-8358-E2B8EA998233}" type="datetime1">
              <a:rPr lang="zh-CN" altLang="en-US" smtClean="0"/>
              <a:t>2022/4/1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45688F7-724B-4DBE-8A7F-BC592E09CD29}" type="slidenum">
              <a:rPr lang="zh-CN" altLang="en-US" smtClean="0"/>
              <a:t>‹#›</a:t>
            </a:fld>
            <a:endParaRPr lang="zh-CN" altLang="en-US"/>
          </a:p>
        </p:txBody>
      </p:sp>
    </p:spTree>
    <p:extLst>
      <p:ext uri="{BB962C8B-B14F-4D97-AF65-F5344CB8AC3E}">
        <p14:creationId xmlns:p14="http://schemas.microsoft.com/office/powerpoint/2010/main" val="3769253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37CCAD-739A-421B-886F-6D770EF1BE0F}" type="datetime1">
              <a:rPr lang="zh-CN" altLang="en-US" smtClean="0"/>
              <a:t>2022/4/1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B45688F7-724B-4DBE-8A7F-BC592E09CD29}" type="slidenum">
              <a:rPr lang="zh-CN" altLang="en-US" smtClean="0"/>
              <a:t>‹#›</a:t>
            </a:fld>
            <a:endParaRPr lang="zh-CN" altLang="en-US"/>
          </a:p>
        </p:txBody>
      </p:sp>
    </p:spTree>
    <p:extLst>
      <p:ext uri="{BB962C8B-B14F-4D97-AF65-F5344CB8AC3E}">
        <p14:creationId xmlns:p14="http://schemas.microsoft.com/office/powerpoint/2010/main" val="24871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57250" y="914400"/>
            <a:ext cx="2948940" cy="1447800"/>
          </a:xfrm>
        </p:spPr>
        <p:txBody>
          <a:bodyPr anchor="b">
            <a:noAutofit/>
          </a:bodyPr>
          <a:lstStyle>
            <a:lvl1pPr>
              <a:lnSpc>
                <a:spcPct val="90000"/>
              </a:lnSpc>
              <a:defRPr sz="3000" b="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389119" y="914400"/>
            <a:ext cx="3909060" cy="38862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857250" y="2362200"/>
            <a:ext cx="2948940" cy="2514600"/>
          </a:xfrm>
        </p:spPr>
        <p:txBody>
          <a:bodyPr>
            <a:normAutofit/>
          </a:bodyPr>
          <a:lstStyle>
            <a:lvl1pPr marL="0" indent="0">
              <a:lnSpc>
                <a:spcPct val="100000"/>
              </a:lnSpc>
              <a:spcBef>
                <a:spcPts val="75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867BBEE4-FA7F-44E6-B7C8-1FA7BC2D8E1F}" type="datetime1">
              <a:rPr lang="zh-CN" altLang="en-US" smtClean="0"/>
              <a:t>2022/4/1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45688F7-724B-4DBE-8A7F-BC592E09CD29}" type="slidenum">
              <a:rPr lang="zh-CN" altLang="en-US" smtClean="0"/>
              <a:t>‹#›</a:t>
            </a:fld>
            <a:endParaRPr lang="zh-CN" altLang="en-US"/>
          </a:p>
        </p:txBody>
      </p:sp>
    </p:spTree>
    <p:extLst>
      <p:ext uri="{BB962C8B-B14F-4D97-AF65-F5344CB8AC3E}">
        <p14:creationId xmlns:p14="http://schemas.microsoft.com/office/powerpoint/2010/main" val="1630553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57250" y="914400"/>
            <a:ext cx="2948940" cy="1447800"/>
          </a:xfrm>
        </p:spPr>
        <p:txBody>
          <a:bodyPr anchor="b">
            <a:noAutofit/>
          </a:bodyPr>
          <a:lstStyle>
            <a:lvl1pPr>
              <a:lnSpc>
                <a:spcPct val="90000"/>
              </a:lnSpc>
              <a:defRPr sz="300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4059936" y="891539"/>
            <a:ext cx="4574286" cy="4000500"/>
          </a:xfrm>
        </p:spPr>
        <p:txBody>
          <a:bodyPr lIns="274320" tIns="182880" anchor="t">
            <a:normAutofit/>
          </a:bodyPr>
          <a:lstStyle>
            <a:lvl1pPr marL="0" indent="0">
              <a:buNone/>
              <a:defRPr sz="21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57250" y="2362200"/>
            <a:ext cx="2948940" cy="2400300"/>
          </a:xfrm>
        </p:spPr>
        <p:txBody>
          <a:bodyPr>
            <a:normAutofit/>
          </a:bodyPr>
          <a:lstStyle>
            <a:lvl1pPr marL="0" indent="0">
              <a:lnSpc>
                <a:spcPct val="100000"/>
              </a:lnSpc>
              <a:spcBef>
                <a:spcPts val="75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FA94E72E-7C2D-4F99-92F5-22DC92805EB8}" type="datetime1">
              <a:rPr lang="zh-CN" altLang="en-US" smtClean="0"/>
              <a:t>2022/4/1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45688F7-724B-4DBE-8A7F-BC592E09CD29}" type="slidenum">
              <a:rPr lang="zh-CN" altLang="en-US" smtClean="0"/>
              <a:t>‹#›</a:t>
            </a:fld>
            <a:endParaRPr lang="zh-CN" altLang="en-US"/>
          </a:p>
        </p:txBody>
      </p:sp>
    </p:spTree>
    <p:extLst>
      <p:ext uri="{BB962C8B-B14F-4D97-AF65-F5344CB8AC3E}">
        <p14:creationId xmlns:p14="http://schemas.microsoft.com/office/powerpoint/2010/main" val="26463654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B0ABD0B4-1E9C-4E6C-9417-4816DA195EE7}" type="datetime1">
              <a:rPr lang="zh-CN" altLang="en-US" smtClean="0"/>
              <a:t>2022/4/1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45688F7-724B-4DBE-8A7F-BC592E09CD29}" type="slidenum">
              <a:rPr lang="zh-CN" altLang="en-US" smtClean="0"/>
              <a:t>‹#›</a:t>
            </a:fld>
            <a:endParaRPr lang="zh-CN" altLang="en-US"/>
          </a:p>
        </p:txBody>
      </p:sp>
    </p:spTree>
    <p:extLst>
      <p:ext uri="{BB962C8B-B14F-4D97-AF65-F5344CB8AC3E}">
        <p14:creationId xmlns:p14="http://schemas.microsoft.com/office/powerpoint/2010/main" val="32128510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635000"/>
            <a:ext cx="1743075" cy="4508500"/>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57250" y="635000"/>
            <a:ext cx="5572125" cy="4508500"/>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E6744824-28AE-4F07-9AF3-7987C4B27C31}" type="datetime1">
              <a:rPr lang="zh-CN" altLang="en-US" smtClean="0"/>
              <a:t>2022/4/1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45688F7-724B-4DBE-8A7F-BC592E09CD29}" type="slidenum">
              <a:rPr lang="zh-CN" altLang="en-US" smtClean="0"/>
              <a:t>‹#›</a:t>
            </a:fld>
            <a:endParaRPr lang="zh-CN" altLang="en-US"/>
          </a:p>
        </p:txBody>
      </p:sp>
    </p:spTree>
    <p:extLst>
      <p:ext uri="{BB962C8B-B14F-4D97-AF65-F5344CB8AC3E}">
        <p14:creationId xmlns:p14="http://schemas.microsoft.com/office/powerpoint/2010/main" val="22546632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55BCC72-5662-4856-A299-87963C58B9F8}" type="datetime1">
              <a:rPr lang="zh-CN" altLang="en-US" smtClean="0"/>
              <a:t>2022/4/1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E498578-33C6-435F-A057-04E3882C33D5}" type="slidenum">
              <a:rPr lang="zh-CN" altLang="en-US" smtClean="0"/>
              <a:t>‹#›</a:t>
            </a:fld>
            <a:endParaRPr lang="zh-CN" altLang="en-US"/>
          </a:p>
        </p:txBody>
      </p:sp>
    </p:spTree>
    <p:extLst>
      <p:ext uri="{BB962C8B-B14F-4D97-AF65-F5344CB8AC3E}">
        <p14:creationId xmlns:p14="http://schemas.microsoft.com/office/powerpoint/2010/main" val="3381624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173355" y="203201"/>
            <a:ext cx="8793480" cy="531494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57250" y="508000"/>
            <a:ext cx="7406640" cy="1130300"/>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sp>
        <p:nvSpPr>
          <p:cNvPr id="3" name="Text Placeholder 2"/>
          <p:cNvSpPr>
            <a:spLocks noGrp="1"/>
          </p:cNvSpPr>
          <p:nvPr>
            <p:ph type="body" idx="1"/>
          </p:nvPr>
        </p:nvSpPr>
        <p:spPr>
          <a:xfrm>
            <a:off x="857251" y="1714500"/>
            <a:ext cx="7404653" cy="3365500"/>
          </a:xfrm>
          <a:prstGeom prst="rect">
            <a:avLst/>
          </a:prstGeom>
        </p:spPr>
        <p:txBody>
          <a:bodyPr vert="horz" lIns="91440" tIns="45720" rIns="91440" bIns="45720" rtlCol="0">
            <a:normAutofit/>
          </a:body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4" name="Date Placeholder 3"/>
          <p:cNvSpPr>
            <a:spLocks noGrp="1"/>
          </p:cNvSpPr>
          <p:nvPr>
            <p:ph type="dt" sz="half" idx="2"/>
          </p:nvPr>
        </p:nvSpPr>
        <p:spPr>
          <a:xfrm>
            <a:off x="857247" y="5186524"/>
            <a:ext cx="1746806" cy="304271"/>
          </a:xfrm>
          <a:prstGeom prst="rect">
            <a:avLst/>
          </a:prstGeom>
        </p:spPr>
        <p:txBody>
          <a:bodyPr vert="horz" lIns="91440" tIns="45720" rIns="91440" bIns="45720" rtlCol="0" anchor="ctr"/>
          <a:lstStyle>
            <a:lvl1pPr algn="l">
              <a:defRPr sz="900">
                <a:solidFill>
                  <a:schemeClr val="accent1"/>
                </a:solidFill>
                <a:latin typeface="Arial" panose="020B0604020202020204" pitchFamily="34" charset="0"/>
                <a:ea typeface="微软雅黑" panose="020B0503020204020204" pitchFamily="34" charset="-122"/>
              </a:defRPr>
            </a:lvl1pPr>
          </a:lstStyle>
          <a:p>
            <a:fld id="{1546A195-CD84-4845-BC60-0B2AE7342364}" type="datetime1">
              <a:rPr lang="zh-CN" altLang="en-US" smtClean="0"/>
              <a:t>2022/4/1</a:t>
            </a:fld>
            <a:endParaRPr lang="zh-CN" altLang="en-US" dirty="0"/>
          </a:p>
        </p:txBody>
      </p:sp>
      <p:sp>
        <p:nvSpPr>
          <p:cNvPr id="5" name="Footer Placeholder 4"/>
          <p:cNvSpPr>
            <a:spLocks noGrp="1"/>
          </p:cNvSpPr>
          <p:nvPr>
            <p:ph type="ftr" sz="quarter" idx="3"/>
          </p:nvPr>
        </p:nvSpPr>
        <p:spPr>
          <a:xfrm>
            <a:off x="2961861" y="5186524"/>
            <a:ext cx="3538331" cy="304271"/>
          </a:xfrm>
          <a:prstGeom prst="rect">
            <a:avLst/>
          </a:prstGeom>
        </p:spPr>
        <p:txBody>
          <a:bodyPr vert="horz" lIns="91440" tIns="45720" rIns="91440" bIns="45720" rtlCol="0" anchor="ctr"/>
          <a:lstStyle>
            <a:lvl1pPr algn="ctr">
              <a:defRPr sz="900">
                <a:solidFill>
                  <a:schemeClr val="accent1"/>
                </a:solidFill>
                <a:latin typeface="Arial" panose="020B0604020202020204" pitchFamily="34" charset="0"/>
                <a:ea typeface="微软雅黑" panose="020B0503020204020204" pitchFamily="34" charset="-122"/>
              </a:defRPr>
            </a:lvl1pPr>
          </a:lstStyle>
          <a:p>
            <a:endParaRPr lang="zh-CN" altLang="en-US" dirty="0"/>
          </a:p>
        </p:txBody>
      </p:sp>
      <p:sp>
        <p:nvSpPr>
          <p:cNvPr id="6" name="Slide Number Placeholder 5"/>
          <p:cNvSpPr>
            <a:spLocks noGrp="1"/>
          </p:cNvSpPr>
          <p:nvPr>
            <p:ph type="sldNum" sz="quarter" idx="4"/>
          </p:nvPr>
        </p:nvSpPr>
        <p:spPr>
          <a:xfrm>
            <a:off x="6997148" y="5186524"/>
            <a:ext cx="1279663" cy="304271"/>
          </a:xfrm>
          <a:prstGeom prst="rect">
            <a:avLst/>
          </a:prstGeom>
        </p:spPr>
        <p:txBody>
          <a:bodyPr vert="horz" lIns="91440" tIns="45720" rIns="91440" bIns="45720" rtlCol="0" anchor="ctr"/>
          <a:lstStyle>
            <a:lvl1pPr algn="r">
              <a:defRPr sz="900">
                <a:solidFill>
                  <a:schemeClr val="accent1"/>
                </a:solidFill>
                <a:latin typeface="Arial" panose="020B0604020202020204" pitchFamily="34" charset="0"/>
                <a:ea typeface="微软雅黑" panose="020B0503020204020204" pitchFamily="34" charset="-122"/>
              </a:defRPr>
            </a:lvl1pPr>
          </a:lstStyle>
          <a:p>
            <a:fld id="{B45688F7-724B-4DBE-8A7F-BC592E09CD29}" type="slidenum">
              <a:rPr lang="zh-CN" altLang="en-US" smtClean="0"/>
              <a:pPr/>
              <a:t>‹#›</a:t>
            </a:fld>
            <a:endParaRPr lang="zh-CN" altLang="en-US" dirty="0"/>
          </a:p>
        </p:txBody>
      </p:sp>
    </p:spTree>
    <p:extLst>
      <p:ext uri="{BB962C8B-B14F-4D97-AF65-F5344CB8AC3E}">
        <p14:creationId xmlns:p14="http://schemas.microsoft.com/office/powerpoint/2010/main" val="32856858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hdr="0" ftr="0" dt="0"/>
  <p:txStyles>
    <p:titleStyle>
      <a:lvl1pPr algn="l" defTabSz="685800" rtl="0" eaLnBrk="1" latinLnBrk="0" hangingPunct="1">
        <a:lnSpc>
          <a:spcPct val="90000"/>
        </a:lnSpc>
        <a:spcBef>
          <a:spcPct val="0"/>
        </a:spcBef>
        <a:buNone/>
        <a:defRPr sz="3300" b="1" kern="1200">
          <a:solidFill>
            <a:schemeClr val="accent1"/>
          </a:solidFill>
          <a:latin typeface="Arial" panose="020B0604020202020204" pitchFamily="34" charset="0"/>
          <a:ea typeface="微软雅黑" panose="020B0503020204020204" pitchFamily="34" charset="-122"/>
          <a:cs typeface="+mj-cs"/>
        </a:defRPr>
      </a:lvl1pPr>
    </p:titleStyle>
    <p:bodyStyle>
      <a:lvl1pPr marL="171450" indent="-137160" algn="l" defTabSz="685800" rtl="0" eaLnBrk="1" latinLnBrk="0" hangingPunct="1">
        <a:lnSpc>
          <a:spcPct val="90000"/>
        </a:lnSpc>
        <a:spcBef>
          <a:spcPts val="1050"/>
        </a:spcBef>
        <a:buClr>
          <a:schemeClr val="accent1"/>
        </a:buClr>
        <a:buSzPct val="100000"/>
        <a:buFontTx/>
        <a:buBlip>
          <a:blip r:embed="rId14"/>
        </a:buBlip>
        <a:defRPr sz="1650" kern="1200">
          <a:solidFill>
            <a:schemeClr val="accent1"/>
          </a:solidFill>
          <a:latin typeface="Arial" panose="020B0604020202020204" pitchFamily="34" charset="0"/>
          <a:ea typeface="微软雅黑" panose="020B0503020204020204" pitchFamily="34" charset="-122"/>
          <a:cs typeface="+mn-cs"/>
        </a:defRPr>
      </a:lvl1pPr>
      <a:lvl2pPr marL="342900" indent="-137160" algn="l" defTabSz="685800" rtl="0" eaLnBrk="1" latinLnBrk="0" hangingPunct="1">
        <a:lnSpc>
          <a:spcPct val="90000"/>
        </a:lnSpc>
        <a:spcBef>
          <a:spcPts val="150"/>
        </a:spcBef>
        <a:spcAft>
          <a:spcPts val="300"/>
        </a:spcAft>
        <a:buClr>
          <a:schemeClr val="accent1"/>
        </a:buClr>
        <a:buSzPct val="100000"/>
        <a:buFontTx/>
        <a:buBlip>
          <a:blip r:embed="rId14"/>
        </a:buBlip>
        <a:defRPr sz="1500" kern="1200">
          <a:solidFill>
            <a:schemeClr val="accent1"/>
          </a:solidFill>
          <a:latin typeface="Arial" panose="020B0604020202020204" pitchFamily="34" charset="0"/>
          <a:ea typeface="微软雅黑" panose="020B0503020204020204" pitchFamily="34" charset="-122"/>
          <a:cs typeface="+mn-cs"/>
        </a:defRPr>
      </a:lvl2pPr>
      <a:lvl3pPr marL="548640" indent="-137160" algn="l" defTabSz="685800" rtl="0" eaLnBrk="1" latinLnBrk="0" hangingPunct="1">
        <a:lnSpc>
          <a:spcPct val="90000"/>
        </a:lnSpc>
        <a:spcBef>
          <a:spcPts val="150"/>
        </a:spcBef>
        <a:spcAft>
          <a:spcPts val="300"/>
        </a:spcAft>
        <a:buClr>
          <a:schemeClr val="accent1"/>
        </a:buClr>
        <a:buSzPct val="100000"/>
        <a:buFontTx/>
        <a:buBlip>
          <a:blip r:embed="rId14"/>
        </a:buBlip>
        <a:defRPr sz="1350" kern="1200">
          <a:solidFill>
            <a:schemeClr val="accent1"/>
          </a:solidFill>
          <a:latin typeface="Arial" panose="020B0604020202020204" pitchFamily="34" charset="0"/>
          <a:ea typeface="微软雅黑" panose="020B0503020204020204" pitchFamily="34" charset="-122"/>
          <a:cs typeface="+mn-cs"/>
        </a:defRPr>
      </a:lvl3pPr>
      <a:lvl4pPr marL="754380" indent="-137160" algn="l" defTabSz="685800" rtl="0" eaLnBrk="1" latinLnBrk="0" hangingPunct="1">
        <a:lnSpc>
          <a:spcPct val="90000"/>
        </a:lnSpc>
        <a:spcBef>
          <a:spcPts val="150"/>
        </a:spcBef>
        <a:spcAft>
          <a:spcPts val="300"/>
        </a:spcAft>
        <a:buClr>
          <a:schemeClr val="accent1"/>
        </a:buClr>
        <a:buSzPct val="100000"/>
        <a:buFontTx/>
        <a:buBlip>
          <a:blip r:embed="rId14"/>
        </a:buBlip>
        <a:defRPr sz="1200" kern="1200">
          <a:solidFill>
            <a:schemeClr val="accent1"/>
          </a:solidFill>
          <a:latin typeface="Arial" panose="020B0604020202020204" pitchFamily="34" charset="0"/>
          <a:ea typeface="微软雅黑" panose="020B0503020204020204" pitchFamily="34" charset="-122"/>
          <a:cs typeface="+mn-cs"/>
        </a:defRPr>
      </a:lvl4pPr>
      <a:lvl5pPr marL="960120" indent="-137160" algn="l" defTabSz="685800" rtl="0" eaLnBrk="1" latinLnBrk="0" hangingPunct="1">
        <a:lnSpc>
          <a:spcPct val="90000"/>
        </a:lnSpc>
        <a:spcBef>
          <a:spcPts val="150"/>
        </a:spcBef>
        <a:spcAft>
          <a:spcPts val="300"/>
        </a:spcAft>
        <a:buClr>
          <a:schemeClr val="accent1"/>
        </a:buClr>
        <a:buSzPct val="100000"/>
        <a:buFontTx/>
        <a:buBlip>
          <a:blip r:embed="rId14"/>
        </a:buBlip>
        <a:defRPr sz="1200" kern="1200">
          <a:solidFill>
            <a:schemeClr val="accent1"/>
          </a:solidFill>
          <a:latin typeface="Arial" panose="020B0604020202020204" pitchFamily="34" charset="0"/>
          <a:ea typeface="微软雅黑" panose="020B0503020204020204" pitchFamily="34" charset="-122"/>
          <a:cs typeface="+mn-cs"/>
        </a:defRPr>
      </a:lvl5pPr>
      <a:lvl6pPr marL="12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6pPr>
      <a:lvl7pPr marL="142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7pPr>
      <a:lvl8pPr marL="165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8pPr>
      <a:lvl9pPr marL="1875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200" kern="1200">
          <a:solidFill>
            <a:schemeClr val="accent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b="1" i="0" u="none" strike="noStrike" kern="2200" baseline="0" dirty="0" smtClean="0">
                <a:latin typeface="Arial" panose="020B0604020202020204" pitchFamily="34" charset="0"/>
              </a:rPr>
              <a:t>云计算简介</a:t>
            </a:r>
          </a:p>
        </p:txBody>
      </p:sp>
      <p:sp>
        <p:nvSpPr>
          <p:cNvPr id="4" name="副标题 3"/>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114800857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i="0" u="none" strike="noStrike" kern="2200" baseline="0" dirty="0" smtClean="0">
                <a:latin typeface="Arial" panose="020B0604020202020204" pitchFamily="34" charset="0"/>
              </a:rPr>
              <a:t>主要内容</a:t>
            </a:r>
          </a:p>
        </p:txBody>
      </p:sp>
      <p:graphicFrame>
        <p:nvGraphicFramePr>
          <p:cNvPr id="4" name="图示 3"/>
          <p:cNvGraphicFramePr/>
          <p:nvPr>
            <p:extLst>
              <p:ext uri="{D42A27DB-BD31-4B8C-83A1-F6EECF244321}">
                <p14:modId xmlns:p14="http://schemas.microsoft.com/office/powerpoint/2010/main" val="1294474503"/>
              </p:ext>
            </p:extLst>
          </p:nvPr>
        </p:nvGraphicFramePr>
        <p:xfrm>
          <a:off x="857251" y="1714500"/>
          <a:ext cx="7404653" cy="33655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灯片编号占位符 4"/>
          <p:cNvSpPr>
            <a:spLocks noGrp="1"/>
          </p:cNvSpPr>
          <p:nvPr>
            <p:ph type="sldNum" sz="quarter" idx="12"/>
          </p:nvPr>
        </p:nvSpPr>
        <p:spPr/>
        <p:txBody>
          <a:bodyPr/>
          <a:lstStyle/>
          <a:p>
            <a:fld id="{1E498578-33C6-435F-A057-04E3882C33D5}" type="slidenum">
              <a:rPr lang="zh-CN" altLang="en-US" smtClean="0"/>
              <a:t>2</a:t>
            </a:fld>
            <a:endParaRPr lang="zh-CN" altLang="en-US"/>
          </a:p>
        </p:txBody>
      </p:sp>
    </p:spTree>
    <p:extLst>
      <p:ext uri="{BB962C8B-B14F-4D97-AF65-F5344CB8AC3E}">
        <p14:creationId xmlns:p14="http://schemas.microsoft.com/office/powerpoint/2010/main" val="115135582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i="0" u="none" strike="noStrike" kern="2200" baseline="0" dirty="0" smtClean="0">
                <a:latin typeface="Arial" panose="020B0604020202020204" pitchFamily="34" charset="0"/>
              </a:rPr>
              <a:t>云计算的概念</a:t>
            </a:r>
          </a:p>
        </p:txBody>
      </p:sp>
      <p:sp>
        <p:nvSpPr>
          <p:cNvPr id="3" name="文本占位符 2"/>
          <p:cNvSpPr>
            <a:spLocks noGrp="1"/>
          </p:cNvSpPr>
          <p:nvPr>
            <p:ph type="body" idx="1"/>
          </p:nvPr>
        </p:nvSpPr>
        <p:spPr/>
        <p:txBody>
          <a:bodyPr/>
          <a:lstStyle/>
          <a:p>
            <a:r>
              <a:rPr lang="zh-CN" altLang="en-US" b="0" i="0" u="none" strike="noStrike" kern="100" baseline="0" dirty="0" smtClean="0">
                <a:latin typeface="Arial" panose="020B0604020202020204" pitchFamily="34" charset="0"/>
              </a:rPr>
              <a:t>云计算（</a:t>
            </a:r>
            <a:r>
              <a:rPr lang="en-US" altLang="zh-CN" b="0" i="0" u="none" strike="noStrike" kern="100" baseline="0" dirty="0" smtClean="0">
                <a:latin typeface="Arial" panose="020B0604020202020204" pitchFamily="34" charset="0"/>
              </a:rPr>
              <a:t>cloud computing</a:t>
            </a:r>
            <a:r>
              <a:rPr lang="zh-CN" altLang="en-US" b="0" i="0" u="none" strike="noStrike" kern="100" baseline="0" dirty="0" smtClean="0">
                <a:latin typeface="Arial" panose="020B0604020202020204" pitchFamily="34" charset="0"/>
              </a:rPr>
              <a:t>）是基于互联网的相关服务的增加、使用和交付模式，通常涉及通过互联网来提供动态易扩展且经常是虚拟化的资源。云是网络、互联网的一种比喻说法。过去在图中往往用云来表示电信网，后来也用来表示互联网和底层基础设施的抽象。</a:t>
            </a:r>
          </a:p>
          <a:p>
            <a:r>
              <a:rPr lang="zh-CN" altLang="en-US" b="0" i="0" u="none" strike="noStrike" kern="100" baseline="0" dirty="0" smtClean="0">
                <a:latin typeface="Arial" panose="020B0604020202020204" pitchFamily="34" charset="0"/>
              </a:rPr>
              <a:t>云计算是分布式计算（</a:t>
            </a:r>
            <a:r>
              <a:rPr lang="en-US" altLang="zh-CN" b="0" i="0" u="none" strike="noStrike" kern="100" baseline="0" dirty="0" smtClean="0">
                <a:latin typeface="Arial" panose="020B0604020202020204" pitchFamily="34" charset="0"/>
              </a:rPr>
              <a:t>Distributed Computing</a:t>
            </a:r>
            <a:r>
              <a:rPr lang="zh-CN" altLang="en-US" b="0" i="0" u="none" strike="noStrike" kern="100" baseline="0" dirty="0" smtClean="0">
                <a:latin typeface="Arial" panose="020B0604020202020204" pitchFamily="34" charset="0"/>
              </a:rPr>
              <a:t>）、并行计算（</a:t>
            </a:r>
            <a:r>
              <a:rPr lang="en-US" altLang="zh-CN" b="0" i="0" u="none" strike="noStrike" kern="100" baseline="0" dirty="0" smtClean="0">
                <a:latin typeface="Arial" panose="020B0604020202020204" pitchFamily="34" charset="0"/>
              </a:rPr>
              <a:t>Parallel Computing</a:t>
            </a:r>
            <a:r>
              <a:rPr lang="zh-CN" altLang="en-US" b="0" i="0" u="none" strike="noStrike" kern="100" baseline="0" dirty="0" smtClean="0">
                <a:latin typeface="Arial" panose="020B0604020202020204" pitchFamily="34" charset="0"/>
              </a:rPr>
              <a:t>）、效用计算（</a:t>
            </a:r>
            <a:r>
              <a:rPr lang="en-US" altLang="zh-CN" b="0" i="0" u="none" strike="noStrike" kern="100" baseline="0" dirty="0" smtClean="0">
                <a:latin typeface="Arial" panose="020B0604020202020204" pitchFamily="34" charset="0"/>
              </a:rPr>
              <a:t>Utility Computing</a:t>
            </a:r>
            <a:r>
              <a:rPr lang="zh-CN" altLang="en-US" b="0" i="0" u="none" strike="noStrike" kern="100" baseline="0" dirty="0" smtClean="0">
                <a:latin typeface="Arial" panose="020B0604020202020204" pitchFamily="34" charset="0"/>
              </a:rPr>
              <a:t>）、网络存储（</a:t>
            </a:r>
            <a:r>
              <a:rPr lang="en-US" altLang="zh-CN" b="0" i="0" u="none" strike="noStrike" kern="100" baseline="0" dirty="0" smtClean="0">
                <a:latin typeface="Arial" panose="020B0604020202020204" pitchFamily="34" charset="0"/>
              </a:rPr>
              <a:t>Network Storage Technologies</a:t>
            </a:r>
            <a:r>
              <a:rPr lang="zh-CN" altLang="en-US" b="0" i="0" u="none" strike="noStrike" kern="100" baseline="0" dirty="0" smtClean="0">
                <a:latin typeface="Arial" panose="020B0604020202020204" pitchFamily="34" charset="0"/>
              </a:rPr>
              <a:t>）、虚拟化（</a:t>
            </a:r>
            <a:r>
              <a:rPr lang="en-US" altLang="zh-CN" b="0" i="0" u="none" strike="noStrike" kern="100" baseline="0" dirty="0" smtClean="0">
                <a:latin typeface="Arial" panose="020B0604020202020204" pitchFamily="34" charset="0"/>
              </a:rPr>
              <a:t>Virtualization</a:t>
            </a:r>
            <a:r>
              <a:rPr lang="zh-CN" altLang="en-US" b="0" i="0" u="none" strike="noStrike" kern="100" baseline="0" dirty="0" smtClean="0">
                <a:latin typeface="Arial" panose="020B0604020202020204" pitchFamily="34" charset="0"/>
              </a:rPr>
              <a:t>）、负载均衡（</a:t>
            </a:r>
            <a:r>
              <a:rPr lang="en-US" altLang="zh-CN" b="0" i="0" u="none" strike="noStrike" kern="100" baseline="0" dirty="0" smtClean="0">
                <a:latin typeface="Arial" panose="020B0604020202020204" pitchFamily="34" charset="0"/>
              </a:rPr>
              <a:t>Load Balance</a:t>
            </a:r>
            <a:r>
              <a:rPr lang="zh-CN" altLang="en-US" b="0" i="0" u="none" strike="noStrike" kern="100" baseline="0" dirty="0" smtClean="0">
                <a:latin typeface="Arial" panose="020B0604020202020204" pitchFamily="34" charset="0"/>
              </a:rPr>
              <a:t>）等传统计算机和网络技术发展融合的产物。</a:t>
            </a:r>
          </a:p>
        </p:txBody>
      </p:sp>
      <p:sp>
        <p:nvSpPr>
          <p:cNvPr id="4" name="灯片编号占位符 3"/>
          <p:cNvSpPr>
            <a:spLocks noGrp="1"/>
          </p:cNvSpPr>
          <p:nvPr>
            <p:ph type="sldNum" sz="quarter" idx="12"/>
          </p:nvPr>
        </p:nvSpPr>
        <p:spPr/>
        <p:txBody>
          <a:bodyPr/>
          <a:lstStyle/>
          <a:p>
            <a:fld id="{1E498578-33C6-435F-A057-04E3882C33D5}" type="slidenum">
              <a:rPr lang="zh-CN" altLang="en-US" smtClean="0"/>
              <a:t>3</a:t>
            </a:fld>
            <a:endParaRPr lang="zh-CN" altLang="en-US"/>
          </a:p>
        </p:txBody>
      </p:sp>
    </p:spTree>
    <p:extLst>
      <p:ext uri="{BB962C8B-B14F-4D97-AF65-F5344CB8AC3E}">
        <p14:creationId xmlns:p14="http://schemas.microsoft.com/office/powerpoint/2010/main" val="1148797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57250" y="508000"/>
            <a:ext cx="7406640" cy="1130300"/>
          </a:xfrm>
        </p:spPr>
        <p:txBody>
          <a:bodyPr/>
          <a:lstStyle/>
          <a:p>
            <a:r>
              <a:rPr lang="zh-CN" altLang="en-US" b="1" i="0" u="none" strike="noStrike" kern="2200" baseline="0" dirty="0" smtClean="0">
                <a:latin typeface="Arial" panose="020B0604020202020204" pitchFamily="34" charset="0"/>
              </a:rPr>
              <a:t>云服务增长趋势（</a:t>
            </a:r>
            <a:r>
              <a:rPr lang="en-US" altLang="zh-CN" b="1" i="0" u="none" strike="noStrike" kern="2200" baseline="0" dirty="0" smtClean="0">
                <a:latin typeface="Arial" panose="020B0604020202020204" pitchFamily="34" charset="0"/>
              </a:rPr>
              <a:t>10</a:t>
            </a:r>
            <a:r>
              <a:rPr lang="zh-CN" altLang="en-US" b="1" i="0" u="none" strike="noStrike" kern="2200" baseline="0" dirty="0" smtClean="0">
                <a:latin typeface="Arial" panose="020B0604020202020204" pitchFamily="34" charset="0"/>
              </a:rPr>
              <a:t>亿美金）</a:t>
            </a:r>
          </a:p>
        </p:txBody>
      </p:sp>
      <p:sp>
        <p:nvSpPr>
          <p:cNvPr id="3" name="文本占位符 2"/>
          <p:cNvSpPr>
            <a:spLocks noGrp="1"/>
          </p:cNvSpPr>
          <p:nvPr>
            <p:ph type="body" idx="1"/>
          </p:nvPr>
        </p:nvSpPr>
        <p:spPr/>
        <p:txBody>
          <a:bodyPr/>
          <a:lstStyle/>
          <a:p>
            <a:endParaRPr lang="zh-CN" altLang="en-US" b="0" i="0" u="none" strike="noStrike" kern="100" baseline="0" dirty="0" smtClean="0">
              <a:latin typeface="Arial" panose="020B0604020202020204" pitchFamily="34" charset="0"/>
            </a:endParaRPr>
          </a:p>
        </p:txBody>
      </p:sp>
      <p:graphicFrame>
        <p:nvGraphicFramePr>
          <p:cNvPr id="9" name="图表 8"/>
          <p:cNvGraphicFramePr/>
          <p:nvPr>
            <p:extLst>
              <p:ext uri="{D42A27DB-BD31-4B8C-83A1-F6EECF244321}">
                <p14:modId xmlns:p14="http://schemas.microsoft.com/office/powerpoint/2010/main" val="4086531220"/>
              </p:ext>
            </p:extLst>
          </p:nvPr>
        </p:nvGraphicFramePr>
        <p:xfrm>
          <a:off x="857250" y="1533832"/>
          <a:ext cx="7652569" cy="3406877"/>
        </p:xfrm>
        <a:graphic>
          <a:graphicData uri="http://schemas.openxmlformats.org/drawingml/2006/chart">
            <c:chart xmlns:c="http://schemas.openxmlformats.org/drawingml/2006/chart" xmlns:r="http://schemas.openxmlformats.org/officeDocument/2006/relationships" r:id="rId2"/>
          </a:graphicData>
        </a:graphic>
      </p:graphicFrame>
      <p:sp>
        <p:nvSpPr>
          <p:cNvPr id="10" name="灯片编号占位符 9"/>
          <p:cNvSpPr>
            <a:spLocks noGrp="1"/>
          </p:cNvSpPr>
          <p:nvPr>
            <p:ph type="sldNum" sz="quarter" idx="12"/>
          </p:nvPr>
        </p:nvSpPr>
        <p:spPr/>
        <p:txBody>
          <a:bodyPr/>
          <a:lstStyle/>
          <a:p>
            <a:fld id="{1E498578-33C6-435F-A057-04E3882C33D5}" type="slidenum">
              <a:rPr lang="zh-CN" altLang="en-US" smtClean="0"/>
              <a:t>4</a:t>
            </a:fld>
            <a:endParaRPr lang="zh-CN" altLang="en-US"/>
          </a:p>
        </p:txBody>
      </p:sp>
    </p:spTree>
    <p:extLst>
      <p:ext uri="{BB962C8B-B14F-4D97-AF65-F5344CB8AC3E}">
        <p14:creationId xmlns:p14="http://schemas.microsoft.com/office/powerpoint/2010/main" val="2002376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graphicEl>
                                              <a:chart seriesIdx="0" categoryIdx="-4" bldStep="series"/>
                                            </p:graphicEl>
                                          </p:spTgt>
                                        </p:tgtEl>
                                        <p:attrNameLst>
                                          <p:attrName>style.visibility</p:attrName>
                                        </p:attrNameLst>
                                      </p:cBhvr>
                                      <p:to>
                                        <p:strVal val="visible"/>
                                      </p:to>
                                    </p:set>
                                    <p:animEffect transition="in" filter="wipe(left)">
                                      <p:cBhvr>
                                        <p:cTn id="7" dur="500"/>
                                        <p:tgtEl>
                                          <p:spTgt spid="9">
                                            <p:graphicEl>
                                              <a:chart seriesIdx="0" categoryIdx="-4" bldStep="series"/>
                                            </p:graphic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
                                            <p:graphicEl>
                                              <a:chart seriesIdx="1" categoryIdx="-4" bldStep="series"/>
                                            </p:graphicEl>
                                          </p:spTgt>
                                        </p:tgtEl>
                                        <p:attrNameLst>
                                          <p:attrName>style.visibility</p:attrName>
                                        </p:attrNameLst>
                                      </p:cBhvr>
                                      <p:to>
                                        <p:strVal val="visible"/>
                                      </p:to>
                                    </p:set>
                                    <p:animEffect transition="in" filter="wipe(left)">
                                      <p:cBhvr>
                                        <p:cTn id="11" dur="500"/>
                                        <p:tgtEl>
                                          <p:spTgt spid="9">
                                            <p:graphicEl>
                                              <a:chart seriesIdx="1" categoryIdx="-4" bldStep="series"/>
                                            </p:graphic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
                                            <p:graphicEl>
                                              <a:chart seriesIdx="2" categoryIdx="-4" bldStep="series"/>
                                            </p:graphicEl>
                                          </p:spTgt>
                                        </p:tgtEl>
                                        <p:attrNameLst>
                                          <p:attrName>style.visibility</p:attrName>
                                        </p:attrNameLst>
                                      </p:cBhvr>
                                      <p:to>
                                        <p:strVal val="visible"/>
                                      </p:to>
                                    </p:set>
                                    <p:animEffect transition="in" filter="wipe(left)">
                                      <p:cBhvr>
                                        <p:cTn id="15" dur="500"/>
                                        <p:tgtEl>
                                          <p:spTgt spid="9">
                                            <p:graphicEl>
                                              <a:chart seriesIdx="2"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uiExpand="1">
        <p:bldSub>
          <a:bldChart bld="series"/>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i="0" u="none" strike="noStrike" kern="2200" baseline="0" dirty="0" smtClean="0">
                <a:latin typeface="Arial" panose="020B0604020202020204" pitchFamily="34" charset="0"/>
              </a:rPr>
              <a:t>云计算的特征</a:t>
            </a:r>
          </a:p>
        </p:txBody>
      </p:sp>
      <p:sp>
        <p:nvSpPr>
          <p:cNvPr id="3" name="文本占位符 2"/>
          <p:cNvSpPr>
            <a:spLocks noGrp="1"/>
          </p:cNvSpPr>
          <p:nvPr>
            <p:ph type="body" idx="1"/>
          </p:nvPr>
        </p:nvSpPr>
        <p:spPr/>
        <p:txBody>
          <a:bodyPr/>
          <a:lstStyle/>
          <a:p>
            <a:r>
              <a:rPr lang="zh-CN" altLang="en-US" b="0" i="0" u="none" strike="noStrike" kern="100" baseline="0" dirty="0" smtClean="0">
                <a:latin typeface="Arial" panose="020B0604020202020204" pitchFamily="34" charset="0"/>
              </a:rPr>
              <a:t>超大规模</a:t>
            </a:r>
          </a:p>
          <a:p>
            <a:r>
              <a:rPr lang="zh-CN" altLang="en-US" b="0" i="0" u="none" strike="noStrike" kern="100" baseline="0" dirty="0" smtClean="0">
                <a:latin typeface="Arial" panose="020B0604020202020204" pitchFamily="34" charset="0"/>
              </a:rPr>
              <a:t>虚拟化</a:t>
            </a:r>
          </a:p>
          <a:p>
            <a:r>
              <a:rPr lang="zh-CN" altLang="en-US" b="0" i="0" u="none" strike="noStrike" kern="100" baseline="0" dirty="0" smtClean="0">
                <a:latin typeface="Arial" panose="020B0604020202020204" pitchFamily="34" charset="0"/>
              </a:rPr>
              <a:t>高可靠性</a:t>
            </a:r>
          </a:p>
          <a:p>
            <a:r>
              <a:rPr lang="zh-CN" altLang="en-US" b="0" i="0" u="none" strike="noStrike" kern="100" baseline="0" dirty="0" smtClean="0">
                <a:latin typeface="Arial" panose="020B0604020202020204" pitchFamily="34" charset="0"/>
              </a:rPr>
              <a:t>通用性</a:t>
            </a:r>
          </a:p>
          <a:p>
            <a:r>
              <a:rPr lang="zh-CN" altLang="en-US" b="0" i="0" u="none" strike="noStrike" kern="100" baseline="0" dirty="0" smtClean="0">
                <a:latin typeface="Arial" panose="020B0604020202020204" pitchFamily="34" charset="0"/>
              </a:rPr>
              <a:t>潜在的危险性</a:t>
            </a:r>
          </a:p>
          <a:p>
            <a:r>
              <a:rPr lang="zh-CN" altLang="en-US" b="0" i="0" u="none" strike="noStrike" kern="100" baseline="0" dirty="0" smtClean="0">
                <a:latin typeface="Arial" panose="020B0604020202020204" pitchFamily="34" charset="0"/>
              </a:rPr>
              <a:t>按需服务</a:t>
            </a:r>
          </a:p>
          <a:p>
            <a:r>
              <a:rPr lang="zh-CN" altLang="en-US" b="0" i="0" u="none" strike="noStrike" kern="100" baseline="0" dirty="0" smtClean="0">
                <a:latin typeface="Arial" panose="020B0604020202020204" pitchFamily="34" charset="0"/>
              </a:rPr>
              <a:t>极其廉价</a:t>
            </a:r>
          </a:p>
          <a:p>
            <a:r>
              <a:rPr lang="zh-CN" altLang="en-US" b="0" i="0" u="none" strike="noStrike" kern="100" baseline="0" dirty="0" smtClean="0">
                <a:latin typeface="Arial" panose="020B0604020202020204" pitchFamily="34" charset="0"/>
              </a:rPr>
              <a:t>高可扩展性</a:t>
            </a:r>
          </a:p>
        </p:txBody>
      </p:sp>
      <p:sp>
        <p:nvSpPr>
          <p:cNvPr id="4" name="灯片编号占位符 3"/>
          <p:cNvSpPr>
            <a:spLocks noGrp="1"/>
          </p:cNvSpPr>
          <p:nvPr>
            <p:ph type="sldNum" sz="quarter" idx="12"/>
          </p:nvPr>
        </p:nvSpPr>
        <p:spPr/>
        <p:txBody>
          <a:bodyPr/>
          <a:lstStyle/>
          <a:p>
            <a:fld id="{1E498578-33C6-435F-A057-04E3882C33D5}" type="slidenum">
              <a:rPr lang="zh-CN" altLang="en-US" smtClean="0"/>
              <a:t>5</a:t>
            </a:fld>
            <a:endParaRPr lang="zh-CN" altLang="en-US"/>
          </a:p>
        </p:txBody>
      </p:sp>
    </p:spTree>
    <p:extLst>
      <p:ext uri="{BB962C8B-B14F-4D97-AF65-F5344CB8AC3E}">
        <p14:creationId xmlns:p14="http://schemas.microsoft.com/office/powerpoint/2010/main" val="1033575154"/>
      </p:ext>
    </p:extLst>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i="0" u="none" strike="noStrike" kern="2200" baseline="0" dirty="0" smtClean="0">
                <a:latin typeface="Arial" panose="020B0604020202020204" pitchFamily="34" charset="0"/>
              </a:rPr>
              <a:t>超大规模</a:t>
            </a:r>
          </a:p>
        </p:txBody>
      </p:sp>
      <p:sp>
        <p:nvSpPr>
          <p:cNvPr id="3" name="文本占位符 2"/>
          <p:cNvSpPr>
            <a:spLocks noGrp="1"/>
          </p:cNvSpPr>
          <p:nvPr>
            <p:ph type="body" idx="1"/>
          </p:nvPr>
        </p:nvSpPr>
        <p:spPr/>
        <p:txBody>
          <a:bodyPr/>
          <a:lstStyle/>
          <a:p>
            <a:r>
              <a:rPr lang="zh-CN" altLang="en-US" b="0" i="0" u="none" strike="noStrike" kern="100" baseline="0" dirty="0" smtClean="0">
                <a:latin typeface="Arial" panose="020B0604020202020204" pitchFamily="34" charset="0"/>
              </a:rPr>
              <a:t>“云”具有相当的规模，</a:t>
            </a:r>
            <a:r>
              <a:rPr lang="en-US" altLang="zh-CN" b="0" i="0" u="none" strike="noStrike" kern="100" baseline="0" dirty="0" smtClean="0">
                <a:latin typeface="Arial" panose="020B0604020202020204" pitchFamily="34" charset="0"/>
              </a:rPr>
              <a:t>Google</a:t>
            </a:r>
            <a:r>
              <a:rPr lang="zh-CN" altLang="en-US" b="0" i="0" u="none" strike="noStrike" kern="100" baseline="0" dirty="0" smtClean="0">
                <a:latin typeface="Arial" panose="020B0604020202020204" pitchFamily="34" charset="0"/>
              </a:rPr>
              <a:t>云计算已经拥有</a:t>
            </a:r>
            <a:r>
              <a:rPr lang="en-US" altLang="zh-CN" b="0" i="0" u="none" strike="noStrike" kern="100" baseline="0" dirty="0" smtClean="0">
                <a:latin typeface="Arial" panose="020B0604020202020204" pitchFamily="34" charset="0"/>
              </a:rPr>
              <a:t>100</a:t>
            </a:r>
            <a:r>
              <a:rPr lang="zh-CN" altLang="en-US" b="0" i="0" u="none" strike="noStrike" kern="100" baseline="0" dirty="0" smtClean="0">
                <a:latin typeface="Arial" panose="020B0604020202020204" pitchFamily="34" charset="0"/>
              </a:rPr>
              <a:t>多万台服务器， </a:t>
            </a:r>
            <a:r>
              <a:rPr lang="en-US" altLang="zh-CN" b="0" i="0" u="none" strike="noStrike" kern="100" baseline="0" dirty="0" smtClean="0">
                <a:latin typeface="Arial" panose="020B0604020202020204" pitchFamily="34" charset="0"/>
              </a:rPr>
              <a:t>Amazon</a:t>
            </a:r>
            <a:r>
              <a:rPr lang="zh-CN" altLang="en-US" b="0" i="0" u="none" strike="noStrike" kern="100" baseline="0" dirty="0" smtClean="0">
                <a:latin typeface="Arial" panose="020B0604020202020204" pitchFamily="34" charset="0"/>
              </a:rPr>
              <a:t>、</a:t>
            </a:r>
            <a:r>
              <a:rPr lang="en-US" altLang="zh-CN" b="0" i="0" u="none" strike="noStrike" kern="100" baseline="0" dirty="0" smtClean="0">
                <a:latin typeface="Arial" panose="020B0604020202020204" pitchFamily="34" charset="0"/>
              </a:rPr>
              <a:t>IBM</a:t>
            </a:r>
            <a:r>
              <a:rPr lang="zh-CN" altLang="en-US" b="0" i="0" u="none" strike="noStrike" kern="100" baseline="0" dirty="0" smtClean="0">
                <a:latin typeface="Arial" panose="020B0604020202020204" pitchFamily="34" charset="0"/>
              </a:rPr>
              <a:t>、微软、</a:t>
            </a:r>
            <a:r>
              <a:rPr lang="en-US" altLang="zh-CN" b="0" i="0" u="none" strike="noStrike" kern="100" baseline="0" dirty="0" smtClean="0">
                <a:latin typeface="Arial" panose="020B0604020202020204" pitchFamily="34" charset="0"/>
              </a:rPr>
              <a:t>Yahoo</a:t>
            </a:r>
            <a:r>
              <a:rPr lang="zh-CN" altLang="en-US" b="0" i="0" u="none" strike="noStrike" kern="100" baseline="0" dirty="0" smtClean="0">
                <a:latin typeface="Arial" panose="020B0604020202020204" pitchFamily="34" charset="0"/>
              </a:rPr>
              <a:t>等的“云”均拥有几十万台服务器。企业私有云一般拥有数百上千台服务器。“云”能赋予用户前所未有的计算能力。</a:t>
            </a:r>
          </a:p>
        </p:txBody>
      </p:sp>
      <p:sp>
        <p:nvSpPr>
          <p:cNvPr id="4" name="灯片编号占位符 3"/>
          <p:cNvSpPr>
            <a:spLocks noGrp="1"/>
          </p:cNvSpPr>
          <p:nvPr>
            <p:ph type="sldNum" sz="quarter" idx="12"/>
          </p:nvPr>
        </p:nvSpPr>
        <p:spPr/>
        <p:txBody>
          <a:bodyPr/>
          <a:lstStyle/>
          <a:p>
            <a:fld id="{1E498578-33C6-435F-A057-04E3882C33D5}" type="slidenum">
              <a:rPr lang="zh-CN" altLang="en-US" smtClean="0"/>
              <a:t>6</a:t>
            </a:fld>
            <a:endParaRPr lang="zh-CN" altLang="en-US"/>
          </a:p>
        </p:txBody>
      </p:sp>
    </p:spTree>
    <p:extLst>
      <p:ext uri="{BB962C8B-B14F-4D97-AF65-F5344CB8AC3E}">
        <p14:creationId xmlns:p14="http://schemas.microsoft.com/office/powerpoint/2010/main" val="4030703487"/>
      </p:ext>
    </p:extLst>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i="0" u="none" strike="noStrike" kern="2200" baseline="0" dirty="0" smtClean="0">
                <a:latin typeface="Arial" panose="020B0604020202020204" pitchFamily="34" charset="0"/>
              </a:rPr>
              <a:t>虚拟化</a:t>
            </a:r>
          </a:p>
        </p:txBody>
      </p:sp>
      <p:sp>
        <p:nvSpPr>
          <p:cNvPr id="3" name="文本占位符 2"/>
          <p:cNvSpPr>
            <a:spLocks noGrp="1"/>
          </p:cNvSpPr>
          <p:nvPr>
            <p:ph type="body" idx="1"/>
          </p:nvPr>
        </p:nvSpPr>
        <p:spPr/>
        <p:txBody>
          <a:bodyPr/>
          <a:lstStyle/>
          <a:p>
            <a:r>
              <a:rPr lang="zh-CN" altLang="en-US" b="0" i="0" u="none" strike="noStrike" kern="100" baseline="0" dirty="0" smtClean="0">
                <a:latin typeface="Arial" panose="020B0604020202020204" pitchFamily="34" charset="0"/>
              </a:rPr>
              <a:t>云计算支持用户在任意位置、使用各种终端获取应用服务。所请求的资源来自“云”，而不是固定的有形的实体。应用在“云”中某处运行，但实际上用户无需了解、也不用担心应用运行的具体位置。只需要一台笔记本或者一个手机，就可以通过网络服务来实现我们需要的一切，甚至包括超级计算这样的任务。</a:t>
            </a:r>
          </a:p>
        </p:txBody>
      </p:sp>
      <p:sp>
        <p:nvSpPr>
          <p:cNvPr id="4" name="灯片编号占位符 3"/>
          <p:cNvSpPr>
            <a:spLocks noGrp="1"/>
          </p:cNvSpPr>
          <p:nvPr>
            <p:ph type="sldNum" sz="quarter" idx="12"/>
          </p:nvPr>
        </p:nvSpPr>
        <p:spPr/>
        <p:txBody>
          <a:bodyPr/>
          <a:lstStyle/>
          <a:p>
            <a:fld id="{1E498578-33C6-435F-A057-04E3882C33D5}" type="slidenum">
              <a:rPr lang="zh-CN" altLang="en-US" smtClean="0"/>
              <a:t>7</a:t>
            </a:fld>
            <a:endParaRPr lang="zh-CN" altLang="en-US"/>
          </a:p>
        </p:txBody>
      </p:sp>
    </p:spTree>
    <p:extLst>
      <p:ext uri="{BB962C8B-B14F-4D97-AF65-F5344CB8AC3E}">
        <p14:creationId xmlns:p14="http://schemas.microsoft.com/office/powerpoint/2010/main" val="625102004"/>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i="0" u="none" strike="noStrike" kern="2200" baseline="0" dirty="0" smtClean="0">
                <a:latin typeface="Arial" panose="020B0604020202020204" pitchFamily="34" charset="0"/>
              </a:rPr>
              <a:t>高可靠性</a:t>
            </a:r>
          </a:p>
        </p:txBody>
      </p:sp>
      <p:sp>
        <p:nvSpPr>
          <p:cNvPr id="3" name="文本占位符 2"/>
          <p:cNvSpPr>
            <a:spLocks noGrp="1"/>
          </p:cNvSpPr>
          <p:nvPr>
            <p:ph type="body" idx="1"/>
          </p:nvPr>
        </p:nvSpPr>
        <p:spPr/>
        <p:txBody>
          <a:bodyPr/>
          <a:lstStyle/>
          <a:p>
            <a:r>
              <a:rPr lang="zh-CN" altLang="en-US" b="0" i="0" u="none" strike="noStrike" kern="100" baseline="0" dirty="0" smtClean="0">
                <a:latin typeface="Arial" panose="020B0604020202020204" pitchFamily="34" charset="0"/>
              </a:rPr>
              <a:t>“云”使用了数据多副本容错、计算节点同构可互换等措施来保障服务的高可靠性，使用云计算比使用本地计算机可靠。</a:t>
            </a:r>
          </a:p>
        </p:txBody>
      </p:sp>
      <p:sp>
        <p:nvSpPr>
          <p:cNvPr id="4" name="灯片编号占位符 3"/>
          <p:cNvSpPr>
            <a:spLocks noGrp="1"/>
          </p:cNvSpPr>
          <p:nvPr>
            <p:ph type="sldNum" sz="quarter" idx="12"/>
          </p:nvPr>
        </p:nvSpPr>
        <p:spPr/>
        <p:txBody>
          <a:bodyPr/>
          <a:lstStyle/>
          <a:p>
            <a:fld id="{1E498578-33C6-435F-A057-04E3882C33D5}" type="slidenum">
              <a:rPr lang="zh-CN" altLang="en-US" smtClean="0"/>
              <a:t>8</a:t>
            </a:fld>
            <a:endParaRPr lang="zh-CN" altLang="en-US"/>
          </a:p>
        </p:txBody>
      </p:sp>
    </p:spTree>
    <p:extLst>
      <p:ext uri="{BB962C8B-B14F-4D97-AF65-F5344CB8AC3E}">
        <p14:creationId xmlns:p14="http://schemas.microsoft.com/office/powerpoint/2010/main" val="933831399"/>
      </p:ext>
    </p:extLst>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i="0" u="none" strike="noStrike" kern="2200" baseline="0" dirty="0" smtClean="0">
                <a:latin typeface="Arial" panose="020B0604020202020204" pitchFamily="34" charset="0"/>
              </a:rPr>
              <a:t>通用性</a:t>
            </a:r>
          </a:p>
        </p:txBody>
      </p:sp>
      <p:sp>
        <p:nvSpPr>
          <p:cNvPr id="3" name="文本占位符 2"/>
          <p:cNvSpPr>
            <a:spLocks noGrp="1"/>
          </p:cNvSpPr>
          <p:nvPr>
            <p:ph type="body" idx="1"/>
          </p:nvPr>
        </p:nvSpPr>
        <p:spPr/>
        <p:txBody>
          <a:bodyPr/>
          <a:lstStyle/>
          <a:p>
            <a:r>
              <a:rPr lang="zh-CN" altLang="en-US" b="0" i="0" u="none" strike="noStrike" kern="100" baseline="0" dirty="0" smtClean="0">
                <a:latin typeface="Arial" panose="020B0604020202020204" pitchFamily="34" charset="0"/>
              </a:rPr>
              <a:t>云计算不针对特定的应用，在“云”的支撑下可以构造出千变万化的应用，同一个“云”可以同时支撑不同的应用运行。</a:t>
            </a:r>
          </a:p>
        </p:txBody>
      </p:sp>
      <p:sp>
        <p:nvSpPr>
          <p:cNvPr id="4" name="灯片编号占位符 3"/>
          <p:cNvSpPr>
            <a:spLocks noGrp="1"/>
          </p:cNvSpPr>
          <p:nvPr>
            <p:ph type="sldNum" sz="quarter" idx="12"/>
          </p:nvPr>
        </p:nvSpPr>
        <p:spPr/>
        <p:txBody>
          <a:bodyPr/>
          <a:lstStyle/>
          <a:p>
            <a:fld id="{1E498578-33C6-435F-A057-04E3882C33D5}" type="slidenum">
              <a:rPr lang="zh-CN" altLang="en-US" smtClean="0"/>
              <a:t>9</a:t>
            </a:fld>
            <a:endParaRPr lang="zh-CN" altLang="en-US"/>
          </a:p>
        </p:txBody>
      </p:sp>
    </p:spTree>
    <p:extLst>
      <p:ext uri="{BB962C8B-B14F-4D97-AF65-F5344CB8AC3E}">
        <p14:creationId xmlns:p14="http://schemas.microsoft.com/office/powerpoint/2010/main" val="2875713245"/>
      </p:ext>
    </p:extLst>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i="0" u="none" strike="noStrike" kern="2200" baseline="0" dirty="0" smtClean="0">
                <a:latin typeface="Arial" panose="020B0604020202020204" pitchFamily="34" charset="0"/>
              </a:rPr>
              <a:t>高可扩展性</a:t>
            </a:r>
          </a:p>
        </p:txBody>
      </p:sp>
      <p:sp>
        <p:nvSpPr>
          <p:cNvPr id="3" name="文本占位符 2"/>
          <p:cNvSpPr>
            <a:spLocks noGrp="1"/>
          </p:cNvSpPr>
          <p:nvPr>
            <p:ph type="body" idx="1"/>
          </p:nvPr>
        </p:nvSpPr>
        <p:spPr/>
        <p:txBody>
          <a:bodyPr/>
          <a:lstStyle/>
          <a:p>
            <a:r>
              <a:rPr lang="zh-CN" altLang="en-US" b="0" i="0" u="none" strike="noStrike" kern="100" baseline="0" dirty="0" smtClean="0">
                <a:latin typeface="Arial" panose="020B0604020202020204" pitchFamily="34" charset="0"/>
              </a:rPr>
              <a:t>“云”的规模可以动态伸缩，满足应用和用户规模增长的需要。</a:t>
            </a:r>
          </a:p>
        </p:txBody>
      </p:sp>
      <p:sp>
        <p:nvSpPr>
          <p:cNvPr id="4" name="灯片编号占位符 3"/>
          <p:cNvSpPr>
            <a:spLocks noGrp="1"/>
          </p:cNvSpPr>
          <p:nvPr>
            <p:ph type="sldNum" sz="quarter" idx="12"/>
          </p:nvPr>
        </p:nvSpPr>
        <p:spPr/>
        <p:txBody>
          <a:bodyPr/>
          <a:lstStyle/>
          <a:p>
            <a:fld id="{1E498578-33C6-435F-A057-04E3882C33D5}" type="slidenum">
              <a:rPr lang="zh-CN" altLang="en-US" smtClean="0"/>
              <a:t>10</a:t>
            </a:fld>
            <a:endParaRPr lang="zh-CN" altLang="en-US"/>
          </a:p>
        </p:txBody>
      </p:sp>
    </p:spTree>
    <p:extLst>
      <p:ext uri="{BB962C8B-B14F-4D97-AF65-F5344CB8AC3E}">
        <p14:creationId xmlns:p14="http://schemas.microsoft.com/office/powerpoint/2010/main" val="968722516"/>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i="0" u="none" strike="noStrike" kern="2200" baseline="0" dirty="0" smtClean="0">
                <a:latin typeface="Arial" panose="020B0604020202020204" pitchFamily="34" charset="0"/>
              </a:rPr>
              <a:t>按需服务</a:t>
            </a:r>
          </a:p>
        </p:txBody>
      </p:sp>
      <p:sp>
        <p:nvSpPr>
          <p:cNvPr id="3" name="文本占位符 2"/>
          <p:cNvSpPr>
            <a:spLocks noGrp="1"/>
          </p:cNvSpPr>
          <p:nvPr>
            <p:ph type="body" idx="1"/>
          </p:nvPr>
        </p:nvSpPr>
        <p:spPr/>
        <p:txBody>
          <a:bodyPr/>
          <a:lstStyle/>
          <a:p>
            <a:r>
              <a:rPr lang="zh-CN" altLang="en-US" b="0" i="0" u="none" strike="noStrike" kern="100" baseline="0" dirty="0" smtClean="0">
                <a:latin typeface="Arial" panose="020B0604020202020204" pitchFamily="34" charset="0"/>
              </a:rPr>
              <a:t>“云”是一个庞大的资源池，你按需购买；云可以像自来水，电，煤气那样计费。</a:t>
            </a:r>
          </a:p>
        </p:txBody>
      </p:sp>
      <p:sp>
        <p:nvSpPr>
          <p:cNvPr id="4" name="灯片编号占位符 3"/>
          <p:cNvSpPr>
            <a:spLocks noGrp="1"/>
          </p:cNvSpPr>
          <p:nvPr>
            <p:ph type="sldNum" sz="quarter" idx="12"/>
          </p:nvPr>
        </p:nvSpPr>
        <p:spPr/>
        <p:txBody>
          <a:bodyPr/>
          <a:lstStyle/>
          <a:p>
            <a:fld id="{1E498578-33C6-435F-A057-04E3882C33D5}" type="slidenum">
              <a:rPr lang="zh-CN" altLang="en-US" smtClean="0"/>
              <a:t>11</a:t>
            </a:fld>
            <a:endParaRPr lang="zh-CN" altLang="en-US"/>
          </a:p>
        </p:txBody>
      </p:sp>
    </p:spTree>
    <p:extLst>
      <p:ext uri="{BB962C8B-B14F-4D97-AF65-F5344CB8AC3E}">
        <p14:creationId xmlns:p14="http://schemas.microsoft.com/office/powerpoint/2010/main" val="1297672578"/>
      </p:ext>
    </p:extLst>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i="0" u="none" strike="noStrike" kern="2200" baseline="0" dirty="0" smtClean="0">
                <a:latin typeface="Arial" panose="020B0604020202020204" pitchFamily="34" charset="0"/>
              </a:rPr>
              <a:t>极其廉价</a:t>
            </a:r>
          </a:p>
        </p:txBody>
      </p:sp>
      <p:sp>
        <p:nvSpPr>
          <p:cNvPr id="3" name="文本占位符 2"/>
          <p:cNvSpPr>
            <a:spLocks noGrp="1"/>
          </p:cNvSpPr>
          <p:nvPr>
            <p:ph type="body" idx="1"/>
          </p:nvPr>
        </p:nvSpPr>
        <p:spPr/>
        <p:txBody>
          <a:bodyPr/>
          <a:lstStyle/>
          <a:p>
            <a:r>
              <a:rPr lang="zh-CN" altLang="en-US" b="0" i="0" u="none" strike="noStrike" kern="100" baseline="0" dirty="0" smtClean="0">
                <a:latin typeface="Arial" panose="020B0604020202020204" pitchFamily="34" charset="0"/>
              </a:rPr>
              <a:t>由于“云”的特殊容错措施可以采用极其廉价的节点来构成云，“云”的自动化集中式管理使大量企业无需负担日益高昂的数据中心管理成本，“云”的通用性使资源的利用率较之传统系统大幅提升，因此用户可以充分享受“云”的低成本优势，经常只要花费几百美元、几天时间就能完成以前需要数万美元、数月时间才能完成的任务。</a:t>
            </a:r>
          </a:p>
          <a:p>
            <a:r>
              <a:rPr lang="zh-CN" altLang="en-US" b="0" i="0" u="none" strike="noStrike" kern="100" baseline="0" dirty="0" smtClean="0">
                <a:latin typeface="Arial" panose="020B0604020202020204" pitchFamily="34" charset="0"/>
              </a:rPr>
              <a:t>云计算可以彻底改变人们未来的生活，但同时也要重视环境问题，这样才能真正为人类进步做贡献</a:t>
            </a:r>
            <a:r>
              <a:rPr lang="en-US" altLang="zh-CN" b="0" i="0" u="none" strike="noStrike" kern="100" baseline="0" dirty="0" smtClean="0">
                <a:latin typeface="Arial" panose="020B0604020202020204" pitchFamily="34" charset="0"/>
              </a:rPr>
              <a:t>,</a:t>
            </a:r>
            <a:r>
              <a:rPr lang="zh-CN" altLang="en-US" b="0" i="0" u="none" strike="noStrike" kern="100" baseline="0" dirty="0" smtClean="0">
                <a:latin typeface="Arial" panose="020B0604020202020204" pitchFamily="34" charset="0"/>
              </a:rPr>
              <a:t>而不是简单的技术提升。</a:t>
            </a:r>
          </a:p>
        </p:txBody>
      </p:sp>
      <p:sp>
        <p:nvSpPr>
          <p:cNvPr id="4" name="灯片编号占位符 3"/>
          <p:cNvSpPr>
            <a:spLocks noGrp="1"/>
          </p:cNvSpPr>
          <p:nvPr>
            <p:ph type="sldNum" sz="quarter" idx="12"/>
          </p:nvPr>
        </p:nvSpPr>
        <p:spPr/>
        <p:txBody>
          <a:bodyPr/>
          <a:lstStyle/>
          <a:p>
            <a:fld id="{1E498578-33C6-435F-A057-04E3882C33D5}" type="slidenum">
              <a:rPr lang="zh-CN" altLang="en-US" smtClean="0"/>
              <a:t>12</a:t>
            </a:fld>
            <a:endParaRPr lang="zh-CN" altLang="en-US"/>
          </a:p>
        </p:txBody>
      </p:sp>
    </p:spTree>
    <p:extLst>
      <p:ext uri="{BB962C8B-B14F-4D97-AF65-F5344CB8AC3E}">
        <p14:creationId xmlns:p14="http://schemas.microsoft.com/office/powerpoint/2010/main" val="3551503595"/>
      </p:ext>
    </p:extLst>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i="0" u="none" strike="noStrike" kern="2200" baseline="0" dirty="0" smtClean="0">
                <a:latin typeface="Arial" panose="020B0604020202020204" pitchFamily="34" charset="0"/>
              </a:rPr>
              <a:t>潜在的危险性</a:t>
            </a:r>
          </a:p>
        </p:txBody>
      </p:sp>
      <p:sp>
        <p:nvSpPr>
          <p:cNvPr id="3" name="文本占位符 2"/>
          <p:cNvSpPr>
            <a:spLocks noGrp="1"/>
          </p:cNvSpPr>
          <p:nvPr>
            <p:ph type="body" idx="1"/>
          </p:nvPr>
        </p:nvSpPr>
        <p:spPr/>
        <p:txBody>
          <a:bodyPr>
            <a:normAutofit/>
          </a:bodyPr>
          <a:lstStyle/>
          <a:p>
            <a:r>
              <a:rPr lang="zh-CN" altLang="en-US" b="0" i="0" u="none" strike="noStrike" kern="100" baseline="0" dirty="0" smtClean="0">
                <a:latin typeface="Arial" panose="020B0604020202020204" pitchFamily="34" charset="0"/>
              </a:rPr>
              <a:t>云计算服务除了提供计算服务外，还必然提供了存储服务。但是云计算服务当前垄断在私人机构（企业）手中，而他们仅仅能够提供商业信用。对于政府机构、商业机构（特别像银行这样持有敏感数据的商业机构）对于选择云计算服务应保持足够的警惕。一旦商业用户大规模使用私人机构提供的云计算服务，无论其技术优势有多强，都不可避免地让这些私人机构以“数据（信息）”的重要性挟制整个社会。对于信息社会而言，“信息”是至关重要的。另一方面，云计算中的数据对于数据所有者以外的其他用户云计算用户是保密的，但是对于提供云计算的商业机构而言确实毫无秘密可言。所有这些潜在的危险，是商业机构和政府机构选择云计算服务、特别是国外机构提供的云计算服务时，不得不考虑的一个重要的前提。</a:t>
            </a:r>
          </a:p>
        </p:txBody>
      </p:sp>
      <p:sp>
        <p:nvSpPr>
          <p:cNvPr id="4" name="灯片编号占位符 3"/>
          <p:cNvSpPr>
            <a:spLocks noGrp="1"/>
          </p:cNvSpPr>
          <p:nvPr>
            <p:ph type="sldNum" sz="quarter" idx="12"/>
          </p:nvPr>
        </p:nvSpPr>
        <p:spPr/>
        <p:txBody>
          <a:bodyPr/>
          <a:lstStyle/>
          <a:p>
            <a:fld id="{1E498578-33C6-435F-A057-04E3882C33D5}" type="slidenum">
              <a:rPr lang="zh-CN" altLang="en-US" smtClean="0"/>
              <a:t>13</a:t>
            </a:fld>
            <a:endParaRPr lang="zh-CN" altLang="en-US"/>
          </a:p>
        </p:txBody>
      </p:sp>
    </p:spTree>
    <p:extLst>
      <p:ext uri="{BB962C8B-B14F-4D97-AF65-F5344CB8AC3E}">
        <p14:creationId xmlns:p14="http://schemas.microsoft.com/office/powerpoint/2010/main" val="3236869704"/>
      </p:ext>
    </p:extLst>
  </p:cSld>
  <p:clrMapOvr>
    <a:masterClrMapping/>
  </p:clrMapOvr>
  <p:transition spd="slow">
    <p:push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i="0" u="none" strike="noStrike" kern="2200" baseline="0" dirty="0" smtClean="0">
                <a:latin typeface="Arial" panose="020B0604020202020204" pitchFamily="34" charset="0"/>
              </a:rPr>
              <a:t>云计算的服务形式</a:t>
            </a:r>
          </a:p>
        </p:txBody>
      </p:sp>
      <p:sp>
        <p:nvSpPr>
          <p:cNvPr id="3" name="文本占位符 2"/>
          <p:cNvSpPr>
            <a:spLocks noGrp="1"/>
          </p:cNvSpPr>
          <p:nvPr>
            <p:ph type="body" idx="1"/>
          </p:nvPr>
        </p:nvSpPr>
        <p:spPr/>
        <p:txBody>
          <a:bodyPr/>
          <a:lstStyle/>
          <a:p>
            <a:r>
              <a:rPr lang="en-US" altLang="zh-CN" b="0" i="0" u="none" strike="noStrike" kern="100" baseline="0" dirty="0" smtClean="0">
                <a:latin typeface="Arial" panose="020B0604020202020204" pitchFamily="34" charset="0"/>
              </a:rPr>
              <a:t>IaaS</a:t>
            </a:r>
          </a:p>
          <a:p>
            <a:r>
              <a:rPr lang="en-US" altLang="zh-CN" b="0" i="0" u="none" strike="noStrike" kern="100" baseline="0" dirty="0" smtClean="0">
                <a:latin typeface="Arial" panose="020B0604020202020204" pitchFamily="34" charset="0"/>
              </a:rPr>
              <a:t>PaaS</a:t>
            </a:r>
          </a:p>
          <a:p>
            <a:r>
              <a:rPr lang="en-US" altLang="zh-CN" b="0" i="0" u="none" strike="noStrike" kern="100" baseline="0" dirty="0" smtClean="0">
                <a:latin typeface="Arial" panose="020B0604020202020204" pitchFamily="34" charset="0"/>
              </a:rPr>
              <a:t>SaaS</a:t>
            </a:r>
            <a:endParaRPr lang="zh-CN" altLang="en-US" b="0" i="0" u="none" strike="noStrike" kern="100" baseline="0" dirty="0" smtClean="0">
              <a:latin typeface="Arial" panose="020B0604020202020204" pitchFamily="34" charset="0"/>
            </a:endParaRPr>
          </a:p>
        </p:txBody>
      </p:sp>
      <p:sp>
        <p:nvSpPr>
          <p:cNvPr id="4" name="灯片编号占位符 3"/>
          <p:cNvSpPr>
            <a:spLocks noGrp="1"/>
          </p:cNvSpPr>
          <p:nvPr>
            <p:ph type="sldNum" sz="quarter" idx="12"/>
          </p:nvPr>
        </p:nvSpPr>
        <p:spPr/>
        <p:txBody>
          <a:bodyPr/>
          <a:lstStyle/>
          <a:p>
            <a:fld id="{1E498578-33C6-435F-A057-04E3882C33D5}" type="slidenum">
              <a:rPr lang="zh-CN" altLang="en-US" smtClean="0"/>
              <a:t>14</a:t>
            </a:fld>
            <a:endParaRPr lang="zh-CN" altLang="en-US"/>
          </a:p>
        </p:txBody>
      </p:sp>
    </p:spTree>
    <p:extLst>
      <p:ext uri="{BB962C8B-B14F-4D97-AF65-F5344CB8AC3E}">
        <p14:creationId xmlns:p14="http://schemas.microsoft.com/office/powerpoint/2010/main" val="1002785588"/>
      </p:ext>
    </p:extLst>
  </p:cSld>
  <p:clrMapOvr>
    <a:masterClrMapping/>
  </p:clrMapOvr>
  <p:transition spd="slow">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0" u="none" strike="noStrike" kern="2200" baseline="0" dirty="0" smtClean="0">
                <a:latin typeface="Arial" panose="020B0604020202020204" pitchFamily="34" charset="0"/>
              </a:rPr>
              <a:t>IaaS</a:t>
            </a:r>
            <a:endParaRPr lang="zh-CN" altLang="en-US" b="1" i="0" u="none" strike="noStrike" kern="2200" baseline="0" dirty="0" smtClean="0">
              <a:latin typeface="Arial" panose="020B0604020202020204" pitchFamily="34" charset="0"/>
            </a:endParaRPr>
          </a:p>
        </p:txBody>
      </p:sp>
      <p:sp>
        <p:nvSpPr>
          <p:cNvPr id="3" name="文本占位符 2"/>
          <p:cNvSpPr>
            <a:spLocks noGrp="1"/>
          </p:cNvSpPr>
          <p:nvPr>
            <p:ph sz="half" idx="1"/>
          </p:nvPr>
        </p:nvSpPr>
        <p:spPr/>
        <p:txBody>
          <a:bodyPr/>
          <a:lstStyle/>
          <a:p>
            <a:r>
              <a:rPr lang="en-US" altLang="zh-CN" b="0" i="0" u="none" strike="noStrike" kern="100" baseline="0" dirty="0" smtClean="0">
                <a:latin typeface="Arial" panose="020B0604020202020204" pitchFamily="34" charset="0"/>
              </a:rPr>
              <a:t>IaaS(Infrastructure-as-a- Service)</a:t>
            </a:r>
            <a:r>
              <a:rPr lang="zh-CN" altLang="en-US" b="0" i="0" u="none" strike="noStrike" kern="100" baseline="0" dirty="0" smtClean="0">
                <a:latin typeface="Arial" panose="020B0604020202020204" pitchFamily="34" charset="0"/>
              </a:rPr>
              <a:t>：基础设施即服务。消费者通过</a:t>
            </a:r>
            <a:r>
              <a:rPr lang="en-US" altLang="zh-CN" b="0" i="0" u="none" strike="noStrike" kern="100" baseline="0" dirty="0" smtClean="0">
                <a:latin typeface="Arial" panose="020B0604020202020204" pitchFamily="34" charset="0"/>
              </a:rPr>
              <a:t>Internet</a:t>
            </a:r>
            <a:r>
              <a:rPr lang="zh-CN" altLang="en-US" b="0" i="0" u="none" strike="noStrike" kern="100" baseline="0" dirty="0" smtClean="0">
                <a:latin typeface="Arial" panose="020B0604020202020204" pitchFamily="34" charset="0"/>
              </a:rPr>
              <a:t>可以从完善的计算机基础设施获得服务。 </a:t>
            </a:r>
          </a:p>
          <a:p>
            <a:r>
              <a:rPr lang="en-US" altLang="zh-CN" b="0" i="0" u="none" strike="noStrike" kern="100" baseline="0" dirty="0" err="1" smtClean="0">
                <a:latin typeface="Arial" panose="020B0604020202020204" pitchFamily="34" charset="0"/>
              </a:rPr>
              <a:t>Iaas</a:t>
            </a:r>
            <a:r>
              <a:rPr lang="zh-CN" altLang="en-US" b="0" i="0" u="none" strike="noStrike" kern="100" baseline="0" dirty="0" smtClean="0">
                <a:latin typeface="Arial" panose="020B0604020202020204" pitchFamily="34" charset="0"/>
              </a:rPr>
              <a:t>通过网络向用户提供计算机（物理机和虚拟机）、存储空间、网络连接、负载均衡和防火墙等基本计算资源；用户在此基础上部署和运行各种软件，包括操作系统和应用程序。</a:t>
            </a:r>
          </a:p>
        </p:txBody>
      </p:sp>
      <p:pic>
        <p:nvPicPr>
          <p:cNvPr id="5" name="内容占位符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700588" y="2202392"/>
            <a:ext cx="3565525" cy="2377016"/>
          </a:xfrm>
        </p:spPr>
      </p:pic>
      <p:sp>
        <p:nvSpPr>
          <p:cNvPr id="6" name="灯片编号占位符 5"/>
          <p:cNvSpPr>
            <a:spLocks noGrp="1"/>
          </p:cNvSpPr>
          <p:nvPr>
            <p:ph type="sldNum" sz="quarter" idx="12"/>
          </p:nvPr>
        </p:nvSpPr>
        <p:spPr/>
        <p:txBody>
          <a:bodyPr/>
          <a:lstStyle/>
          <a:p>
            <a:fld id="{B45688F7-724B-4DBE-8A7F-BC592E09CD29}" type="slidenum">
              <a:rPr lang="zh-CN" altLang="en-US" smtClean="0"/>
              <a:t>15</a:t>
            </a:fld>
            <a:endParaRPr lang="zh-CN" altLang="en-US"/>
          </a:p>
        </p:txBody>
      </p:sp>
    </p:spTree>
    <p:extLst>
      <p:ext uri="{BB962C8B-B14F-4D97-AF65-F5344CB8AC3E}">
        <p14:creationId xmlns:p14="http://schemas.microsoft.com/office/powerpoint/2010/main" val="3173209443"/>
      </p:ext>
    </p:extLst>
  </p:cSld>
  <p:clrMapOvr>
    <a:masterClrMapping/>
  </p:clrMapOvr>
  <p:transition spd="slow">
    <p:wip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0" u="none" strike="noStrike" kern="2200" baseline="0" dirty="0" smtClean="0">
                <a:latin typeface="Arial" panose="020B0604020202020204" pitchFamily="34" charset="0"/>
              </a:rPr>
              <a:t>PaaS</a:t>
            </a:r>
            <a:endParaRPr lang="zh-CN" altLang="en-US" b="1" i="0" u="none" strike="noStrike" kern="2200" baseline="0" dirty="0" smtClean="0">
              <a:latin typeface="Arial" panose="020B0604020202020204" pitchFamily="34" charset="0"/>
            </a:endParaRPr>
          </a:p>
        </p:txBody>
      </p:sp>
      <p:sp>
        <p:nvSpPr>
          <p:cNvPr id="3" name="文本占位符 2"/>
          <p:cNvSpPr>
            <a:spLocks noGrp="1"/>
          </p:cNvSpPr>
          <p:nvPr>
            <p:ph sz="half" idx="1"/>
          </p:nvPr>
        </p:nvSpPr>
        <p:spPr/>
        <p:txBody>
          <a:bodyPr/>
          <a:lstStyle/>
          <a:p>
            <a:r>
              <a:rPr lang="en-US" altLang="zh-CN" b="0" i="0" u="none" strike="noStrike" kern="100" baseline="0" dirty="0" smtClean="0">
                <a:latin typeface="Arial" panose="020B0604020202020204" pitchFamily="34" charset="0"/>
              </a:rPr>
              <a:t>PaaS(Platform-as-a- Service)</a:t>
            </a:r>
            <a:r>
              <a:rPr lang="zh-CN" altLang="en-US" b="0" i="0" u="none" strike="noStrike" kern="100" baseline="0" dirty="0" smtClean="0">
                <a:latin typeface="Arial" panose="020B0604020202020204" pitchFamily="34" charset="0"/>
              </a:rPr>
              <a:t>：平台即服务。</a:t>
            </a:r>
            <a:r>
              <a:rPr lang="en-US" altLang="zh-CN" b="0" i="0" u="none" strike="noStrike" kern="100" baseline="0" dirty="0" smtClean="0">
                <a:latin typeface="Arial" panose="020B0604020202020204" pitchFamily="34" charset="0"/>
              </a:rPr>
              <a:t>PaaS</a:t>
            </a:r>
            <a:r>
              <a:rPr lang="zh-CN" altLang="en-US" b="0" i="0" u="none" strike="noStrike" kern="100" baseline="0" dirty="0" smtClean="0">
                <a:latin typeface="Arial" panose="020B0604020202020204" pitchFamily="34" charset="0"/>
              </a:rPr>
              <a:t>实际上是指将软件研发的平台作为一种服务，以</a:t>
            </a:r>
            <a:r>
              <a:rPr lang="en-US" altLang="zh-CN" b="0" i="0" u="none" strike="noStrike" kern="100" baseline="0" dirty="0" smtClean="0">
                <a:latin typeface="Arial" panose="020B0604020202020204" pitchFamily="34" charset="0"/>
              </a:rPr>
              <a:t>SaaS</a:t>
            </a:r>
            <a:r>
              <a:rPr lang="zh-CN" altLang="en-US" b="0" i="0" u="none" strike="noStrike" kern="100" baseline="0" dirty="0" smtClean="0">
                <a:latin typeface="Arial" panose="020B0604020202020204" pitchFamily="34" charset="0"/>
              </a:rPr>
              <a:t>的模式提交给用户。</a:t>
            </a:r>
          </a:p>
          <a:p>
            <a:r>
              <a:rPr lang="zh-CN" altLang="en-US" b="0" i="0" u="none" strike="noStrike" kern="100" baseline="0" dirty="0" smtClean="0">
                <a:latin typeface="Arial" panose="020B0604020202020204" pitchFamily="34" charset="0"/>
              </a:rPr>
              <a:t>平台通常包括操作系统、编程语言的运行环境、数据库和 </a:t>
            </a:r>
            <a:r>
              <a:rPr lang="en-US" altLang="zh-CN" b="0" i="0" u="none" strike="noStrike" kern="100" baseline="0" dirty="0" smtClean="0">
                <a:latin typeface="Arial" panose="020B0604020202020204" pitchFamily="34" charset="0"/>
              </a:rPr>
              <a:t>Web </a:t>
            </a:r>
            <a:r>
              <a:rPr lang="zh-CN" altLang="en-US" b="0" i="0" u="none" strike="noStrike" kern="100" baseline="0" dirty="0" smtClean="0">
                <a:latin typeface="Arial" panose="020B0604020202020204" pitchFamily="34" charset="0"/>
              </a:rPr>
              <a:t>服务器，用户在此平台上部署和运行自己的应用。用户不能管理和控制底层的基础设施，只能控制自己部署的应用。</a:t>
            </a:r>
          </a:p>
        </p:txBody>
      </p:sp>
      <p:pic>
        <p:nvPicPr>
          <p:cNvPr id="5" name="内容占位符 4"/>
          <p:cNvPicPr>
            <a:picLocks noGrp="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4832022" y="1330059"/>
            <a:ext cx="3600000" cy="3600000"/>
          </a:xfrm>
        </p:spPr>
      </p:pic>
      <p:sp>
        <p:nvSpPr>
          <p:cNvPr id="6" name="灯片编号占位符 5"/>
          <p:cNvSpPr>
            <a:spLocks noGrp="1"/>
          </p:cNvSpPr>
          <p:nvPr>
            <p:ph type="sldNum" sz="quarter" idx="12"/>
          </p:nvPr>
        </p:nvSpPr>
        <p:spPr/>
        <p:txBody>
          <a:bodyPr/>
          <a:lstStyle/>
          <a:p>
            <a:fld id="{B45688F7-724B-4DBE-8A7F-BC592E09CD29}" type="slidenum">
              <a:rPr lang="zh-CN" altLang="en-US" smtClean="0"/>
              <a:t>16</a:t>
            </a:fld>
            <a:endParaRPr lang="zh-CN" altLang="en-US"/>
          </a:p>
        </p:txBody>
      </p:sp>
    </p:spTree>
    <p:extLst>
      <p:ext uri="{BB962C8B-B14F-4D97-AF65-F5344CB8AC3E}">
        <p14:creationId xmlns:p14="http://schemas.microsoft.com/office/powerpoint/2010/main" val="831906521"/>
      </p:ext>
    </p:extLst>
  </p:cSld>
  <p:clrMapOvr>
    <a:masterClrMapping/>
  </p:clrMapOvr>
  <p:transition spd="slow">
    <p:wip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i="0" u="none" strike="noStrike" kern="2200" baseline="0" dirty="0" smtClean="0">
                <a:latin typeface="Arial" panose="020B0604020202020204" pitchFamily="34" charset="0"/>
              </a:rPr>
              <a:t>SaaS</a:t>
            </a:r>
            <a:endParaRPr lang="zh-CN" altLang="en-US" b="1" i="0" u="none" strike="noStrike" kern="2200" baseline="0" dirty="0" smtClean="0">
              <a:latin typeface="Arial" panose="020B0604020202020204" pitchFamily="34" charset="0"/>
            </a:endParaRPr>
          </a:p>
        </p:txBody>
      </p:sp>
      <p:sp>
        <p:nvSpPr>
          <p:cNvPr id="3" name="文本占位符 2"/>
          <p:cNvSpPr>
            <a:spLocks noGrp="1"/>
          </p:cNvSpPr>
          <p:nvPr>
            <p:ph sz="half" idx="1"/>
          </p:nvPr>
        </p:nvSpPr>
        <p:spPr/>
        <p:txBody>
          <a:bodyPr/>
          <a:lstStyle/>
          <a:p>
            <a:r>
              <a:rPr lang="en-US" altLang="zh-CN" b="0" i="0" u="none" strike="noStrike" kern="100" baseline="0" dirty="0" smtClean="0">
                <a:latin typeface="Arial" panose="020B0604020202020204" pitchFamily="34" charset="0"/>
              </a:rPr>
              <a:t>SaaS(Software-as-a- Service)</a:t>
            </a:r>
            <a:r>
              <a:rPr lang="zh-CN" altLang="en-US" b="0" i="0" u="none" strike="noStrike" kern="100" baseline="0" dirty="0" smtClean="0">
                <a:latin typeface="Arial" panose="020B0604020202020204" pitchFamily="34" charset="0"/>
              </a:rPr>
              <a:t>：软件即服务。它是一种通过</a:t>
            </a:r>
            <a:r>
              <a:rPr lang="en-US" altLang="zh-CN" b="0" i="0" u="none" strike="noStrike" kern="100" baseline="0" dirty="0" smtClean="0">
                <a:latin typeface="Arial" panose="020B0604020202020204" pitchFamily="34" charset="0"/>
              </a:rPr>
              <a:t>Internet</a:t>
            </a:r>
            <a:r>
              <a:rPr lang="zh-CN" altLang="en-US" b="0" i="0" u="none" strike="noStrike" kern="100" baseline="0" dirty="0" smtClean="0">
                <a:latin typeface="Arial" panose="020B0604020202020204" pitchFamily="34" charset="0"/>
              </a:rPr>
              <a:t>提供软件的模式，用户无需购买软件，而是向提供商租用基于</a:t>
            </a:r>
            <a:r>
              <a:rPr lang="en-US" altLang="zh-CN" b="0" i="0" u="none" strike="noStrike" kern="100" baseline="0" dirty="0" smtClean="0">
                <a:latin typeface="Arial" panose="020B0604020202020204" pitchFamily="34" charset="0"/>
              </a:rPr>
              <a:t>Web</a:t>
            </a:r>
            <a:r>
              <a:rPr lang="zh-CN" altLang="en-US" b="0" i="0" u="none" strike="noStrike" kern="100" baseline="0" dirty="0" smtClean="0">
                <a:latin typeface="Arial" panose="020B0604020202020204" pitchFamily="34" charset="0"/>
              </a:rPr>
              <a:t>的软件，来管理企业经营活动。</a:t>
            </a:r>
          </a:p>
          <a:p>
            <a:r>
              <a:rPr lang="zh-CN" altLang="en-US" b="0" i="0" u="none" strike="noStrike" kern="100" baseline="0" dirty="0" smtClean="0">
                <a:latin typeface="Arial" panose="020B0604020202020204" pitchFamily="34" charset="0"/>
              </a:rPr>
              <a:t>云提供商在云端安装和运行应用软件，云用户通过云客户端使用软件。云用户不能管理应用软件运行的基础设施和平台，只能做有限的应用程序设置。</a:t>
            </a:r>
          </a:p>
        </p:txBody>
      </p:sp>
      <p:pic>
        <p:nvPicPr>
          <p:cNvPr id="5" name="内容占位符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964013" y="1714500"/>
            <a:ext cx="3038675" cy="3352800"/>
          </a:xfrm>
        </p:spPr>
      </p:pic>
      <p:sp>
        <p:nvSpPr>
          <p:cNvPr id="6" name="灯片编号占位符 5"/>
          <p:cNvSpPr>
            <a:spLocks noGrp="1"/>
          </p:cNvSpPr>
          <p:nvPr>
            <p:ph type="sldNum" sz="quarter" idx="12"/>
          </p:nvPr>
        </p:nvSpPr>
        <p:spPr/>
        <p:txBody>
          <a:bodyPr/>
          <a:lstStyle/>
          <a:p>
            <a:fld id="{B45688F7-724B-4DBE-8A7F-BC592E09CD29}" type="slidenum">
              <a:rPr lang="zh-CN" altLang="en-US" smtClean="0"/>
              <a:t>17</a:t>
            </a:fld>
            <a:endParaRPr lang="zh-CN" altLang="en-US"/>
          </a:p>
        </p:txBody>
      </p:sp>
    </p:spTree>
    <p:extLst>
      <p:ext uri="{BB962C8B-B14F-4D97-AF65-F5344CB8AC3E}">
        <p14:creationId xmlns:p14="http://schemas.microsoft.com/office/powerpoint/2010/main" val="1172541672"/>
      </p:ext>
    </p:extLst>
  </p:cSld>
  <p:clrMapOvr>
    <a:masterClrMapping/>
  </p:clrMapOvr>
  <p:transition spd="slow">
    <p:wip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868363" y="2292350"/>
            <a:ext cx="7407275" cy="1130300"/>
          </a:xfrm>
        </p:spPr>
        <p:txBody>
          <a:bodyPr/>
          <a:lstStyle/>
          <a:p>
            <a:pPr algn="ctr"/>
            <a:r>
              <a:rPr lang="zh-CN" altLang="en-US" b="1" i="0" u="none" strike="noStrike" kern="2200" baseline="0" dirty="0" smtClean="0">
                <a:latin typeface="Arial" panose="020B0604020202020204" pitchFamily="34" charset="0"/>
              </a:rPr>
              <a:t>感谢聆听！</a:t>
            </a:r>
          </a:p>
        </p:txBody>
      </p:sp>
      <p:sp>
        <p:nvSpPr>
          <p:cNvPr id="4" name="灯片编号占位符 3"/>
          <p:cNvSpPr>
            <a:spLocks noGrp="1"/>
          </p:cNvSpPr>
          <p:nvPr>
            <p:ph type="sldNum" sz="quarter" idx="12"/>
          </p:nvPr>
        </p:nvSpPr>
        <p:spPr/>
        <p:txBody>
          <a:bodyPr/>
          <a:lstStyle/>
          <a:p>
            <a:fld id="{B45688F7-724B-4DBE-8A7F-BC592E09CD29}" type="slidenum">
              <a:rPr lang="zh-CN" altLang="en-US" smtClean="0"/>
              <a:t>18</a:t>
            </a:fld>
            <a:endParaRPr lang="zh-CN" altLang="en-US"/>
          </a:p>
        </p:txBody>
      </p:sp>
    </p:spTree>
    <p:extLst>
      <p:ext uri="{BB962C8B-B14F-4D97-AF65-F5344CB8AC3E}">
        <p14:creationId xmlns:p14="http://schemas.microsoft.com/office/powerpoint/2010/main" val="198311295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cloud">
  <a:themeElements>
    <a:clrScheme name="蓝绿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基础">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基础">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cloud" id="{684C4EB7-26C3-4A38-BD19-8DE9E7018612}" vid="{2DCF3ED3-219B-45B8-B687-4C369646880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cloud</Template>
  <TotalTime>146</TotalTime>
  <Words>987</Words>
  <Application>Microsoft Office PowerPoint</Application>
  <PresentationFormat>全屏显示(16:10)</PresentationFormat>
  <Paragraphs>66</Paragraphs>
  <Slides>18</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18</vt:i4>
      </vt:variant>
    </vt:vector>
  </HeadingPairs>
  <TitlesOfParts>
    <vt:vector size="23" baseType="lpstr">
      <vt:lpstr>等线</vt:lpstr>
      <vt:lpstr>微软雅黑</vt:lpstr>
      <vt:lpstr>Arial</vt:lpstr>
      <vt:lpstr>Corbel</vt:lpstr>
      <vt:lpstr>cloud</vt:lpstr>
      <vt:lpstr>云计算简介</vt:lpstr>
      <vt:lpstr>主要内容</vt:lpstr>
      <vt:lpstr>云计算的概念</vt:lpstr>
      <vt:lpstr>云服务增长趋势（10亿美金）</vt:lpstr>
      <vt:lpstr>云计算的特征</vt:lpstr>
      <vt:lpstr>超大规模</vt:lpstr>
      <vt:lpstr>虚拟化</vt:lpstr>
      <vt:lpstr>高可靠性</vt:lpstr>
      <vt:lpstr>通用性</vt:lpstr>
      <vt:lpstr>高可扩展性</vt:lpstr>
      <vt:lpstr>按需服务</vt:lpstr>
      <vt:lpstr>极其廉价</vt:lpstr>
      <vt:lpstr>潜在的危险性</vt:lpstr>
      <vt:lpstr>云计算的服务形式</vt:lpstr>
      <vt:lpstr>IaaS</vt:lpstr>
      <vt:lpstr>PaaS</vt:lpstr>
      <vt:lpstr>SaaS</vt:lpstr>
      <vt:lpstr>感谢聆听！</vt:lpstr>
    </vt:vector>
  </TitlesOfParts>
  <Company> user1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云计算简介</dc:title>
  <dc:creator>Windows 用户11</dc:creator>
  <cp:lastModifiedBy>Windows 用户11</cp:lastModifiedBy>
  <cp:revision>9</cp:revision>
  <dcterms:created xsi:type="dcterms:W3CDTF">2022-03-31T01:40:47Z</dcterms:created>
  <dcterms:modified xsi:type="dcterms:W3CDTF">2022-04-01T01:36:23Z</dcterms:modified>
</cp:coreProperties>
</file>